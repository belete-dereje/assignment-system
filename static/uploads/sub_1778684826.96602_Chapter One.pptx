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91" r:id="rId6"/>
    <p:sldId id="29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08" r:id="rId17"/>
    <p:sldId id="309" r:id="rId18"/>
    <p:sldId id="310" r:id="rId19"/>
    <p:sldId id="311" r:id="rId20"/>
    <p:sldId id="312" r:id="rId21"/>
    <p:sldId id="313" r:id="rId22"/>
    <p:sldId id="320" r:id="rId23"/>
    <p:sldId id="321" r:id="rId24"/>
    <p:sldId id="314" r:id="rId25"/>
    <p:sldId id="315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9" r:id="rId41"/>
    <p:sldId id="294" r:id="rId42"/>
    <p:sldId id="296" r:id="rId43"/>
    <p:sldId id="297" r:id="rId44"/>
    <p:sldId id="29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F47CC-C545-4DD0-B7CA-30ACAFEC7C53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E7901-E711-4FF4-AAAF-7083E4FD7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E7901-E711-4FF4-AAAF-7083E4FD72B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5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E7901-E711-4FF4-AAAF-7083E4FD72B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59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7320-5069-3036-F320-28E86BE45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7EBA9-430E-22DB-08A6-32AAC133C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EE461-25F0-33B5-EE78-662D84D36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1CF9-D8AD-4AAF-95B7-C6C66B3F7F7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BEAED-1173-E0A9-AA59-4C7AAFB6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77B81-877A-606F-4006-AC1BB7E8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3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893EE-1A00-69ED-4926-7D37FF61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BA818-CB51-69E4-516B-4C8D6975B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87DF6-6283-C1B1-96A4-A89E8FE1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AB2B-191D-3E66-0B3A-991C752E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1A4A2-FC90-9A15-374E-130C88E41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6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3E10-8EAA-ADF4-1F0C-329560E3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A4FCA-45DF-DE1C-2774-04B39C99C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A8018-545B-8FE5-3DC9-722BEC7B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F4CF-1863-40EF-A473-C38968E28B4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7DDA-5D6F-9287-DFDD-E5677A8E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0BB1D-44C3-1ABD-F2FA-C66251A1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9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3A82-DFBB-C24E-B602-001031E9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DCF1-1D0C-04BF-77CA-794741F79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905AA-F358-DEA0-CECA-C9FBEBB1F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05829-5F80-7912-78A9-21A111BE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9052-6D74-4FB2-B48F-1D9D8495ACD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E2869-D375-48AE-FF14-571F56F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66945-B1A7-B59F-0DAD-613FCAED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2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A6CB-2A02-8120-36FF-7FC0AE93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7FB11-99FF-673C-1130-68D4EF96C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115B9-3971-7D4D-4AC3-9A0AD1593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D7666-0ECA-9422-AB98-20C73B340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D4AA9-9603-978A-B0F9-207727B09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BD8CC-76D1-86FB-2D90-E7DCFC27A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D585-7B24-42D6-BACA-80E4420F6D9A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6B841-7617-1F5A-9ACB-457CA610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242401-1E8F-559D-B01C-881C0EE8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89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FFCE-8CE2-FB0B-111C-9E1F6864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55C1E-9614-34B9-48DC-865CA0B7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5BDA-04B4-423C-A7E2-407317C29D96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8AF0D-1915-147E-9187-BEDD1DB7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9466B-2B3A-7EA4-9153-6CE0B229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4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D2427-A3B8-B4AA-7F6E-2619DC8C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DF77-2566-46A8-BD4D-AFEA9B19813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B6F67-4315-BF34-6DA6-A614A234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CC32F-05E7-94AE-DA52-6A655C69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391E-45AE-4C97-61C7-C658CD9EB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A7718-C438-8819-F712-024974F9E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1682A-089C-BE76-E5CB-FBAC3B6CA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8185A-8BA3-4C36-E3E3-4F2047C1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612E1-9BDE-4027-9548-61E305FD9209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F58CB-7590-AAC3-76A0-56E4127C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3A6DF-461A-6984-4388-555B26DD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7A42-167B-548D-754C-4EF89D8B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F1146-7E4D-F8BD-17BA-E9378A0182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488E5-4441-767A-5445-FE53A9358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FA43B-1134-5D5A-FB44-8FF30E67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EF3DD-337E-4B5E-B1ED-70405537DF39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303E0-BE12-09F9-3C27-D750B6D1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FB7A3-0ECD-DD2A-C20E-00121D33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6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F4DC-4312-C996-6280-A89018A9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3D24C-207F-284A-08D7-0317BC9F2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5779-7DCD-77EF-26B6-8EC4950B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466A-453F-440F-A62F-4C52B2B6F69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F2FA3-3696-DF0A-240F-2960DCE7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1CD4A-2F7E-3BFF-2585-BE5DC31E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6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8286A1-4351-461F-BF0B-FAB47D097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EAE3B-190F-257A-C244-E06A69F31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D0635-3E07-1A59-5002-340A64FE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0096-DF14-4108-8312-3E5053A4F7C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5E01-72AE-0E35-3CDA-9C143A08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F87E7-A071-5AE6-0804-9A91C6C1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8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DCC0E-CDCD-1781-8C1B-770E5F48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953CA-DFB4-DA8F-D1A7-5715C324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A2293-B067-A94A-ABC2-BF57B7452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22312-09CE-4EC7-A16B-432B38C1E56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7591E-EB1E-1B86-31DC-3554ED3C2E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73B29-48BB-310F-191C-3414EF1D1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56C4F-5775-4965-993D-133CDA617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5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oftware_durability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4E71-3A46-10E9-D65A-A8C64CC3B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1500" dirty="0"/>
              <a:t>Chapter One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FE31C-1B5F-A0FF-CA31-86D7BED45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Introduction to Software Design </a:t>
            </a:r>
          </a:p>
          <a:p>
            <a:r>
              <a:rPr lang="en-US" sz="3200" dirty="0"/>
              <a:t>                                   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2607-605E-B1FF-2F0F-9A934D26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8B42B-E8C2-42DD-BAAF-089DBF6BDD8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EBA90-4A0A-5563-F022-CA823EA0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B3871-4ECD-4F7C-69B4-9CF1829E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7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D83D-CECD-CEFD-176C-9C6E7CF1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95A5C-1D66-B42F-94D3-84080FC42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/>
          <a:lstStyle/>
          <a:p>
            <a:r>
              <a:rPr lang="en-US" b="1" dirty="0"/>
              <a:t>Software Engineering</a:t>
            </a:r>
            <a:r>
              <a:rPr lang="en-US" dirty="0"/>
              <a:t>: the application of a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systematic, disciplined, and quantifiable</a:t>
            </a:r>
            <a:r>
              <a:rPr lang="en-US" i="1" dirty="0"/>
              <a:t> approach to </a:t>
            </a:r>
            <a:r>
              <a:rPr lang="en-US" dirty="0"/>
              <a:t>the development, operation, and maintenance of a SW. </a:t>
            </a:r>
          </a:p>
          <a:p>
            <a:r>
              <a:rPr lang="en-US" dirty="0"/>
              <a:t> Formal process of Engineering a SW: </a:t>
            </a:r>
          </a:p>
          <a:p>
            <a:pPr marL="0" indent="0">
              <a:buNone/>
            </a:pPr>
            <a:endParaRPr lang="en-US" dirty="0"/>
          </a:p>
          <a:p>
            <a:endParaRPr lang="en-US" b="0" i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074FA-24D0-F939-009B-633FC4589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454" y="3465199"/>
            <a:ext cx="7188591" cy="29151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C9B488-B4A8-322B-C205-4197BD3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A36-A9E9-4830-8E48-D132AA3D19A5}" type="datetime1">
              <a:rPr lang="en-US" smtClean="0"/>
              <a:t>9/29/2025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B3AE7C-CA49-E4C2-CD0C-5E1C6925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8A93A4-B70A-F7CE-B111-8A6578BB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3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14ED-3817-F123-491E-F4989A8D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F9A86-61B3-A3BA-821D-EBDD4741A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E</a:t>
            </a:r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nvisioning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and defining software solutions to one or more sets of problems. 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C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reation of a 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specification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of a </a:t>
            </a:r>
            <a:r>
              <a:rPr lang="en-US" dirty="0">
                <a:solidFill>
                  <a:srgbClr val="0645AD"/>
                </a:solidFill>
                <a:latin typeface="Arial" panose="020B0604020202020204" pitchFamily="34" charset="0"/>
              </a:rPr>
              <a:t>software artifact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intended to accomplish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goals</a:t>
            </a:r>
            <a:endParaRPr lang="en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Power of imagination (Designer mind set) plus experience... 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Blueprint of the SW : 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How To?</a:t>
            </a:r>
            <a:endParaRPr lang="en-US" i="1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i="1" dirty="0"/>
              <a:t>disciplined</a:t>
            </a:r>
            <a:r>
              <a:rPr lang="en-US" dirty="0"/>
              <a:t> manner...a </a:t>
            </a:r>
            <a:r>
              <a:rPr lang="en-US" b="1" i="1" dirty="0"/>
              <a:t>systematic</a:t>
            </a:r>
            <a:r>
              <a:rPr lang="en-US" dirty="0"/>
              <a:t> approach to ensure that products are built to meet their specification.</a:t>
            </a:r>
            <a:endParaRPr lang="en-US" b="0" i="0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The </a:t>
            </a:r>
            <a:r>
              <a:rPr lang="en-US" i="1" dirty="0">
                <a:latin typeface="Arial" panose="020B0604020202020204" pitchFamily="34" charset="0"/>
              </a:rPr>
              <a:t>heartbeat</a:t>
            </a:r>
            <a:r>
              <a:rPr lang="en-US" dirty="0">
                <a:latin typeface="Arial" panose="020B0604020202020204" pitchFamily="34" charset="0"/>
              </a:rPr>
              <a:t> of SD: </a:t>
            </a:r>
            <a:r>
              <a:rPr lang="en-US" dirty="0"/>
              <a:t>transforming the customer requirements: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SRS documents</a:t>
            </a:r>
            <a:r>
              <a:rPr lang="en-US" dirty="0"/>
              <a:t>... implementable using a programming language.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A6458-2D09-2660-58EB-47B5E975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0548-BBF5-466E-BEB0-098A3050A83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40A1A-264A-37D9-BD54-C83544E9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30A9A-538D-C4A0-0A69-71AD1DEC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8BC0-F4E5-A334-4650-19200429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Design?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B2DD-A341-360D-B6FB-7601120A2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Cumulative Def:- </a:t>
            </a:r>
            <a:r>
              <a:rPr lang="en-US" b="1" dirty="0"/>
              <a:t> systematic and intelligent process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identifying, evaluating, validating, and specifying</a:t>
            </a:r>
            <a:r>
              <a:rPr lang="en-US" dirty="0"/>
              <a:t>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architectural, detailed, and construction </a:t>
            </a:r>
            <a:r>
              <a:rPr lang="en-US" dirty="0"/>
              <a:t>models required to build software that meets its intended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functional and non-functional requirements</a:t>
            </a:r>
          </a:p>
          <a:p>
            <a:r>
              <a:rPr lang="en-US" dirty="0"/>
              <a:t>Design in SE: describe both </a:t>
            </a:r>
            <a:r>
              <a:rPr lang="en-US" i="1" dirty="0"/>
              <a:t>process</a:t>
            </a:r>
            <a:r>
              <a:rPr lang="en-US" dirty="0"/>
              <a:t> and </a:t>
            </a:r>
            <a:r>
              <a:rPr lang="en-US" i="1" dirty="0"/>
              <a:t>product</a:t>
            </a:r>
            <a:r>
              <a:rPr lang="en-US" dirty="0"/>
              <a:t> from the </a:t>
            </a:r>
            <a:r>
              <a:rPr lang="en-US" i="1" dirty="0"/>
              <a:t>process</a:t>
            </a:r>
          </a:p>
          <a:p>
            <a:r>
              <a:rPr lang="en-US" dirty="0"/>
              <a:t>Process - phase,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activities</a:t>
            </a:r>
            <a:r>
              <a:rPr lang="en-US" dirty="0"/>
              <a:t>, tasks ... interrelationship between them</a:t>
            </a:r>
          </a:p>
          <a:p>
            <a:r>
              <a:rPr lang="en-US" dirty="0"/>
              <a:t>Product - artifacts resulting from design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activities</a:t>
            </a:r>
            <a:r>
              <a:rPr lang="en-US" dirty="0"/>
              <a:t>, e.g., class diagram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54A1-FC80-ADAE-4F89-5867226E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69FD0-BAF6-4367-8599-1283B872F1D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10FF-B614-9E81-0834-DBC5C461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648E4-A7DC-25D8-5BC4-18C8773F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9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2DD8-D783-7EBD-5470-31DB3D4E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35"/>
            <a:ext cx="10515600" cy="1325563"/>
          </a:xfrm>
        </p:spPr>
        <p:txBody>
          <a:bodyPr/>
          <a:lstStyle/>
          <a:p>
            <a:r>
              <a:rPr lang="en-US" dirty="0"/>
              <a:t>Technical vs. Management aspects of Design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69EEE-36A6-0A0D-B24E-069666233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88" y="1715286"/>
            <a:ext cx="8496224" cy="3765053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3F2DC8-00A0-4DB3-B7DC-A0F73514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9A71-D088-4316-9432-0A451C14160F}" type="datetime1">
              <a:rPr lang="en-US" smtClean="0"/>
              <a:t>9/29/2025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0141A8-6D98-F245-1469-4D8B7395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7CDE33-0023-B26E-AC51-E13873D4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8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1259-053F-2A4F-77AF-FF8FE6F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7"/>
            <a:ext cx="10515600" cy="1325563"/>
          </a:xfrm>
        </p:spPr>
        <p:txBody>
          <a:bodyPr/>
          <a:lstStyle/>
          <a:p>
            <a:r>
              <a:rPr lang="en-US" dirty="0"/>
              <a:t>Technical vs. Management aspects of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DCF9-FF74-2C49-40C0-473E96E03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53" y="1395265"/>
            <a:ext cx="10515600" cy="52945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/>
              <a:t>Management Aspect:</a:t>
            </a:r>
          </a:p>
          <a:p>
            <a:pPr marL="0" indent="0">
              <a:buNone/>
            </a:pPr>
            <a:r>
              <a:rPr lang="en-US" dirty="0"/>
              <a:t>    - Preliminary Design: </a:t>
            </a:r>
            <a:r>
              <a:rPr lang="en-US" b="0" i="0" dirty="0">
                <a:effectLst/>
              </a:rPr>
              <a:t>customer requirements ...  system architecture. </a:t>
            </a:r>
          </a:p>
          <a:p>
            <a:pPr marL="0" indent="0">
              <a:buNone/>
            </a:pP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   - Detail Design: Refines architectural representation  ... Detailed data structure and algorithms. </a:t>
            </a:r>
          </a:p>
          <a:p>
            <a:pPr marL="0" indent="0">
              <a:buNone/>
            </a:pPr>
            <a:r>
              <a:rPr lang="en-US" b="1" i="1" dirty="0">
                <a:ea typeface="Tahoma" panose="020B0604030504040204" pitchFamily="34" charset="0"/>
                <a:cs typeface="Tahoma" panose="020B0604030504040204" pitchFamily="34" charset="0"/>
              </a:rPr>
              <a:t>Technical Aspect:</a:t>
            </a:r>
          </a:p>
          <a:p>
            <a:pPr marL="0" indent="0">
              <a:buNone/>
            </a:pPr>
            <a:r>
              <a:rPr lang="en-US" dirty="0">
                <a:ea typeface="Tahoma" panose="020B0604030504040204" pitchFamily="34" charset="0"/>
                <a:cs typeface="Tahoma" panose="020B0604030504040204" pitchFamily="34" charset="0"/>
              </a:rPr>
              <a:t>    - Data/ Object Design: </a:t>
            </a:r>
            <a:r>
              <a:rPr lang="en-US" dirty="0">
                <a:effectLst/>
                <a:ea typeface="Arial" panose="020B0604020202020204" pitchFamily="34" charset="0"/>
              </a:rPr>
              <a:t>transform the information domain into data structures. </a:t>
            </a:r>
            <a:r>
              <a:rPr lang="en-US" sz="1800" dirty="0">
                <a:effectLst/>
                <a:ea typeface="Arial" panose="020B0604020202020204" pitchFamily="34" charset="0"/>
              </a:rPr>
              <a:t>E.g. Entity Relationship diagrams, Data dictionary, abstract data types, and Data structures</a:t>
            </a:r>
            <a:endParaRPr lang="en-US" dirty="0">
              <a:effectLst/>
              <a:ea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</a:rPr>
              <a:t>    - Architectural Design: overall structure, components (subsystems, modules)... Relationships </a:t>
            </a:r>
          </a:p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</a:rPr>
              <a:t>    - Procedural Design: Structural element to procedural explanations. </a:t>
            </a:r>
            <a:r>
              <a:rPr lang="en-US" sz="2000" dirty="0">
                <a:ea typeface="Calibri" panose="020F0502020204030204" pitchFamily="34" charset="0"/>
              </a:rPr>
              <a:t>E.g. Flow chart</a:t>
            </a:r>
            <a:r>
              <a:rPr lang="en-US" sz="1800" dirty="0">
                <a:ea typeface="Calibri" panose="020F0502020204030204" pitchFamily="34" charset="0"/>
              </a:rPr>
              <a:t>: represents the </a:t>
            </a:r>
            <a:r>
              <a:rPr lang="en-US" sz="1800" b="0" i="0" dirty="0">
                <a:effectLst/>
              </a:rPr>
              <a:t>architecture of a program as a set of interacting processes that pass data from one to another</a:t>
            </a:r>
            <a:r>
              <a:rPr lang="en-US" b="0" i="0" dirty="0">
                <a:effectLst/>
              </a:rPr>
              <a:t>.</a:t>
            </a:r>
            <a:endParaRPr lang="en-US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B04C-7927-7FA7-77FE-6559A055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CEB-B5BA-4DA7-B1A2-0734EF643CA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A5A21-B0CA-8B98-4D62-E2BDB15A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8104B-FB9D-62E9-A1A3-62C2B58C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8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4513-0E97-B0CA-8C46-55FC2C68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08" y="681037"/>
            <a:ext cx="10515600" cy="1325563"/>
          </a:xfrm>
        </p:spPr>
        <p:txBody>
          <a:bodyPr/>
          <a:lstStyle/>
          <a:p>
            <a:r>
              <a:rPr lang="en-US" dirty="0"/>
              <a:t>Objectives of SW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1725-68FE-60A0-E493-245FF275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b="1" i="1" dirty="0"/>
              <a:t>Correctness:</a:t>
            </a:r>
            <a:r>
              <a:rPr lang="en-US" dirty="0"/>
              <a:t> Correct as per the requirement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i="1" dirty="0"/>
              <a:t>Completeness:</a:t>
            </a:r>
            <a:r>
              <a:rPr lang="en-US" dirty="0"/>
              <a:t> Incorporate </a:t>
            </a:r>
            <a:r>
              <a:rPr lang="en-US" b="1" dirty="0"/>
              <a:t>all components</a:t>
            </a:r>
            <a:r>
              <a:rPr lang="en-US" dirty="0"/>
              <a:t> like data structures, modules, and external interfaces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i="1" dirty="0"/>
              <a:t>Efficiency: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Resources</a:t>
            </a:r>
            <a:r>
              <a:rPr lang="en-US" dirty="0"/>
              <a:t> should be used efficiently by the program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i="1" dirty="0"/>
              <a:t>Flexibility:</a:t>
            </a:r>
            <a:r>
              <a:rPr lang="en-US" dirty="0"/>
              <a:t> Able to </a:t>
            </a:r>
            <a:r>
              <a:rPr lang="en-US" dirty="0">
                <a:solidFill>
                  <a:srgbClr val="FF0000"/>
                </a:solidFill>
              </a:rPr>
              <a:t>modify</a:t>
            </a:r>
            <a:r>
              <a:rPr lang="en-US" dirty="0"/>
              <a:t> on changing needs</a:t>
            </a:r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b="1" i="1" dirty="0"/>
              <a:t>Consistency: </a:t>
            </a:r>
            <a:r>
              <a:rPr lang="en-US" dirty="0"/>
              <a:t>There should not be any inconsistency in the design.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b="1" i="1" dirty="0"/>
              <a:t>Maintainability: S</a:t>
            </a:r>
            <a:r>
              <a:rPr lang="en-US" dirty="0"/>
              <a:t>imple so that it can be </a:t>
            </a:r>
            <a:r>
              <a:rPr lang="en-US" dirty="0">
                <a:solidFill>
                  <a:srgbClr val="FF0000"/>
                </a:solidFill>
              </a:rPr>
              <a:t>easily</a:t>
            </a:r>
            <a:r>
              <a:rPr lang="en-US" dirty="0"/>
              <a:t> maintainable by other designers.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92859-4B79-EC70-67B4-478E6586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0990-37BD-49E7-9916-4898AB4172E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3685-C697-D2C0-5CDF-59896A56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27864-186D-03B2-202E-DBFDEE9A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0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DE1E-15DA-5099-4969-892F17095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73" y="500062"/>
            <a:ext cx="10515600" cy="1325563"/>
          </a:xfrm>
        </p:spPr>
        <p:txBody>
          <a:bodyPr/>
          <a:lstStyle/>
          <a:p>
            <a:r>
              <a:rPr lang="en-US" dirty="0"/>
              <a:t>Objectives of SW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2713-6BD0-B7C6-8F82-CDAA5AB7C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7.</a:t>
            </a:r>
            <a:r>
              <a:rPr lang="en-US" b="1" dirty="0"/>
              <a:t> </a:t>
            </a:r>
            <a:r>
              <a:rPr lang="en-US" b="1" i="1" dirty="0"/>
              <a:t>Configurability</a:t>
            </a:r>
            <a:r>
              <a:rPr lang="en-US" dirty="0"/>
              <a:t>: </a:t>
            </a:r>
            <a:r>
              <a:rPr lang="en-US" b="0" i="0" dirty="0">
                <a:effectLst/>
              </a:rPr>
              <a:t>as per the data provided in the configuration file.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b="1" i="1" dirty="0"/>
              <a:t>Scalability</a:t>
            </a:r>
            <a:r>
              <a:rPr lang="en-US" b="1" dirty="0"/>
              <a:t>: </a:t>
            </a:r>
            <a:r>
              <a:rPr lang="en-US" dirty="0"/>
              <a:t>support higher loads </a:t>
            </a:r>
          </a:p>
          <a:p>
            <a:pPr marL="0" indent="0">
              <a:buNone/>
            </a:pPr>
            <a:r>
              <a:rPr lang="en-US" dirty="0"/>
              <a:t>9. </a:t>
            </a:r>
            <a:r>
              <a:rPr lang="en-US" b="1" i="1" dirty="0"/>
              <a:t>Usability</a:t>
            </a:r>
            <a:r>
              <a:rPr lang="en-US" b="1" dirty="0"/>
              <a:t>: </a:t>
            </a:r>
            <a:r>
              <a:rPr lang="en-US" dirty="0"/>
              <a:t>ease of use, SW</a:t>
            </a:r>
          </a:p>
          <a:p>
            <a:pPr marL="0" indent="0">
              <a:buNone/>
            </a:pPr>
            <a:r>
              <a:rPr lang="en-US" dirty="0"/>
              <a:t>10. </a:t>
            </a:r>
            <a:r>
              <a:rPr lang="en-US" b="1" i="1" dirty="0"/>
              <a:t>Reliability</a:t>
            </a:r>
            <a:r>
              <a:rPr lang="en-US" b="1" dirty="0"/>
              <a:t>: </a:t>
            </a:r>
            <a:r>
              <a:rPr lang="en-US" dirty="0"/>
              <a:t>consistent functional results</a:t>
            </a:r>
          </a:p>
          <a:p>
            <a:pPr marL="0" indent="0">
              <a:buNone/>
            </a:pPr>
            <a:r>
              <a:rPr lang="en-US" dirty="0"/>
              <a:t>11. </a:t>
            </a:r>
            <a:r>
              <a:rPr lang="en-US" b="1" i="1" dirty="0"/>
              <a:t>Extendibility</a:t>
            </a:r>
            <a:r>
              <a:rPr lang="en-US" b="1" dirty="0"/>
              <a:t>: </a:t>
            </a:r>
            <a:r>
              <a:rPr lang="en-US" dirty="0"/>
              <a:t>support adding more functionalities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9C09B-A42E-6849-365A-F3B7C5F9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BD74-398E-4075-A014-FA932E416AA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E97EE-E8A6-5EAE-CCFD-A7B8A56F7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1022-820C-C2AB-557B-6AB23D32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2B1D-5DF1-2B82-3DAA-E51EAB1A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Software Design Process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DFC82-2424-7E11-7349-ED54CFD61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86" y="1039689"/>
            <a:ext cx="10720754" cy="4351338"/>
          </a:xfrm>
        </p:spPr>
        <p:txBody>
          <a:bodyPr/>
          <a:lstStyle/>
          <a:p>
            <a:r>
              <a:rPr lang="en-US" dirty="0"/>
              <a:t>Three major activities  of SW design process</a:t>
            </a:r>
          </a:p>
          <a:p>
            <a:pPr marL="0" indent="0">
              <a:buNone/>
            </a:pPr>
            <a:r>
              <a:rPr lang="en-US" dirty="0"/>
              <a:t>    - Interface design                </a:t>
            </a:r>
          </a:p>
          <a:p>
            <a:pPr marL="0" indent="0">
              <a:buNone/>
            </a:pPr>
            <a:r>
              <a:rPr lang="en-US" dirty="0"/>
              <a:t>    - Architecture Design and </a:t>
            </a:r>
          </a:p>
          <a:p>
            <a:pPr marL="0" indent="0">
              <a:buNone/>
            </a:pPr>
            <a:r>
              <a:rPr lang="en-US" dirty="0"/>
              <a:t>    - Detailed Design 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46A18-3C37-185C-94C2-57F5F9D3D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459" y="1603716"/>
            <a:ext cx="7133493" cy="495182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D6ED74-322B-A095-96C6-5A9A0E60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E822-6F15-47CB-BDF5-A226B6511E50}" type="datetime1">
              <a:rPr lang="en-US" smtClean="0"/>
              <a:t>9/29/2025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015A0D-99A6-4FB6-ACA5-0DFC5F7A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1FBD45-4EA0-A3DF-A5B7-F4D603DE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6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5913-4BCE-7449-42E0-7DD913CA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0A2E-1D01-5314-A3CF-BF04C9409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476325"/>
            <a:ext cx="10683240" cy="4645025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9600" b="1" i="1" dirty="0"/>
              <a:t>Interface Design: </a:t>
            </a:r>
            <a:r>
              <a:rPr lang="en-US" sz="9600" dirty="0"/>
              <a:t>interaction between a system and its environment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i="1" dirty="0"/>
              <a:t>     - </a:t>
            </a:r>
            <a:r>
              <a:rPr lang="en-US" sz="9600" dirty="0"/>
              <a:t>internal systems completely ignored ... System treated as a </a:t>
            </a:r>
            <a:r>
              <a:rPr lang="en-US" sz="9600" b="1" dirty="0"/>
              <a:t>black box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i="1" dirty="0"/>
              <a:t>     - </a:t>
            </a:r>
            <a:r>
              <a:rPr lang="en-US" sz="9600" dirty="0"/>
              <a:t>focused on the dialogue between the target system and the </a:t>
            </a:r>
            <a:r>
              <a:rPr lang="en-US" sz="9600" b="1" dirty="0"/>
              <a:t>users</a:t>
            </a:r>
            <a:r>
              <a:rPr lang="en-US" sz="9600" dirty="0"/>
              <a:t>, </a:t>
            </a:r>
            <a:r>
              <a:rPr lang="en-US" sz="9600" b="1" dirty="0"/>
              <a:t>devices</a:t>
            </a:r>
            <a:r>
              <a:rPr lang="en-US" sz="9600" dirty="0"/>
              <a:t>, and other systems with which it interacts.</a:t>
            </a:r>
          </a:p>
          <a:p>
            <a:pPr>
              <a:lnSpc>
                <a:spcPct val="120000"/>
              </a:lnSpc>
            </a:pPr>
            <a:r>
              <a:rPr lang="en-US" sz="9600" b="1" i="1" dirty="0"/>
              <a:t>includes: </a:t>
            </a:r>
            <a:r>
              <a:rPr lang="en-US" sz="9600" dirty="0"/>
              <a:t>Precise description of </a:t>
            </a:r>
            <a:r>
              <a:rPr lang="en-US" sz="9600" dirty="0">
                <a:solidFill>
                  <a:srgbClr val="FF0000"/>
                </a:solidFill>
              </a:rPr>
              <a:t>events in the environment,</a:t>
            </a:r>
            <a:r>
              <a:rPr lang="en-US" sz="9600" dirty="0"/>
              <a:t> or </a:t>
            </a:r>
            <a:r>
              <a:rPr lang="en-US" sz="9600" dirty="0">
                <a:solidFill>
                  <a:srgbClr val="FF0000"/>
                </a:solidFill>
              </a:rPr>
              <a:t>messages</a:t>
            </a:r>
            <a:r>
              <a:rPr lang="en-US" sz="9600" dirty="0"/>
              <a:t> from </a:t>
            </a:r>
            <a:r>
              <a:rPr lang="en-US" sz="9600" dirty="0">
                <a:solidFill>
                  <a:srgbClr val="FF0000"/>
                </a:solidFill>
              </a:rPr>
              <a:t>agents</a:t>
            </a:r>
            <a:r>
              <a:rPr lang="en-US" sz="9600" dirty="0"/>
              <a:t> to which the system must respond.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i="1" dirty="0"/>
              <a:t> - </a:t>
            </a:r>
            <a:r>
              <a:rPr lang="en-US" sz="9600" dirty="0"/>
              <a:t>Precise description of the </a:t>
            </a:r>
            <a:r>
              <a:rPr lang="en-US" sz="9600" dirty="0">
                <a:solidFill>
                  <a:srgbClr val="FF0000"/>
                </a:solidFill>
              </a:rPr>
              <a:t>events</a:t>
            </a:r>
            <a:r>
              <a:rPr lang="en-US" sz="9600" dirty="0"/>
              <a:t> or messages that the system must produce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i="1" dirty="0"/>
              <a:t> - </a:t>
            </a:r>
            <a:r>
              <a:rPr lang="en-US" sz="9600" dirty="0">
                <a:solidFill>
                  <a:srgbClr val="FF0000"/>
                </a:solidFill>
              </a:rPr>
              <a:t>data</a:t>
            </a:r>
            <a:r>
              <a:rPr lang="en-US" sz="9600" dirty="0"/>
              <a:t>, and the formats of the data coming into and going out of the system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i="1" dirty="0"/>
              <a:t> - </a:t>
            </a:r>
            <a:r>
              <a:rPr lang="en-US" sz="9600" dirty="0">
                <a:solidFill>
                  <a:srgbClr val="FF0000"/>
                </a:solidFill>
              </a:rPr>
              <a:t>ordering</a:t>
            </a:r>
            <a:r>
              <a:rPr lang="en-US" sz="9600" dirty="0"/>
              <a:t> and </a:t>
            </a:r>
            <a:r>
              <a:rPr lang="en-US" sz="9600" dirty="0">
                <a:solidFill>
                  <a:srgbClr val="FF0000"/>
                </a:solidFill>
              </a:rPr>
              <a:t>timing</a:t>
            </a:r>
            <a:r>
              <a:rPr lang="en-US" sz="9600" dirty="0"/>
              <a:t> relationships between incoming events or messages, and outgoing events or outputs</a:t>
            </a:r>
            <a:endParaRPr lang="en-US" sz="9600" b="1" i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/>
              <a:t>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421D-1CDA-3368-4BC8-BEFD7EDB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8173A-DEFB-494D-AE36-B7033951E4E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1341-070C-0809-9A7B-1412DC50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1EA0F-F290-3A78-3767-69E3FAEA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7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199C-8577-75C6-70A4-27AF6B1B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4A2B3-77FB-61EB-9520-29C73FF06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078" y="157240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i="1" dirty="0"/>
              <a:t>Architectural Design: </a:t>
            </a:r>
            <a:r>
              <a:rPr lang="en-US" dirty="0"/>
              <a:t>specification of the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major components </a:t>
            </a:r>
            <a:r>
              <a:rPr lang="en-US" dirty="0"/>
              <a:t>of a system</a:t>
            </a:r>
          </a:p>
          <a:p>
            <a:pPr marL="0" indent="0">
              <a:buNone/>
            </a:pPr>
            <a:r>
              <a:rPr lang="en-US" b="1" dirty="0"/>
              <a:t>   - </a:t>
            </a:r>
            <a:r>
              <a:rPr lang="en-US" dirty="0"/>
              <a:t>responsibilities, properties, interfaces, and the relationships and interactions between them. </a:t>
            </a:r>
          </a:p>
          <a:p>
            <a:pPr marL="0" indent="0">
              <a:buNone/>
            </a:pPr>
            <a:r>
              <a:rPr lang="en-US" b="1" dirty="0"/>
              <a:t>   - the </a:t>
            </a:r>
            <a:r>
              <a:rPr lang="en-US" dirty="0"/>
              <a:t>overall structure of the system is chosen, but 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internal details</a:t>
            </a:r>
            <a:r>
              <a:rPr lang="en-US" dirty="0"/>
              <a:t> of major components are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ignored.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b="1" dirty="0"/>
              <a:t>-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Lays the foundation for all subsequent work in the software engineering lifecycle.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b="1" dirty="0"/>
              <a:t>-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It provides the major structural components and interfaces of the system.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4EBE6-4A35-54A3-D935-FEAB36AB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1EC21-53F2-4109-A6B2-F90DE4DB088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C27A5-B78A-E81A-DF63-27C530B0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C1C0F-5266-6B3F-4B2D-02C1A3E9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8593-C590-C2F6-2C9F-6992E2E5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2E9D-EB46-4D38-42BE-3066E9D43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- It focuses on the quality aspects of the system before detailed design or construction can begin</a:t>
            </a:r>
          </a:p>
          <a:p>
            <a:r>
              <a:rPr lang="en-US" dirty="0"/>
              <a:t> Issues in architectural design: </a:t>
            </a:r>
          </a:p>
          <a:p>
            <a:pPr marL="0" indent="0">
              <a:buNone/>
            </a:pPr>
            <a:r>
              <a:rPr lang="en-US" dirty="0"/>
              <a:t>     - Gross decomposition of the systems into major components. </a:t>
            </a:r>
          </a:p>
          <a:p>
            <a:pPr marL="0" indent="0">
              <a:buNone/>
            </a:pPr>
            <a:r>
              <a:rPr lang="en-US" dirty="0"/>
              <a:t>     - Allocation of functional responsibilities to components.</a:t>
            </a:r>
          </a:p>
          <a:p>
            <a:pPr marL="0" indent="0">
              <a:buNone/>
            </a:pPr>
            <a:r>
              <a:rPr lang="en-US" dirty="0"/>
              <a:t>     - Component Interfaces </a:t>
            </a:r>
          </a:p>
          <a:p>
            <a:pPr marL="0" indent="0">
              <a:buNone/>
            </a:pPr>
            <a:r>
              <a:rPr lang="en-US" dirty="0"/>
              <a:t>     - Component scaling and performance properties, resource consumption properties, reliability properties, and so forth.</a:t>
            </a:r>
          </a:p>
          <a:p>
            <a:pPr marL="0" indent="0">
              <a:buNone/>
            </a:pPr>
            <a:r>
              <a:rPr lang="en-US" dirty="0"/>
              <a:t>     -  Communication and interaction between components.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65516-723E-7C34-9085-9AD1C13F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3CA1-D921-4B9D-BB68-309B6085C8F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15668-A2CB-9BE6-140A-E75C6ED0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E921-B75B-8398-F572-B13C0052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6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5238-BBFE-04C7-EA5C-6C909A3E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8660-57A9-4ACD-CACD-E5AA22316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Detailed Design:  </a:t>
            </a:r>
            <a:r>
              <a:rPr lang="en-US" dirty="0"/>
              <a:t>specification of the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internal elements</a:t>
            </a:r>
            <a:r>
              <a:rPr lang="en-US" dirty="0"/>
              <a:t> of all major system components.</a:t>
            </a:r>
          </a:p>
          <a:p>
            <a:pPr marL="0" indent="0">
              <a:buNone/>
            </a:pPr>
            <a:r>
              <a:rPr lang="en-US" b="1" dirty="0"/>
              <a:t>       - </a:t>
            </a:r>
            <a:r>
              <a:rPr lang="en-US" dirty="0"/>
              <a:t>their properties, relationships, processing, and often their </a:t>
            </a:r>
            <a:r>
              <a:rPr lang="en-US" dirty="0">
                <a:solidFill>
                  <a:srgbClr val="FF0000"/>
                </a:solidFill>
              </a:rPr>
              <a:t>algorithms and the data structures</a:t>
            </a:r>
          </a:p>
          <a:p>
            <a:pPr marL="0" indent="0">
              <a:buNone/>
            </a:pPr>
            <a:r>
              <a:rPr lang="en-US" b="1" dirty="0"/>
              <a:t>       - </a:t>
            </a:r>
            <a:r>
              <a:rPr lang="en-US" dirty="0"/>
              <a:t>Begins after the software architecture activity is specified, reviewed, and deemed sufficiently complete</a:t>
            </a:r>
          </a:p>
          <a:p>
            <a:pPr marL="0" indent="0">
              <a:buNone/>
            </a:pPr>
            <a:r>
              <a:rPr lang="en-US" b="1" dirty="0"/>
              <a:t>       - </a:t>
            </a:r>
            <a:r>
              <a:rPr lang="en-US" dirty="0"/>
              <a:t>Focuses on</a:t>
            </a:r>
            <a:r>
              <a:rPr lang="en-US" dirty="0">
                <a:solidFill>
                  <a:srgbClr val="FF0000"/>
                </a:solidFill>
              </a:rPr>
              <a:t> functional requirements</a:t>
            </a:r>
            <a:r>
              <a:rPr lang="en-US" dirty="0"/>
              <a:t>, whereas the </a:t>
            </a:r>
            <a:r>
              <a:rPr lang="en-US" dirty="0">
                <a:solidFill>
                  <a:srgbClr val="FF0000"/>
                </a:solidFill>
              </a:rPr>
              <a:t>architecture</a:t>
            </a:r>
            <a:r>
              <a:rPr lang="en-US" dirty="0"/>
              <a:t> focuses mostly on </a:t>
            </a:r>
            <a:r>
              <a:rPr lang="en-US" dirty="0">
                <a:solidFill>
                  <a:srgbClr val="FF0000"/>
                </a:solidFill>
              </a:rPr>
              <a:t>non-functional</a:t>
            </a:r>
            <a:r>
              <a:rPr lang="en-US" dirty="0"/>
              <a:t>, or quality, requirements.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20D7-FDC2-B816-65D0-02ED7115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92F0-F283-4C21-91F7-D9FBD7C6CA2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AA59-BBDA-ED10-113C-EA6B402A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7EE4C-3B12-5B20-B1A0-BC26226D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46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278D-B669-6744-1368-1CE8C0CB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BC87E-E33C-A0B6-106F-BA9CD6A0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detailed design may include: </a:t>
            </a:r>
          </a:p>
          <a:p>
            <a:pPr marL="0" indent="0">
              <a:buNone/>
            </a:pPr>
            <a:r>
              <a:rPr lang="en-US" dirty="0"/>
              <a:t>      - Decomposition of major system components into </a:t>
            </a:r>
            <a:r>
              <a:rPr lang="en-US" dirty="0">
                <a:solidFill>
                  <a:srgbClr val="FF0000"/>
                </a:solidFill>
              </a:rPr>
              <a:t>program units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- Allocation of </a:t>
            </a:r>
            <a:r>
              <a:rPr lang="en-US" dirty="0">
                <a:solidFill>
                  <a:srgbClr val="FF0000"/>
                </a:solidFill>
              </a:rPr>
              <a:t>functional responsibilities </a:t>
            </a:r>
            <a:r>
              <a:rPr lang="en-US" dirty="0"/>
              <a:t>to units. </a:t>
            </a:r>
          </a:p>
          <a:p>
            <a:pPr marL="0" indent="0">
              <a:buNone/>
            </a:pPr>
            <a:r>
              <a:rPr lang="en-US" dirty="0"/>
              <a:t>      - User interfaces </a:t>
            </a:r>
          </a:p>
          <a:p>
            <a:pPr marL="0" indent="0">
              <a:buNone/>
            </a:pPr>
            <a:r>
              <a:rPr lang="en-US" dirty="0"/>
              <a:t>      - Unit states and state changes </a:t>
            </a:r>
          </a:p>
          <a:p>
            <a:pPr marL="0" indent="0">
              <a:buNone/>
            </a:pPr>
            <a:r>
              <a:rPr lang="en-US" dirty="0"/>
              <a:t>      - Data and control interaction between units </a:t>
            </a:r>
          </a:p>
          <a:p>
            <a:pPr marL="0" indent="0">
              <a:buNone/>
            </a:pPr>
            <a:r>
              <a:rPr lang="en-US" dirty="0"/>
              <a:t>      - Data packaging and implementation, including issues of scope and visibility of program elements  </a:t>
            </a:r>
          </a:p>
          <a:p>
            <a:pPr marL="0" indent="0">
              <a:buNone/>
            </a:pPr>
            <a:r>
              <a:rPr lang="en-US" dirty="0"/>
              <a:t>      - Algorithms and data structures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545DB-2697-4904-4690-F5AEC26A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36521-BDE9-482B-A482-4DD28D7F355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35FE-4132-E9F3-A29E-D51F3894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40625-254F-16C4-99A8-AFFE0934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4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1EA1-3221-59B0-2CB5-6F590E58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C38CF-E469-D40C-7419-6D954A68A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documentation </a:t>
            </a:r>
          </a:p>
          <a:p>
            <a:r>
              <a:rPr lang="en-US" dirty="0"/>
              <a:t>and Management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9CDA-0B19-8CBB-9AB1-774D1522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0173E-5197-4D9B-86F9-F5DFCB9DB6B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BAE30-07BC-0789-0799-E43A90DA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FB93-0E4E-B6A8-277E-B0DB5E00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41C11-F77C-3646-1F91-D3BECA668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280160"/>
            <a:ext cx="6780628" cy="5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84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D7CD-6F78-3642-282D-1FE814B0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Design 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D0896-1C4D-2668-83E6-25E83CA0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6" y="1252759"/>
            <a:ext cx="11002780" cy="572941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4400" b="1" i="1" dirty="0">
                <a:effectLst/>
              </a:rPr>
              <a:t>Compatibility</a:t>
            </a:r>
            <a:r>
              <a:rPr lang="en-US" sz="4400" b="0" i="0" dirty="0">
                <a:effectLst/>
              </a:rPr>
              <a:t> - operate with other products ... E.g. older versions </a:t>
            </a:r>
          </a:p>
          <a:p>
            <a:pPr>
              <a:lnSpc>
                <a:spcPct val="120000"/>
              </a:lnSpc>
            </a:pPr>
            <a:r>
              <a:rPr lang="en-US" sz="4400" b="1" i="1" strike="noStrike" dirty="0">
                <a:effectLst/>
              </a:rPr>
              <a:t>Extensibility</a:t>
            </a:r>
            <a:r>
              <a:rPr lang="en-US" sz="4400" b="0" i="0" dirty="0">
                <a:effectLst/>
              </a:rPr>
              <a:t> - </a:t>
            </a:r>
            <a:r>
              <a:rPr lang="en-US" sz="4400" b="1" i="0" dirty="0">
                <a:effectLst/>
              </a:rPr>
              <a:t>New capabilities</a:t>
            </a:r>
            <a:r>
              <a:rPr lang="en-US" sz="4400" b="0" i="0" dirty="0">
                <a:effectLst/>
              </a:rPr>
              <a:t> can be added to the software without major changes to the underlying architecture</a:t>
            </a:r>
          </a:p>
          <a:p>
            <a:pPr>
              <a:lnSpc>
                <a:spcPct val="120000"/>
              </a:lnSpc>
            </a:pPr>
            <a:r>
              <a:rPr lang="en-US" sz="4400" b="1" i="1" dirty="0"/>
              <a:t>Modularity</a:t>
            </a:r>
            <a:r>
              <a:rPr lang="en-US" sz="4400" b="0" i="0" dirty="0">
                <a:effectLst/>
              </a:rPr>
              <a:t> - </a:t>
            </a:r>
            <a:r>
              <a:rPr lang="en-US" sz="4400" b="1" i="0" dirty="0">
                <a:effectLst/>
              </a:rPr>
              <a:t>comprises well-defined, independent components</a:t>
            </a:r>
            <a:r>
              <a:rPr lang="en-US" sz="4400" b="0" i="0" dirty="0">
                <a:effectLst/>
              </a:rPr>
              <a:t>... implemented and tested in isolation before being integrated to form a desired software system.</a:t>
            </a:r>
          </a:p>
          <a:p>
            <a:pPr>
              <a:lnSpc>
                <a:spcPct val="120000"/>
              </a:lnSpc>
            </a:pPr>
            <a:r>
              <a:rPr lang="en-US" sz="4400" b="1" i="1" u="none" strike="noStrike" dirty="0">
                <a:effectLst/>
              </a:rPr>
              <a:t>Fault-tolerance</a:t>
            </a:r>
            <a:r>
              <a:rPr lang="en-US" sz="4400" b="1" i="0" u="none" strike="noStrike" dirty="0">
                <a:effectLst/>
              </a:rPr>
              <a:t> </a:t>
            </a:r>
            <a:r>
              <a:rPr lang="en-US" sz="4400" b="0" i="0" dirty="0">
                <a:effectLst/>
              </a:rPr>
              <a:t>- The software is </a:t>
            </a:r>
            <a:r>
              <a:rPr lang="en-US" sz="4400" b="0" i="0" dirty="0">
                <a:solidFill>
                  <a:srgbClr val="FF0000"/>
                </a:solidFill>
                <a:effectLst/>
              </a:rPr>
              <a:t>resistant</a:t>
            </a:r>
            <a:r>
              <a:rPr lang="en-US" sz="4400" b="0" i="0" dirty="0">
                <a:effectLst/>
              </a:rPr>
              <a:t> to and able to </a:t>
            </a:r>
            <a:r>
              <a:rPr lang="en-US" sz="4400" b="0" i="0" dirty="0">
                <a:solidFill>
                  <a:srgbClr val="FF0000"/>
                </a:solidFill>
                <a:effectLst/>
              </a:rPr>
              <a:t>recover</a:t>
            </a:r>
            <a:r>
              <a:rPr lang="en-US" sz="4400" b="0" i="0" dirty="0">
                <a:effectLst/>
              </a:rPr>
              <a:t> from component failure.</a:t>
            </a:r>
          </a:p>
          <a:p>
            <a:pPr>
              <a:lnSpc>
                <a:spcPct val="120000"/>
              </a:lnSpc>
            </a:pPr>
            <a:r>
              <a:rPr lang="en-US" sz="4400" b="1" i="1" dirty="0">
                <a:effectLst/>
              </a:rPr>
              <a:t>Maintainability</a:t>
            </a:r>
            <a:r>
              <a:rPr lang="en-US" sz="4400" b="0" i="0" dirty="0">
                <a:effectLst/>
              </a:rPr>
              <a:t> - ease in </a:t>
            </a:r>
            <a:r>
              <a:rPr lang="en-US" sz="4400" b="0" i="0" dirty="0">
                <a:solidFill>
                  <a:srgbClr val="FF0000"/>
                </a:solidFill>
                <a:effectLst/>
              </a:rPr>
              <a:t>bug fixes </a:t>
            </a:r>
            <a:r>
              <a:rPr lang="en-US" sz="4400" b="0" i="0" dirty="0">
                <a:effectLst/>
              </a:rPr>
              <a:t>or functional modifications can be accomplished. High </a:t>
            </a:r>
            <a:r>
              <a:rPr lang="en-US" sz="4400" b="0" i="1" dirty="0">
                <a:effectLst/>
              </a:rPr>
              <a:t>maintainability</a:t>
            </a:r>
            <a:r>
              <a:rPr lang="en-US" sz="4400" b="0" i="0" dirty="0">
                <a:effectLst/>
              </a:rPr>
              <a:t> can be the product of modularity and extensibility.</a:t>
            </a:r>
          </a:p>
          <a:p>
            <a:pPr>
              <a:lnSpc>
                <a:spcPct val="120000"/>
              </a:lnSpc>
            </a:pPr>
            <a:r>
              <a:rPr lang="en-US" sz="4400" b="1" i="0" dirty="0">
                <a:effectLst/>
              </a:rPr>
              <a:t>Reliability</a:t>
            </a:r>
            <a:r>
              <a:rPr lang="en-US" sz="4400" b="0" i="0" dirty="0">
                <a:effectLst/>
              </a:rPr>
              <a:t> (</a:t>
            </a:r>
            <a:r>
              <a:rPr lang="en-US" sz="4400" b="0" i="0" u="none" strike="noStrike" dirty="0">
                <a:effectLst/>
                <a:hlinkClick r:id="rId2" tooltip="Software dura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durability</a:t>
            </a:r>
            <a:r>
              <a:rPr lang="en-US" sz="4400" b="0" i="0" dirty="0">
                <a:effectLst/>
              </a:rPr>
              <a:t>) - perform a required function under stated conditions for a specified period of time.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D8A0B-2BFF-1A40-10F7-B1EFB1BB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60B38-0180-BD32-EFF5-6D0CCF10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EE9A1-A7C2-7B58-DBBB-1AE9BE08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3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EE2B-4F9C-8B60-0642-084F9895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112" y="115119"/>
            <a:ext cx="10515600" cy="1325563"/>
          </a:xfrm>
        </p:spPr>
        <p:txBody>
          <a:bodyPr/>
          <a:lstStyle/>
          <a:p>
            <a:r>
              <a:rPr lang="en-US" dirty="0"/>
              <a:t>Design 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F83D-7F59-49F1-C5D6-DA277B7B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88" y="1200552"/>
            <a:ext cx="10785424" cy="4983151"/>
          </a:xfrm>
        </p:spPr>
        <p:txBody>
          <a:bodyPr>
            <a:noAutofit/>
          </a:bodyPr>
          <a:lstStyle/>
          <a:p>
            <a:r>
              <a:rPr lang="en-US" sz="2400" b="1" i="1" dirty="0"/>
              <a:t>Reusability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- The ability to use some or all of the aspects of the preexisting software in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other projects </a:t>
            </a:r>
            <a:r>
              <a:rPr lang="en-US" sz="2400" b="0" i="0" dirty="0">
                <a:effectLst/>
              </a:rPr>
              <a:t>with little to no modification.</a:t>
            </a:r>
          </a:p>
          <a:p>
            <a:r>
              <a:rPr lang="en-US" sz="2400" b="1" i="1" dirty="0"/>
              <a:t>Robustness </a:t>
            </a:r>
            <a:r>
              <a:rPr lang="en-US" sz="2400" b="0" i="0" dirty="0">
                <a:effectLst/>
              </a:rPr>
              <a:t>- operate under </a:t>
            </a:r>
            <a:r>
              <a:rPr lang="en-US" sz="2400" b="1" i="1" dirty="0">
                <a:effectLst/>
              </a:rPr>
              <a:t>stress</a:t>
            </a:r>
            <a:r>
              <a:rPr lang="en-US" sz="2400" b="0" i="0" dirty="0">
                <a:effectLst/>
              </a:rPr>
              <a:t> or tolerate unpredictable or </a:t>
            </a:r>
            <a:r>
              <a:rPr lang="en-US" sz="2400" b="1" i="1" dirty="0">
                <a:effectLst/>
              </a:rPr>
              <a:t>invalid input</a:t>
            </a:r>
            <a:r>
              <a:rPr lang="en-US" sz="2400" b="0" i="0" dirty="0">
                <a:effectLst/>
              </a:rPr>
              <a:t>. </a:t>
            </a:r>
          </a:p>
          <a:p>
            <a:r>
              <a:rPr lang="en-US" sz="2400" b="1" i="1" dirty="0"/>
              <a:t>Security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- The software is able to withstand and resist </a:t>
            </a:r>
            <a:r>
              <a:rPr lang="en-US" sz="2400" b="1" i="1" dirty="0">
                <a:effectLst/>
              </a:rPr>
              <a:t>hostile acts </a:t>
            </a:r>
            <a:r>
              <a:rPr lang="en-US" sz="2400" b="0" i="0" dirty="0">
                <a:effectLst/>
              </a:rPr>
              <a:t>and influences</a:t>
            </a:r>
          </a:p>
          <a:p>
            <a:r>
              <a:rPr lang="en-US" sz="2400" b="1" i="1" dirty="0"/>
              <a:t>Usability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- The software</a:t>
            </a:r>
            <a:r>
              <a:rPr lang="en-US" sz="2400" b="0" i="1" dirty="0">
                <a:effectLst/>
              </a:rPr>
              <a:t> </a:t>
            </a:r>
            <a:r>
              <a:rPr lang="en-US" sz="2400" b="1" i="1" dirty="0"/>
              <a:t>user interface</a:t>
            </a:r>
            <a:r>
              <a:rPr lang="en-US" sz="2400" b="1" i="1" dirty="0">
                <a:effectLst/>
              </a:rPr>
              <a:t> </a:t>
            </a:r>
            <a:r>
              <a:rPr lang="en-US" sz="2400" b="0" i="0" dirty="0">
                <a:effectLst/>
              </a:rPr>
              <a:t>must be usable for its target user/audience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1" dirty="0"/>
              <a:t>Performance</a:t>
            </a:r>
            <a:r>
              <a:rPr lang="en-US" sz="2400" i="1" dirty="0"/>
              <a:t> </a:t>
            </a:r>
            <a:r>
              <a:rPr lang="en-US" sz="2400" b="0" i="0" dirty="0">
                <a:effectLst/>
              </a:rPr>
              <a:t>– The software performs its tasks </a:t>
            </a:r>
            <a:r>
              <a:rPr lang="en-US" sz="2400" b="1" i="1" dirty="0">
                <a:effectLst/>
              </a:rPr>
              <a:t>within a time frame</a:t>
            </a:r>
            <a:r>
              <a:rPr lang="en-US" sz="2400" b="0" i="0" dirty="0">
                <a:effectLst/>
              </a:rPr>
              <a:t> that is acceptable for the user, and does not require too much memory.</a:t>
            </a:r>
          </a:p>
          <a:p>
            <a:r>
              <a:rPr lang="en-US" sz="2400" b="1" i="1" dirty="0"/>
              <a:t>Portability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– The software should be usable across a number </a:t>
            </a:r>
            <a:r>
              <a:rPr lang="en-US" sz="2400" b="1" i="1" dirty="0">
                <a:effectLst/>
              </a:rPr>
              <a:t>of different conditions </a:t>
            </a:r>
            <a:r>
              <a:rPr lang="en-US" sz="2400" b="0" i="0" dirty="0">
                <a:effectLst/>
              </a:rPr>
              <a:t>and environments</a:t>
            </a:r>
          </a:p>
          <a:p>
            <a:r>
              <a:rPr lang="en-US" sz="2400" b="1" dirty="0"/>
              <a:t>Scalability</a:t>
            </a:r>
            <a:r>
              <a:rPr lang="en-US" sz="2400" dirty="0"/>
              <a:t> </a:t>
            </a:r>
            <a:r>
              <a:rPr lang="en-US" sz="2400" b="0" i="0" dirty="0">
                <a:effectLst/>
              </a:rPr>
              <a:t>– The software adapts well to </a:t>
            </a:r>
            <a:r>
              <a:rPr lang="en-US" sz="2400" b="1" i="1" dirty="0">
                <a:effectLst/>
              </a:rPr>
              <a:t>increasing data </a:t>
            </a:r>
            <a:r>
              <a:rPr lang="en-US" sz="2400" b="0" i="0" dirty="0">
                <a:effectLst/>
              </a:rPr>
              <a:t>or added </a:t>
            </a:r>
            <a:r>
              <a:rPr lang="en-US" sz="2400" b="1" i="1" dirty="0">
                <a:effectLst/>
              </a:rPr>
              <a:t>features</a:t>
            </a:r>
            <a:r>
              <a:rPr lang="en-US" sz="2400" b="0" i="0" dirty="0">
                <a:effectLst/>
              </a:rPr>
              <a:t> or the number of users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8679-2CC1-7B8A-360B-4DD7E573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C24A4-BCE7-001C-6B98-0B8A34ED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1076A-CA6B-83D6-5A82-7C12E93A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89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72DE-58FF-F929-46C2-12164AD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27"/>
            <a:ext cx="10515600" cy="1325563"/>
          </a:xfrm>
        </p:spPr>
        <p:txBody>
          <a:bodyPr/>
          <a:lstStyle/>
          <a:p>
            <a:r>
              <a:rPr lang="en-US" dirty="0"/>
              <a:t>Design Principles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2357F-F498-27D4-B1CC-E2E5E3C2C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117"/>
            <a:ext cx="10515600" cy="4351338"/>
          </a:xfrm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roviding means to handle the complexity of the design process effectively. </a:t>
            </a:r>
          </a:p>
          <a:p>
            <a:r>
              <a:rPr lang="en-US" sz="2400" b="0" i="1" dirty="0">
                <a:solidFill>
                  <a:srgbClr val="000000"/>
                </a:solidFill>
                <a:effectLst/>
              </a:rPr>
              <a:t>not only reduce the effort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needed for design but can also 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reduce the scope of introducing errors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during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design.</a:t>
            </a:r>
            <a:r>
              <a:rPr lang="en-US" sz="2400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5FE7-A462-A76E-E863-A514C217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A0945-7466-4FDB-7414-057CBCC8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C402-4F2B-18C2-8281-A7CBD262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1CDB22-2AF9-3A3B-02AD-1D90A2F1B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42" y="2241230"/>
            <a:ext cx="7448862" cy="398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81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C1F9-CD38-D01E-BB52-AFCC6C3A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Partitioning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9060-7508-6833-D171-0CDBB3986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997"/>
            <a:ext cx="10515600" cy="496387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For small problems, we can handle the entire problem at once but for the significant the problem, </a:t>
            </a:r>
            <a:r>
              <a:rPr lang="en-US" sz="2600" b="0" i="0" dirty="0">
                <a:solidFill>
                  <a:srgbClr val="FF0000"/>
                </a:solidFill>
                <a:effectLst/>
              </a:rPr>
              <a:t>divide the problems and conquer the problem.</a:t>
            </a:r>
          </a:p>
          <a:p>
            <a:pPr>
              <a:lnSpc>
                <a:spcPct val="110000"/>
              </a:lnSpc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For software design, the goal is to divide the problem into manageable pieces</a:t>
            </a:r>
            <a:r>
              <a:rPr lang="en-US" sz="26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600" b="1" i="0" dirty="0">
                <a:solidFill>
                  <a:srgbClr val="000000"/>
                </a:solidFill>
                <a:effectLst/>
              </a:rPr>
              <a:t>Benefits of Problem Partitioning</a:t>
            </a:r>
            <a:br>
              <a:rPr lang="en-US" sz="2600" b="1" i="0" dirty="0">
                <a:solidFill>
                  <a:srgbClr val="000000"/>
                </a:solidFill>
                <a:effectLst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</a:rPr>
              <a:t>1. Software is easy to understand</a:t>
            </a:r>
            <a:br>
              <a:rPr lang="en-US" sz="2600" b="0" i="0" dirty="0">
                <a:solidFill>
                  <a:srgbClr val="000000"/>
                </a:solidFill>
                <a:effectLst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</a:rPr>
              <a:t>2. Software becomes simple</a:t>
            </a:r>
            <a:br>
              <a:rPr lang="en-US" sz="2600" b="0" i="0" dirty="0">
                <a:solidFill>
                  <a:srgbClr val="000000"/>
                </a:solidFill>
                <a:effectLst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</a:rPr>
              <a:t>3. Software is easy to test</a:t>
            </a:r>
            <a:br>
              <a:rPr lang="en-US" sz="2600" b="0" i="0" dirty="0">
                <a:solidFill>
                  <a:srgbClr val="000000"/>
                </a:solidFill>
                <a:effectLst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</a:rPr>
              <a:t>4. Software is easy to modify</a:t>
            </a:r>
            <a:br>
              <a:rPr lang="en-US" sz="2600" b="0" i="0" dirty="0">
                <a:solidFill>
                  <a:srgbClr val="000000"/>
                </a:solidFill>
                <a:effectLst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</a:rPr>
              <a:t>5. Software is easy to maintain</a:t>
            </a:r>
            <a:br>
              <a:rPr lang="en-US" sz="2600" b="0" i="0" dirty="0">
                <a:solidFill>
                  <a:srgbClr val="000000"/>
                </a:solidFill>
                <a:effectLst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</a:rPr>
              <a:t>6. Software is easy to expand</a:t>
            </a:r>
            <a:r>
              <a:rPr lang="en-US" sz="2600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59B2-2FB8-2389-AB66-E5498A9E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297FE-B790-DF39-9DD1-AE362CFF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7CAD1-FEC6-6221-2316-4A2AB327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6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FC9E-718D-3557-99CD-FD46A0C8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Abstraction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FE2B-1555-4FA8-F7A3-2B69DBE14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85" y="1424066"/>
            <a:ext cx="11092721" cy="5068809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00000"/>
                </a:solidFill>
              </a:rPr>
              <a:t>C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onsider a component at an </a:t>
            </a:r>
            <a:r>
              <a:rPr lang="en-US" sz="2200" b="0" i="1" dirty="0">
                <a:solidFill>
                  <a:srgbClr val="FF0000"/>
                </a:solidFill>
                <a:effectLst/>
              </a:rPr>
              <a:t>abstract level</a:t>
            </a:r>
            <a:r>
              <a:rPr lang="en-US" sz="2200" b="0" i="1" dirty="0">
                <a:solidFill>
                  <a:srgbClr val="000000"/>
                </a:solidFill>
                <a:effectLst/>
              </a:rPr>
              <a:t>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without bothering about </a:t>
            </a:r>
            <a:r>
              <a:rPr lang="en-US" sz="2200" b="0" i="1" dirty="0">
                <a:solidFill>
                  <a:srgbClr val="000000"/>
                </a:solidFill>
                <a:effectLst/>
              </a:rPr>
              <a:t>the internal details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of the implementation. </a:t>
            </a:r>
          </a:p>
          <a:p>
            <a:r>
              <a:rPr lang="en-US" sz="2200" b="0" i="0" dirty="0">
                <a:solidFill>
                  <a:srgbClr val="000000"/>
                </a:solidFill>
                <a:effectLst/>
              </a:rPr>
              <a:t>Abstraction can be used for existing elements as well as the component being designed</a:t>
            </a:r>
          </a:p>
          <a:p>
            <a:pPr>
              <a:lnSpc>
                <a:spcPct val="100000"/>
              </a:lnSpc>
            </a:pPr>
            <a:r>
              <a:rPr lang="en-US" sz="2200" b="0" i="0" dirty="0">
                <a:solidFill>
                  <a:srgbClr val="000000"/>
                </a:solidFill>
                <a:effectLst/>
              </a:rPr>
              <a:t>there are two common abstraction mechanisms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1" i="1" dirty="0">
                <a:solidFill>
                  <a:srgbClr val="000000"/>
                </a:solidFill>
                <a:effectLst/>
              </a:rPr>
              <a:t>1. Functional Abstraction</a:t>
            </a:r>
          </a:p>
          <a:p>
            <a:r>
              <a:rPr lang="en-US" sz="2200" dirty="0">
                <a:solidFill>
                  <a:srgbClr val="000000"/>
                </a:solidFill>
              </a:rPr>
              <a:t>A module is specified by the </a:t>
            </a:r>
            <a:r>
              <a:rPr lang="en-US" sz="2200" dirty="0">
                <a:solidFill>
                  <a:srgbClr val="FF0000"/>
                </a:solidFill>
              </a:rPr>
              <a:t>method it performs </a:t>
            </a:r>
          </a:p>
          <a:p>
            <a:r>
              <a:rPr lang="en-US" sz="2200" dirty="0">
                <a:solidFill>
                  <a:srgbClr val="000000"/>
                </a:solidFill>
              </a:rPr>
              <a:t>The </a:t>
            </a:r>
            <a:r>
              <a:rPr lang="en-US" sz="2200" b="1" dirty="0">
                <a:solidFill>
                  <a:srgbClr val="000000"/>
                </a:solidFill>
              </a:rPr>
              <a:t>details of the algorithm to accomplish the functions are not visible </a:t>
            </a:r>
            <a:r>
              <a:rPr lang="en-US" sz="2200" dirty="0">
                <a:solidFill>
                  <a:srgbClr val="000000"/>
                </a:solidFill>
              </a:rPr>
              <a:t>to the user of the function.</a:t>
            </a:r>
          </a:p>
          <a:p>
            <a:pPr>
              <a:lnSpc>
                <a:spcPct val="100000"/>
              </a:lnSpc>
            </a:pPr>
            <a:r>
              <a:rPr lang="en-US" sz="2200" b="0" i="0" dirty="0">
                <a:solidFill>
                  <a:srgbClr val="000000"/>
                </a:solidFill>
                <a:effectLst/>
              </a:rPr>
              <a:t>Function-oriented design approach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1" i="1" dirty="0">
                <a:solidFill>
                  <a:srgbClr val="000000"/>
                </a:solidFill>
                <a:effectLst/>
              </a:rPr>
              <a:t>2. Data Abstraction</a:t>
            </a:r>
            <a:r>
              <a:rPr lang="en-US" sz="2200" b="1" i="1" dirty="0"/>
              <a:t> </a:t>
            </a:r>
          </a:p>
          <a:p>
            <a:r>
              <a:rPr lang="en-US" sz="2200" dirty="0"/>
              <a:t>Details of the </a:t>
            </a:r>
            <a:r>
              <a:rPr lang="en-US" sz="2200" dirty="0">
                <a:solidFill>
                  <a:srgbClr val="FF0000"/>
                </a:solidFill>
              </a:rPr>
              <a:t>data elements are not visible </a:t>
            </a:r>
            <a:r>
              <a:rPr lang="en-US" sz="2200" dirty="0"/>
              <a:t>to the users of the data. </a:t>
            </a:r>
          </a:p>
          <a:p>
            <a:r>
              <a:rPr lang="en-US" sz="2200" dirty="0"/>
              <a:t>Object-oriented design approach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DF00B-267C-F27C-51A1-A1110B85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0CA60-A8FA-1210-A57C-23356C3A9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C87B6-FCCD-A181-0CD1-F4372130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3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FBEA2-2026-FDA1-9173-9996E9F03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308" y="376367"/>
            <a:ext cx="10515600" cy="1325563"/>
          </a:xfrm>
        </p:spPr>
        <p:txBody>
          <a:bodyPr/>
          <a:lstStyle/>
          <a:p>
            <a:r>
              <a:rPr lang="en-US" dirty="0"/>
              <a:t>Modularity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815AA-1B0D-1E63-970F-BDAA4BB8D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88"/>
            <a:ext cx="10515600" cy="679054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the division of software into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separate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modules which are differently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named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and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addressed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and are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integrated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later on in to obtain the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completely functional software. </a:t>
            </a:r>
          </a:p>
          <a:p>
            <a:pPr>
              <a:lnSpc>
                <a:spcPct val="11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the only property that allows a program to be </a:t>
            </a:r>
            <a:r>
              <a:rPr lang="en-US" sz="2400" b="1" i="0" dirty="0">
                <a:solidFill>
                  <a:srgbClr val="FF0000"/>
                </a:solidFill>
                <a:effectLst/>
              </a:rPr>
              <a:t>intellectually manageable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The desirable properties of a modular system are:</a:t>
            </a:r>
            <a:br>
              <a:rPr lang="en-US" sz="2400" b="1" i="0" dirty="0">
                <a:solidFill>
                  <a:srgbClr val="000000"/>
                </a:solidFill>
                <a:effectLst/>
              </a:rPr>
            </a:br>
            <a:r>
              <a:rPr lang="en-US" sz="2400" dirty="0">
                <a:solidFill>
                  <a:srgbClr val="000000"/>
                </a:solidFill>
              </a:rPr>
              <a:t>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Each module is a well-defined system that can be used with other applications.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</a:rPr>
              <a:t>  - Each module has single specified objectives.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dirty="0">
                <a:solidFill>
                  <a:srgbClr val="000000"/>
                </a:solidFill>
              </a:rPr>
              <a:t>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Modules can be separately compiled and saved in the library.</a:t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</a:rPr>
              <a:t>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Modules should be easier to use than to build.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dirty="0">
                <a:solidFill>
                  <a:srgbClr val="000000"/>
                </a:solidFill>
              </a:rPr>
              <a:t>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63CFF-F1AC-2577-8B7A-52E83121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CAAE1-D687-9C47-581F-E4845101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8B654-8A4C-A3C1-83FC-A1877718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45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B392-058C-6CD9-BBCD-FB5DA3B0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Modular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B87C4-8E93-31F2-770F-FF999EE33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8043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/>
              <a:t>1. Functional independence: </a:t>
            </a:r>
          </a:p>
          <a:p>
            <a:pPr marL="0" indent="0">
              <a:buNone/>
            </a:pPr>
            <a:r>
              <a:rPr lang="en-US" sz="2600" dirty="0"/>
              <a:t>   -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developing functions that perform </a:t>
            </a:r>
            <a:r>
              <a:rPr lang="en-US" sz="2600" b="1" i="1" dirty="0">
                <a:solidFill>
                  <a:srgbClr val="000000"/>
                </a:solidFill>
                <a:effectLst/>
              </a:rPr>
              <a:t>only one kind of task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 and </a:t>
            </a:r>
            <a:r>
              <a:rPr lang="en-US" sz="2600" b="0" i="0" dirty="0">
                <a:solidFill>
                  <a:srgbClr val="FF0000"/>
                </a:solidFill>
                <a:effectLst/>
              </a:rPr>
              <a:t>do not excessively interact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 with other modules. </a:t>
            </a:r>
          </a:p>
          <a:p>
            <a:pPr marL="0" indent="0">
              <a:buNone/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  - it makes implementation more </a:t>
            </a:r>
            <a:r>
              <a:rPr lang="en-US" sz="2600" b="0" i="1" dirty="0">
                <a:solidFill>
                  <a:srgbClr val="000000"/>
                </a:solidFill>
                <a:effectLst/>
              </a:rPr>
              <a:t>accessible and faster</a:t>
            </a:r>
            <a:r>
              <a:rPr lang="en-US" sz="2600" i="1" dirty="0"/>
              <a:t> </a:t>
            </a:r>
          </a:p>
          <a:p>
            <a:pPr marL="0" indent="0">
              <a:buNone/>
            </a:pPr>
            <a:r>
              <a:rPr lang="en-US" sz="2600" dirty="0"/>
              <a:t>  -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The independent modules are easier to maintain, test, and reduce error propagation and can be reused in other programs as well</a:t>
            </a:r>
            <a:r>
              <a:rPr lang="en-US" sz="2600" dirty="0"/>
              <a:t> </a:t>
            </a:r>
          </a:p>
          <a:p>
            <a:pPr marL="0" indent="0">
              <a:buNone/>
            </a:pPr>
            <a:r>
              <a:rPr lang="en-US" sz="2600" b="1" i="0" dirty="0">
                <a:solidFill>
                  <a:srgbClr val="000000"/>
                </a:solidFill>
                <a:effectLst/>
              </a:rPr>
              <a:t>     It is measured using two criteria:</a:t>
            </a:r>
            <a:endParaRPr lang="en-US" sz="2600" b="1" dirty="0">
              <a:solidFill>
                <a:srgbClr val="000000"/>
              </a:solidFill>
            </a:endParaRPr>
          </a:p>
          <a:p>
            <a:r>
              <a:rPr lang="en-US" sz="2600" b="1" i="0" dirty="0">
                <a:solidFill>
                  <a:srgbClr val="000000"/>
                </a:solidFill>
                <a:effectLst/>
              </a:rPr>
              <a:t>Cohesion: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It measures the relative function strength of a module.</a:t>
            </a:r>
            <a:endParaRPr lang="en-US" sz="2600" dirty="0">
              <a:solidFill>
                <a:srgbClr val="000000"/>
              </a:solidFill>
            </a:endParaRPr>
          </a:p>
          <a:p>
            <a:r>
              <a:rPr lang="en-US" sz="2600" b="1" i="0" dirty="0">
                <a:solidFill>
                  <a:srgbClr val="000000"/>
                </a:solidFill>
                <a:effectLst/>
              </a:rPr>
              <a:t>Coupling: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It measures the relative interdependence among modules.</a:t>
            </a:r>
            <a:r>
              <a:rPr lang="en-US" sz="2600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72AC6-9EE9-1968-5157-A12F2E28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AD3A4-EFD2-2218-517B-B229D6C1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78F10-52EC-B908-DE76-8B8B3524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1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E5BEA-79CE-6D8C-6FFB-4515AC59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3D9F-C6EA-D449-72BD-F40CC1BDE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2. Information hiding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modules should be specified that data included within a module is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inaccessible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to other modules that do not need such information.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most significant when modifications are required during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testing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and later during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</a:rPr>
              <a:t>software maintenance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inadvertent errors introduced during modifications are less likely to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propagate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to different locations within the software.</a:t>
            </a:r>
            <a:r>
              <a:rPr lang="en-US" sz="2400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9530-97F5-238F-DA62-417633B0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66B6-6173-3EA1-0DA7-DD5ABF6A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E341-6124-3DE2-C1E7-ED064B17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79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4E0A-7DBB-05E9-E6DC-4EE4F3EF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Modular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8EED-ED15-4431-B093-2501E3073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It allows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large programs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to be written by several or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different people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It encourages the creation of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commonly used routines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to be placed in the library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</a:rPr>
              <a:t>and used by other programs.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It simplifies the overlay procedure of loading a large program into main storage.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It provides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more checkpoints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to measure progress.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It provides a framework for complete testing, more accessible to test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It produced the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well designed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and more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readable program</a:t>
            </a:r>
            <a:r>
              <a:rPr lang="en-US" sz="2400" b="1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D0F8B-0CC7-6CDB-88F6-F710EBC3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61E1F-3077-2597-7011-82D6461D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A7A40-95DC-6F49-D0A8-2A53A216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30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B05E-B4D4-E4BE-FA96-4FEFEAD7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Modular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C3F9C-DCCE-3A9E-2E67-A92EA3EEE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Execution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time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maybe, but not certainly, longer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Storage size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perhaps, but is not certain, increased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Compilation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loading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time may be longer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Inter-module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communication problems may be increased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More linkage required,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run-time may be longer, more source lines must be written, and more documentation has to be done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80969-3301-1517-6C05-F5994BBF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C0E6A-5A05-122E-1FB8-A934459C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9D32-DDFC-E24B-D1D6-1026E138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52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C21B-BD4F-66E7-3985-37200AE3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Strategy of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BD617-9D2B-8805-BBF9-EBC341DC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sz="2200" b="0" i="0" dirty="0">
                <a:solidFill>
                  <a:srgbClr val="000000"/>
                </a:solidFill>
                <a:effectLst/>
              </a:rPr>
              <a:t>Structured design methods help developers to deal with the size and complexity of programs</a:t>
            </a:r>
            <a:r>
              <a:rPr lang="en-US" sz="2200" dirty="0"/>
              <a:t> </a:t>
            </a:r>
          </a:p>
          <a:p>
            <a:r>
              <a:rPr lang="en-US" sz="2200" b="0" i="0" dirty="0">
                <a:solidFill>
                  <a:srgbClr val="000000"/>
                </a:solidFill>
                <a:effectLst/>
              </a:rPr>
              <a:t>To design a system, there are two possible approaches: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0" i="0" dirty="0">
                <a:solidFill>
                  <a:srgbClr val="000000"/>
                </a:solidFill>
                <a:effectLst/>
              </a:rPr>
              <a:t>1. Top-down Approach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0" i="0" dirty="0">
                <a:solidFill>
                  <a:srgbClr val="000000"/>
                </a:solidFill>
                <a:effectLst/>
              </a:rPr>
              <a:t>2. Bottom-up Approach</a:t>
            </a:r>
            <a:r>
              <a:rPr lang="en-US" sz="2200" dirty="0"/>
              <a:t> </a:t>
            </a:r>
          </a:p>
          <a:p>
            <a:r>
              <a:rPr lang="en-US" sz="2200" b="1" i="0" dirty="0">
                <a:solidFill>
                  <a:srgbClr val="000000"/>
                </a:solidFill>
                <a:effectLst/>
              </a:rPr>
              <a:t>Top-down Approach: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This approach starts with the identification of </a:t>
            </a:r>
            <a:r>
              <a:rPr lang="en-US" sz="2200" b="0" i="0" dirty="0">
                <a:solidFill>
                  <a:srgbClr val="FF0000"/>
                </a:solidFill>
                <a:effectLst/>
              </a:rPr>
              <a:t>the main components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and then decomposing them into their more detailed </a:t>
            </a:r>
            <a:r>
              <a:rPr lang="en-US" sz="2200" b="0" i="0" dirty="0">
                <a:solidFill>
                  <a:srgbClr val="FF0000"/>
                </a:solidFill>
                <a:effectLst/>
              </a:rPr>
              <a:t>sub-components.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C6972-A105-F96A-7761-72ABB751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EAE39-B116-480F-FEA4-5102F0C3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FA90D-436F-2B66-E7D6-53E6BE70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5945AB-8B15-51D3-C4C9-C4D7B7CA6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13" y="3792511"/>
            <a:ext cx="5582587" cy="285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19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393D-10B5-B490-8E73-C687403C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2CAC-49C5-E2DA-71EC-E966F1368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US" sz="2400" b="1" i="0" dirty="0">
                <a:solidFill>
                  <a:srgbClr val="000000"/>
                </a:solidFill>
                <a:effectLst/>
              </a:rPr>
              <a:t>Bottom-up Approach: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 bottom-up approach 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begins with the lower details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and moves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toward the hierarchy, as shown in fig. This approach is suitable in the case of an existing system.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69E12-75C0-9E99-3E63-7F3D8C84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0309" y="6190706"/>
            <a:ext cx="2743200" cy="365125"/>
          </a:xfrm>
        </p:spPr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E338B-B779-6C1B-19D6-E8BA070C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305AB-09A0-9416-3B3D-08DF96F5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90A8A-7F34-782A-5BDE-0D49FE9A4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230" y="2557322"/>
            <a:ext cx="5912370" cy="32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61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9578-4F28-B9E8-5CDC-2054652E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25"/>
            <a:ext cx="10515600" cy="1325563"/>
          </a:xfrm>
        </p:spPr>
        <p:txBody>
          <a:bodyPr/>
          <a:lstStyle/>
          <a:p>
            <a:r>
              <a:rPr lang="en-US" dirty="0"/>
              <a:t>Coupling and Cohesion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B4CD9-B5E8-768F-0965-C0A4B1B0A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47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Module Coupling: Inter-dependability </a:t>
            </a:r>
          </a:p>
          <a:p>
            <a:pPr marL="0" indent="0">
              <a:buNone/>
            </a:pPr>
            <a:r>
              <a:rPr lang="en-US" sz="3600" dirty="0"/>
              <a:t>  </a:t>
            </a:r>
            <a:r>
              <a:rPr lang="en-US" sz="3200" dirty="0"/>
              <a:t>- </a:t>
            </a:r>
            <a:r>
              <a:rPr lang="en-US" sz="2400" dirty="0">
                <a:solidFill>
                  <a:srgbClr val="000000"/>
                </a:solidFill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he degree of interdependence between software modules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Two modules that are tightly coupled are strongly dependent on each other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  -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However, two modules that are loosely coupled are not dependent on each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</a:rPr>
              <a:t>other.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Uncoupled modules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have no interdependence at all within them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br>
              <a:rPr lang="en-US" sz="1200" dirty="0"/>
            </a:br>
            <a:endParaRPr lang="en-US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1200" dirty="0"/>
              <a:t> </a:t>
            </a:r>
            <a:br>
              <a:rPr lang="en-US" sz="1200" dirty="0"/>
            </a:br>
            <a:endParaRPr lang="en-US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9AAD7-9774-6BF1-C4BD-676FDD87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8B4F-2BEB-F2CF-6A6B-99D2B05A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3EF6-6F39-4DD4-AF47-B69D2856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52213-7F0C-49AE-7717-D8E8CF4D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249" y="3282847"/>
            <a:ext cx="6745573" cy="34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5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D260-6520-46F6-5AEF-BC6CF284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DC619-120C-3067-C1EE-0FBB095C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9764843" cy="4351338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A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good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design is one that has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low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coupling.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Coupling is measured by the number of relations between the modules. 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b="0" i="0" dirty="0">
                <a:solidFill>
                  <a:srgbClr val="000000"/>
                </a:solidFill>
                <a:effectLst/>
              </a:rPr>
              <a:t>oupling increases as the number of calls between modules increases or the amount of shared data is large. </a:t>
            </a:r>
          </a:p>
          <a:p>
            <a:r>
              <a:rPr lang="en-US" dirty="0">
                <a:solidFill>
                  <a:srgbClr val="000000"/>
                </a:solidFill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design with high coupling will have more errors.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9045-3BDB-77A4-DAC9-2E676DB8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6B240-EACB-3D88-6771-A95AA4F5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5826-E48A-78CF-2625-54C7A155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48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81E3-A8F6-C2D4-7BA4-69B58002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22"/>
            <a:ext cx="10515600" cy="1325563"/>
          </a:xfrm>
        </p:spPr>
        <p:txBody>
          <a:bodyPr/>
          <a:lstStyle/>
          <a:p>
            <a:r>
              <a:rPr lang="en-US" dirty="0"/>
              <a:t>Types of Module Coupling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E813F-85B8-F0C8-E39C-827C4559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049BA-27A3-3DDA-7871-25B7A168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D4974-A3B7-6110-CDB7-4BF1C52A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C82F2F-0E67-10CA-027A-C7AC2ADD6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603" y="1274164"/>
            <a:ext cx="8019738" cy="50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83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7C44-DEFF-EC53-BB70-C9CA9A52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414"/>
            <a:ext cx="10515600" cy="1325563"/>
          </a:xfrm>
        </p:spPr>
        <p:txBody>
          <a:bodyPr/>
          <a:lstStyle/>
          <a:p>
            <a:r>
              <a:rPr lang="en-US" dirty="0"/>
              <a:t>Types of Module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2304E-322C-CD5B-3128-ED65E6958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977"/>
            <a:ext cx="10515600" cy="4351338"/>
          </a:xfrm>
        </p:spPr>
        <p:txBody>
          <a:bodyPr/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Verdana-Bold"/>
              </a:rPr>
              <a:t>1. No Direct Coupling: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is no direct coupling between M1 and M2.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b="1" i="0" dirty="0">
                <a:solidFill>
                  <a:srgbClr val="000000"/>
                </a:solidFill>
                <a:effectLst/>
                <a:latin typeface="Verdana-Bold"/>
              </a:rPr>
              <a:t>2. Data Coupling: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data of one module is passed to another module, this is called data coupling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7D4D4-4CEB-4AFC-6518-1E323A88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12A9E-19D2-F229-B076-211229D5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66378-4879-EF55-B59C-139ECA7F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A89459-88C9-F1FB-63D1-3E5426284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521" y="1938998"/>
            <a:ext cx="4375879" cy="1895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C1172B-EE55-E19D-37E9-4A95DB52F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521" y="4366017"/>
            <a:ext cx="4375879" cy="212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99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A252-E12D-C24E-F7E1-62017D5C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0836E-63F6-FE63-CCFE-8670BC2E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000000"/>
                </a:solidFill>
                <a:effectLst/>
              </a:rPr>
              <a:t>3. Stamp Coupling: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Two modules are stamp coupled if they communicate using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0" i="0" dirty="0">
                <a:solidFill>
                  <a:srgbClr val="000000"/>
                </a:solidFill>
                <a:effectLst/>
              </a:rPr>
              <a:t>composite data items such as </a:t>
            </a:r>
            <a:r>
              <a:rPr lang="en-US" sz="2200" b="1" i="0" dirty="0">
                <a:solidFill>
                  <a:srgbClr val="000000"/>
                </a:solidFill>
                <a:effectLst/>
              </a:rPr>
              <a:t>structure, objects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, etc.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2200" dirty="0">
                <a:solidFill>
                  <a:srgbClr val="000000"/>
                </a:solidFill>
              </a:rPr>
              <a:t>Use the </a:t>
            </a:r>
            <a:r>
              <a:rPr lang="en-US" sz="2200" b="1" dirty="0">
                <a:solidFill>
                  <a:srgbClr val="000000"/>
                </a:solidFill>
              </a:rPr>
              <a:t>same data structure</a:t>
            </a:r>
            <a:r>
              <a:rPr lang="en-US" sz="2200" dirty="0">
                <a:solidFill>
                  <a:srgbClr val="000000"/>
                </a:solidFill>
              </a:rPr>
              <a:t> but work on a different part of it </a:t>
            </a:r>
            <a:endParaRPr lang="en-US" sz="2200" b="0" i="0" dirty="0">
              <a:solidFill>
                <a:srgbClr val="000000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</a:rPr>
              <a:t>-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 When the module passes the nonglobal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data structure or entire structure to another module, they are said to be stamp coupled.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0" i="0" dirty="0">
                <a:solidFill>
                  <a:srgbClr val="000000"/>
                </a:solidFill>
                <a:effectLst/>
              </a:rPr>
              <a:t>For example, passing structure variable in C or object in C++ language to a module.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1" i="0" dirty="0">
                <a:solidFill>
                  <a:srgbClr val="000000"/>
                </a:solidFill>
                <a:effectLst/>
              </a:rPr>
              <a:t>4. Control Coupling: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 exists among two modules if data from one module is used to direct the structure </a:t>
            </a:r>
            <a:r>
              <a:rPr lang="en-US" sz="2200" b="1" i="1" dirty="0">
                <a:solidFill>
                  <a:srgbClr val="000000"/>
                </a:solidFill>
                <a:effectLst/>
              </a:rPr>
              <a:t>of instruction execution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in another.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r>
              <a:rPr lang="en-US" sz="2200" b="1" i="0" dirty="0">
                <a:solidFill>
                  <a:srgbClr val="000000"/>
                </a:solidFill>
                <a:effectLst/>
              </a:rPr>
              <a:t>5. External Coupling: 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two modules share an </a:t>
            </a:r>
            <a:r>
              <a:rPr lang="en-US" sz="2200" b="1" i="0" dirty="0">
                <a:solidFill>
                  <a:srgbClr val="000000"/>
                </a:solidFill>
                <a:effectLst/>
              </a:rPr>
              <a:t>externally imposed data format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, communication protocols, or device interface. This is related to communication to external </a:t>
            </a:r>
            <a:r>
              <a:rPr lang="en-US" sz="2200" b="1" i="0" dirty="0">
                <a:solidFill>
                  <a:srgbClr val="000000"/>
                </a:solidFill>
                <a:effectLst/>
              </a:rPr>
              <a:t>tools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 and </a:t>
            </a:r>
            <a:r>
              <a:rPr lang="en-US" sz="2200" b="1" i="0" dirty="0">
                <a:solidFill>
                  <a:srgbClr val="000000"/>
                </a:solidFill>
                <a:effectLst/>
              </a:rPr>
              <a:t>devices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.</a:t>
            </a:r>
            <a:br>
              <a:rPr lang="en-US" sz="2200" b="0" i="0" dirty="0">
                <a:solidFill>
                  <a:srgbClr val="000000"/>
                </a:solidFill>
                <a:effectLst/>
              </a:rPr>
            </a:br>
            <a:br>
              <a:rPr lang="en-US" sz="2200" dirty="0"/>
            </a:br>
            <a:endParaRPr 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8F248-E13A-6883-D5E6-7EE22BB6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E711F-0AFF-3B62-EF21-B349A4075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FF734-C144-9A9B-D7EA-EC19B745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65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8585-8A56-5CE9-89EA-530F4BDC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92"/>
            <a:ext cx="10515600" cy="1325563"/>
          </a:xfrm>
        </p:spPr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B357-7442-737F-5EDD-0C1BF9E0A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537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</a:rPr>
              <a:t>6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. Common Coupling: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if they share information through some global data items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sz="2600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sz="2600" b="1" i="0" dirty="0">
                <a:solidFill>
                  <a:srgbClr val="000000"/>
                </a:solidFill>
                <a:effectLst/>
              </a:rPr>
              <a:t>7. Content Coupling: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Content Coupling exists among two modules if they share 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code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, can access or 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modify the content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of another module.  e.g., a branch from one module into another module</a:t>
            </a:r>
            <a:r>
              <a:rPr lang="en-US" sz="2600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AAE21-37D8-99C7-E01D-8161029F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65CFA-E744-3DE2-6934-0EF690E1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71EF7-8C32-A725-C696-E55664AF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908638-9D8A-2A36-98A9-21FA393C4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525547"/>
            <a:ext cx="4813091" cy="231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01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B9EE-C558-36F0-B10C-DC40999F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Cohesion /Intra-dependability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CCED-6FAA-D7B8-CF5B-A66D85EDF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30"/>
            <a:ext cx="10515600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degree to which the elements of a module belong together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strength of relationships between pieces of functionality within a given module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For example, in highly cohesive systems, functionality is strongly related.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D376-E4E3-B1B1-285D-98A8AAEA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36690-180F-0079-610E-1C99FE27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EE48D-ED3A-2097-D8B8-BA3ACA2C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351295-A9F5-C638-CFDD-C1171F0DD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925" y="2803161"/>
            <a:ext cx="6145967" cy="36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00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564F-D469-E1CD-3FEC-34FECE2E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5647"/>
            <a:ext cx="10515600" cy="1325563"/>
          </a:xfrm>
        </p:spPr>
        <p:txBody>
          <a:bodyPr/>
          <a:lstStyle/>
          <a:p>
            <a:r>
              <a:rPr lang="en-US" dirty="0"/>
              <a:t>Continued...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BB67DE-1D93-D54A-0701-65CE72C8A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043" y="896234"/>
            <a:ext cx="5741232" cy="546011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6107-50E1-6A77-3437-45769059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E29A1-9D7E-84B4-DD2A-7DE48FB7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22759-4F8D-2DB3-9B07-EA01E0B3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75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E276-AFA9-0376-CA86-5E208F30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9" y="136525"/>
            <a:ext cx="10515600" cy="1325563"/>
          </a:xfrm>
        </p:spPr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00FE7-64BA-13A8-CF8A-8D57067D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29"/>
            <a:ext cx="10515600" cy="6149144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2600" b="1" dirty="0"/>
              <a:t>Functional Cohesion: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if the different elements of a module, cooperate to achieve a </a:t>
            </a:r>
            <a:r>
              <a:rPr lang="en-US" sz="2600" b="1" i="1" dirty="0">
                <a:solidFill>
                  <a:srgbClr val="FF0000"/>
                </a:solidFill>
                <a:effectLst/>
              </a:rPr>
              <a:t>single function</a:t>
            </a:r>
          </a:p>
          <a:p>
            <a:pPr marL="514350" indent="-514350">
              <a:buAutoNum type="arabicPeriod"/>
            </a:pPr>
            <a:r>
              <a:rPr lang="en-US" sz="2600" b="1" dirty="0">
                <a:solidFill>
                  <a:srgbClr val="000000"/>
                </a:solidFill>
              </a:rPr>
              <a:t>Sequential Cohesion: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if the element of a module form the components of the </a:t>
            </a:r>
            <a:r>
              <a:rPr lang="en-US" sz="2600" b="0" i="1" dirty="0">
                <a:solidFill>
                  <a:srgbClr val="000000"/>
                </a:solidFill>
                <a:effectLst/>
              </a:rPr>
              <a:t>sequence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, where the </a:t>
            </a:r>
            <a:r>
              <a:rPr lang="en-US" sz="2600" b="0" i="1" dirty="0">
                <a:solidFill>
                  <a:srgbClr val="000000"/>
                </a:solidFill>
                <a:effectLst/>
              </a:rPr>
              <a:t>output from one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 component of the sequence is </a:t>
            </a:r>
            <a:r>
              <a:rPr lang="en-US" sz="2600" b="0" i="1" dirty="0">
                <a:solidFill>
                  <a:srgbClr val="000000"/>
                </a:solidFill>
                <a:effectLst/>
              </a:rPr>
              <a:t>input to the next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2600" dirty="0"/>
              <a:t>  /Data Flowing /</a:t>
            </a:r>
          </a:p>
          <a:p>
            <a:pPr marL="514350" indent="-514350">
              <a:buAutoNum type="arabicPeriod"/>
            </a:pPr>
            <a:r>
              <a:rPr lang="en-US" sz="2600" b="1" i="0" dirty="0">
                <a:solidFill>
                  <a:srgbClr val="000000"/>
                </a:solidFill>
                <a:effectLst/>
              </a:rPr>
              <a:t>Communicational Cohesion: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A module is said to have communicational cohesion, if </a:t>
            </a:r>
            <a:r>
              <a:rPr lang="en-US" sz="2600" b="0" i="1" dirty="0">
                <a:solidFill>
                  <a:srgbClr val="000000"/>
                </a:solidFill>
                <a:effectLst/>
              </a:rPr>
              <a:t>all tasks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of the module refer to or </a:t>
            </a:r>
            <a:r>
              <a:rPr lang="en-US" sz="2600" b="1" i="0" dirty="0">
                <a:solidFill>
                  <a:srgbClr val="000000"/>
                </a:solidFill>
                <a:effectLst/>
              </a:rPr>
              <a:t>update the </a:t>
            </a:r>
            <a:r>
              <a:rPr lang="en-US" sz="2600" b="1" i="1" dirty="0">
                <a:solidFill>
                  <a:srgbClr val="000000"/>
                </a:solidFill>
                <a:effectLst/>
              </a:rPr>
              <a:t>same data structure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, e.g.</a:t>
            </a:r>
            <a:r>
              <a:rPr lang="en-US" sz="2600" dirty="0"/>
              <a:t> Array or Stack </a:t>
            </a:r>
          </a:p>
          <a:p>
            <a:pPr marL="514350" indent="-514350">
              <a:buAutoNum type="arabicPeriod"/>
            </a:pPr>
            <a:r>
              <a:rPr lang="en-US" sz="2600" b="1" i="0" dirty="0">
                <a:solidFill>
                  <a:srgbClr val="000000"/>
                </a:solidFill>
                <a:effectLst/>
              </a:rPr>
              <a:t>Procedural Cohesion: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if the set of purposes of the module are all parts of a procedure in which a </a:t>
            </a:r>
            <a:r>
              <a:rPr lang="en-US" sz="2600" b="1" i="1" dirty="0">
                <a:solidFill>
                  <a:srgbClr val="000000"/>
                </a:solidFill>
                <a:effectLst/>
              </a:rPr>
              <a:t>particular sequence of steps</a:t>
            </a:r>
            <a:r>
              <a:rPr lang="en-US" sz="2600" b="0" i="1" dirty="0">
                <a:solidFill>
                  <a:srgbClr val="000000"/>
                </a:solidFill>
                <a:effectLst/>
              </a:rPr>
              <a:t>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has to be carried out for </a:t>
            </a:r>
            <a:r>
              <a:rPr lang="en-US" sz="2600" b="0" i="0" dirty="0">
                <a:solidFill>
                  <a:srgbClr val="FF0000"/>
                </a:solidFill>
                <a:effectLst/>
              </a:rPr>
              <a:t>achieving a goal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, e.g., the algorithm for decoding a message.</a:t>
            </a:r>
            <a:r>
              <a:rPr lang="en-US" sz="2600" dirty="0"/>
              <a:t> /Functionality Flowing /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0ED47-0F15-D494-7D4E-F30B5132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47CDC-8ADB-1C93-1F7D-CD056F48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53FEB-0C3D-74EE-7AA5-15BE6C45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19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7ACC-2F4A-CAC8-6B0B-B7054294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BE5A5-0630-2C57-9742-6B5141D6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5. Temporal Cohesion: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When a module includes functions that are associated with the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fact that all the methods must be executed 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at the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same time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6. Logical Cohesion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if all the elements of the module perform 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a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similar operation 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(logically related)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. For example Error handling, data input and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data output, etc.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b="1" dirty="0"/>
              <a:t>7</a:t>
            </a:r>
            <a:r>
              <a:rPr lang="en-US" sz="2400" dirty="0"/>
              <a:t>.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Coincidental Cohesion: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 module is said to have coincidental cohesion if it</a:t>
            </a:r>
            <a:br>
              <a:rPr lang="en-US" sz="2400" b="0" i="0" dirty="0">
                <a:solidFill>
                  <a:srgbClr val="000000"/>
                </a:solidFill>
                <a:effectLst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</a:rPr>
              <a:t>performs a set of tasks that are associated with each other 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very loosely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 it is </a:t>
            </a:r>
            <a:r>
              <a:rPr lang="en-US" sz="2400" b="1" i="1" dirty="0">
                <a:solidFill>
                  <a:srgbClr val="000000"/>
                </a:solidFill>
                <a:effectLst/>
              </a:rPr>
              <a:t>unplanned and random: Creating confusion</a:t>
            </a:r>
            <a:r>
              <a:rPr lang="en-US" sz="2400" b="0" i="1" dirty="0">
                <a:solidFill>
                  <a:srgbClr val="000000"/>
                </a:solidFill>
                <a:effectLst/>
              </a:rPr>
              <a:t>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A5D06-3AD8-D9B1-B4EA-6B42A344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78C2-0E48-AEC3-8887-3ED395B2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83A5-910B-2ACB-7A4C-CE7D35F7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105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48B0-14A6-00C3-CF7F-0334F1E3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48" y="-55680"/>
            <a:ext cx="10515600" cy="1325563"/>
          </a:xfrm>
        </p:spPr>
        <p:txBody>
          <a:bodyPr/>
          <a:lstStyle/>
          <a:p>
            <a:r>
              <a:rPr lang="en-US" dirty="0"/>
              <a:t>Differences between Coupling and Cohesion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7B0DD9-0A63-D410-64FF-214EB4B32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49" y="1073149"/>
            <a:ext cx="8454452" cy="517774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0CE38-540A-E2F9-4441-D6114664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A79F0-14DF-ECC9-2856-D63E5979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0415-4283-4730-9E8B-B964E30D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92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E724-C3E3-3DB6-BD40-611A3F27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Davis's Design Principles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3B09-6379-7D81-B509-CE78ECCD0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67" y="1583113"/>
            <a:ext cx="10867869" cy="6091849"/>
          </a:xfrm>
        </p:spPr>
        <p:txBody>
          <a:bodyPr>
            <a:noAutofit/>
          </a:bodyPr>
          <a:lstStyle/>
          <a:p>
            <a:r>
              <a:rPr lang="en-US" i="0" dirty="0">
                <a:solidFill>
                  <a:srgbClr val="202122"/>
                </a:solidFill>
                <a:effectLst/>
              </a:rPr>
              <a:t>The design process should not suffer from </a:t>
            </a:r>
            <a:r>
              <a:rPr lang="en-US" b="1" dirty="0">
                <a:solidFill>
                  <a:srgbClr val="202122"/>
                </a:solidFill>
              </a:rPr>
              <a:t>“</a:t>
            </a:r>
            <a:r>
              <a:rPr lang="en-US" b="1" i="0" dirty="0">
                <a:solidFill>
                  <a:srgbClr val="202122"/>
                </a:solidFill>
                <a:effectLst/>
              </a:rPr>
              <a:t>tunnel vision.” </a:t>
            </a:r>
            <a:r>
              <a:rPr lang="en-US" i="1" dirty="0">
                <a:solidFill>
                  <a:srgbClr val="202122"/>
                </a:solidFill>
                <a:effectLst/>
              </a:rPr>
              <a:t>be all rounded</a:t>
            </a:r>
            <a:r>
              <a:rPr lang="en-US" i="1" dirty="0">
                <a:solidFill>
                  <a:srgbClr val="202122"/>
                </a:solidFill>
              </a:rPr>
              <a:t>/ see out of the box</a:t>
            </a:r>
            <a:endParaRPr lang="en-US" i="1" dirty="0">
              <a:solidFill>
                <a:srgbClr val="202122"/>
              </a:solidFill>
              <a:effectLst/>
            </a:endParaRPr>
          </a:p>
          <a:p>
            <a:r>
              <a:rPr lang="en-US" i="0" dirty="0">
                <a:solidFill>
                  <a:srgbClr val="202122"/>
                </a:solidFill>
                <a:effectLst/>
              </a:rPr>
              <a:t>The design should be traceable to the analysis model/SRS</a:t>
            </a:r>
            <a:endParaRPr lang="en-US" dirty="0">
              <a:solidFill>
                <a:srgbClr val="202122"/>
              </a:solidFill>
            </a:endParaRPr>
          </a:p>
          <a:p>
            <a:r>
              <a:rPr lang="en-US" i="0" dirty="0">
                <a:solidFill>
                  <a:srgbClr val="202122"/>
                </a:solidFill>
                <a:effectLst/>
              </a:rPr>
              <a:t>The design should not </a:t>
            </a:r>
            <a:r>
              <a:rPr lang="en-US" b="1" i="0" dirty="0">
                <a:solidFill>
                  <a:srgbClr val="202122"/>
                </a:solidFill>
                <a:effectLst/>
              </a:rPr>
              <a:t>reinvent the wheel</a:t>
            </a:r>
            <a:r>
              <a:rPr lang="en-US" i="0" dirty="0">
                <a:solidFill>
                  <a:srgbClr val="202122"/>
                </a:solidFill>
                <a:effectLst/>
              </a:rPr>
              <a:t>.</a:t>
            </a:r>
          </a:p>
          <a:p>
            <a:r>
              <a:rPr lang="en-US" i="0" dirty="0">
                <a:solidFill>
                  <a:srgbClr val="202122"/>
                </a:solidFill>
                <a:effectLst/>
              </a:rPr>
              <a:t>The design should "minimize the intellectual distance" between the </a:t>
            </a:r>
            <a:r>
              <a:rPr lang="en-US" b="1" i="0" dirty="0">
                <a:solidFill>
                  <a:srgbClr val="202122"/>
                </a:solidFill>
                <a:effectLst/>
              </a:rPr>
              <a:t>software</a:t>
            </a:r>
            <a:r>
              <a:rPr lang="en-US" i="0" dirty="0">
                <a:solidFill>
                  <a:srgbClr val="202122"/>
                </a:solidFill>
                <a:effectLst/>
              </a:rPr>
              <a:t> and the </a:t>
            </a:r>
            <a:r>
              <a:rPr lang="en-US" b="1" i="0" dirty="0">
                <a:solidFill>
                  <a:srgbClr val="202122"/>
                </a:solidFill>
                <a:effectLst/>
              </a:rPr>
              <a:t>problem</a:t>
            </a:r>
            <a:r>
              <a:rPr lang="en-US" i="0" dirty="0">
                <a:solidFill>
                  <a:srgbClr val="202122"/>
                </a:solidFill>
                <a:effectLst/>
              </a:rPr>
              <a:t> as it exists in the real world.</a:t>
            </a:r>
            <a:endParaRPr lang="en-US" dirty="0">
              <a:solidFill>
                <a:srgbClr val="202122"/>
              </a:solidFill>
            </a:endParaRPr>
          </a:p>
          <a:p>
            <a:r>
              <a:rPr lang="en-US" i="0" dirty="0">
                <a:solidFill>
                  <a:srgbClr val="202122"/>
                </a:solidFill>
                <a:effectLst/>
              </a:rPr>
              <a:t>The design should exhibit uniformity and integration. </a:t>
            </a:r>
          </a:p>
          <a:p>
            <a:r>
              <a:rPr lang="en-US" i="0" dirty="0">
                <a:solidFill>
                  <a:srgbClr val="202122"/>
                </a:solidFill>
                <a:effectLst/>
              </a:rPr>
              <a:t>The design should be structured to accommodate change.</a:t>
            </a:r>
            <a:endParaRPr lang="en-US" dirty="0">
              <a:solidFill>
                <a:srgbClr val="20212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B7D24-E0E0-34FE-FC6E-992BABEE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6E057-E790-A81B-04DB-855F47BE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9294E-2FD3-1BEA-DF7D-7D9AEC6D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90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70C5-AB48-E99C-3954-DA43C170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6327-B61A-01B8-B175-3B37BC287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9216" cy="4351338"/>
          </a:xfrm>
        </p:spPr>
        <p:txBody>
          <a:bodyPr/>
          <a:lstStyle/>
          <a:p>
            <a:r>
              <a:rPr lang="en-US" sz="2800" i="0" dirty="0">
                <a:solidFill>
                  <a:srgbClr val="202122"/>
                </a:solidFill>
                <a:effectLst/>
              </a:rPr>
              <a:t>The design should be structured to degrade gently, even when aberrant data, events, or operating conditions are encountered /”Not Bomb”</a:t>
            </a:r>
          </a:p>
          <a:p>
            <a:r>
              <a:rPr lang="en-US" sz="2800" i="1" dirty="0">
                <a:solidFill>
                  <a:srgbClr val="202122"/>
                </a:solidFill>
                <a:effectLst/>
              </a:rPr>
              <a:t>Design is not coding, coding is not design.</a:t>
            </a:r>
          </a:p>
          <a:p>
            <a:r>
              <a:rPr lang="en-US" sz="2800" i="0" dirty="0">
                <a:solidFill>
                  <a:srgbClr val="202122"/>
                </a:solidFill>
                <a:effectLst/>
              </a:rPr>
              <a:t>The design should be assessed for quality as it is being created, not after the fact.</a:t>
            </a:r>
          </a:p>
          <a:p>
            <a:r>
              <a:rPr lang="en-US" sz="2800" i="0" dirty="0">
                <a:solidFill>
                  <a:srgbClr val="202122"/>
                </a:solidFill>
                <a:effectLst/>
              </a:rPr>
              <a:t>The design should be reviewed to minimize conceptual (semantic) errors. </a:t>
            </a:r>
            <a:r>
              <a:rPr lang="en-US" b="0" i="0" dirty="0">
                <a:solidFill>
                  <a:srgbClr val="202122"/>
                </a:solidFill>
                <a:effectLst/>
              </a:rPr>
              <a:t>omissions, ambiguity, inconsistency...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67D1-6599-5438-95C2-8272D468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0ECB8-CBB4-1677-BEA2-EA027147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A296-0997-E1F0-AD2E-82B4B0A3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83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CB551-EB3C-23DD-3D88-819A7FE6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5C75D-0917-24DD-2DA3-35EB758DB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practices ... Experienced OOSD </a:t>
            </a:r>
          </a:p>
          <a:p>
            <a:r>
              <a:rPr lang="en-US" dirty="0"/>
              <a:t>Solutions for </a:t>
            </a:r>
            <a:r>
              <a:rPr lang="en-US" i="1" dirty="0"/>
              <a:t>Generic</a:t>
            </a:r>
            <a:r>
              <a:rPr lang="en-US" i="1"/>
              <a:t>/repeating </a:t>
            </a:r>
            <a:r>
              <a:rPr lang="en-US" i="1" dirty="0"/>
              <a:t>problems </a:t>
            </a:r>
            <a:r>
              <a:rPr lang="en-US" dirty="0"/>
              <a:t>... Found by trial and error </a:t>
            </a:r>
          </a:p>
          <a:p>
            <a:r>
              <a:rPr lang="en-US" dirty="0"/>
              <a:t>Templates: How to? Experiences...</a:t>
            </a:r>
          </a:p>
          <a:p>
            <a:r>
              <a:rPr lang="en-US" dirty="0"/>
              <a:t>Smart, Generic, Well Proven, Simple, Reusable, and OO</a:t>
            </a:r>
          </a:p>
          <a:p>
            <a:r>
              <a:rPr lang="en-US" dirty="0" err="1"/>
              <a:t>GoF</a:t>
            </a:r>
            <a:r>
              <a:rPr lang="en-US" dirty="0"/>
              <a:t> (1994, </a:t>
            </a:r>
            <a:r>
              <a:rPr lang="en-US" b="0" i="0" dirty="0">
                <a:effectLst/>
                <a:latin typeface="Proxima"/>
              </a:rPr>
              <a:t>Erich Gamma, Richard Helm, Ralph Johnson, and John </a:t>
            </a:r>
            <a:r>
              <a:rPr lang="en-US" b="0" i="0" dirty="0" err="1">
                <a:effectLst/>
                <a:latin typeface="Proxima"/>
              </a:rPr>
              <a:t>Vlissides</a:t>
            </a:r>
            <a:r>
              <a:rPr lang="en-US" dirty="0"/>
              <a:t>)</a:t>
            </a:r>
          </a:p>
          <a:p>
            <a:r>
              <a:rPr lang="en-US" dirty="0"/>
              <a:t>Used as a common platform/ template for developers and best practices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6401B-EAD0-BD1A-947A-2F13D407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24667-0E89-D0E0-1614-45709DF1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4F8F-2274-5F66-D3AB-13095700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86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E97D-0A6D-538D-5989-7347F84D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4B0C-6152-4F57-B225-50EADEBA7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Types of Design Patterns :</a:t>
            </a:r>
          </a:p>
          <a:p>
            <a:pPr marL="0" indent="0">
              <a:buNone/>
            </a:pPr>
            <a:r>
              <a:rPr lang="en-US" dirty="0"/>
              <a:t>    1. Creational: create an object - hide logic -&gt; Flexible </a:t>
            </a:r>
          </a:p>
          <a:p>
            <a:pPr marL="0" indent="0">
              <a:buNone/>
            </a:pPr>
            <a:r>
              <a:rPr lang="en-US" dirty="0"/>
              <a:t>    2. Structural: compose class and object, obj of one class used in another class </a:t>
            </a:r>
          </a:p>
          <a:p>
            <a:pPr marL="0" indent="0">
              <a:buNone/>
            </a:pPr>
            <a:r>
              <a:rPr lang="en-US" dirty="0"/>
              <a:t>    3. Behavioral: communication between objects.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8D31-5D02-6584-8C6B-498B744A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7EA43-FC93-7CAB-BA32-0B172AA2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54C75-51EF-82D0-8145-5B3D86A0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27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7D25-EB16-0A26-01F0-549EE231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Drawbacks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AD86D-E1F0-966D-5C18-9BF21E9AA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088"/>
            <a:ext cx="10515600" cy="496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Benefits: </a:t>
            </a:r>
          </a:p>
          <a:p>
            <a:pPr marL="0" indent="0">
              <a:buNone/>
            </a:pPr>
            <a:r>
              <a:rPr lang="en-US" dirty="0"/>
              <a:t>        - increase productivity </a:t>
            </a:r>
          </a:p>
          <a:p>
            <a:pPr marL="0" indent="0">
              <a:buNone/>
            </a:pPr>
            <a:r>
              <a:rPr lang="en-US" dirty="0"/>
              <a:t>        - reuse of development efforts </a:t>
            </a:r>
          </a:p>
          <a:p>
            <a:pPr marL="0" indent="0">
              <a:buNone/>
            </a:pPr>
            <a:r>
              <a:rPr lang="en-US" dirty="0"/>
              <a:t>        - proven solutions for common problems </a:t>
            </a:r>
          </a:p>
          <a:p>
            <a:pPr marL="0" indent="0">
              <a:buNone/>
            </a:pPr>
            <a:r>
              <a:rPr lang="en-US" dirty="0"/>
              <a:t>        - consistency between applications </a:t>
            </a:r>
          </a:p>
          <a:p>
            <a:pPr marL="0" indent="0">
              <a:buNone/>
            </a:pPr>
            <a:r>
              <a:rPr lang="en-US" dirty="0"/>
              <a:t>Drawbacks:</a:t>
            </a:r>
          </a:p>
          <a:p>
            <a:pPr marL="0" indent="0">
              <a:buNone/>
            </a:pPr>
            <a:r>
              <a:rPr lang="en-US" dirty="0"/>
              <a:t>        - Developers learn large number of patterns </a:t>
            </a:r>
          </a:p>
          <a:p>
            <a:pPr marL="0" indent="0">
              <a:buNone/>
            </a:pPr>
            <a:r>
              <a:rPr lang="en-US" dirty="0"/>
              <a:t>        - Actual problems are very diverse /unique 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8E2F-DFCA-10F5-8968-E755E9AC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10F84-C051-FBB8-3713-A2DC1501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89C4B-5B1D-8B21-5F9E-EDBC74FE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079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6D359C-D3C9-3584-4B4D-1B5E1CB63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958" y="703384"/>
            <a:ext cx="9495692" cy="545826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6A93B-975F-1F7C-9FA4-87A3E930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0E4EE-D1E3-40E8-BA55-0BE6AA9BBB64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E2C21-A7F0-FFDE-F77F-8956D8E4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Software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3AB2-0A5B-8A0B-BD80-FBDBBA1C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56C4F-5775-4965-993D-133CDA6172C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4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3146</Words>
  <Application>Microsoft Office PowerPoint</Application>
  <PresentationFormat>Widescreen</PresentationFormat>
  <Paragraphs>377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Proxima</vt:lpstr>
      <vt:lpstr>Verdana</vt:lpstr>
      <vt:lpstr>Verdana-Bold</vt:lpstr>
      <vt:lpstr>Office Theme</vt:lpstr>
      <vt:lpstr>Chapter One </vt:lpstr>
      <vt:lpstr>What is Software Design?</vt:lpstr>
      <vt:lpstr>What is Software Design?</vt:lpstr>
      <vt:lpstr>What is Software Design?</vt:lpstr>
      <vt:lpstr>Technical vs. Management aspects of Design </vt:lpstr>
      <vt:lpstr>Technical vs. Management aspects of Design </vt:lpstr>
      <vt:lpstr>Objectives of SW Design </vt:lpstr>
      <vt:lpstr>Objectives of SW Design </vt:lpstr>
      <vt:lpstr>Software Design Process  </vt:lpstr>
      <vt:lpstr>Software Design Process </vt:lpstr>
      <vt:lpstr>Software Design Process </vt:lpstr>
      <vt:lpstr>Software Design Process </vt:lpstr>
      <vt:lpstr>Software Design Process </vt:lpstr>
      <vt:lpstr>Software Design Process </vt:lpstr>
      <vt:lpstr>Software Design Process </vt:lpstr>
      <vt:lpstr>Design Considerations </vt:lpstr>
      <vt:lpstr>Design Considerations </vt:lpstr>
      <vt:lpstr>Design Principles </vt:lpstr>
      <vt:lpstr>Problem Partitioning </vt:lpstr>
      <vt:lpstr>Abstraction </vt:lpstr>
      <vt:lpstr>Modularity </vt:lpstr>
      <vt:lpstr>Aspects of Modular Design </vt:lpstr>
      <vt:lpstr>Continued... </vt:lpstr>
      <vt:lpstr>Advantages of Modular Design </vt:lpstr>
      <vt:lpstr>Disadvantages of Modular Design </vt:lpstr>
      <vt:lpstr>Strategy of Design </vt:lpstr>
      <vt:lpstr>Continued... </vt:lpstr>
      <vt:lpstr>Coupling and Cohesion </vt:lpstr>
      <vt:lpstr>Continued... </vt:lpstr>
      <vt:lpstr>Types of Module Coupling</vt:lpstr>
      <vt:lpstr>Types of Module Coupling</vt:lpstr>
      <vt:lpstr>Continued... </vt:lpstr>
      <vt:lpstr>Continued... </vt:lpstr>
      <vt:lpstr>Module Cohesion /Intra-dependability </vt:lpstr>
      <vt:lpstr>Continued... </vt:lpstr>
      <vt:lpstr>Continued... </vt:lpstr>
      <vt:lpstr>Continued ...</vt:lpstr>
      <vt:lpstr>Differences between Coupling and Cohesion </vt:lpstr>
      <vt:lpstr>Davis's Design Principles </vt:lpstr>
      <vt:lpstr>Continued... </vt:lpstr>
      <vt:lpstr>Design Patterns </vt:lpstr>
      <vt:lpstr>Design Patterns </vt:lpstr>
      <vt:lpstr>Benefits and Drawbacks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One </dc:title>
  <dc:creator>Abenezer Mamo</dc:creator>
  <cp:lastModifiedBy>Abena</cp:lastModifiedBy>
  <cp:revision>71</cp:revision>
  <dcterms:created xsi:type="dcterms:W3CDTF">2022-11-11T06:42:16Z</dcterms:created>
  <dcterms:modified xsi:type="dcterms:W3CDTF">2025-09-29T08:08:03Z</dcterms:modified>
</cp:coreProperties>
</file>