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6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32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26" r:id="rId25"/>
    <p:sldId id="327" r:id="rId26"/>
    <p:sldId id="343" r:id="rId27"/>
    <p:sldId id="328" r:id="rId28"/>
    <p:sldId id="329" r:id="rId29"/>
    <p:sldId id="344" r:id="rId30"/>
    <p:sldId id="334" r:id="rId31"/>
    <p:sldId id="345" r:id="rId32"/>
    <p:sldId id="317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  <p:sldId id="276" r:id="rId48"/>
    <p:sldId id="277" r:id="rId49"/>
    <p:sldId id="278" r:id="rId50"/>
    <p:sldId id="279" r:id="rId51"/>
    <p:sldId id="280" r:id="rId52"/>
    <p:sldId id="281" r:id="rId53"/>
    <p:sldId id="282" r:id="rId54"/>
    <p:sldId id="283" r:id="rId55"/>
    <p:sldId id="284" r:id="rId56"/>
    <p:sldId id="285" r:id="rId57"/>
    <p:sldId id="286" r:id="rId58"/>
    <p:sldId id="287" r:id="rId59"/>
    <p:sldId id="288" r:id="rId60"/>
    <p:sldId id="289" r:id="rId61"/>
    <p:sldId id="291" r:id="rId62"/>
    <p:sldId id="292" r:id="rId63"/>
    <p:sldId id="293" r:id="rId64"/>
    <p:sldId id="294" r:id="rId65"/>
    <p:sldId id="295" r:id="rId66"/>
    <p:sldId id="296" r:id="rId67"/>
    <p:sldId id="303" r:id="rId6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B46EB-7556-4E2B-BA3D-1D56957B4CE2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BBC9E-62BC-407A-993D-9F51D7A2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24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C56F-CD00-0F5D-812A-0711D956A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EFEA1-49BC-CDEE-455A-861C5DF2A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2952B-EDB2-22DC-CD56-7628A921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D9D62-9D39-0E01-2B42-19224F46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1BE02-9464-F6EB-5A7F-8160E63F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4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2A78-EAB4-145A-A7C1-98A0CD605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322BE-A516-FCC6-8D5E-68AFB4501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85FD-5A12-AEE6-9777-3827FD8D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52B6-F413-2891-1694-AA346E8F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918DF-C3FF-F635-A31D-C89C0B49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6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0E66-704F-038E-0952-FBB55DB9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B3B8-999D-6445-378E-F1DB80BE6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10CF-2174-18D1-2C17-D640E933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262F7-B328-5681-77F1-E1D5D479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151B6-E7CD-FB4E-D56D-EC9A71A0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5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ABDFA-8C92-8519-1AC9-D6EC028C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208A7-FFEA-E436-FBE4-C7ECD004B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5FA51-4CA9-6AD1-1474-26C6367D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552DF-E770-236A-36DF-B20FF80F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2498E-1E04-0C43-7F0B-2E7B787F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66A88-E327-2A64-12D7-8C71BAE9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8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9A06-D4D9-CF86-EF8A-576388E0F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FDA8E-2C7B-EA1C-26E4-916D1A78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EB54E-8BAF-5B1C-3A81-A360932D4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2034F-87A9-E151-2AE8-9A845AA98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EFB86-C07A-AB04-9AD6-868CCDEB4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E3ADC-3EAE-BD69-4A22-7B21695B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205FC3-1D75-1B19-8123-1C4E74BE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2FE93-3AB0-C0CE-2B4F-2C0C9182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1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C7FC-FFA4-03F9-4F45-131B9C29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6B152-1EE8-8680-EFC3-118D7CD8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862E-D3AB-FCF2-3E54-F7866544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93E62-0B97-3C0F-3C19-8FF82F77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7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28DDA-BF4F-5761-E046-4F08A46C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FBBDA-FFC3-C4E5-AE1D-3BA892C6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55B2D-E2AC-24C4-4B3E-34486CA9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43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0789-FD75-20ED-9928-F0E2D2BA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DA370-2696-54A4-EEEC-8180047FD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CF06F-9C94-E4AD-2EE1-95B2D7D9A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FD2B-770B-F2C8-598B-8F91CF62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817A3-89FA-E669-FAA7-1CB0A39D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2EC2-C3E3-996C-5B57-24266417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19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6B4E-6D2E-B08B-FBCE-B7F51E8A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E8352-A4B1-86E6-7F8F-E45B606E5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26C0C-F9F6-45AC-D953-3C4108113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E635-9E95-3C9C-119D-DF27D507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E374B-6178-0F9D-4FDA-A5416E85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BA6BB-BC2C-67D7-7E1F-F798537B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26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92AB-0BE6-38C1-756B-602D45EB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6AF77-B6D4-C0CF-A8BA-F6F463DFC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69D46-1673-4E4F-DE91-28BA952D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B5049-77A0-A290-41B0-20B1EF83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F08CE-0EE8-0714-E085-47F7741F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7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CAB05-809C-04EB-A5DB-67F6869D2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AA225-FCA6-F8AE-8F06-1E89999D0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32B6-BF17-93A3-F536-71AFCFBE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29DC1-678F-82BC-EC71-29C7ACFD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5C858-17A3-AEBE-CD1B-A156B92A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2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FADFA-BA3D-72DF-7458-AE55A34C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BE4E-98C4-C290-5E30-E3D77BE61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6081-7906-318A-320E-B395C86B6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F6692-2BD4-12B4-07B1-FDE4CF383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A4049-08F0-EBD4-678C-A02996DDF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0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7.xml"/><Relationship Id="rId4" Type="http://schemas.openxmlformats.org/officeDocument/2006/relationships/slide" Target="slide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4480" y="1375010"/>
            <a:ext cx="6414770" cy="2677795"/>
          </a:xfrm>
          <a:custGeom>
            <a:avLst/>
            <a:gdLst/>
            <a:ahLst/>
            <a:cxnLst/>
            <a:rect l="l" t="t" r="r" b="b"/>
            <a:pathLst>
              <a:path w="6414770" h="2677795">
                <a:moveTo>
                  <a:pt x="0" y="0"/>
                </a:moveTo>
                <a:lnTo>
                  <a:pt x="6414592" y="0"/>
                </a:lnTo>
                <a:lnTo>
                  <a:pt x="6414592" y="2677655"/>
                </a:lnTo>
                <a:lnTo>
                  <a:pt x="0" y="267765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8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3220" y="1408029"/>
            <a:ext cx="609282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3329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What</a:t>
            </a:r>
            <a:r>
              <a:rPr sz="2800" dirty="0">
                <a:latin typeface="Calibri"/>
                <a:cs typeface="Calibri"/>
              </a:rPr>
              <a:t> is </a:t>
            </a:r>
            <a:r>
              <a:rPr sz="2800" spc="-5" dirty="0">
                <a:latin typeface="Calibri"/>
                <a:cs typeface="Calibri"/>
              </a:rPr>
              <a:t>Architecture</a:t>
            </a:r>
            <a:r>
              <a:rPr sz="2800" dirty="0">
                <a:latin typeface="Calibri"/>
                <a:cs typeface="Calibri"/>
              </a:rPr>
              <a:t> and </a:t>
            </a:r>
            <a:r>
              <a:rPr sz="2800" spc="-5" dirty="0">
                <a:latin typeface="Calibri"/>
                <a:cs typeface="Calibri"/>
              </a:rPr>
              <a:t>architect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role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ts val="3329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Architecture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Patterns</a:t>
            </a:r>
            <a:endParaRPr sz="2800" dirty="0">
              <a:latin typeface="Calibri"/>
              <a:cs typeface="Calibri"/>
            </a:endParaRPr>
          </a:p>
          <a:p>
            <a:pPr marL="469900" marR="3317875" lvl="1">
              <a:lnSpc>
                <a:spcPct val="99700"/>
              </a:lnSpc>
              <a:spcBef>
                <a:spcPts val="50"/>
              </a:spcBef>
              <a:buSzPct val="96428"/>
              <a:buAutoNum type="arabicPeriod"/>
              <a:tabLst>
                <a:tab pos="741045" algn="l"/>
              </a:tabLst>
            </a:pPr>
            <a:r>
              <a:rPr sz="2800" dirty="0">
                <a:latin typeface="Calibri"/>
                <a:cs typeface="Calibri"/>
              </a:rPr>
              <a:t>pipe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filter </a:t>
            </a:r>
            <a:r>
              <a:rPr sz="2800" spc="-6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2.event-based,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3.layered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</a:t>
            </a:r>
          </a:p>
          <a:p>
            <a:pPr marL="469900" indent="-457200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Architectural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89938" y="295037"/>
            <a:ext cx="3456940" cy="708025"/>
          </a:xfrm>
          <a:prstGeom prst="rect">
            <a:avLst/>
          </a:prstGeom>
          <a:ln w="12699">
            <a:solidFill>
              <a:srgbClr val="4180FF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359"/>
              </a:spcBef>
            </a:pPr>
            <a:r>
              <a:rPr sz="4000" spc="-5" dirty="0"/>
              <a:t>Chapter</a:t>
            </a:r>
            <a:r>
              <a:rPr sz="4000" spc="-45" dirty="0"/>
              <a:t> </a:t>
            </a:r>
            <a:r>
              <a:rPr sz="4000" dirty="0"/>
              <a:t>3</a:t>
            </a:r>
            <a:endParaRPr sz="40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1175" y="1269940"/>
            <a:ext cx="2360568" cy="25524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363" y="4679950"/>
            <a:ext cx="1619249" cy="16240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9975" y="4679950"/>
            <a:ext cx="1944687" cy="14398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16250" y="4859338"/>
            <a:ext cx="1670048" cy="12811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1175" y="4710112"/>
            <a:ext cx="2260598" cy="1430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407" y="369916"/>
            <a:ext cx="8915400" cy="6488430"/>
            <a:chOff x="37407" y="369916"/>
            <a:chExt cx="8915400" cy="6488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07" y="1039090"/>
              <a:ext cx="8915400" cy="58189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9803" y="1066801"/>
              <a:ext cx="8813800" cy="5744845"/>
            </a:xfrm>
            <a:custGeom>
              <a:avLst/>
              <a:gdLst/>
              <a:ahLst/>
              <a:cxnLst/>
              <a:rect l="l" t="t" r="r" b="b"/>
              <a:pathLst>
                <a:path w="8813800" h="5744845">
                  <a:moveTo>
                    <a:pt x="7856070" y="0"/>
                  </a:moveTo>
                  <a:lnTo>
                    <a:pt x="957468" y="0"/>
                  </a:lnTo>
                  <a:lnTo>
                    <a:pt x="909681" y="1171"/>
                  </a:lnTo>
                  <a:lnTo>
                    <a:pt x="862500" y="4650"/>
                  </a:lnTo>
                  <a:lnTo>
                    <a:pt x="815981" y="10381"/>
                  </a:lnTo>
                  <a:lnTo>
                    <a:pt x="770177" y="18309"/>
                  </a:lnTo>
                  <a:lnTo>
                    <a:pt x="725145" y="28380"/>
                  </a:lnTo>
                  <a:lnTo>
                    <a:pt x="680939" y="40538"/>
                  </a:lnTo>
                  <a:lnTo>
                    <a:pt x="637613" y="54729"/>
                  </a:lnTo>
                  <a:lnTo>
                    <a:pt x="595223" y="70897"/>
                  </a:lnTo>
                  <a:lnTo>
                    <a:pt x="553824" y="88989"/>
                  </a:lnTo>
                  <a:lnTo>
                    <a:pt x="513469" y="108949"/>
                  </a:lnTo>
                  <a:lnTo>
                    <a:pt x="474215" y="130722"/>
                  </a:lnTo>
                  <a:lnTo>
                    <a:pt x="436117" y="154254"/>
                  </a:lnTo>
                  <a:lnTo>
                    <a:pt x="399227" y="179489"/>
                  </a:lnTo>
                  <a:lnTo>
                    <a:pt x="363603" y="206373"/>
                  </a:lnTo>
                  <a:lnTo>
                    <a:pt x="329298" y="234850"/>
                  </a:lnTo>
                  <a:lnTo>
                    <a:pt x="296368" y="264867"/>
                  </a:lnTo>
                  <a:lnTo>
                    <a:pt x="264867" y="296368"/>
                  </a:lnTo>
                  <a:lnTo>
                    <a:pt x="234850" y="329298"/>
                  </a:lnTo>
                  <a:lnTo>
                    <a:pt x="206373" y="363603"/>
                  </a:lnTo>
                  <a:lnTo>
                    <a:pt x="179489" y="399227"/>
                  </a:lnTo>
                  <a:lnTo>
                    <a:pt x="154254" y="436116"/>
                  </a:lnTo>
                  <a:lnTo>
                    <a:pt x="130722" y="474215"/>
                  </a:lnTo>
                  <a:lnTo>
                    <a:pt x="108949" y="513469"/>
                  </a:lnTo>
                  <a:lnTo>
                    <a:pt x="88989" y="553823"/>
                  </a:lnTo>
                  <a:lnTo>
                    <a:pt x="70897" y="595223"/>
                  </a:lnTo>
                  <a:lnTo>
                    <a:pt x="54729" y="637613"/>
                  </a:lnTo>
                  <a:lnTo>
                    <a:pt x="40538" y="680938"/>
                  </a:lnTo>
                  <a:lnTo>
                    <a:pt x="28380" y="725145"/>
                  </a:lnTo>
                  <a:lnTo>
                    <a:pt x="18309" y="770177"/>
                  </a:lnTo>
                  <a:lnTo>
                    <a:pt x="10381" y="815980"/>
                  </a:lnTo>
                  <a:lnTo>
                    <a:pt x="4650" y="862500"/>
                  </a:lnTo>
                  <a:lnTo>
                    <a:pt x="1171" y="909680"/>
                  </a:lnTo>
                  <a:lnTo>
                    <a:pt x="0" y="957468"/>
                  </a:lnTo>
                  <a:lnTo>
                    <a:pt x="0" y="4787231"/>
                  </a:lnTo>
                  <a:lnTo>
                    <a:pt x="1171" y="4835019"/>
                  </a:lnTo>
                  <a:lnTo>
                    <a:pt x="4650" y="4882199"/>
                  </a:lnTo>
                  <a:lnTo>
                    <a:pt x="10381" y="4928719"/>
                  </a:lnTo>
                  <a:lnTo>
                    <a:pt x="18309" y="4974522"/>
                  </a:lnTo>
                  <a:lnTo>
                    <a:pt x="28380" y="5019555"/>
                  </a:lnTo>
                  <a:lnTo>
                    <a:pt x="40538" y="5063761"/>
                  </a:lnTo>
                  <a:lnTo>
                    <a:pt x="54729" y="5107086"/>
                  </a:lnTo>
                  <a:lnTo>
                    <a:pt x="70897" y="5149476"/>
                  </a:lnTo>
                  <a:lnTo>
                    <a:pt x="88989" y="5190876"/>
                  </a:lnTo>
                  <a:lnTo>
                    <a:pt x="108949" y="5231230"/>
                  </a:lnTo>
                  <a:lnTo>
                    <a:pt x="130722" y="5270484"/>
                  </a:lnTo>
                  <a:lnTo>
                    <a:pt x="154254" y="5308583"/>
                  </a:lnTo>
                  <a:lnTo>
                    <a:pt x="179489" y="5345472"/>
                  </a:lnTo>
                  <a:lnTo>
                    <a:pt x="206373" y="5381096"/>
                  </a:lnTo>
                  <a:lnTo>
                    <a:pt x="234850" y="5415401"/>
                  </a:lnTo>
                  <a:lnTo>
                    <a:pt x="264867" y="5448331"/>
                  </a:lnTo>
                  <a:lnTo>
                    <a:pt x="296368" y="5479832"/>
                  </a:lnTo>
                  <a:lnTo>
                    <a:pt x="329298" y="5509849"/>
                  </a:lnTo>
                  <a:lnTo>
                    <a:pt x="363603" y="5538327"/>
                  </a:lnTo>
                  <a:lnTo>
                    <a:pt x="399227" y="5565211"/>
                  </a:lnTo>
                  <a:lnTo>
                    <a:pt x="436117" y="5590446"/>
                  </a:lnTo>
                  <a:lnTo>
                    <a:pt x="474215" y="5613977"/>
                  </a:lnTo>
                  <a:lnTo>
                    <a:pt x="513469" y="5635751"/>
                  </a:lnTo>
                  <a:lnTo>
                    <a:pt x="553824" y="5655710"/>
                  </a:lnTo>
                  <a:lnTo>
                    <a:pt x="595223" y="5673802"/>
                  </a:lnTo>
                  <a:lnTo>
                    <a:pt x="637613" y="5689971"/>
                  </a:lnTo>
                  <a:lnTo>
                    <a:pt x="680939" y="5704162"/>
                  </a:lnTo>
                  <a:lnTo>
                    <a:pt x="725145" y="5716320"/>
                  </a:lnTo>
                  <a:lnTo>
                    <a:pt x="770177" y="5726390"/>
                  </a:lnTo>
                  <a:lnTo>
                    <a:pt x="815981" y="5734319"/>
                  </a:lnTo>
                  <a:lnTo>
                    <a:pt x="862500" y="5740049"/>
                  </a:lnTo>
                  <a:lnTo>
                    <a:pt x="909681" y="5743528"/>
                  </a:lnTo>
                  <a:lnTo>
                    <a:pt x="957468" y="5744700"/>
                  </a:lnTo>
                  <a:lnTo>
                    <a:pt x="7856070" y="5744700"/>
                  </a:lnTo>
                  <a:lnTo>
                    <a:pt x="7903857" y="5743528"/>
                  </a:lnTo>
                  <a:lnTo>
                    <a:pt x="7951038" y="5740049"/>
                  </a:lnTo>
                  <a:lnTo>
                    <a:pt x="7997558" y="5734319"/>
                  </a:lnTo>
                  <a:lnTo>
                    <a:pt x="8043361" y="5726390"/>
                  </a:lnTo>
                  <a:lnTo>
                    <a:pt x="8088394" y="5716320"/>
                  </a:lnTo>
                  <a:lnTo>
                    <a:pt x="8132600" y="5704162"/>
                  </a:lnTo>
                  <a:lnTo>
                    <a:pt x="8175926" y="5689971"/>
                  </a:lnTo>
                  <a:lnTo>
                    <a:pt x="8218316" y="5673802"/>
                  </a:lnTo>
                  <a:lnTo>
                    <a:pt x="8259715" y="5655710"/>
                  </a:lnTo>
                  <a:lnTo>
                    <a:pt x="8300069" y="5635751"/>
                  </a:lnTo>
                  <a:lnTo>
                    <a:pt x="8339323" y="5613977"/>
                  </a:lnTo>
                  <a:lnTo>
                    <a:pt x="8377422" y="5590446"/>
                  </a:lnTo>
                  <a:lnTo>
                    <a:pt x="8414311" y="5565211"/>
                  </a:lnTo>
                  <a:lnTo>
                    <a:pt x="8449936" y="5538327"/>
                  </a:lnTo>
                  <a:lnTo>
                    <a:pt x="8484240" y="5509849"/>
                  </a:lnTo>
                  <a:lnTo>
                    <a:pt x="8517171" y="5479832"/>
                  </a:lnTo>
                  <a:lnTo>
                    <a:pt x="8548672" y="5448331"/>
                  </a:lnTo>
                  <a:lnTo>
                    <a:pt x="8578688" y="5415401"/>
                  </a:lnTo>
                  <a:lnTo>
                    <a:pt x="8607166" y="5381096"/>
                  </a:lnTo>
                  <a:lnTo>
                    <a:pt x="8634050" y="5345472"/>
                  </a:lnTo>
                  <a:lnTo>
                    <a:pt x="8659285" y="5308583"/>
                  </a:lnTo>
                  <a:lnTo>
                    <a:pt x="8682817" y="5270484"/>
                  </a:lnTo>
                  <a:lnTo>
                    <a:pt x="8704590" y="5231230"/>
                  </a:lnTo>
                  <a:lnTo>
                    <a:pt x="8724550" y="5190876"/>
                  </a:lnTo>
                  <a:lnTo>
                    <a:pt x="8742642" y="5149476"/>
                  </a:lnTo>
                  <a:lnTo>
                    <a:pt x="8758810" y="5107086"/>
                  </a:lnTo>
                  <a:lnTo>
                    <a:pt x="8773001" y="5063761"/>
                  </a:lnTo>
                  <a:lnTo>
                    <a:pt x="8785159" y="5019555"/>
                  </a:lnTo>
                  <a:lnTo>
                    <a:pt x="8795230" y="4974522"/>
                  </a:lnTo>
                  <a:lnTo>
                    <a:pt x="8803158" y="4928719"/>
                  </a:lnTo>
                  <a:lnTo>
                    <a:pt x="8808889" y="4882199"/>
                  </a:lnTo>
                  <a:lnTo>
                    <a:pt x="8812368" y="4835019"/>
                  </a:lnTo>
                  <a:lnTo>
                    <a:pt x="8813539" y="4787231"/>
                  </a:lnTo>
                  <a:lnTo>
                    <a:pt x="8813539" y="957468"/>
                  </a:lnTo>
                  <a:lnTo>
                    <a:pt x="8812368" y="909680"/>
                  </a:lnTo>
                  <a:lnTo>
                    <a:pt x="8808889" y="862500"/>
                  </a:lnTo>
                  <a:lnTo>
                    <a:pt x="8803158" y="815980"/>
                  </a:lnTo>
                  <a:lnTo>
                    <a:pt x="8795230" y="770177"/>
                  </a:lnTo>
                  <a:lnTo>
                    <a:pt x="8785159" y="725145"/>
                  </a:lnTo>
                  <a:lnTo>
                    <a:pt x="8773001" y="680938"/>
                  </a:lnTo>
                  <a:lnTo>
                    <a:pt x="8758810" y="637613"/>
                  </a:lnTo>
                  <a:lnTo>
                    <a:pt x="8742642" y="595223"/>
                  </a:lnTo>
                  <a:lnTo>
                    <a:pt x="8724550" y="553823"/>
                  </a:lnTo>
                  <a:lnTo>
                    <a:pt x="8704590" y="513469"/>
                  </a:lnTo>
                  <a:lnTo>
                    <a:pt x="8682817" y="474215"/>
                  </a:lnTo>
                  <a:lnTo>
                    <a:pt x="8659285" y="436116"/>
                  </a:lnTo>
                  <a:lnTo>
                    <a:pt x="8634050" y="399227"/>
                  </a:lnTo>
                  <a:lnTo>
                    <a:pt x="8607166" y="363603"/>
                  </a:lnTo>
                  <a:lnTo>
                    <a:pt x="8578688" y="329298"/>
                  </a:lnTo>
                  <a:lnTo>
                    <a:pt x="8548672" y="296368"/>
                  </a:lnTo>
                  <a:lnTo>
                    <a:pt x="8517171" y="264867"/>
                  </a:lnTo>
                  <a:lnTo>
                    <a:pt x="8484240" y="234850"/>
                  </a:lnTo>
                  <a:lnTo>
                    <a:pt x="8449936" y="206373"/>
                  </a:lnTo>
                  <a:lnTo>
                    <a:pt x="8414311" y="179489"/>
                  </a:lnTo>
                  <a:lnTo>
                    <a:pt x="8377422" y="154254"/>
                  </a:lnTo>
                  <a:lnTo>
                    <a:pt x="8339323" y="130722"/>
                  </a:lnTo>
                  <a:lnTo>
                    <a:pt x="8300069" y="108949"/>
                  </a:lnTo>
                  <a:lnTo>
                    <a:pt x="8259715" y="88989"/>
                  </a:lnTo>
                  <a:lnTo>
                    <a:pt x="8218316" y="70897"/>
                  </a:lnTo>
                  <a:lnTo>
                    <a:pt x="8175926" y="54729"/>
                  </a:lnTo>
                  <a:lnTo>
                    <a:pt x="8132600" y="40538"/>
                  </a:lnTo>
                  <a:lnTo>
                    <a:pt x="8088394" y="28380"/>
                  </a:lnTo>
                  <a:lnTo>
                    <a:pt x="8043361" y="18309"/>
                  </a:lnTo>
                  <a:lnTo>
                    <a:pt x="7997558" y="10381"/>
                  </a:lnTo>
                  <a:lnTo>
                    <a:pt x="7951038" y="4650"/>
                  </a:lnTo>
                  <a:lnTo>
                    <a:pt x="7903857" y="1171"/>
                  </a:lnTo>
                  <a:lnTo>
                    <a:pt x="78560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803" y="1066801"/>
              <a:ext cx="8813800" cy="5744845"/>
            </a:xfrm>
            <a:custGeom>
              <a:avLst/>
              <a:gdLst/>
              <a:ahLst/>
              <a:cxnLst/>
              <a:rect l="l" t="t" r="r" b="b"/>
              <a:pathLst>
                <a:path w="8813800" h="5744845">
                  <a:moveTo>
                    <a:pt x="0" y="957468"/>
                  </a:moveTo>
                  <a:lnTo>
                    <a:pt x="1171" y="909681"/>
                  </a:lnTo>
                  <a:lnTo>
                    <a:pt x="4650" y="862500"/>
                  </a:lnTo>
                  <a:lnTo>
                    <a:pt x="10381" y="815980"/>
                  </a:lnTo>
                  <a:lnTo>
                    <a:pt x="18309" y="770177"/>
                  </a:lnTo>
                  <a:lnTo>
                    <a:pt x="28380" y="725145"/>
                  </a:lnTo>
                  <a:lnTo>
                    <a:pt x="40538" y="680939"/>
                  </a:lnTo>
                  <a:lnTo>
                    <a:pt x="54729" y="637613"/>
                  </a:lnTo>
                  <a:lnTo>
                    <a:pt x="70897" y="595223"/>
                  </a:lnTo>
                  <a:lnTo>
                    <a:pt x="88989" y="553824"/>
                  </a:lnTo>
                  <a:lnTo>
                    <a:pt x="108949" y="513469"/>
                  </a:lnTo>
                  <a:lnTo>
                    <a:pt x="130722" y="474215"/>
                  </a:lnTo>
                  <a:lnTo>
                    <a:pt x="154254" y="436116"/>
                  </a:lnTo>
                  <a:lnTo>
                    <a:pt x="179489" y="399227"/>
                  </a:lnTo>
                  <a:lnTo>
                    <a:pt x="206373" y="363603"/>
                  </a:lnTo>
                  <a:lnTo>
                    <a:pt x="234850" y="329298"/>
                  </a:lnTo>
                  <a:lnTo>
                    <a:pt x="264867" y="296368"/>
                  </a:lnTo>
                  <a:lnTo>
                    <a:pt x="296368" y="264867"/>
                  </a:lnTo>
                  <a:lnTo>
                    <a:pt x="329298" y="234850"/>
                  </a:lnTo>
                  <a:lnTo>
                    <a:pt x="363603" y="206373"/>
                  </a:lnTo>
                  <a:lnTo>
                    <a:pt x="399227" y="179489"/>
                  </a:lnTo>
                  <a:lnTo>
                    <a:pt x="436116" y="154254"/>
                  </a:lnTo>
                  <a:lnTo>
                    <a:pt x="474215" y="130722"/>
                  </a:lnTo>
                  <a:lnTo>
                    <a:pt x="513469" y="108949"/>
                  </a:lnTo>
                  <a:lnTo>
                    <a:pt x="553824" y="88989"/>
                  </a:lnTo>
                  <a:lnTo>
                    <a:pt x="595223" y="70897"/>
                  </a:lnTo>
                  <a:lnTo>
                    <a:pt x="637613" y="54729"/>
                  </a:lnTo>
                  <a:lnTo>
                    <a:pt x="680939" y="40538"/>
                  </a:lnTo>
                  <a:lnTo>
                    <a:pt x="725145" y="28380"/>
                  </a:lnTo>
                  <a:lnTo>
                    <a:pt x="770177" y="18309"/>
                  </a:lnTo>
                  <a:lnTo>
                    <a:pt x="815980" y="10381"/>
                  </a:lnTo>
                  <a:lnTo>
                    <a:pt x="862500" y="4650"/>
                  </a:lnTo>
                  <a:lnTo>
                    <a:pt x="909681" y="1171"/>
                  </a:lnTo>
                  <a:lnTo>
                    <a:pt x="957468" y="0"/>
                  </a:lnTo>
                  <a:lnTo>
                    <a:pt x="7856069" y="0"/>
                  </a:lnTo>
                  <a:lnTo>
                    <a:pt x="7903857" y="1171"/>
                  </a:lnTo>
                  <a:lnTo>
                    <a:pt x="7951038" y="4650"/>
                  </a:lnTo>
                  <a:lnTo>
                    <a:pt x="7997557" y="10381"/>
                  </a:lnTo>
                  <a:lnTo>
                    <a:pt x="8043361" y="18309"/>
                  </a:lnTo>
                  <a:lnTo>
                    <a:pt x="8088393" y="28380"/>
                  </a:lnTo>
                  <a:lnTo>
                    <a:pt x="8132599" y="40538"/>
                  </a:lnTo>
                  <a:lnTo>
                    <a:pt x="8175925" y="54729"/>
                  </a:lnTo>
                  <a:lnTo>
                    <a:pt x="8218315" y="70897"/>
                  </a:lnTo>
                  <a:lnTo>
                    <a:pt x="8259714" y="88989"/>
                  </a:lnTo>
                  <a:lnTo>
                    <a:pt x="8300068" y="108949"/>
                  </a:lnTo>
                  <a:lnTo>
                    <a:pt x="8339322" y="130722"/>
                  </a:lnTo>
                  <a:lnTo>
                    <a:pt x="8377421" y="154254"/>
                  </a:lnTo>
                  <a:lnTo>
                    <a:pt x="8414310" y="179489"/>
                  </a:lnTo>
                  <a:lnTo>
                    <a:pt x="8449935" y="206373"/>
                  </a:lnTo>
                  <a:lnTo>
                    <a:pt x="8484239" y="234850"/>
                  </a:lnTo>
                  <a:lnTo>
                    <a:pt x="8517170" y="264867"/>
                  </a:lnTo>
                  <a:lnTo>
                    <a:pt x="8548671" y="296368"/>
                  </a:lnTo>
                  <a:lnTo>
                    <a:pt x="8578687" y="329298"/>
                  </a:lnTo>
                  <a:lnTo>
                    <a:pt x="8607165" y="363603"/>
                  </a:lnTo>
                  <a:lnTo>
                    <a:pt x="8634049" y="399227"/>
                  </a:lnTo>
                  <a:lnTo>
                    <a:pt x="8659284" y="436116"/>
                  </a:lnTo>
                  <a:lnTo>
                    <a:pt x="8682816" y="474215"/>
                  </a:lnTo>
                  <a:lnTo>
                    <a:pt x="8704589" y="513469"/>
                  </a:lnTo>
                  <a:lnTo>
                    <a:pt x="8724549" y="553824"/>
                  </a:lnTo>
                  <a:lnTo>
                    <a:pt x="8742640" y="595223"/>
                  </a:lnTo>
                  <a:lnTo>
                    <a:pt x="8758809" y="637613"/>
                  </a:lnTo>
                  <a:lnTo>
                    <a:pt x="8773000" y="680939"/>
                  </a:lnTo>
                  <a:lnTo>
                    <a:pt x="8785158" y="725145"/>
                  </a:lnTo>
                  <a:lnTo>
                    <a:pt x="8795229" y="770177"/>
                  </a:lnTo>
                  <a:lnTo>
                    <a:pt x="8803157" y="815980"/>
                  </a:lnTo>
                  <a:lnTo>
                    <a:pt x="8808888" y="862500"/>
                  </a:lnTo>
                  <a:lnTo>
                    <a:pt x="8812366" y="909681"/>
                  </a:lnTo>
                  <a:lnTo>
                    <a:pt x="8813538" y="957468"/>
                  </a:lnTo>
                  <a:lnTo>
                    <a:pt x="8813538" y="4787231"/>
                  </a:lnTo>
                  <a:lnTo>
                    <a:pt x="8812366" y="4835019"/>
                  </a:lnTo>
                  <a:lnTo>
                    <a:pt x="8808888" y="4882199"/>
                  </a:lnTo>
                  <a:lnTo>
                    <a:pt x="8803157" y="4928719"/>
                  </a:lnTo>
                  <a:lnTo>
                    <a:pt x="8795229" y="4974522"/>
                  </a:lnTo>
                  <a:lnTo>
                    <a:pt x="8785158" y="5019554"/>
                  </a:lnTo>
                  <a:lnTo>
                    <a:pt x="8773000" y="5063761"/>
                  </a:lnTo>
                  <a:lnTo>
                    <a:pt x="8758809" y="5107086"/>
                  </a:lnTo>
                  <a:lnTo>
                    <a:pt x="8742640" y="5149476"/>
                  </a:lnTo>
                  <a:lnTo>
                    <a:pt x="8724549" y="5190876"/>
                  </a:lnTo>
                  <a:lnTo>
                    <a:pt x="8704589" y="5231230"/>
                  </a:lnTo>
                  <a:lnTo>
                    <a:pt x="8682816" y="5270484"/>
                  </a:lnTo>
                  <a:lnTo>
                    <a:pt x="8659284" y="5308583"/>
                  </a:lnTo>
                  <a:lnTo>
                    <a:pt x="8634049" y="5345472"/>
                  </a:lnTo>
                  <a:lnTo>
                    <a:pt x="8607165" y="5381096"/>
                  </a:lnTo>
                  <a:lnTo>
                    <a:pt x="8578687" y="5415401"/>
                  </a:lnTo>
                  <a:lnTo>
                    <a:pt x="8548671" y="5448331"/>
                  </a:lnTo>
                  <a:lnTo>
                    <a:pt x="8517170" y="5479832"/>
                  </a:lnTo>
                  <a:lnTo>
                    <a:pt x="8484239" y="5509849"/>
                  </a:lnTo>
                  <a:lnTo>
                    <a:pt x="8449935" y="5538327"/>
                  </a:lnTo>
                  <a:lnTo>
                    <a:pt x="8414310" y="5565211"/>
                  </a:lnTo>
                  <a:lnTo>
                    <a:pt x="8377421" y="5590446"/>
                  </a:lnTo>
                  <a:lnTo>
                    <a:pt x="8339322" y="5613977"/>
                  </a:lnTo>
                  <a:lnTo>
                    <a:pt x="8300068" y="5635751"/>
                  </a:lnTo>
                  <a:lnTo>
                    <a:pt x="8259714" y="5655710"/>
                  </a:lnTo>
                  <a:lnTo>
                    <a:pt x="8218315" y="5673802"/>
                  </a:lnTo>
                  <a:lnTo>
                    <a:pt x="8175925" y="5689971"/>
                  </a:lnTo>
                  <a:lnTo>
                    <a:pt x="8132599" y="5704162"/>
                  </a:lnTo>
                  <a:lnTo>
                    <a:pt x="8088393" y="5716320"/>
                  </a:lnTo>
                  <a:lnTo>
                    <a:pt x="8043361" y="5726391"/>
                  </a:lnTo>
                  <a:lnTo>
                    <a:pt x="7997557" y="5734319"/>
                  </a:lnTo>
                  <a:lnTo>
                    <a:pt x="7951038" y="5740050"/>
                  </a:lnTo>
                  <a:lnTo>
                    <a:pt x="7903857" y="5743528"/>
                  </a:lnTo>
                  <a:lnTo>
                    <a:pt x="7856069" y="5744700"/>
                  </a:lnTo>
                  <a:lnTo>
                    <a:pt x="957468" y="5744700"/>
                  </a:lnTo>
                  <a:lnTo>
                    <a:pt x="909681" y="5743528"/>
                  </a:lnTo>
                  <a:lnTo>
                    <a:pt x="862500" y="5740050"/>
                  </a:lnTo>
                  <a:lnTo>
                    <a:pt x="815980" y="5734319"/>
                  </a:lnTo>
                  <a:lnTo>
                    <a:pt x="770177" y="5726391"/>
                  </a:lnTo>
                  <a:lnTo>
                    <a:pt x="725145" y="5716320"/>
                  </a:lnTo>
                  <a:lnTo>
                    <a:pt x="680939" y="5704162"/>
                  </a:lnTo>
                  <a:lnTo>
                    <a:pt x="637613" y="5689971"/>
                  </a:lnTo>
                  <a:lnTo>
                    <a:pt x="595223" y="5673802"/>
                  </a:lnTo>
                  <a:lnTo>
                    <a:pt x="553824" y="5655710"/>
                  </a:lnTo>
                  <a:lnTo>
                    <a:pt x="513469" y="5635751"/>
                  </a:lnTo>
                  <a:lnTo>
                    <a:pt x="474215" y="5613977"/>
                  </a:lnTo>
                  <a:lnTo>
                    <a:pt x="436116" y="5590446"/>
                  </a:lnTo>
                  <a:lnTo>
                    <a:pt x="399227" y="5565211"/>
                  </a:lnTo>
                  <a:lnTo>
                    <a:pt x="363603" y="5538327"/>
                  </a:lnTo>
                  <a:lnTo>
                    <a:pt x="329298" y="5509849"/>
                  </a:lnTo>
                  <a:lnTo>
                    <a:pt x="296368" y="5479832"/>
                  </a:lnTo>
                  <a:lnTo>
                    <a:pt x="264867" y="5448331"/>
                  </a:lnTo>
                  <a:lnTo>
                    <a:pt x="234850" y="5415401"/>
                  </a:lnTo>
                  <a:lnTo>
                    <a:pt x="206373" y="5381096"/>
                  </a:lnTo>
                  <a:lnTo>
                    <a:pt x="179489" y="5345472"/>
                  </a:lnTo>
                  <a:lnTo>
                    <a:pt x="154254" y="5308583"/>
                  </a:lnTo>
                  <a:lnTo>
                    <a:pt x="130722" y="5270484"/>
                  </a:lnTo>
                  <a:lnTo>
                    <a:pt x="108949" y="5231230"/>
                  </a:lnTo>
                  <a:lnTo>
                    <a:pt x="88989" y="5190876"/>
                  </a:lnTo>
                  <a:lnTo>
                    <a:pt x="70897" y="5149476"/>
                  </a:lnTo>
                  <a:lnTo>
                    <a:pt x="54729" y="5107086"/>
                  </a:lnTo>
                  <a:lnTo>
                    <a:pt x="40538" y="5063761"/>
                  </a:lnTo>
                  <a:lnTo>
                    <a:pt x="28380" y="5019554"/>
                  </a:lnTo>
                  <a:lnTo>
                    <a:pt x="18309" y="4974522"/>
                  </a:lnTo>
                  <a:lnTo>
                    <a:pt x="10381" y="4928719"/>
                  </a:lnTo>
                  <a:lnTo>
                    <a:pt x="4650" y="4882199"/>
                  </a:lnTo>
                  <a:lnTo>
                    <a:pt x="1171" y="4835019"/>
                  </a:lnTo>
                  <a:lnTo>
                    <a:pt x="0" y="4787231"/>
                  </a:lnTo>
                  <a:lnTo>
                    <a:pt x="0" y="957468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774" y="369916"/>
              <a:ext cx="7298574" cy="7689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49359" y="397658"/>
            <a:ext cx="7197725" cy="66929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4790"/>
              </a:lnSpc>
            </a:pP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What 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sz="4400" b="0" spc="-20" dirty="0">
                <a:solidFill>
                  <a:srgbClr val="000000"/>
                </a:solidFill>
                <a:latin typeface="Calibri"/>
                <a:cs typeface="Calibri"/>
              </a:rPr>
              <a:t>Software</a:t>
            </a: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 Architecture?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517" y="1227306"/>
            <a:ext cx="7917180" cy="5563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27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The </a:t>
            </a:r>
            <a:r>
              <a:rPr sz="19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architecture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 </a:t>
            </a:r>
            <a:r>
              <a:rPr sz="1900" spc="-5" dirty="0">
                <a:latin typeface="Calibri"/>
                <a:cs typeface="Calibri"/>
              </a:rPr>
              <a:t>system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consists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of: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ts val="2270"/>
              </a:lnSpc>
            </a:pP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15" dirty="0">
                <a:latin typeface="Calibri"/>
                <a:cs typeface="Calibri"/>
              </a:rPr>
              <a:t> </a:t>
            </a:r>
            <a:r>
              <a:rPr sz="1900" b="1" i="1" spc="-5" dirty="0">
                <a:solidFill>
                  <a:srgbClr val="7F0101"/>
                </a:solidFill>
                <a:latin typeface="Calibri"/>
                <a:cs typeface="Calibri"/>
              </a:rPr>
              <a:t>structure(s)</a:t>
            </a:r>
            <a:r>
              <a:rPr sz="1900" b="1" i="1" spc="-1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1900" b="1" i="1" spc="-5" dirty="0">
                <a:solidFill>
                  <a:srgbClr val="7F0101"/>
                </a:solidFill>
                <a:latin typeface="Calibri"/>
                <a:cs typeface="Calibri"/>
              </a:rPr>
              <a:t>of </a:t>
            </a:r>
            <a:r>
              <a:rPr sz="1900" b="1" i="1" dirty="0">
                <a:solidFill>
                  <a:srgbClr val="7F0101"/>
                </a:solidFill>
                <a:latin typeface="Calibri"/>
                <a:cs typeface="Calibri"/>
              </a:rPr>
              <a:t>its</a:t>
            </a:r>
            <a:r>
              <a:rPr sz="1900" b="1" i="1" spc="-1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1900" b="1" i="1" spc="-5" dirty="0">
                <a:solidFill>
                  <a:srgbClr val="7F0101"/>
                </a:solidFill>
                <a:latin typeface="Calibri"/>
                <a:cs typeface="Calibri"/>
              </a:rPr>
              <a:t>parts</a:t>
            </a:r>
            <a:endParaRPr sz="1900" dirty="0">
              <a:latin typeface="Calibri"/>
              <a:cs typeface="Calibri"/>
            </a:endParaRPr>
          </a:p>
          <a:p>
            <a:pPr marL="755650" lvl="1" indent="-285750">
              <a:lnSpc>
                <a:spcPts val="2025"/>
              </a:lnSpc>
              <a:spcBef>
                <a:spcPts val="10"/>
              </a:spcBef>
              <a:buFont typeface="Wingdings"/>
              <a:buChar char=""/>
              <a:tabLst>
                <a:tab pos="755650" algn="l"/>
              </a:tabLst>
            </a:pPr>
            <a:r>
              <a:rPr sz="1700" dirty="0">
                <a:latin typeface="Calibri"/>
                <a:cs typeface="Calibri"/>
              </a:rPr>
              <a:t>including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design-time,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test-time,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run-time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hardware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software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parts</a:t>
            </a:r>
            <a:endParaRPr sz="1700" dirty="0">
              <a:latin typeface="Calibri"/>
              <a:cs typeface="Calibri"/>
            </a:endParaRPr>
          </a:p>
          <a:p>
            <a:pPr marL="800100" indent="-342900">
              <a:lnSpc>
                <a:spcPts val="2265"/>
              </a:lnSpc>
              <a:buFont typeface="Wingdings"/>
              <a:buChar char=""/>
              <a:tabLst>
                <a:tab pos="799465" algn="l"/>
                <a:tab pos="8001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i="1" spc="-5" dirty="0">
                <a:solidFill>
                  <a:srgbClr val="7F0101"/>
                </a:solidFill>
                <a:latin typeface="Calibri"/>
                <a:cs typeface="Calibri"/>
              </a:rPr>
              <a:t>externally</a:t>
            </a:r>
            <a:r>
              <a:rPr sz="1900" i="1" dirty="0">
                <a:solidFill>
                  <a:srgbClr val="7F0101"/>
                </a:solidFill>
                <a:latin typeface="Calibri"/>
                <a:cs typeface="Calibri"/>
              </a:rPr>
              <a:t> visible </a:t>
            </a:r>
            <a:r>
              <a:rPr sz="1900" i="1" spc="-5" dirty="0">
                <a:solidFill>
                  <a:srgbClr val="7F0101"/>
                </a:solidFill>
                <a:latin typeface="Calibri"/>
                <a:cs typeface="Calibri"/>
              </a:rPr>
              <a:t>properties</a:t>
            </a:r>
            <a:r>
              <a:rPr sz="19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those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parts</a:t>
            </a:r>
            <a:endParaRPr sz="1900" dirty="0">
              <a:latin typeface="Calibri"/>
              <a:cs typeface="Calibri"/>
            </a:endParaRPr>
          </a:p>
          <a:p>
            <a:pPr marL="755650" indent="-285750">
              <a:lnSpc>
                <a:spcPts val="2025"/>
              </a:lnSpc>
              <a:spcBef>
                <a:spcPts val="10"/>
              </a:spcBef>
              <a:buFont typeface="Wingdings"/>
              <a:buChar char=""/>
              <a:tabLst>
                <a:tab pos="755650" algn="l"/>
              </a:tabLst>
            </a:pPr>
            <a:r>
              <a:rPr sz="1700" spc="-5" dirty="0">
                <a:latin typeface="Calibri"/>
                <a:cs typeface="Calibri"/>
              </a:rPr>
              <a:t>modules,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hardware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units</a:t>
            </a:r>
          </a:p>
          <a:p>
            <a:pPr marL="922019" indent="-465455">
              <a:lnSpc>
                <a:spcPts val="2265"/>
              </a:lnSpc>
              <a:buFont typeface="Wingdings"/>
              <a:buChar char=""/>
              <a:tabLst>
                <a:tab pos="922019" algn="l"/>
                <a:tab pos="92265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i="1" spc="-5" dirty="0">
                <a:solidFill>
                  <a:srgbClr val="7F0101"/>
                </a:solidFill>
                <a:latin typeface="Calibri"/>
                <a:cs typeface="Calibri"/>
              </a:rPr>
              <a:t>relationships</a:t>
            </a:r>
            <a:r>
              <a:rPr sz="19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1900" i="1" dirty="0">
                <a:solidFill>
                  <a:srgbClr val="7F0101"/>
                </a:solidFill>
                <a:latin typeface="Calibri"/>
                <a:cs typeface="Calibri"/>
              </a:rPr>
              <a:t>and </a:t>
            </a:r>
            <a:r>
              <a:rPr sz="1900" i="1" spc="-5" dirty="0">
                <a:solidFill>
                  <a:srgbClr val="7F0101"/>
                </a:solidFill>
                <a:latin typeface="Calibri"/>
                <a:cs typeface="Calibri"/>
              </a:rPr>
              <a:t>constraints</a:t>
            </a:r>
            <a:r>
              <a:rPr sz="19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between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them</a:t>
            </a:r>
          </a:p>
          <a:p>
            <a:pPr marL="355600" marR="5080" indent="-342900" algn="just">
              <a:lnSpc>
                <a:spcPct val="90200"/>
              </a:lnSpc>
              <a:spcBef>
                <a:spcPts val="459"/>
              </a:spcBef>
              <a:buFont typeface="Wingdings"/>
              <a:buChar char=""/>
              <a:tabLst>
                <a:tab pos="410209" algn="l"/>
              </a:tabLst>
            </a:pPr>
            <a:r>
              <a:rPr dirty="0"/>
              <a:t>	</a:t>
            </a:r>
            <a:r>
              <a:rPr sz="1900" spc="-5" dirty="0">
                <a:latin typeface="Calibri"/>
                <a:cs typeface="Calibri"/>
              </a:rPr>
              <a:t>Architecture </a:t>
            </a:r>
            <a:r>
              <a:rPr sz="1900" dirty="0">
                <a:latin typeface="Calibri"/>
                <a:cs typeface="Calibri"/>
              </a:rPr>
              <a:t>is the </a:t>
            </a:r>
            <a:r>
              <a:rPr sz="2000" b="1" spc="-5" dirty="0">
                <a:latin typeface="Calibri"/>
                <a:cs typeface="Calibri"/>
              </a:rPr>
              <a:t>fundamental </a:t>
            </a:r>
            <a:r>
              <a:rPr sz="2000" b="1" spc="-10" dirty="0">
                <a:latin typeface="Calibri"/>
                <a:cs typeface="Calibri"/>
              </a:rPr>
              <a:t>organization </a:t>
            </a:r>
            <a:r>
              <a:rPr sz="2000" b="1" spc="-5" dirty="0">
                <a:latin typeface="Calibri"/>
                <a:cs typeface="Calibri"/>
              </a:rPr>
              <a:t>of </a:t>
            </a:r>
            <a:r>
              <a:rPr sz="2000" b="1" dirty="0">
                <a:latin typeface="Calibri"/>
                <a:cs typeface="Calibri"/>
              </a:rPr>
              <a:t>a </a:t>
            </a:r>
            <a:r>
              <a:rPr sz="2000" b="1" spc="-5" dirty="0">
                <a:latin typeface="Calibri"/>
                <a:cs typeface="Calibri"/>
              </a:rPr>
              <a:t>system</a:t>
            </a:r>
            <a:r>
              <a:rPr sz="1900" spc="-5" dirty="0">
                <a:latin typeface="Calibri"/>
                <a:cs typeface="Calibri"/>
              </a:rPr>
              <a:t>, embodied </a:t>
            </a:r>
            <a:r>
              <a:rPr sz="1900" dirty="0">
                <a:latin typeface="Calibri"/>
                <a:cs typeface="Calibri"/>
              </a:rPr>
              <a:t>in its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components, </a:t>
            </a:r>
            <a:r>
              <a:rPr sz="1900" dirty="0">
                <a:latin typeface="Calibri"/>
                <a:cs typeface="Calibri"/>
              </a:rPr>
              <a:t>their </a:t>
            </a:r>
            <a:r>
              <a:rPr sz="1900" b="1" spc="-5" dirty="0">
                <a:latin typeface="Calibri"/>
                <a:cs typeface="Calibri"/>
              </a:rPr>
              <a:t>relationships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 </a:t>
            </a:r>
            <a:r>
              <a:rPr sz="1900" spc="-5" dirty="0">
                <a:latin typeface="Calibri"/>
                <a:cs typeface="Calibri"/>
              </a:rPr>
              <a:t>each other </a:t>
            </a:r>
            <a:r>
              <a:rPr sz="1900" dirty="0">
                <a:latin typeface="Calibri"/>
                <a:cs typeface="Calibri"/>
              </a:rPr>
              <a:t>and the </a:t>
            </a:r>
            <a:r>
              <a:rPr sz="1900" b="1" spc="-5" dirty="0">
                <a:latin typeface="Calibri"/>
                <a:cs typeface="Calibri"/>
              </a:rPr>
              <a:t>environment</a:t>
            </a:r>
            <a:r>
              <a:rPr sz="1900" spc="-5" dirty="0">
                <a:latin typeface="Calibri"/>
                <a:cs typeface="Calibri"/>
              </a:rPr>
              <a:t>, </a:t>
            </a:r>
            <a:r>
              <a:rPr sz="1900" dirty="0">
                <a:latin typeface="Calibri"/>
                <a:cs typeface="Calibri"/>
              </a:rPr>
              <a:t>and the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principles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governing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its design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 </a:t>
            </a:r>
            <a:r>
              <a:rPr sz="1900" spc="-5" dirty="0">
                <a:latin typeface="Calibri"/>
                <a:cs typeface="Calibri"/>
              </a:rPr>
              <a:t>evolution”.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[ANSI/IEEE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1471-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400]</a:t>
            </a:r>
            <a:endParaRPr sz="1900" dirty="0">
              <a:latin typeface="Calibri"/>
              <a:cs typeface="Calibri"/>
            </a:endParaRPr>
          </a:p>
          <a:p>
            <a:pPr marL="409575" indent="-39751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59375"/>
              <a:buFont typeface="Wingdings"/>
              <a:buChar char=""/>
              <a:tabLst>
                <a:tab pos="409575" algn="l"/>
                <a:tab pos="410209" algn="l"/>
              </a:tabLst>
            </a:pPr>
            <a:r>
              <a:rPr sz="3200" b="1" u="heavy" spc="-5" dirty="0">
                <a:solidFill>
                  <a:srgbClr val="008000"/>
                </a:solidFill>
                <a:uFill>
                  <a:solidFill>
                    <a:srgbClr val="008F00"/>
                  </a:solidFill>
                </a:uFill>
                <a:latin typeface="Calibri"/>
                <a:cs typeface="Calibri"/>
              </a:rPr>
              <a:t>Architecture</a:t>
            </a:r>
            <a:r>
              <a:rPr sz="3200" b="1" u="heavy" spc="-20" dirty="0">
                <a:solidFill>
                  <a:srgbClr val="008000"/>
                </a:solidFill>
                <a:uFill>
                  <a:solidFill>
                    <a:srgbClr val="008F00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spc="-5" dirty="0">
                <a:solidFill>
                  <a:srgbClr val="008000"/>
                </a:solidFill>
                <a:uFill>
                  <a:solidFill>
                    <a:srgbClr val="008F00"/>
                  </a:solidFill>
                </a:uFill>
                <a:latin typeface="Calibri"/>
                <a:cs typeface="Calibri"/>
              </a:rPr>
              <a:t>is:</a:t>
            </a:r>
            <a:endParaRPr sz="3200" dirty="0">
              <a:latin typeface="Calibri"/>
              <a:cs typeface="Calibri"/>
            </a:endParaRPr>
          </a:p>
          <a:p>
            <a:pPr marL="679450" lvl="1" indent="-324485">
              <a:lnSpc>
                <a:spcPct val="100000"/>
              </a:lnSpc>
              <a:spcBef>
                <a:spcPts val="280"/>
              </a:spcBef>
              <a:buFont typeface="Wingdings"/>
              <a:buChar char=""/>
              <a:tabLst>
                <a:tab pos="680085" algn="l"/>
              </a:tabLst>
            </a:pPr>
            <a:r>
              <a:rPr sz="1900" dirty="0">
                <a:latin typeface="Calibri"/>
                <a:cs typeface="Calibri"/>
              </a:rPr>
              <a:t>All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about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communication</a:t>
            </a:r>
            <a:endParaRPr sz="1900" dirty="0">
              <a:latin typeface="Calibri"/>
              <a:cs typeface="Calibri"/>
            </a:endParaRPr>
          </a:p>
          <a:p>
            <a:pPr marL="679450" lvl="1" indent="-324485">
              <a:lnSpc>
                <a:spcPct val="100000"/>
              </a:lnSpc>
              <a:spcBef>
                <a:spcPts val="219"/>
              </a:spcBef>
              <a:buFont typeface="Wingdings"/>
              <a:buChar char=""/>
              <a:tabLst>
                <a:tab pos="680085" algn="l"/>
              </a:tabLst>
            </a:pPr>
            <a:r>
              <a:rPr sz="1900" spc="-5" dirty="0">
                <a:latin typeface="Calibri"/>
                <a:cs typeface="Calibri"/>
              </a:rPr>
              <a:t>What ‘parts’ are there?</a:t>
            </a:r>
            <a:endParaRPr sz="1900" dirty="0">
              <a:latin typeface="Calibri"/>
              <a:cs typeface="Calibri"/>
            </a:endParaRPr>
          </a:p>
          <a:p>
            <a:pPr marL="624840" lvl="1" indent="-269875">
              <a:lnSpc>
                <a:spcPct val="100000"/>
              </a:lnSpc>
              <a:spcBef>
                <a:spcPts val="219"/>
              </a:spcBef>
              <a:buFont typeface="Wingdings"/>
              <a:buChar char=""/>
              <a:tabLst>
                <a:tab pos="625475" algn="l"/>
              </a:tabLst>
            </a:pPr>
            <a:r>
              <a:rPr sz="1900" spc="-5" dirty="0">
                <a:latin typeface="Calibri"/>
                <a:cs typeface="Calibri"/>
              </a:rPr>
              <a:t>How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‘parts’</a:t>
            </a:r>
            <a:r>
              <a:rPr sz="1900" b="1" spc="-15" dirty="0"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366FF"/>
                </a:solidFill>
                <a:latin typeface="Calibri"/>
                <a:cs typeface="Calibri"/>
              </a:rPr>
              <a:t>ﬁt</a:t>
            </a:r>
            <a:r>
              <a:rPr sz="1900" b="1" spc="-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900" b="1" spc="-5" dirty="0">
                <a:latin typeface="Calibri"/>
                <a:cs typeface="Calibri"/>
              </a:rPr>
              <a:t>together</a:t>
            </a:r>
            <a:r>
              <a:rPr sz="1900" spc="-5" dirty="0">
                <a:latin typeface="Calibri"/>
                <a:cs typeface="Calibri"/>
              </a:rPr>
              <a:t>?</a:t>
            </a:r>
            <a:endParaRPr sz="1900" dirty="0">
              <a:latin typeface="Calibri"/>
              <a:cs typeface="Calibri"/>
            </a:endParaRPr>
          </a:p>
          <a:p>
            <a:pPr marL="409575" indent="-397510">
              <a:lnSpc>
                <a:spcPct val="100000"/>
              </a:lnSpc>
              <a:spcBef>
                <a:spcPts val="370"/>
              </a:spcBef>
              <a:buSzPct val="63333"/>
              <a:buFont typeface="Wingdings"/>
              <a:buChar char=""/>
              <a:tabLst>
                <a:tab pos="409575" algn="l"/>
                <a:tab pos="410209" algn="l"/>
              </a:tabLst>
            </a:pPr>
            <a:r>
              <a:rPr sz="3000" b="1" u="heavy" spc="-5" dirty="0">
                <a:solidFill>
                  <a:srgbClr val="FF00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Architecture</a:t>
            </a:r>
            <a:r>
              <a:rPr sz="3000" b="1" u="heavy" spc="-15" dirty="0">
                <a:solidFill>
                  <a:srgbClr val="FF00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3000" b="1" u="heavy" dirty="0">
                <a:solidFill>
                  <a:srgbClr val="FF00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is</a:t>
            </a:r>
            <a:r>
              <a:rPr sz="3000" b="1" u="heavy" spc="-10" dirty="0">
                <a:solidFill>
                  <a:srgbClr val="FF00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3000" b="1" u="heavy" spc="-5" dirty="0">
                <a:solidFill>
                  <a:srgbClr val="FF00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not:</a:t>
            </a:r>
            <a:endParaRPr sz="3000" dirty="0">
              <a:latin typeface="Calibri"/>
              <a:cs typeface="Calibri"/>
            </a:endParaRPr>
          </a:p>
          <a:p>
            <a:pPr marL="641350" lvl="1" indent="-285750">
              <a:lnSpc>
                <a:spcPct val="100000"/>
              </a:lnSpc>
              <a:spcBef>
                <a:spcPts val="150"/>
              </a:spcBef>
              <a:buFont typeface="Wingdings"/>
              <a:buChar char=""/>
              <a:tabLst>
                <a:tab pos="641350" algn="l"/>
              </a:tabLst>
            </a:pPr>
            <a:r>
              <a:rPr sz="1900" spc="-5" dirty="0">
                <a:latin typeface="Calibri"/>
                <a:cs typeface="Calibri"/>
              </a:rPr>
              <a:t>About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development</a:t>
            </a:r>
            <a:endParaRPr sz="1900" dirty="0">
              <a:latin typeface="Calibri"/>
              <a:cs typeface="Calibri"/>
            </a:endParaRPr>
          </a:p>
          <a:p>
            <a:pPr marL="641350" lvl="1" indent="-285750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641350" algn="l"/>
              </a:tabLst>
            </a:pPr>
            <a:r>
              <a:rPr sz="1900" spc="-5" dirty="0">
                <a:latin typeface="Calibri"/>
                <a:cs typeface="Calibri"/>
              </a:rPr>
              <a:t>About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algorithms</a:t>
            </a:r>
            <a:endParaRPr sz="1900" dirty="0">
              <a:latin typeface="Calibri"/>
              <a:cs typeface="Calibri"/>
            </a:endParaRPr>
          </a:p>
          <a:p>
            <a:pPr marL="641350" lvl="1" indent="-285750">
              <a:lnSpc>
                <a:spcPct val="100000"/>
              </a:lnSpc>
              <a:spcBef>
                <a:spcPts val="219"/>
              </a:spcBef>
              <a:buFont typeface="Wingdings"/>
              <a:buChar char=""/>
              <a:tabLst>
                <a:tab pos="641350" algn="l"/>
              </a:tabLst>
            </a:pPr>
            <a:r>
              <a:rPr sz="1900" spc="-5" dirty="0">
                <a:latin typeface="Calibri"/>
                <a:cs typeface="Calibri"/>
              </a:rPr>
              <a:t>About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structures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3799" y="3775886"/>
            <a:ext cx="2441815" cy="2748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689" y="323774"/>
            <a:ext cx="8940800" cy="5910580"/>
            <a:chOff x="116378" y="344978"/>
            <a:chExt cx="8940800" cy="59105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78" y="897774"/>
              <a:ext cx="8940337" cy="53575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6778" y="923282"/>
              <a:ext cx="8839835" cy="5260340"/>
            </a:xfrm>
            <a:custGeom>
              <a:avLst/>
              <a:gdLst/>
              <a:ahLst/>
              <a:cxnLst/>
              <a:rect l="l" t="t" r="r" b="b"/>
              <a:pathLst>
                <a:path w="8839835" h="5260340">
                  <a:moveTo>
                    <a:pt x="8839305" y="0"/>
                  </a:moveTo>
                  <a:lnTo>
                    <a:pt x="0" y="0"/>
                  </a:lnTo>
                  <a:lnTo>
                    <a:pt x="0" y="5259838"/>
                  </a:lnTo>
                  <a:lnTo>
                    <a:pt x="8839305" y="5259838"/>
                  </a:lnTo>
                  <a:lnTo>
                    <a:pt x="88393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778" y="923282"/>
              <a:ext cx="8839835" cy="5260340"/>
            </a:xfrm>
            <a:custGeom>
              <a:avLst/>
              <a:gdLst/>
              <a:ahLst/>
              <a:cxnLst/>
              <a:rect l="l" t="t" r="r" b="b"/>
              <a:pathLst>
                <a:path w="8839835" h="5260340">
                  <a:moveTo>
                    <a:pt x="0" y="0"/>
                  </a:moveTo>
                  <a:lnTo>
                    <a:pt x="8839304" y="0"/>
                  </a:lnTo>
                  <a:lnTo>
                    <a:pt x="8839304" y="5259837"/>
                  </a:lnTo>
                  <a:lnTo>
                    <a:pt x="0" y="525983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796" y="344978"/>
              <a:ext cx="7722523" cy="5735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2971" y="372003"/>
              <a:ext cx="7620000" cy="474345"/>
            </a:xfrm>
            <a:custGeom>
              <a:avLst/>
              <a:gdLst/>
              <a:ahLst/>
              <a:cxnLst/>
              <a:rect l="l" t="t" r="r" b="b"/>
              <a:pathLst>
                <a:path w="7620000" h="474344">
                  <a:moveTo>
                    <a:pt x="7619950" y="0"/>
                  </a:moveTo>
                  <a:lnTo>
                    <a:pt x="0" y="0"/>
                  </a:lnTo>
                  <a:lnTo>
                    <a:pt x="0" y="474135"/>
                  </a:lnTo>
                  <a:lnTo>
                    <a:pt x="7619950" y="474135"/>
                  </a:lnTo>
                  <a:lnTo>
                    <a:pt x="7619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2971" y="372003"/>
              <a:ext cx="7620000" cy="474345"/>
            </a:xfrm>
            <a:custGeom>
              <a:avLst/>
              <a:gdLst/>
              <a:ahLst/>
              <a:cxnLst/>
              <a:rect l="l" t="t" r="r" b="b"/>
              <a:pathLst>
                <a:path w="7620000" h="474344">
                  <a:moveTo>
                    <a:pt x="0" y="0"/>
                  </a:moveTo>
                  <a:lnTo>
                    <a:pt x="7619949" y="0"/>
                  </a:lnTo>
                  <a:lnTo>
                    <a:pt x="7619949" y="474134"/>
                  </a:lnTo>
                  <a:lnTo>
                    <a:pt x="0" y="4741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68681" y="323774"/>
            <a:ext cx="71875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008000"/>
                </a:solidFill>
              </a:rPr>
              <a:t>Other Deﬁnitions</a:t>
            </a:r>
            <a:r>
              <a:rPr sz="3200" dirty="0">
                <a:solidFill>
                  <a:srgbClr val="008000"/>
                </a:solidFill>
              </a:rPr>
              <a:t> of</a:t>
            </a:r>
            <a:r>
              <a:rPr sz="3200" spc="-5" dirty="0">
                <a:solidFill>
                  <a:srgbClr val="008000"/>
                </a:solidFill>
              </a:rPr>
              <a:t> </a:t>
            </a:r>
            <a:r>
              <a:rPr sz="3200" spc="-15" dirty="0">
                <a:solidFill>
                  <a:srgbClr val="008000"/>
                </a:solidFill>
              </a:rPr>
              <a:t>Software</a:t>
            </a:r>
            <a:r>
              <a:rPr sz="3200" dirty="0">
                <a:solidFill>
                  <a:srgbClr val="008000"/>
                </a:solidFill>
              </a:rPr>
              <a:t> </a:t>
            </a:r>
            <a:r>
              <a:rPr sz="3200" spc="-5" dirty="0">
                <a:solidFill>
                  <a:srgbClr val="008000"/>
                </a:solidFill>
              </a:rPr>
              <a:t>Architecture</a:t>
            </a:r>
            <a:endParaRPr sz="3200" dirty="0"/>
          </a:p>
        </p:txBody>
      </p:sp>
      <p:sp>
        <p:nvSpPr>
          <p:cNvPr id="10" name="object 10"/>
          <p:cNvSpPr txBox="1"/>
          <p:nvPr/>
        </p:nvSpPr>
        <p:spPr>
          <a:xfrm>
            <a:off x="535939" y="1017262"/>
            <a:ext cx="411543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"/>
              </a:spcBef>
              <a:buSzPct val="152380"/>
              <a:buFont typeface="Wingdings"/>
              <a:buChar char=""/>
              <a:tabLst>
                <a:tab pos="469900" algn="l"/>
              </a:tabLst>
            </a:pPr>
            <a:r>
              <a:rPr sz="2100" spc="10" dirty="0">
                <a:latin typeface="Calibri"/>
                <a:cs typeface="Calibri"/>
              </a:rPr>
              <a:t>Architecture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3366FF"/>
                </a:solidFill>
                <a:latin typeface="Calibri"/>
                <a:cs typeface="Calibri"/>
              </a:rPr>
              <a:t>is</a:t>
            </a:r>
            <a:r>
              <a:rPr sz="2100" b="1" spc="-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3366FF"/>
                </a:solidFill>
                <a:latin typeface="Calibri"/>
                <a:cs typeface="Calibri"/>
              </a:rPr>
              <a:t>high-level</a:t>
            </a:r>
            <a:r>
              <a:rPr sz="2100" b="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3366FF"/>
                </a:solidFill>
                <a:latin typeface="Calibri"/>
                <a:cs typeface="Calibri"/>
              </a:rPr>
              <a:t>design</a:t>
            </a:r>
            <a:r>
              <a:rPr sz="2100" spc="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324" y="1539163"/>
            <a:ext cx="564261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0" dirty="0">
                <a:latin typeface="Calibri"/>
                <a:cs typeface="Calibri"/>
              </a:rPr>
              <a:t>Architecture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FF6600"/>
                </a:solidFill>
                <a:latin typeface="Calibri"/>
                <a:cs typeface="Calibri"/>
              </a:rPr>
              <a:t>overall</a:t>
            </a:r>
            <a:r>
              <a:rPr sz="2100" b="1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FF6600"/>
                </a:solidFill>
                <a:latin typeface="Calibri"/>
                <a:cs typeface="Calibri"/>
              </a:rPr>
              <a:t>structure of the system.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39" y="1308515"/>
            <a:ext cx="387985" cy="132080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3200" dirty="0"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3200" dirty="0"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671" y="2133752"/>
            <a:ext cx="7431405" cy="6680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60960">
              <a:lnSpc>
                <a:spcPts val="2500"/>
              </a:lnSpc>
              <a:spcBef>
                <a:spcPts val="229"/>
              </a:spcBef>
            </a:pPr>
            <a:r>
              <a:rPr sz="2100" spc="10" dirty="0">
                <a:latin typeface="Calibri"/>
                <a:cs typeface="Calibri"/>
              </a:rPr>
              <a:t>Architecture is </a:t>
            </a:r>
            <a:r>
              <a:rPr sz="2100" spc="15" dirty="0">
                <a:latin typeface="Calibri"/>
                <a:cs typeface="Calibri"/>
              </a:rPr>
              <a:t>a </a:t>
            </a:r>
            <a:r>
              <a:rPr sz="2100" b="1" spc="10" dirty="0">
                <a:latin typeface="Calibri"/>
                <a:cs typeface="Calibri"/>
              </a:rPr>
              <a:t>set of principal </a:t>
            </a:r>
            <a:r>
              <a:rPr sz="2100" b="1" spc="15" dirty="0">
                <a:latin typeface="Calibri"/>
                <a:cs typeface="Calibri"/>
              </a:rPr>
              <a:t>design </a:t>
            </a:r>
            <a:r>
              <a:rPr sz="2100" b="1" spc="10" dirty="0">
                <a:latin typeface="Calibri"/>
                <a:cs typeface="Calibri"/>
              </a:rPr>
              <a:t>decisions </a:t>
            </a:r>
            <a:r>
              <a:rPr sz="2100" spc="10" dirty="0">
                <a:latin typeface="Calibri"/>
                <a:cs typeface="Calibri"/>
              </a:rPr>
              <a:t>about </a:t>
            </a:r>
            <a:r>
              <a:rPr sz="2100" spc="15" dirty="0">
                <a:latin typeface="Calibri"/>
                <a:cs typeface="Calibri"/>
              </a:rPr>
              <a:t>a </a:t>
            </a:r>
            <a:r>
              <a:rPr sz="2100" spc="5" dirty="0">
                <a:latin typeface="Calibri"/>
                <a:cs typeface="Calibri"/>
              </a:rPr>
              <a:t>software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system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39" y="3094135"/>
            <a:ext cx="3879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269" y="3121357"/>
            <a:ext cx="7299959" cy="998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1200"/>
              </a:lnSpc>
              <a:spcBef>
                <a:spcPts val="100"/>
              </a:spcBef>
            </a:pPr>
            <a:r>
              <a:rPr sz="2100" spc="10" dirty="0">
                <a:latin typeface="Calibri"/>
                <a:cs typeface="Calibri"/>
              </a:rPr>
              <a:t>Architecture is </a:t>
            </a:r>
            <a:r>
              <a:rPr sz="2100" spc="15" dirty="0">
                <a:latin typeface="Calibri"/>
                <a:cs typeface="Calibri"/>
              </a:rPr>
              <a:t>the </a:t>
            </a:r>
            <a:r>
              <a:rPr sz="2100" b="1" spc="10" dirty="0">
                <a:solidFill>
                  <a:srgbClr val="008000"/>
                </a:solidFill>
                <a:latin typeface="Calibri"/>
                <a:cs typeface="Calibri"/>
              </a:rPr>
              <a:t>structure of </a:t>
            </a:r>
            <a:r>
              <a:rPr sz="2100" b="1" spc="15" dirty="0">
                <a:solidFill>
                  <a:srgbClr val="008000"/>
                </a:solidFill>
                <a:latin typeface="Calibri"/>
                <a:cs typeface="Calibri"/>
              </a:rPr>
              <a:t>the components </a:t>
            </a:r>
            <a:r>
              <a:rPr sz="2100" spc="10" dirty="0">
                <a:latin typeface="Calibri"/>
                <a:cs typeface="Calibri"/>
              </a:rPr>
              <a:t>of </a:t>
            </a:r>
            <a:r>
              <a:rPr sz="2100" b="1" spc="15" dirty="0">
                <a:solidFill>
                  <a:srgbClr val="008000"/>
                </a:solidFill>
                <a:latin typeface="Calibri"/>
                <a:cs typeface="Calibri"/>
              </a:rPr>
              <a:t>a program </a:t>
            </a:r>
            <a:r>
              <a:rPr sz="2100" b="1" spc="10" dirty="0">
                <a:solidFill>
                  <a:srgbClr val="008000"/>
                </a:solidFill>
                <a:latin typeface="Calibri"/>
                <a:cs typeface="Calibri"/>
              </a:rPr>
              <a:t>or </a:t>
            </a:r>
            <a:r>
              <a:rPr sz="2100" b="1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8000"/>
                </a:solidFill>
                <a:latin typeface="Calibri"/>
                <a:cs typeface="Calibri"/>
              </a:rPr>
              <a:t>system, their interrelationships, </a:t>
            </a:r>
            <a:r>
              <a:rPr sz="2100" spc="15" dirty="0">
                <a:latin typeface="Calibri"/>
                <a:cs typeface="Calibri"/>
              </a:rPr>
              <a:t>and the </a:t>
            </a:r>
            <a:r>
              <a:rPr sz="2100" spc="10" dirty="0">
                <a:latin typeface="Calibri"/>
                <a:cs typeface="Calibri"/>
              </a:rPr>
              <a:t>principles </a:t>
            </a:r>
            <a:r>
              <a:rPr sz="2100" spc="15" dirty="0">
                <a:latin typeface="Calibri"/>
                <a:cs typeface="Calibri"/>
              </a:rPr>
              <a:t>and </a:t>
            </a:r>
            <a:r>
              <a:rPr sz="2100" spc="10" dirty="0">
                <a:latin typeface="Calibri"/>
                <a:cs typeface="Calibri"/>
              </a:rPr>
              <a:t>guidelines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governing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design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evolution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over</a:t>
            </a:r>
            <a:r>
              <a:rPr sz="2100" spc="5" dirty="0">
                <a:latin typeface="Calibri"/>
                <a:cs typeface="Calibri"/>
              </a:rPr>
              <a:t> time.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39" y="4321213"/>
            <a:ext cx="7988300" cy="1328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45160" indent="-633095">
              <a:lnSpc>
                <a:spcPct val="100000"/>
              </a:lnSpc>
              <a:spcBef>
                <a:spcPts val="130"/>
              </a:spcBef>
              <a:buSzPct val="152380"/>
              <a:buFont typeface="Wingdings"/>
              <a:buChar char=""/>
              <a:tabLst>
                <a:tab pos="645160" algn="l"/>
                <a:tab pos="645795" algn="l"/>
              </a:tabLst>
            </a:pPr>
            <a:r>
              <a:rPr sz="2100" spc="10" dirty="0">
                <a:latin typeface="Calibri"/>
                <a:cs typeface="Calibri"/>
              </a:rPr>
              <a:t>Architecture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is </a:t>
            </a:r>
            <a:r>
              <a:rPr sz="2100" b="1" spc="10" dirty="0">
                <a:solidFill>
                  <a:srgbClr val="660066"/>
                </a:solidFill>
                <a:latin typeface="Calibri"/>
                <a:cs typeface="Calibri"/>
              </a:rPr>
              <a:t>components</a:t>
            </a:r>
            <a:r>
              <a:rPr sz="2100" b="1" spc="5" dirty="0">
                <a:solidFill>
                  <a:srgbClr val="660066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660066"/>
                </a:solidFill>
                <a:latin typeface="Calibri"/>
                <a:cs typeface="Calibri"/>
              </a:rPr>
              <a:t>and connectors</a:t>
            </a:r>
            <a:endParaRPr sz="2100" dirty="0">
              <a:latin typeface="Calibri"/>
              <a:cs typeface="Calibri"/>
            </a:endParaRPr>
          </a:p>
          <a:p>
            <a:pPr marL="12700" marR="5080">
              <a:lnSpc>
                <a:spcPct val="103200"/>
              </a:lnSpc>
              <a:spcBef>
                <a:spcPts val="2500"/>
              </a:spcBef>
            </a:pPr>
            <a:r>
              <a:rPr sz="2100" b="1" spc="15" dirty="0">
                <a:latin typeface="Calibri"/>
                <a:cs typeface="Calibri"/>
              </a:rPr>
              <a:t>Note:</a:t>
            </a:r>
            <a:r>
              <a:rPr sz="2100" b="1" spc="20" dirty="0">
                <a:latin typeface="Calibri"/>
                <a:cs typeface="Calibri"/>
              </a:rPr>
              <a:t> </a:t>
            </a:r>
            <a:r>
              <a:rPr sz="2100" b="1" spc="10" dirty="0">
                <a:latin typeface="Calibri"/>
                <a:cs typeface="Calibri"/>
              </a:rPr>
              <a:t>Almost all of </a:t>
            </a:r>
            <a:r>
              <a:rPr sz="2100" b="1" spc="15" dirty="0">
                <a:latin typeface="Calibri"/>
                <a:cs typeface="Calibri"/>
              </a:rPr>
              <a:t>the above </a:t>
            </a:r>
            <a:r>
              <a:rPr sz="2100" b="1" spc="10" dirty="0">
                <a:latin typeface="Calibri"/>
                <a:cs typeface="Calibri"/>
              </a:rPr>
              <a:t>deﬁnitions focus </a:t>
            </a:r>
            <a:r>
              <a:rPr sz="2100" b="1" spc="15" dirty="0">
                <a:latin typeface="Calibri"/>
                <a:cs typeface="Calibri"/>
              </a:rPr>
              <a:t>on </a:t>
            </a:r>
            <a:r>
              <a:rPr sz="2100" b="1" spc="10" dirty="0">
                <a:latin typeface="Calibri"/>
                <a:cs typeface="Calibri"/>
              </a:rPr>
              <a:t>reasoning </a:t>
            </a:r>
            <a:r>
              <a:rPr sz="2100" b="1" spc="15" dirty="0">
                <a:latin typeface="Calibri"/>
                <a:cs typeface="Calibri"/>
              </a:rPr>
              <a:t>about the </a:t>
            </a:r>
            <a:r>
              <a:rPr sz="2100" b="1" spc="-459" dirty="0"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FF6600"/>
                </a:solidFill>
                <a:latin typeface="Calibri"/>
                <a:cs typeface="Calibri"/>
              </a:rPr>
              <a:t>structural</a:t>
            </a:r>
            <a:r>
              <a:rPr sz="2100" b="1" spc="-10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100" b="1" spc="15" dirty="0">
                <a:latin typeface="Calibri"/>
                <a:cs typeface="Calibri"/>
              </a:rPr>
              <a:t>system</a:t>
            </a:r>
            <a:r>
              <a:rPr sz="2100" b="1" spc="5" dirty="0">
                <a:latin typeface="Calibri"/>
                <a:cs typeface="Calibri"/>
              </a:rPr>
              <a:t> issues.</a:t>
            </a:r>
            <a:endParaRPr sz="21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6249" y="3825003"/>
            <a:ext cx="3982085" cy="2315845"/>
            <a:chOff x="4616249" y="3825003"/>
            <a:chExt cx="3982085" cy="231584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3807" y="3825003"/>
              <a:ext cx="1824407" cy="11543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249" y="5387628"/>
              <a:ext cx="2927306" cy="75282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254" y="107186"/>
            <a:ext cx="8859520" cy="6173470"/>
            <a:chOff x="166254" y="107186"/>
            <a:chExt cx="8859520" cy="6173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254" y="831273"/>
              <a:ext cx="8616141" cy="54489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8097" y="859455"/>
              <a:ext cx="8515350" cy="5349240"/>
            </a:xfrm>
            <a:custGeom>
              <a:avLst/>
              <a:gdLst/>
              <a:ahLst/>
              <a:cxnLst/>
              <a:rect l="l" t="t" r="r" b="b"/>
              <a:pathLst>
                <a:path w="8515350" h="5349240">
                  <a:moveTo>
                    <a:pt x="8514930" y="0"/>
                  </a:moveTo>
                  <a:lnTo>
                    <a:pt x="0" y="0"/>
                  </a:lnTo>
                  <a:lnTo>
                    <a:pt x="0" y="5349142"/>
                  </a:lnTo>
                  <a:lnTo>
                    <a:pt x="8514930" y="5349142"/>
                  </a:lnTo>
                  <a:lnTo>
                    <a:pt x="8514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8097" y="859456"/>
              <a:ext cx="8515350" cy="5349240"/>
            </a:xfrm>
            <a:custGeom>
              <a:avLst/>
              <a:gdLst/>
              <a:ahLst/>
              <a:cxnLst/>
              <a:rect l="l" t="t" r="r" b="b"/>
              <a:pathLst>
                <a:path w="8515350" h="5349240">
                  <a:moveTo>
                    <a:pt x="0" y="0"/>
                  </a:moveTo>
                  <a:lnTo>
                    <a:pt x="8514929" y="0"/>
                  </a:lnTo>
                  <a:lnTo>
                    <a:pt x="8514929" y="5349142"/>
                  </a:lnTo>
                  <a:lnTo>
                    <a:pt x="0" y="534914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6498" y="141316"/>
              <a:ext cx="6916188" cy="6858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28967" y="168028"/>
            <a:ext cx="6812915" cy="58674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390"/>
              </a:spcBef>
            </a:pPr>
            <a:r>
              <a:rPr sz="3200" b="1" spc="-5" dirty="0">
                <a:solidFill>
                  <a:srgbClr val="FF6600"/>
                </a:solidFill>
                <a:latin typeface="Calibri"/>
                <a:cs typeface="Calibri"/>
              </a:rPr>
              <a:t>Fundamental</a:t>
            </a:r>
            <a:r>
              <a:rPr sz="3200" b="1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6600"/>
                </a:solidFill>
                <a:latin typeface="Calibri"/>
                <a:cs typeface="Calibri"/>
              </a:rPr>
              <a:t>concepts</a:t>
            </a:r>
            <a:r>
              <a:rPr sz="3200" b="1" dirty="0">
                <a:solidFill>
                  <a:srgbClr val="FF6600"/>
                </a:solidFill>
                <a:latin typeface="Calibri"/>
                <a:cs typeface="Calibri"/>
              </a:rPr>
              <a:t> of </a:t>
            </a:r>
            <a:r>
              <a:rPr sz="3200" b="1" spc="-5" dirty="0">
                <a:solidFill>
                  <a:srgbClr val="FF6600"/>
                </a:solidFill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836" y="1200339"/>
            <a:ext cx="8350884" cy="48945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marR="5080" indent="-457200">
              <a:lnSpc>
                <a:spcPts val="3800"/>
              </a:lnSpc>
              <a:spcBef>
                <a:spcPts val="260"/>
              </a:spcBef>
              <a:buFont typeface="Wingdings"/>
              <a:buChar char=""/>
              <a:tabLst>
                <a:tab pos="469900" algn="l"/>
              </a:tabLst>
            </a:pPr>
            <a:r>
              <a:rPr sz="3200" b="1" spc="-5" dirty="0">
                <a:latin typeface="Calibri"/>
                <a:cs typeface="Calibri"/>
              </a:rPr>
              <a:t>Three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fundamental</a:t>
            </a:r>
            <a:r>
              <a:rPr sz="3200" b="1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understandings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software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architecture.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ts val="3679"/>
              </a:lnSpc>
              <a:buFont typeface="Wingdings"/>
              <a:buChar char=""/>
              <a:tabLst>
                <a:tab pos="469900" algn="l"/>
              </a:tabLst>
            </a:pPr>
            <a:r>
              <a:rPr sz="3200" b="1" dirty="0">
                <a:solidFill>
                  <a:srgbClr val="008000"/>
                </a:solidFill>
                <a:latin typeface="Calibri"/>
                <a:cs typeface="Calibri"/>
              </a:rPr>
              <a:t>Every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 application</a:t>
            </a:r>
            <a:r>
              <a:rPr sz="3200" b="1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 an</a:t>
            </a:r>
            <a:r>
              <a:rPr sz="3200" spc="-5" dirty="0">
                <a:latin typeface="Calibri"/>
                <a:cs typeface="Calibri"/>
              </a:rPr>
              <a:t> architecture.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"/>
            </a:pPr>
            <a:endParaRPr sz="3150">
              <a:latin typeface="Calibri"/>
              <a:cs typeface="Calibri"/>
            </a:endParaRPr>
          </a:p>
          <a:p>
            <a:pPr marL="561340" indent="-54927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561340" algn="l"/>
                <a:tab pos="561975" algn="l"/>
              </a:tabLst>
            </a:pPr>
            <a:r>
              <a:rPr sz="3200" spc="-5" dirty="0">
                <a:latin typeface="Calibri"/>
                <a:cs typeface="Calibri"/>
              </a:rPr>
              <a:t>Every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application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least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one</a:t>
            </a:r>
            <a:r>
              <a:rPr sz="3200" b="1" spc="-5" dirty="0">
                <a:latin typeface="Calibri"/>
                <a:cs typeface="Calibri"/>
              </a:rPr>
              <a:t> architect</a:t>
            </a:r>
            <a:r>
              <a:rPr sz="3200" spc="-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"/>
            </a:pPr>
            <a:endParaRPr sz="315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900" algn="l"/>
              </a:tabLst>
            </a:pPr>
            <a:r>
              <a:rPr sz="3200" spc="-5" dirty="0">
                <a:latin typeface="Calibri"/>
                <a:cs typeface="Calibri"/>
              </a:rPr>
              <a:t>Architecture</a:t>
            </a:r>
            <a:r>
              <a:rPr sz="3200" dirty="0">
                <a:latin typeface="Calibri"/>
                <a:cs typeface="Calibri"/>
              </a:rPr>
              <a:t> is </a:t>
            </a:r>
            <a:r>
              <a:rPr sz="3200" spc="-5" dirty="0">
                <a:latin typeface="Calibri"/>
                <a:cs typeface="Calibri"/>
              </a:rPr>
              <a:t>not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development.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Calibri"/>
              <a:cs typeface="Calibri"/>
            </a:endParaRPr>
          </a:p>
          <a:p>
            <a:pPr marL="12700" marR="168910">
              <a:lnSpc>
                <a:spcPts val="3800"/>
              </a:lnSpc>
            </a:pPr>
            <a:r>
              <a:rPr sz="3200" b="1" dirty="0">
                <a:solidFill>
                  <a:srgbClr val="FF6600"/>
                </a:solidFill>
                <a:latin typeface="Calibri"/>
                <a:cs typeface="Calibri"/>
              </a:rPr>
              <a:t>Note: </a:t>
            </a:r>
            <a:r>
              <a:rPr sz="3200" spc="-5" dirty="0">
                <a:solidFill>
                  <a:srgbClr val="FF6600"/>
                </a:solidFill>
                <a:latin typeface="Calibri"/>
                <a:cs typeface="Calibri"/>
              </a:rPr>
              <a:t>Architecture </a:t>
            </a:r>
            <a:r>
              <a:rPr sz="3200" dirty="0">
                <a:solidFill>
                  <a:srgbClr val="FF6600"/>
                </a:solidFill>
                <a:latin typeface="Calibri"/>
                <a:cs typeface="Calibri"/>
              </a:rPr>
              <a:t>is a design,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but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every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design is </a:t>
            </a:r>
            <a:r>
              <a:rPr sz="3200" spc="-7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an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architecture.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378" y="211974"/>
            <a:ext cx="8749665" cy="6217920"/>
            <a:chOff x="116378" y="211974"/>
            <a:chExt cx="8749665" cy="6217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78" y="1076497"/>
              <a:ext cx="8749145" cy="53533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6778" y="1103181"/>
              <a:ext cx="8647430" cy="5253355"/>
            </a:xfrm>
            <a:custGeom>
              <a:avLst/>
              <a:gdLst/>
              <a:ahLst/>
              <a:cxnLst/>
              <a:rect l="l" t="t" r="r" b="b"/>
              <a:pathLst>
                <a:path w="8647430" h="5253355">
                  <a:moveTo>
                    <a:pt x="8646868" y="0"/>
                  </a:moveTo>
                  <a:lnTo>
                    <a:pt x="0" y="0"/>
                  </a:lnTo>
                  <a:lnTo>
                    <a:pt x="0" y="5253167"/>
                  </a:lnTo>
                  <a:lnTo>
                    <a:pt x="8646868" y="5253167"/>
                  </a:lnTo>
                  <a:lnTo>
                    <a:pt x="8646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778" y="1103181"/>
              <a:ext cx="8647430" cy="5253355"/>
            </a:xfrm>
            <a:custGeom>
              <a:avLst/>
              <a:gdLst/>
              <a:ahLst/>
              <a:cxnLst/>
              <a:rect l="l" t="t" r="r" b="b"/>
              <a:pathLst>
                <a:path w="8647430" h="5253355">
                  <a:moveTo>
                    <a:pt x="0" y="0"/>
                  </a:moveTo>
                  <a:lnTo>
                    <a:pt x="8646867" y="0"/>
                  </a:lnTo>
                  <a:lnTo>
                    <a:pt x="8646867" y="5253167"/>
                  </a:lnTo>
                  <a:lnTo>
                    <a:pt x="0" y="525316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2218" y="211974"/>
              <a:ext cx="6716683" cy="8229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71338" y="240600"/>
              <a:ext cx="6616065" cy="721360"/>
            </a:xfrm>
            <a:custGeom>
              <a:avLst/>
              <a:gdLst/>
              <a:ahLst/>
              <a:cxnLst/>
              <a:rect l="l" t="t" r="r" b="b"/>
              <a:pathLst>
                <a:path w="6616065" h="721360">
                  <a:moveTo>
                    <a:pt x="6615973" y="0"/>
                  </a:moveTo>
                  <a:lnTo>
                    <a:pt x="0" y="0"/>
                  </a:lnTo>
                  <a:lnTo>
                    <a:pt x="0" y="720895"/>
                  </a:lnTo>
                  <a:lnTo>
                    <a:pt x="6615973" y="720895"/>
                  </a:lnTo>
                  <a:lnTo>
                    <a:pt x="6615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1338" y="240600"/>
              <a:ext cx="6616065" cy="721360"/>
            </a:xfrm>
            <a:custGeom>
              <a:avLst/>
              <a:gdLst/>
              <a:ahLst/>
              <a:cxnLst/>
              <a:rect l="l" t="t" r="r" b="b"/>
              <a:pathLst>
                <a:path w="6616065" h="721360">
                  <a:moveTo>
                    <a:pt x="0" y="0"/>
                  </a:moveTo>
                  <a:lnTo>
                    <a:pt x="6615972" y="0"/>
                  </a:lnTo>
                  <a:lnTo>
                    <a:pt x="6615972" y="720894"/>
                  </a:lnTo>
                  <a:lnTo>
                    <a:pt x="0" y="7208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59256" y="118143"/>
            <a:ext cx="58324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8000"/>
                </a:solidFill>
              </a:rPr>
              <a:t>Architecture-Centric</a:t>
            </a:r>
            <a:r>
              <a:rPr sz="4000" spc="-15" dirty="0">
                <a:solidFill>
                  <a:srgbClr val="008000"/>
                </a:solidFill>
              </a:rPr>
              <a:t> </a:t>
            </a:r>
            <a:r>
              <a:rPr sz="4000" spc="-5" dirty="0">
                <a:solidFill>
                  <a:srgbClr val="008000"/>
                </a:solidFill>
              </a:rPr>
              <a:t>Design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491262" y="1151588"/>
            <a:ext cx="7998461" cy="51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2100" marR="5080" indent="-279400">
              <a:lnSpc>
                <a:spcPct val="99700"/>
              </a:lnSpc>
              <a:spcBef>
                <a:spcPts val="110"/>
              </a:spcBef>
              <a:buFont typeface="Wingdings"/>
              <a:buChar char=""/>
              <a:tabLst>
                <a:tab pos="410209" algn="l"/>
              </a:tabLst>
            </a:pPr>
            <a:r>
              <a:rPr sz="2800" b="1" spc="-5" dirty="0">
                <a:latin typeface="Calibri"/>
                <a:cs typeface="Calibri"/>
              </a:rPr>
              <a:t>Traditional design phase </a:t>
            </a:r>
            <a:r>
              <a:rPr sz="2800" dirty="0">
                <a:latin typeface="Calibri"/>
                <a:cs typeface="Calibri"/>
              </a:rPr>
              <a:t>suggests </a:t>
            </a:r>
            <a:r>
              <a:rPr sz="2800" spc="-5" dirty="0">
                <a:latin typeface="Calibri"/>
                <a:cs typeface="Calibri"/>
              </a:rPr>
              <a:t>translating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requirements</a:t>
            </a:r>
            <a:r>
              <a:rPr sz="2800" dirty="0">
                <a:latin typeface="Calibri"/>
                <a:cs typeface="Calibri"/>
              </a:rPr>
              <a:t> into </a:t>
            </a:r>
            <a:r>
              <a:rPr sz="2800" spc="-5" dirty="0">
                <a:latin typeface="Calibri"/>
                <a:cs typeface="Calibri"/>
              </a:rPr>
              <a:t>algorithms,</a:t>
            </a:r>
            <a:r>
              <a:rPr sz="2800" dirty="0">
                <a:latin typeface="Calibri"/>
                <a:cs typeface="Calibri"/>
              </a:rPr>
              <a:t> so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programmer</a:t>
            </a:r>
            <a:r>
              <a:rPr sz="2800" dirty="0">
                <a:latin typeface="Calibri"/>
                <a:cs typeface="Calibri"/>
              </a:rPr>
              <a:t> can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implement </a:t>
            </a:r>
            <a:r>
              <a:rPr sz="2800" dirty="0">
                <a:latin typeface="Calibri"/>
                <a:cs typeface="Calibri"/>
              </a:rPr>
              <a:t>them</a:t>
            </a:r>
          </a:p>
          <a:p>
            <a:pPr marL="292100" marR="128905" indent="-279400">
              <a:lnSpc>
                <a:spcPts val="3400"/>
              </a:lnSpc>
              <a:spcBef>
                <a:spcPts val="20"/>
              </a:spcBef>
              <a:buClr>
                <a:srgbClr val="000000"/>
              </a:buClr>
              <a:buFont typeface="Wingdings"/>
              <a:buChar char=""/>
              <a:tabLst>
                <a:tab pos="410209" algn="l"/>
              </a:tabLst>
            </a:pP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Architecture-centric</a:t>
            </a:r>
            <a:r>
              <a:rPr sz="2800" b="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design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following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considerations:</a:t>
            </a:r>
            <a:endParaRPr sz="2800" dirty="0">
              <a:latin typeface="Calibri"/>
              <a:cs typeface="Calibri"/>
            </a:endParaRPr>
          </a:p>
          <a:p>
            <a:pPr marL="654685" lvl="1" indent="-363220">
              <a:lnSpc>
                <a:spcPts val="3250"/>
              </a:lnSpc>
              <a:buFont typeface="Wingdings"/>
              <a:buChar char=""/>
              <a:tabLst>
                <a:tab pos="655320" algn="l"/>
              </a:tabLst>
            </a:pPr>
            <a:r>
              <a:rPr sz="2800" spc="-5" dirty="0">
                <a:latin typeface="Calibri"/>
                <a:cs typeface="Calibri"/>
              </a:rPr>
              <a:t>Stakeholder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issues</a:t>
            </a:r>
          </a:p>
          <a:p>
            <a:pPr marL="574675" lvl="1" indent="-283210">
              <a:lnSpc>
                <a:spcPts val="3329"/>
              </a:lnSpc>
              <a:buFont typeface="Wingdings"/>
              <a:buChar char=""/>
              <a:tabLst>
                <a:tab pos="575310" algn="l"/>
              </a:tabLst>
            </a:pP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Decision about</a:t>
            </a:r>
            <a:r>
              <a:rPr sz="2800" dirty="0">
                <a:latin typeface="Calibri"/>
                <a:cs typeface="Calibri"/>
              </a:rPr>
              <a:t> use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dirty="0">
                <a:latin typeface="Calibri"/>
                <a:cs typeface="Calibri"/>
              </a:rPr>
              <a:t> COTS</a:t>
            </a:r>
            <a:r>
              <a:rPr lang="en-US" sz="2800" dirty="0">
                <a:latin typeface="Calibri"/>
                <a:cs typeface="Calibri"/>
              </a:rPr>
              <a:t> /ready made</a:t>
            </a:r>
            <a:r>
              <a:rPr sz="2800" spc="-5" dirty="0">
                <a:latin typeface="Calibri"/>
                <a:cs typeface="Calibri"/>
              </a:rPr>
              <a:t> component</a:t>
            </a:r>
            <a:endParaRPr sz="2800" dirty="0">
              <a:latin typeface="Calibri"/>
              <a:cs typeface="Calibri"/>
            </a:endParaRPr>
          </a:p>
          <a:p>
            <a:pPr marL="654685" lvl="1" indent="-363220">
              <a:lnSpc>
                <a:spcPts val="3329"/>
              </a:lnSpc>
              <a:spcBef>
                <a:spcPts val="40"/>
              </a:spcBef>
              <a:buFont typeface="Wingdings"/>
              <a:buChar char=""/>
              <a:tabLst>
                <a:tab pos="655320" algn="l"/>
              </a:tabLst>
            </a:pPr>
            <a:r>
              <a:rPr sz="2800" spc="-5" dirty="0">
                <a:latin typeface="Calibri"/>
                <a:cs typeface="Calibri"/>
              </a:rPr>
              <a:t>Overarching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style</a:t>
            </a:r>
            <a:r>
              <a:rPr sz="2800" dirty="0">
                <a:latin typeface="Calibri"/>
                <a:cs typeface="Calibri"/>
              </a:rPr>
              <a:t> and </a:t>
            </a:r>
            <a:r>
              <a:rPr sz="2800" spc="-5" dirty="0">
                <a:latin typeface="Calibri"/>
                <a:cs typeface="Calibri"/>
              </a:rPr>
              <a:t>structure</a:t>
            </a:r>
            <a:endParaRPr sz="2800" dirty="0">
              <a:latin typeface="Calibri"/>
              <a:cs typeface="Calibri"/>
            </a:endParaRPr>
          </a:p>
          <a:p>
            <a:pPr marL="654685" lvl="1" indent="-363220">
              <a:lnSpc>
                <a:spcPts val="3329"/>
              </a:lnSpc>
              <a:buFont typeface="Wingdings"/>
              <a:buChar char=""/>
              <a:tabLst>
                <a:tab pos="655320" algn="l"/>
              </a:tabLst>
            </a:pPr>
            <a:r>
              <a:rPr sz="2800" spc="-5" dirty="0">
                <a:latin typeface="Calibri"/>
                <a:cs typeface="Calibri"/>
              </a:rPr>
              <a:t>Package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primary </a:t>
            </a:r>
            <a:r>
              <a:rPr sz="2800" dirty="0">
                <a:latin typeface="Calibri"/>
                <a:cs typeface="Calibri"/>
              </a:rPr>
              <a:t>class </a:t>
            </a:r>
            <a:r>
              <a:rPr sz="2800" spc="-5" dirty="0">
                <a:latin typeface="Calibri"/>
                <a:cs typeface="Calibri"/>
              </a:rPr>
              <a:t>structure</a:t>
            </a:r>
            <a:endParaRPr sz="2800" dirty="0">
              <a:latin typeface="Calibri"/>
              <a:cs typeface="Calibri"/>
            </a:endParaRPr>
          </a:p>
          <a:p>
            <a:pPr marL="574675" lvl="1" indent="-283210">
              <a:lnSpc>
                <a:spcPct val="100000"/>
              </a:lnSpc>
              <a:spcBef>
                <a:spcPts val="40"/>
              </a:spcBef>
              <a:buFont typeface="Wingdings"/>
              <a:buChar char=""/>
              <a:tabLst>
                <a:tab pos="575310" algn="l"/>
              </a:tabLst>
            </a:pP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Deployment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issues</a:t>
            </a:r>
          </a:p>
          <a:p>
            <a:pPr marL="654685" lvl="1" indent="-363220">
              <a:lnSpc>
                <a:spcPct val="100000"/>
              </a:lnSpc>
              <a:spcBef>
                <a:spcPts val="40"/>
              </a:spcBef>
              <a:buFont typeface="Wingdings"/>
              <a:buChar char=""/>
              <a:tabLst>
                <a:tab pos="655320" algn="l"/>
              </a:tabLst>
            </a:pPr>
            <a:r>
              <a:rPr sz="2800" spc="-5" dirty="0">
                <a:latin typeface="Calibri"/>
                <a:cs typeface="Calibri"/>
              </a:rPr>
              <a:t>Post implementation/post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deployment</a:t>
            </a:r>
            <a:r>
              <a:rPr sz="2800" dirty="0">
                <a:latin typeface="Calibri"/>
                <a:cs typeface="Calibri"/>
              </a:rPr>
              <a:t> issues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349" y="1088967"/>
            <a:ext cx="8412480" cy="4846320"/>
            <a:chOff x="195349" y="1088967"/>
            <a:chExt cx="8412480" cy="4846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349" y="1088967"/>
              <a:ext cx="8412480" cy="48463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3754" y="1116008"/>
              <a:ext cx="8313420" cy="4746625"/>
            </a:xfrm>
            <a:custGeom>
              <a:avLst/>
              <a:gdLst/>
              <a:ahLst/>
              <a:cxnLst/>
              <a:rect l="l" t="t" r="r" b="b"/>
              <a:pathLst>
                <a:path w="8313420" h="4746625">
                  <a:moveTo>
                    <a:pt x="8313309" y="0"/>
                  </a:moveTo>
                  <a:lnTo>
                    <a:pt x="0" y="0"/>
                  </a:lnTo>
                  <a:lnTo>
                    <a:pt x="0" y="4746242"/>
                  </a:lnTo>
                  <a:lnTo>
                    <a:pt x="8313309" y="4746242"/>
                  </a:lnTo>
                  <a:lnTo>
                    <a:pt x="83133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3754" y="1116008"/>
              <a:ext cx="8313420" cy="4746625"/>
            </a:xfrm>
            <a:custGeom>
              <a:avLst/>
              <a:gdLst/>
              <a:ahLst/>
              <a:cxnLst/>
              <a:rect l="l" t="t" r="r" b="b"/>
              <a:pathLst>
                <a:path w="8313420" h="4746625">
                  <a:moveTo>
                    <a:pt x="0" y="0"/>
                  </a:moveTo>
                  <a:lnTo>
                    <a:pt x="8313308" y="0"/>
                  </a:lnTo>
                  <a:lnTo>
                    <a:pt x="8313308" y="4746241"/>
                  </a:lnTo>
                  <a:lnTo>
                    <a:pt x="0" y="474624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122218" y="203661"/>
            <a:ext cx="6692265" cy="690245"/>
            <a:chOff x="1122218" y="203661"/>
            <a:chExt cx="6692265" cy="6902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2218" y="203661"/>
              <a:ext cx="6691745" cy="6899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71338" y="232168"/>
              <a:ext cx="6590665" cy="586740"/>
            </a:xfrm>
            <a:custGeom>
              <a:avLst/>
              <a:gdLst/>
              <a:ahLst/>
              <a:cxnLst/>
              <a:rect l="l" t="t" r="r" b="b"/>
              <a:pathLst>
                <a:path w="6590665" h="586740">
                  <a:moveTo>
                    <a:pt x="6590315" y="0"/>
                  </a:moveTo>
                  <a:lnTo>
                    <a:pt x="0" y="0"/>
                  </a:lnTo>
                  <a:lnTo>
                    <a:pt x="0" y="586540"/>
                  </a:lnTo>
                  <a:lnTo>
                    <a:pt x="6590315" y="586540"/>
                  </a:lnTo>
                  <a:lnTo>
                    <a:pt x="6590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71338" y="232168"/>
              <a:ext cx="6590665" cy="586740"/>
            </a:xfrm>
            <a:custGeom>
              <a:avLst/>
              <a:gdLst/>
              <a:ahLst/>
              <a:cxnLst/>
              <a:rect l="l" t="t" r="r" b="b"/>
              <a:pathLst>
                <a:path w="6590665" h="586740">
                  <a:moveTo>
                    <a:pt x="0" y="0"/>
                  </a:moveTo>
                  <a:lnTo>
                    <a:pt x="6590315" y="0"/>
                  </a:lnTo>
                  <a:lnTo>
                    <a:pt x="6590315" y="586540"/>
                  </a:lnTo>
                  <a:lnTo>
                    <a:pt x="0" y="58654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21007" y="207939"/>
            <a:ext cx="63087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/>
              <a:t>Software</a:t>
            </a:r>
            <a:r>
              <a:rPr sz="4000" spc="-20" dirty="0"/>
              <a:t> </a:t>
            </a:r>
            <a:r>
              <a:rPr sz="4000" spc="-5" dirty="0"/>
              <a:t>Architecture</a:t>
            </a:r>
            <a:r>
              <a:rPr sz="4000" spc="-20" dirty="0"/>
              <a:t> </a:t>
            </a:r>
            <a:r>
              <a:rPr sz="4000" spc="-5" dirty="0"/>
              <a:t>(contd)</a:t>
            </a:r>
            <a:endParaRPr sz="4000"/>
          </a:p>
        </p:txBody>
      </p:sp>
      <p:sp>
        <p:nvSpPr>
          <p:cNvPr id="12" name="object 12"/>
          <p:cNvSpPr txBox="1"/>
          <p:nvPr/>
        </p:nvSpPr>
        <p:spPr>
          <a:xfrm>
            <a:off x="535939" y="6442064"/>
            <a:ext cx="607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10/05/16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3101" y="6442064"/>
            <a:ext cx="17430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ASTU</a:t>
            </a:r>
            <a:r>
              <a:rPr sz="1200" spc="-1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3rd</a:t>
            </a:r>
            <a:r>
              <a:rPr sz="1200" spc="-1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Year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SE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Chapter-2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439" y="999369"/>
            <a:ext cx="7696834" cy="423672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533400" indent="-457200">
              <a:lnSpc>
                <a:spcPct val="100000"/>
              </a:lnSpc>
              <a:spcBef>
                <a:spcPts val="1115"/>
              </a:spcBef>
              <a:buSzPct val="152380"/>
              <a:buFont typeface="Wingdings"/>
              <a:buChar char=""/>
              <a:tabLst>
                <a:tab pos="533400" algn="l"/>
              </a:tabLst>
            </a:pPr>
            <a:r>
              <a:rPr sz="2100" b="1" spc="20" dirty="0">
                <a:latin typeface="Calibri"/>
                <a:cs typeface="Calibri"/>
              </a:rPr>
              <a:t>A</a:t>
            </a:r>
            <a:r>
              <a:rPr sz="2100" b="1" spc="-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software</a:t>
            </a:r>
            <a:r>
              <a:rPr sz="2100" b="1" spc="-5" dirty="0">
                <a:latin typeface="Calibri"/>
                <a:cs typeface="Calibri"/>
              </a:rPr>
              <a:t> </a:t>
            </a:r>
            <a:r>
              <a:rPr sz="2100" b="1" spc="10" dirty="0">
                <a:latin typeface="Calibri"/>
                <a:cs typeface="Calibri"/>
              </a:rPr>
              <a:t>architecture</a:t>
            </a:r>
            <a:r>
              <a:rPr sz="2100" b="1" dirty="0">
                <a:latin typeface="Calibri"/>
                <a:cs typeface="Calibri"/>
              </a:rPr>
              <a:t> </a:t>
            </a:r>
            <a:r>
              <a:rPr sz="2100" b="1" spc="15" dirty="0">
                <a:latin typeface="Calibri"/>
                <a:cs typeface="Calibri"/>
              </a:rPr>
              <a:t>deﬁnes:</a:t>
            </a:r>
            <a:endParaRPr sz="2100">
              <a:latin typeface="Calibri"/>
              <a:cs typeface="Calibri"/>
            </a:endParaRPr>
          </a:p>
          <a:p>
            <a:pPr marL="904240" lvl="1" indent="-384175">
              <a:lnSpc>
                <a:spcPct val="100000"/>
              </a:lnSpc>
              <a:spcBef>
                <a:spcPts val="2580"/>
              </a:spcBef>
              <a:buSzPct val="152380"/>
              <a:buFont typeface="Wingdings"/>
              <a:buChar char=""/>
              <a:tabLst>
                <a:tab pos="904875" algn="l"/>
              </a:tabLst>
            </a:pP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components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of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software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system</a:t>
            </a:r>
            <a:endParaRPr sz="2100">
              <a:latin typeface="Calibri"/>
              <a:cs typeface="Calibri"/>
            </a:endParaRPr>
          </a:p>
          <a:p>
            <a:pPr marL="904240" lvl="1" indent="-384175">
              <a:lnSpc>
                <a:spcPct val="100000"/>
              </a:lnSpc>
              <a:spcBef>
                <a:spcPts val="2580"/>
              </a:spcBef>
              <a:buSzPct val="152380"/>
              <a:buFont typeface="Wingdings"/>
              <a:buChar char=""/>
              <a:tabLst>
                <a:tab pos="904875" algn="l"/>
              </a:tabLst>
            </a:pPr>
            <a:r>
              <a:rPr sz="2100" spc="15" dirty="0">
                <a:latin typeface="Calibri"/>
                <a:cs typeface="Calibri"/>
              </a:rPr>
              <a:t>How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components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use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each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other’s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functionality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data</a:t>
            </a:r>
            <a:endParaRPr sz="2100">
              <a:latin typeface="Calibri"/>
              <a:cs typeface="Calibri"/>
            </a:endParaRPr>
          </a:p>
          <a:p>
            <a:pPr marL="904240" lvl="1" indent="-384175">
              <a:lnSpc>
                <a:spcPct val="100000"/>
              </a:lnSpc>
              <a:spcBef>
                <a:spcPts val="2580"/>
              </a:spcBef>
              <a:buSzPct val="152380"/>
              <a:buFont typeface="Wingdings"/>
              <a:buChar char=""/>
              <a:tabLst>
                <a:tab pos="904875" algn="l"/>
              </a:tabLst>
            </a:pPr>
            <a:r>
              <a:rPr sz="2100" spc="15" dirty="0">
                <a:latin typeface="Calibri"/>
                <a:cs typeface="Calibri"/>
              </a:rPr>
              <a:t>How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control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managed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between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components</a:t>
            </a: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/>
              <a:buChar char=""/>
            </a:pPr>
            <a:endParaRPr sz="2700">
              <a:latin typeface="Calibri"/>
              <a:cs typeface="Calibri"/>
            </a:endParaRPr>
          </a:p>
          <a:p>
            <a:pPr marL="533400" marR="379095" indent="-457200">
              <a:lnSpc>
                <a:spcPct val="112400"/>
              </a:lnSpc>
              <a:buSzPct val="152380"/>
              <a:buFont typeface="Wingdings"/>
              <a:buChar char=""/>
              <a:tabLst>
                <a:tab pos="533400" algn="l"/>
              </a:tabLst>
            </a:pPr>
            <a:r>
              <a:rPr sz="2100" spc="5" dirty="0">
                <a:latin typeface="Calibri"/>
                <a:cs typeface="Calibri"/>
              </a:rPr>
              <a:t>Software </a:t>
            </a:r>
            <a:r>
              <a:rPr sz="2100" spc="10" dirty="0">
                <a:latin typeface="Calibri"/>
                <a:cs typeface="Calibri"/>
              </a:rPr>
              <a:t>architecture is </a:t>
            </a:r>
            <a:r>
              <a:rPr sz="2100" b="1" spc="1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blueprint </a:t>
            </a:r>
            <a:r>
              <a:rPr sz="2100" spc="10" dirty="0">
                <a:latin typeface="Calibri"/>
                <a:cs typeface="Calibri"/>
              </a:rPr>
              <a:t>for </a:t>
            </a:r>
            <a:r>
              <a:rPr sz="2100" spc="15" dirty="0">
                <a:latin typeface="Calibri"/>
                <a:cs typeface="Calibri"/>
              </a:rPr>
              <a:t>a </a:t>
            </a:r>
            <a:r>
              <a:rPr sz="2100" spc="5" dirty="0">
                <a:latin typeface="Calibri"/>
                <a:cs typeface="Calibri"/>
              </a:rPr>
              <a:t>software </a:t>
            </a:r>
            <a:r>
              <a:rPr sz="2100" spc="10" dirty="0">
                <a:latin typeface="Calibri"/>
                <a:cs typeface="Calibri"/>
              </a:rPr>
              <a:t>system’s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construction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evolution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2100">
              <a:latin typeface="Calibri"/>
              <a:cs typeface="Calibri"/>
            </a:endParaRPr>
          </a:p>
          <a:p>
            <a:pPr marL="533400" indent="-457200">
              <a:lnSpc>
                <a:spcPct val="100000"/>
              </a:lnSpc>
              <a:buSzPct val="152380"/>
              <a:buFont typeface="Wingdings"/>
              <a:buChar char=""/>
              <a:tabLst>
                <a:tab pos="533400" algn="l"/>
              </a:tabLst>
            </a:pPr>
            <a:r>
              <a:rPr sz="2100" spc="10" dirty="0">
                <a:latin typeface="Calibri"/>
                <a:cs typeface="Calibri"/>
              </a:rPr>
              <a:t>Architecture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=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{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components,</a:t>
            </a:r>
            <a:r>
              <a:rPr sz="21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connectors, constraints</a:t>
            </a:r>
            <a:r>
              <a:rPr sz="2100" spc="10" dirty="0">
                <a:latin typeface="Calibri"/>
                <a:cs typeface="Calibri"/>
              </a:rPr>
              <a:t>}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8EB5-1C3B-F3F4-E613-78F35AB2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5672"/>
            <a:ext cx="7886700" cy="1325563"/>
          </a:xfrm>
        </p:spPr>
        <p:txBody>
          <a:bodyPr/>
          <a:lstStyle/>
          <a:p>
            <a:r>
              <a:rPr lang="en-US" b="1" dirty="0"/>
              <a:t>Architecture Business Cycle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E61B2-B27F-4DBB-57D9-A71EF3697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606" y="1981200"/>
            <a:ext cx="7315200" cy="43513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Software architecture is a result of </a:t>
            </a:r>
            <a:r>
              <a:rPr lang="en-US" altLang="en-US" sz="2400" b="1" i="1" dirty="0"/>
              <a:t>technical, business, </a:t>
            </a:r>
            <a:r>
              <a:rPr lang="en-US" altLang="en-US" sz="2400" b="1" dirty="0"/>
              <a:t>and </a:t>
            </a:r>
            <a:r>
              <a:rPr lang="en-US" altLang="en-US" sz="2400" b="1" i="1" dirty="0"/>
              <a:t>social</a:t>
            </a:r>
            <a:r>
              <a:rPr lang="en-US" altLang="en-US" sz="2400" b="1" dirty="0"/>
              <a:t> influences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Its existence, in turn, influences these technical, business, and social environments.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i="1" u="sng" dirty="0">
                <a:solidFill>
                  <a:srgbClr val="FF0000"/>
                </a:solidFill>
              </a:rPr>
              <a:t>This cycle of influences from the environment to the architecture and back to the environment is called the Architecture Business Cycle.</a:t>
            </a:r>
          </a:p>
          <a:p>
            <a:endParaRPr lang="en-US" dirty="0"/>
          </a:p>
        </p:txBody>
      </p:sp>
      <p:sp>
        <p:nvSpPr>
          <p:cNvPr id="4" name="Curved Left Arrow 7">
            <a:extLst>
              <a:ext uri="{FF2B5EF4-FFF2-40B4-BE49-F238E27FC236}">
                <a16:creationId xmlns:a16="http://schemas.microsoft.com/office/drawing/2014/main" id="{DFF6F8A1-B5F3-A824-72E5-4695EF2CB4CA}"/>
              </a:ext>
            </a:extLst>
          </p:cNvPr>
          <p:cNvSpPr/>
          <p:nvPr/>
        </p:nvSpPr>
        <p:spPr>
          <a:xfrm rot="10800000">
            <a:off x="152399" y="2133600"/>
            <a:ext cx="838200" cy="1219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Left Arrow 4">
            <a:extLst>
              <a:ext uri="{FF2B5EF4-FFF2-40B4-BE49-F238E27FC236}">
                <a16:creationId xmlns:a16="http://schemas.microsoft.com/office/drawing/2014/main" id="{3AABB36B-F0AA-BFAF-2C04-DE7EF9200B26}"/>
              </a:ext>
            </a:extLst>
          </p:cNvPr>
          <p:cNvSpPr/>
          <p:nvPr/>
        </p:nvSpPr>
        <p:spPr>
          <a:xfrm>
            <a:off x="7924800" y="2133600"/>
            <a:ext cx="808038" cy="1219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71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6FBD-BB48-4ACF-8833-99193D08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542"/>
            <a:ext cx="7886700" cy="1325563"/>
          </a:xfrm>
        </p:spPr>
        <p:txBody>
          <a:bodyPr/>
          <a:lstStyle/>
          <a:p>
            <a:r>
              <a:rPr lang="en-US" b="1" dirty="0"/>
              <a:t>Where do Architectures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B7AB-5F98-1C94-900B-67B2862DB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sz="2800" dirty="0"/>
              <a:t>Architectures are influenced by:</a:t>
            </a:r>
          </a:p>
          <a:p>
            <a:pPr lvl="1" algn="just" eaLnBrk="1" hangingPunct="1"/>
            <a:r>
              <a:rPr lang="en-US" altLang="en-US" sz="2800" u="sng" dirty="0">
                <a:solidFill>
                  <a:srgbClr val="FF0000"/>
                </a:solidFill>
              </a:rPr>
              <a:t>System stakeholders</a:t>
            </a:r>
          </a:p>
          <a:p>
            <a:pPr lvl="1" algn="just" eaLnBrk="1" hangingPunct="1"/>
            <a:r>
              <a:rPr lang="en-US" altLang="en-US" sz="2800" dirty="0"/>
              <a:t>The developing organization</a:t>
            </a:r>
          </a:p>
          <a:p>
            <a:pPr lvl="1" algn="just" eaLnBrk="1" hangingPunct="1"/>
            <a:r>
              <a:rPr lang="en-US" altLang="en-US" sz="2800" dirty="0"/>
              <a:t>The background and experience of the architects</a:t>
            </a:r>
          </a:p>
          <a:p>
            <a:pPr lvl="1" algn="just" eaLnBrk="1" hangingPunct="1"/>
            <a:r>
              <a:rPr lang="en-US" altLang="en-US" sz="2800" dirty="0"/>
              <a:t>The technical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25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F6A04CA-85F0-50DF-067C-F414033626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8001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5FF8BD0F-7A1E-B647-B36C-B68DA32FD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04220"/>
            <a:ext cx="1524000" cy="9540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/>
            <a:r>
              <a:rPr lang="en-GB" altLang="en-US" sz="1400" b="1" dirty="0"/>
              <a:t>Developing organization management stakeholder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77BCE93-CF2D-287B-3769-3F736A646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504220"/>
            <a:ext cx="1524000" cy="9540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/>
            <a:r>
              <a:rPr lang="en-GB" altLang="en-US" sz="1400" b="1" dirty="0"/>
              <a:t>Marketing stakeholder</a:t>
            </a:r>
          </a:p>
          <a:p>
            <a:pPr algn="just"/>
            <a:endParaRPr lang="en-GB" altLang="en-US" sz="1400" b="1" dirty="0"/>
          </a:p>
          <a:p>
            <a:pPr algn="just"/>
            <a:endParaRPr lang="en-GB" altLang="en-US" sz="1400" b="1" dirty="0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34DEBE8F-7EC7-E8CD-80BC-9FE4C575F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504220"/>
            <a:ext cx="1524000" cy="954088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/>
            <a:r>
              <a:rPr lang="en-GB" altLang="en-US" sz="1400" b="1"/>
              <a:t>End User</a:t>
            </a:r>
          </a:p>
          <a:p>
            <a:pPr algn="just"/>
            <a:r>
              <a:rPr lang="en-GB" altLang="en-US" sz="1400" b="1"/>
              <a:t>Stakeholder</a:t>
            </a:r>
          </a:p>
          <a:p>
            <a:pPr algn="just"/>
            <a:endParaRPr lang="en-GB" altLang="en-US" sz="1400" b="1"/>
          </a:p>
          <a:p>
            <a:pPr algn="just"/>
            <a:endParaRPr lang="en-GB" altLang="en-US" sz="1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076CC-AC46-C3D0-AF0F-43AB3D5531D7}"/>
              </a:ext>
            </a:extLst>
          </p:cNvPr>
          <p:cNvSpPr txBox="1"/>
          <p:nvPr/>
        </p:nvSpPr>
        <p:spPr>
          <a:xfrm>
            <a:off x="5715000" y="2504220"/>
            <a:ext cx="1524000" cy="9540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GB" sz="1400" b="1" dirty="0"/>
              <a:t>Maintenance  organization stakeholder</a:t>
            </a:r>
          </a:p>
          <a:p>
            <a:pPr algn="just">
              <a:defRPr/>
            </a:pPr>
            <a:endParaRPr lang="en-GB" sz="1400" b="1" dirty="0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D2B322C8-7676-D8ED-6AF8-7E0AF88C7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504220"/>
            <a:ext cx="1447800" cy="9540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/>
            <a:endParaRPr lang="en-GB" altLang="en-US" sz="1400" b="1"/>
          </a:p>
          <a:p>
            <a:pPr algn="just"/>
            <a:r>
              <a:rPr lang="en-GB" altLang="en-US" sz="1400" b="1"/>
              <a:t>Customer</a:t>
            </a:r>
          </a:p>
          <a:p>
            <a:pPr algn="just"/>
            <a:endParaRPr lang="en-GB" altLang="en-US" sz="1400" b="1"/>
          </a:p>
          <a:p>
            <a:pPr algn="just"/>
            <a:r>
              <a:rPr lang="en-GB" altLang="en-US" sz="1400" b="1"/>
              <a:t> stakeholder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7175F6DC-8859-BD58-107E-08E9A7409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27645"/>
            <a:ext cx="160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en-US"/>
              <a:t>Low Cost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1AB469F5-6AA0-4308-9E8B-7E91355C3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27645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en-US" sz="1600" b="1"/>
              <a:t>Neat features,</a:t>
            </a:r>
          </a:p>
          <a:p>
            <a:r>
              <a:rPr lang="en-GB" altLang="en-US" sz="1600" b="1"/>
              <a:t>Short time to market, Low Cost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E518B8C7-41CD-CF6B-85F6-CAC501C29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527645"/>
            <a:ext cx="16764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en-US" sz="1400" b="1"/>
              <a:t>Behaviour,</a:t>
            </a:r>
          </a:p>
          <a:p>
            <a:r>
              <a:rPr lang="en-GB" altLang="en-US" sz="1400" b="1"/>
              <a:t>Performance,</a:t>
            </a:r>
          </a:p>
          <a:p>
            <a:r>
              <a:rPr lang="en-GB" altLang="en-US" sz="1400" b="1"/>
              <a:t>Security , Reliability, Usability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D991BE19-3601-3EDA-A791-15DB58376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527645"/>
            <a:ext cx="175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en-US"/>
              <a:t>Modifiability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E3B4BFB1-4FB2-F407-BD62-49DFD54E1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527645"/>
            <a:ext cx="16002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en-US"/>
              <a:t>Low cost, Timely delivery, not changed often</a:t>
            </a:r>
          </a:p>
          <a:p>
            <a:endParaRPr lang="en-GB" altLang="en-US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C78B398-BAD3-ADFE-D7B8-95C1FBDD6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670645"/>
            <a:ext cx="22479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22">
            <a:extLst>
              <a:ext uri="{FF2B5EF4-FFF2-40B4-BE49-F238E27FC236}">
                <a16:creationId xmlns:a16="http://schemas.microsoft.com/office/drawing/2014/main" id="{E594DEA1-B248-9B6D-025C-CA2AF4992D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8200" y="3914201"/>
            <a:ext cx="2590800" cy="1600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24">
            <a:extLst>
              <a:ext uri="{FF2B5EF4-FFF2-40B4-BE49-F238E27FC236}">
                <a16:creationId xmlns:a16="http://schemas.microsoft.com/office/drawing/2014/main" id="{F58E30C7-9F98-AFFE-C601-97C4EDD4502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943600" y="4447601"/>
            <a:ext cx="1752600" cy="1219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6">
            <a:extLst>
              <a:ext uri="{FF2B5EF4-FFF2-40B4-BE49-F238E27FC236}">
                <a16:creationId xmlns:a16="http://schemas.microsoft.com/office/drawing/2014/main" id="{8330DB80-553A-967C-8EFE-EC52BA9FAC2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829300" y="4028501"/>
            <a:ext cx="9906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28">
            <a:extLst>
              <a:ext uri="{FF2B5EF4-FFF2-40B4-BE49-F238E27FC236}">
                <a16:creationId xmlns:a16="http://schemas.microsoft.com/office/drawing/2014/main" id="{74B776AB-6BA4-A19F-61E7-C95FDB04FD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67000" y="4295201"/>
            <a:ext cx="8382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30">
            <a:extLst>
              <a:ext uri="{FF2B5EF4-FFF2-40B4-BE49-F238E27FC236}">
                <a16:creationId xmlns:a16="http://schemas.microsoft.com/office/drawing/2014/main" id="{2AA25582-F310-6313-F33C-32A4152FCE3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67301" y="4333301"/>
            <a:ext cx="5334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Box 19">
            <a:extLst>
              <a:ext uri="{FF2B5EF4-FFF2-40B4-BE49-F238E27FC236}">
                <a16:creationId xmlns:a16="http://schemas.microsoft.com/office/drawing/2014/main" id="{6DEFDE47-A461-F2D3-558F-76FEE2B6C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379589"/>
            <a:ext cx="77724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2200" b="1" u="sng" dirty="0">
                <a:solidFill>
                  <a:srgbClr val="FF0000"/>
                </a:solidFill>
              </a:rPr>
              <a:t>Influence of system stakeholders on Architect</a:t>
            </a:r>
          </a:p>
        </p:txBody>
      </p:sp>
    </p:spTree>
    <p:extLst>
      <p:ext uri="{BB962C8B-B14F-4D97-AF65-F5344CB8AC3E}">
        <p14:creationId xmlns:p14="http://schemas.microsoft.com/office/powerpoint/2010/main" val="284096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B616-6A6D-D041-4E01-6B11EECB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2800" b="1" u="sng" dirty="0">
                <a:latin typeface="+mn-lt"/>
                <a:cs typeface="Arial" panose="020B0604020202020204" pitchFamily="34" charset="0"/>
              </a:rPr>
              <a:t>ARCHITECTURES INFLUENCED BY SYSTEM STAKEHOLDERS</a:t>
            </a:r>
            <a:endParaRPr lang="en-US" sz="2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AF41-A603-6734-55BD-B3581AADE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Acceptable system involves properties such as performance, reliability, availability, memory utilization, security, modifiability, usability, interoperability with other system.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 The underlying problem, is that each stakeholder has different concerns and goals, some of which may be contradictory.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reality is that the </a:t>
            </a:r>
            <a:r>
              <a:rPr lang="en-US" altLang="en-US" sz="2400" u="sng" dirty="0">
                <a:solidFill>
                  <a:srgbClr val="FF0000"/>
                </a:solidFill>
              </a:rPr>
              <a:t>architect often has to fill in the blanks and mediate the conflicts.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85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78D5-5E67-2748-17EB-E3F74D99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b="1" dirty="0">
                <a:latin typeface="+mn-lt"/>
                <a:cs typeface="Arial" panose="020B0604020202020204" pitchFamily="34" charset="0"/>
              </a:rPr>
              <a:t>ARCHITECTURES INFLUENCED BY THE DEVELOPING ORGANIZATION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AD57-0CFC-8719-67B5-BC7ADB162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solidFill>
                  <a:srgbClr val="002060"/>
                </a:solidFill>
              </a:rPr>
              <a:t>Architecture is also influenced by the structure and nature of organization</a:t>
            </a:r>
            <a:r>
              <a:rPr lang="en-US" altLang="en-US" dirty="0"/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There are three classes of influence that come from the developing organization</a:t>
            </a:r>
          </a:p>
          <a:p>
            <a:pPr algn="just" eaLnBrk="1" hangingPunct="1"/>
            <a:r>
              <a:rPr lang="en-US" altLang="en-US" dirty="0"/>
              <a:t> Immediate business</a:t>
            </a:r>
          </a:p>
          <a:p>
            <a:pPr algn="just" eaLnBrk="1" hangingPunct="1"/>
            <a:r>
              <a:rPr lang="en-US" altLang="en-US" dirty="0"/>
              <a:t> Long-term business </a:t>
            </a:r>
          </a:p>
          <a:p>
            <a:pPr eaLnBrk="1" hangingPunct="1"/>
            <a:r>
              <a:rPr lang="en-US" altLang="en-US" dirty="0"/>
              <a:t> Organizational structure (subcontract)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33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D197-D8E9-5CEA-CB9D-181B05D9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385"/>
            <a:ext cx="7886700" cy="131127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800" b="1" dirty="0">
                <a:latin typeface="+mn-lt"/>
              </a:rPr>
              <a:t>ARCHITECTURES  INFLUENCED BY THE BACKGROUND AND EXPERIENCE OF THE ARCHITECTS</a:t>
            </a:r>
            <a:r>
              <a:rPr lang="en-US" altLang="en-US" b="1" u="sng" dirty="0">
                <a:solidFill>
                  <a:srgbClr val="FF0000"/>
                </a:solidFill>
              </a:rPr>
              <a:t/>
            </a:r>
            <a:br>
              <a:rPr lang="en-US" altLang="en-US" b="1" u="sng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4CE1A-DF2C-FB72-5119-C9CDA30BB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sz="2400" dirty="0">
                <a:latin typeface="+mn-lt"/>
              </a:rPr>
              <a:t>Architects for a </a:t>
            </a:r>
            <a:r>
              <a:rPr lang="en-US" sz="2400" u="sng" dirty="0">
                <a:latin typeface="+mn-lt"/>
              </a:rPr>
              <a:t>system have had good results using a particular architectural approach</a:t>
            </a:r>
            <a:r>
              <a:rPr lang="en-US" sz="2400" dirty="0">
                <a:latin typeface="+mn-lt"/>
              </a:rPr>
              <a:t>, </a:t>
            </a:r>
          </a:p>
          <a:p>
            <a:pPr algn="just">
              <a:defRPr/>
            </a:pPr>
            <a:r>
              <a:rPr lang="en-US" sz="2400" dirty="0"/>
              <a:t>C</a:t>
            </a:r>
            <a:r>
              <a:rPr lang="en-US" sz="2400" dirty="0">
                <a:latin typeface="+mn-lt"/>
              </a:rPr>
              <a:t>hances are that they will try that same approach on a new development effort, or may be reluctant to try it again.</a:t>
            </a:r>
          </a:p>
          <a:p>
            <a:pPr algn="just">
              <a:defRPr/>
            </a:pPr>
            <a:r>
              <a:rPr lang="en-US" sz="2400" dirty="0">
                <a:latin typeface="+mn-lt"/>
              </a:rPr>
              <a:t>Architectural choices may also come from an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architect's education and training, exposure to successful architectural patterns</a:t>
            </a:r>
            <a:r>
              <a:rPr lang="en-US" sz="2400" dirty="0">
                <a:latin typeface="+mn-lt"/>
              </a:rPr>
              <a:t>,</a:t>
            </a:r>
          </a:p>
          <a:p>
            <a:pPr algn="just">
              <a:defRPr/>
            </a:pPr>
            <a:r>
              <a:rPr lang="en-US" sz="2400" dirty="0">
                <a:latin typeface="+mn-lt"/>
              </a:rPr>
              <a:t> exposure to systems that have worked particularly poorly or particularly well – or to experiment  also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55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E6B0-CCC6-8806-C8A3-90528400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b="1" dirty="0">
                <a:latin typeface="+mn-lt"/>
                <a:cs typeface="Arial" panose="020B0604020202020204" pitchFamily="34" charset="0"/>
              </a:rPr>
              <a:t>ARCHITECTURES  INFLUENCED BY THE TECHNICAL ENVIRONMENT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0CBEC-2D21-4C0C-0111-85EC7DBA8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dirty="0"/>
              <a:t>Architect's background and experience is reflected by </a:t>
            </a:r>
            <a:r>
              <a:rPr lang="en-US" altLang="en-US" u="sng" dirty="0"/>
              <a:t>the </a:t>
            </a:r>
            <a:r>
              <a:rPr lang="en-US" altLang="en-US" i="1" u="sng" dirty="0"/>
              <a:t>technical environment</a:t>
            </a:r>
            <a:endParaRPr lang="en-US" altLang="en-US" i="1" dirty="0"/>
          </a:p>
          <a:p>
            <a:pPr algn="just" eaLnBrk="1" hangingPunct="1"/>
            <a:r>
              <a:rPr lang="en-US" altLang="en-US" i="1" dirty="0"/>
              <a:t>Current environment will influence the architecture– </a:t>
            </a:r>
            <a:r>
              <a:rPr lang="en-US" altLang="en-US" i="1" dirty="0">
                <a:solidFill>
                  <a:srgbClr val="FF0000"/>
                </a:solidFill>
              </a:rPr>
              <a:t>standard industry practices or software engineering techniques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7F47-4E85-9B2B-6A30-0F4793BF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latin typeface="+mn-lt"/>
              </a:rPr>
              <a:t>Ramifications </a:t>
            </a:r>
            <a:r>
              <a:rPr lang="en-US" altLang="en-US" sz="3200" b="1" baseline="-25000" dirty="0">
                <a:latin typeface="+mn-lt"/>
              </a:rPr>
              <a:t>Effect </a:t>
            </a:r>
            <a:r>
              <a:rPr lang="en-US" altLang="en-US" sz="3200" b="1" dirty="0">
                <a:latin typeface="+mn-lt"/>
              </a:rPr>
              <a:t>of the Various Influences on an Architecture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AD72-E114-3DB7-9003-6D6A9C38E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The properties required by the business and organizational goals are seldom completely understood.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Customer requirements are often not complete or well documented.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Architects must identify and actively engage stakeholders to solicit their needs and expectations.</a:t>
            </a:r>
          </a:p>
          <a:p>
            <a:pPr algn="just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In addition to technical skills, architects need to be skilled in </a:t>
            </a:r>
            <a:r>
              <a:rPr lang="en-US" sz="2400" dirty="0">
                <a:solidFill>
                  <a:srgbClr val="FF0000"/>
                </a:solidFill>
              </a:rPr>
              <a:t>diplomacy, negotiation, and communication.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27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F9BC148-D178-E253-407B-5A5458C6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 u="sng" dirty="0">
                <a:latin typeface="+mn-lt"/>
              </a:rPr>
              <a:t>Influences on the Architecture</a:t>
            </a:r>
            <a:endParaRPr lang="en-GB" altLang="en-US" sz="3200" u="sng" dirty="0">
              <a:latin typeface="+mn-lt"/>
            </a:endParaRPr>
          </a:p>
        </p:txBody>
      </p:sp>
      <p:pic>
        <p:nvPicPr>
          <p:cNvPr id="13316" name="Picture 8" descr="graphics/01fig04.gif">
            <a:extLst>
              <a:ext uri="{FF2B5EF4-FFF2-40B4-BE49-F238E27FC236}">
                <a16:creationId xmlns:a16="http://schemas.microsoft.com/office/drawing/2014/main" id="{E1546FA0-D9AD-B2AB-8F6A-1364F58F1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7967663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8" descr="graphics/01fig04.gif">
            <a:extLst>
              <a:ext uri="{FF2B5EF4-FFF2-40B4-BE49-F238E27FC236}">
                <a16:creationId xmlns:a16="http://schemas.microsoft.com/office/drawing/2014/main" id="{2049650A-542E-6A43-06F6-E15511843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667000"/>
            <a:ext cx="5715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39BE63-7800-58D5-CB79-E2920A8557D6}"/>
              </a:ext>
            </a:extLst>
          </p:cNvPr>
          <p:cNvSpPr/>
          <p:nvPr/>
        </p:nvSpPr>
        <p:spPr>
          <a:xfrm>
            <a:off x="1371600" y="152400"/>
            <a:ext cx="685800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/>
              <a:t>Architectures </a:t>
            </a:r>
            <a:r>
              <a:rPr lang="en-US" sz="2800" b="1" dirty="0">
                <a:solidFill>
                  <a:srgbClr val="FF0000"/>
                </a:solidFill>
              </a:rPr>
              <a:t>affect</a:t>
            </a:r>
            <a:r>
              <a:rPr lang="en-US" sz="2800" b="1" dirty="0"/>
              <a:t> the factors, that Influence them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D4B25-BA46-AE5F-C5EF-14A0A5D419C7}"/>
              </a:ext>
            </a:extLst>
          </p:cNvPr>
          <p:cNvSpPr txBox="1"/>
          <p:nvPr/>
        </p:nvSpPr>
        <p:spPr>
          <a:xfrm>
            <a:off x="685800" y="1219200"/>
            <a:ext cx="79248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+mn-lt"/>
              </a:rPr>
              <a:t>   </a:t>
            </a:r>
            <a:r>
              <a:rPr lang="en-US" sz="2800" dirty="0">
                <a:latin typeface="+mn-lt"/>
              </a:rPr>
              <a:t>Relationship among business goals, product requirement, architects experience, architectures and fielded system  </a:t>
            </a:r>
            <a:r>
              <a:rPr lang="en-US" sz="2800" u="sng" dirty="0">
                <a:latin typeface="+mn-lt"/>
              </a:rPr>
              <a:t>form a cycle with feedback loop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8C595CC-B875-EC29-BF4C-58D869252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5406" y="700087"/>
            <a:ext cx="8229600" cy="1020762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+mn-lt"/>
              </a:rPr>
              <a:t>Architectures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</a:rPr>
              <a:t> affect </a:t>
            </a:r>
            <a:r>
              <a:rPr lang="en-US" altLang="en-US" sz="3200" b="1" dirty="0">
                <a:latin typeface="+mn-lt"/>
              </a:rPr>
              <a:t>the factors, that Influence them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A386465-AE75-7B8A-3A77-CE87925F7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382000" cy="4114800"/>
          </a:xfrm>
        </p:spPr>
        <p:txBody>
          <a:bodyPr/>
          <a:lstStyle/>
          <a:p>
            <a:pPr algn="just" eaLnBrk="1" hangingPunct="1"/>
            <a:r>
              <a:rPr lang="en-US" altLang="en-US" dirty="0"/>
              <a:t>The </a:t>
            </a:r>
            <a:r>
              <a:rPr lang="en-US" altLang="en-US" b="1" dirty="0"/>
              <a:t>structure</a:t>
            </a:r>
            <a:r>
              <a:rPr lang="en-US" altLang="en-US" dirty="0"/>
              <a:t> of the developing organization.</a:t>
            </a:r>
          </a:p>
          <a:p>
            <a:pPr algn="just" eaLnBrk="1" hangingPunct="1"/>
            <a:r>
              <a:rPr lang="en-US" altLang="en-US" b="1" dirty="0"/>
              <a:t>The goals </a:t>
            </a:r>
            <a:r>
              <a:rPr lang="en-US" altLang="en-US" dirty="0"/>
              <a:t>of developing organization.</a:t>
            </a:r>
          </a:p>
          <a:p>
            <a:pPr algn="just" eaLnBrk="1" hangingPunct="1"/>
            <a:r>
              <a:rPr lang="en-US" altLang="en-US" b="1" dirty="0"/>
              <a:t>Customer requirements for the next system.</a:t>
            </a:r>
          </a:p>
          <a:p>
            <a:pPr algn="just" eaLnBrk="1" hangingPunct="1"/>
            <a:r>
              <a:rPr lang="en-US" altLang="en-US" dirty="0"/>
              <a:t>The </a:t>
            </a:r>
            <a:r>
              <a:rPr lang="en-US" altLang="en-US" b="1" dirty="0"/>
              <a:t>architect’s experience </a:t>
            </a:r>
            <a:r>
              <a:rPr lang="en-US" altLang="en-US" dirty="0"/>
              <a:t>with subsequent systems.</a:t>
            </a:r>
          </a:p>
          <a:p>
            <a:pPr algn="just" eaLnBrk="1" hangingPunct="1"/>
            <a:r>
              <a:rPr lang="en-US" altLang="en-US" dirty="0"/>
              <a:t>The software engineering </a:t>
            </a:r>
            <a:r>
              <a:rPr lang="en-US" altLang="en-US" b="1" i="1" dirty="0"/>
              <a:t>culture</a:t>
            </a:r>
            <a:r>
              <a:rPr lang="en-US" altLang="en-US" dirty="0"/>
              <a:t>.(</a:t>
            </a:r>
            <a:r>
              <a:rPr lang="en-US" altLang="en-US" dirty="0" err="1"/>
              <a:t>i.e</a:t>
            </a:r>
            <a:r>
              <a:rPr lang="en-US" altLang="en-US" dirty="0"/>
              <a:t> technical environment ..)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sz="2400" b="1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58E4-4932-5C67-EF95-4F247279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90322"/>
            <a:ext cx="8229600" cy="483076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800" dirty="0"/>
              <a:t>Architecture affect the structure of the organization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It prescribes the </a:t>
            </a:r>
            <a:r>
              <a:rPr lang="en-US" sz="2800" dirty="0">
                <a:solidFill>
                  <a:srgbClr val="FF0000"/>
                </a:solidFill>
              </a:rPr>
              <a:t>units of software </a:t>
            </a:r>
            <a:r>
              <a:rPr lang="en-US" sz="2800" dirty="0"/>
              <a:t>to be implemented.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Development, test , integration.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b="1" dirty="0"/>
              <a:t>Teams</a:t>
            </a:r>
            <a:r>
              <a:rPr lang="en-US" sz="2800" dirty="0"/>
              <a:t> are formed for individual software unit.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Teams become the part of the organization structure.</a:t>
            </a:r>
          </a:p>
          <a:p>
            <a:pPr marL="0" indent="0">
              <a:buFont typeface="Arial" charset="0"/>
              <a:buNone/>
              <a:defRPr/>
            </a:pPr>
            <a:endParaRPr 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C58DC-895B-2B0A-61F1-5E4CEB7F797A}"/>
              </a:ext>
            </a:extLst>
          </p:cNvPr>
          <p:cNvSpPr/>
          <p:nvPr/>
        </p:nvSpPr>
        <p:spPr>
          <a:xfrm>
            <a:off x="914400" y="718942"/>
            <a:ext cx="6934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charset="0"/>
              <a:buNone/>
              <a:defRPr/>
            </a:pPr>
            <a:r>
              <a:rPr lang="en-US" sz="2800" b="1" dirty="0"/>
              <a:t>Structure of the developing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E758-B992-C751-FA3F-3816A4A6D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22860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800" dirty="0"/>
              <a:t>It enables a company to establish a </a:t>
            </a:r>
            <a:r>
              <a:rPr lang="en-US" sz="2800" b="1" dirty="0"/>
              <a:t>strong foothold in the market area.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Architecture provides an opportunity for the organization to adjust its goal, so that it can take advantage from the market.</a:t>
            </a:r>
          </a:p>
          <a:p>
            <a:pPr marL="0" indent="0">
              <a:buFont typeface="Arial" charset="0"/>
              <a:buNone/>
              <a:defRPr/>
            </a:pPr>
            <a:endParaRPr lang="en-US" sz="2800" dirty="0"/>
          </a:p>
          <a:p>
            <a:pPr>
              <a:buFont typeface="Arial" charset="0"/>
              <a:buChar char="•"/>
              <a:defRPr/>
            </a:pP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885D4-240C-25CF-D5EA-4CD6B42D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8B1C832-1D41-4BA5-BF90-EC1C95BCEFD3}" type="slidenum">
              <a:rPr lang="en-US" altLang="en-US" sz="1200">
                <a:solidFill>
                  <a:srgbClr val="898989"/>
                </a:solidFill>
              </a:rPr>
              <a:pPr/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1A27E1-F1E2-D8BB-B2B7-CDF16A89675E}"/>
              </a:ext>
            </a:extLst>
          </p:cNvPr>
          <p:cNvSpPr/>
          <p:nvPr/>
        </p:nvSpPr>
        <p:spPr>
          <a:xfrm>
            <a:off x="1295400" y="1066800"/>
            <a:ext cx="6934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/>
              <a:t>Goals of developing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3EC8-92C2-5E4B-C5A8-97B1A9F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0020"/>
            <a:ext cx="8229600" cy="453614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800" dirty="0"/>
              <a:t>Architecture gives the customer an opportunity to receive a system that is more reliable, timely and economic than a system which is build from scratch.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The customer may be willing to </a:t>
            </a:r>
            <a:r>
              <a:rPr lang="en-US" sz="2800" b="1" dirty="0"/>
              <a:t>relax some requirements</a:t>
            </a:r>
            <a:r>
              <a:rPr lang="en-US" sz="2800" dirty="0"/>
              <a:t> to gain the economies.</a:t>
            </a:r>
          </a:p>
          <a:p>
            <a:pPr marL="0" indent="0">
              <a:buFont typeface="Arial" charset="0"/>
              <a:buNone/>
              <a:defRPr/>
            </a:pP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472F-D2B1-C0FF-967A-6739ED50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9BD4A7D-B469-42A6-92A8-B08925ABF93D}" type="slidenum">
              <a:rPr lang="en-US" altLang="en-US" sz="1200">
                <a:solidFill>
                  <a:srgbClr val="898989"/>
                </a:solidFill>
              </a:rPr>
              <a:pPr/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3570A-79D2-B9A3-215C-1B157F6BAC64}"/>
              </a:ext>
            </a:extLst>
          </p:cNvPr>
          <p:cNvSpPr/>
          <p:nvPr/>
        </p:nvSpPr>
        <p:spPr>
          <a:xfrm>
            <a:off x="990600" y="836612"/>
            <a:ext cx="6934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Arial" charset="0"/>
              <a:buNone/>
              <a:defRPr/>
            </a:pPr>
            <a:r>
              <a:rPr lang="en-US" sz="2800" b="1" dirty="0"/>
              <a:t>Customer requirements for the next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4393F-908C-98F9-8C07-D7BEE06D1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30106"/>
            <a:ext cx="8229600" cy="2285999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endParaRPr lang="en-US" sz="2800" dirty="0"/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It’ll affect the architect’s experience with subsequent systems by adding to the </a:t>
            </a:r>
            <a:r>
              <a:rPr lang="en-US" sz="2800" b="1" dirty="0"/>
              <a:t>corporate experience </a:t>
            </a:r>
            <a:r>
              <a:rPr lang="en-US" sz="2800" dirty="0"/>
              <a:t>base.</a:t>
            </a:r>
          </a:p>
          <a:p>
            <a:pPr>
              <a:buFont typeface="Arial" charset="0"/>
              <a:buChar char="•"/>
              <a:defRPr/>
            </a:pPr>
            <a:endParaRPr lang="en-US" sz="2800" dirty="0"/>
          </a:p>
          <a:p>
            <a:pPr>
              <a:buFont typeface="Arial" charset="0"/>
              <a:buChar char="•"/>
              <a:defRPr/>
            </a:pPr>
            <a:endParaRPr lang="en-US" sz="2800" dirty="0"/>
          </a:p>
          <a:p>
            <a:pPr>
              <a:buFont typeface="Arial" charset="0"/>
              <a:buChar char="•"/>
              <a:defRPr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A8351-494F-4467-9E6C-03C525BFB908}"/>
              </a:ext>
            </a:extLst>
          </p:cNvPr>
          <p:cNvSpPr txBox="1"/>
          <p:nvPr/>
        </p:nvSpPr>
        <p:spPr>
          <a:xfrm>
            <a:off x="914400" y="1066800"/>
            <a:ext cx="723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charset="0"/>
              <a:buNone/>
              <a:defRPr/>
            </a:pPr>
            <a:r>
              <a:rPr lang="en-US" sz="2400" b="1" dirty="0"/>
              <a:t>The architect’s experience with subsequent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3205F-1CED-3332-0DD2-D981F37F8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endParaRPr lang="en-US" sz="2800" dirty="0"/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A few systems will influence and change the s/w engineering culture i.e. the technical environment in which system builders operate and learn.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B626AD-F8BA-7869-4643-7F4CA1EFF65A}"/>
              </a:ext>
            </a:extLst>
          </p:cNvPr>
          <p:cNvSpPr txBox="1"/>
          <p:nvPr/>
        </p:nvSpPr>
        <p:spPr>
          <a:xfrm>
            <a:off x="1143000" y="1003012"/>
            <a:ext cx="723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charset="0"/>
              <a:buNone/>
              <a:defRPr/>
            </a:pPr>
            <a:r>
              <a:rPr lang="en-US" sz="3200" b="1" dirty="0"/>
              <a:t>The software engineering 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1E062F7-CCD7-0FB2-C142-915220FD7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27074"/>
            <a:ext cx="7467600" cy="24384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u="sng" dirty="0">
                <a:latin typeface="+mn-lt"/>
              </a:rPr>
              <a:t>Software processes and ABC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/>
              <a:t>   M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</a:t>
            </a:r>
            <a:r>
              <a:rPr lang="en-US" sz="3200" dirty="0"/>
              <a:t> activiti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 are involved in cr</a:t>
            </a:r>
            <a:r>
              <a:rPr lang="en-US" sz="3200" dirty="0"/>
              <a:t>eating SA, using that arch., to  realize design and then to implement or manage the system.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2800" dirty="0">
                <a:solidFill>
                  <a:srgbClr val="FF0000"/>
                </a:solidFill>
              </a:rPr>
              <a:t>Software Architecture Activities are………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3200" dirty="0"/>
              <a:t>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F33D82A-3853-2B5D-DB7C-2E16078707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2706639"/>
            <a:ext cx="8839200" cy="4114800"/>
          </a:xfrm>
        </p:spPr>
        <p:txBody>
          <a:bodyPr/>
          <a:lstStyle/>
          <a:p>
            <a:pPr eaLnBrk="1" hangingPunct="1"/>
            <a:r>
              <a:rPr lang="en-US" altLang="en-US" sz="3000" b="1" u="sng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Creating the business case for the system.</a:t>
            </a:r>
            <a:endParaRPr lang="en-US" altLang="en-US" sz="3000" b="1" u="sng" dirty="0"/>
          </a:p>
          <a:p>
            <a:pPr eaLnBrk="1" hangingPunct="1"/>
            <a:r>
              <a:rPr lang="en-US" altLang="en-US" sz="3000" b="1" u="sng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Understanding the requirements</a:t>
            </a:r>
            <a:endParaRPr lang="en-US" altLang="en-US" sz="3000" b="1" u="sng" dirty="0"/>
          </a:p>
          <a:p>
            <a:pPr eaLnBrk="1" hangingPunct="1"/>
            <a:r>
              <a:rPr lang="en-US" altLang="en-US" sz="3000" b="1" u="sng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Creating or selecting the architecture</a:t>
            </a:r>
            <a:endParaRPr lang="en-US" altLang="en-US" sz="3000" b="1" u="sng" dirty="0"/>
          </a:p>
          <a:p>
            <a:pPr eaLnBrk="1" hangingPunct="1"/>
            <a:r>
              <a:rPr lang="en-US" altLang="en-US" sz="3000" b="1" u="sng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Documenting  and Communicating the architecture</a:t>
            </a:r>
            <a:endParaRPr lang="en-US" altLang="en-US" sz="3000" b="1" u="sng" dirty="0"/>
          </a:p>
          <a:p>
            <a:pPr eaLnBrk="1" hangingPunct="1"/>
            <a:r>
              <a:rPr lang="en-US" altLang="en-US" sz="3000" b="1" u="sng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Analyzing or evaluating the architecture</a:t>
            </a:r>
            <a:endParaRPr lang="en-US" altLang="en-US" sz="3000" b="1" u="sng" dirty="0"/>
          </a:p>
          <a:p>
            <a:pPr eaLnBrk="1" hangingPunct="1"/>
            <a:r>
              <a:rPr lang="en-US" altLang="en-US" sz="3000" b="1" dirty="0"/>
              <a:t>Implementing based on the architecture</a:t>
            </a:r>
          </a:p>
          <a:p>
            <a:pPr eaLnBrk="1" hangingPunct="1"/>
            <a:r>
              <a:rPr lang="en-US" altLang="en-US" sz="3000" b="1" dirty="0"/>
              <a:t>Ensuring conformance to an architecture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4C735C8-ED77-C9AA-1489-D1FFB176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228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+mn-lt"/>
              </a:rPr>
              <a:t>Creating the business case for the system</a:t>
            </a:r>
            <a:endParaRPr lang="en-GB" altLang="en-US" sz="3200" b="1" dirty="0">
              <a:latin typeface="+mn-lt"/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5F95CD82-13A7-7842-989B-FE1F87CAF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sz="3200" dirty="0"/>
              <a:t>It is simple to create a business case than understanding the needs of market</a:t>
            </a:r>
          </a:p>
          <a:p>
            <a:pPr eaLnBrk="1" hangingPunct="1"/>
            <a:r>
              <a:rPr lang="en-GB" altLang="en-US" sz="3200" dirty="0"/>
              <a:t>How much should be the product </a:t>
            </a:r>
            <a:r>
              <a:rPr lang="en-GB" altLang="en-US" sz="3200" b="1" dirty="0"/>
              <a:t>cost</a:t>
            </a:r>
            <a:r>
              <a:rPr lang="en-GB" altLang="en-US" sz="3200" dirty="0"/>
              <a:t>?</a:t>
            </a:r>
          </a:p>
          <a:p>
            <a:pPr eaLnBrk="1" hangingPunct="1"/>
            <a:r>
              <a:rPr lang="en-GB" altLang="en-US" sz="3200" dirty="0"/>
              <a:t>What is the </a:t>
            </a:r>
            <a:r>
              <a:rPr lang="en-GB" altLang="en-US" sz="3200" b="1" dirty="0"/>
              <a:t>Targeted market</a:t>
            </a:r>
            <a:r>
              <a:rPr lang="en-GB" altLang="en-US" sz="3200" dirty="0"/>
              <a:t>?</a:t>
            </a:r>
          </a:p>
          <a:p>
            <a:pPr eaLnBrk="1" hangingPunct="1"/>
            <a:r>
              <a:rPr lang="en-GB" altLang="en-US" sz="3200" dirty="0"/>
              <a:t>What is the targeted </a:t>
            </a:r>
            <a:r>
              <a:rPr lang="en-GB" altLang="en-US" sz="3200" b="1" dirty="0"/>
              <a:t>time</a:t>
            </a:r>
            <a:r>
              <a:rPr lang="en-GB" altLang="en-US" sz="3200" dirty="0"/>
              <a:t> to market?</a:t>
            </a:r>
          </a:p>
          <a:p>
            <a:pPr eaLnBrk="1" hangingPunct="1"/>
            <a:r>
              <a:rPr lang="en-GB" altLang="en-US" sz="3200" dirty="0"/>
              <a:t>Will it need to </a:t>
            </a:r>
            <a:r>
              <a:rPr lang="en-GB" altLang="en-US" sz="3200" b="1" dirty="0"/>
              <a:t>interface</a:t>
            </a:r>
            <a:r>
              <a:rPr lang="en-GB" altLang="en-US" sz="3200" dirty="0"/>
              <a:t> other system?</a:t>
            </a:r>
          </a:p>
          <a:p>
            <a:pPr eaLnBrk="1" hangingPunct="1"/>
            <a:r>
              <a:rPr lang="en-GB" altLang="en-US" sz="3200" dirty="0"/>
              <a:t>Are there system </a:t>
            </a:r>
            <a:r>
              <a:rPr lang="en-GB" altLang="en-US" sz="3200" b="1" dirty="0"/>
              <a:t>limitations</a:t>
            </a:r>
            <a:r>
              <a:rPr lang="en-GB" altLang="en-US" sz="2000" dirty="0"/>
              <a:t>?</a:t>
            </a:r>
          </a:p>
        </p:txBody>
      </p:sp>
      <p:sp>
        <p:nvSpPr>
          <p:cNvPr id="22533" name="Right Arrow 6">
            <a:hlinkClick r:id="rId2" action="ppaction://hlinksldjump"/>
            <a:extLst>
              <a:ext uri="{FF2B5EF4-FFF2-40B4-BE49-F238E27FC236}">
                <a16:creationId xmlns:a16="http://schemas.microsoft.com/office/drawing/2014/main" id="{33EBFE8D-15E0-E574-7E1E-681C5F81F019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594360" y="5486400"/>
            <a:ext cx="762000" cy="30480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EB1A76A-23C4-D3C9-8523-F8AC9EB3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+mn-lt"/>
              </a:rPr>
              <a:t>Understanding the requirements</a:t>
            </a:r>
            <a:r>
              <a:rPr lang="en-US" sz="3600" b="1" u="sng" dirty="0">
                <a:solidFill>
                  <a:srgbClr val="FF0000"/>
                </a:solidFill>
              </a:rPr>
              <a:t/>
            </a:r>
            <a:br>
              <a:rPr lang="en-US" sz="3600" b="1" u="sng" dirty="0">
                <a:solidFill>
                  <a:srgbClr val="FF0000"/>
                </a:solidFill>
              </a:rPr>
            </a:br>
            <a:endParaRPr lang="en-GB" sz="3600" b="1" u="sng" dirty="0">
              <a:solidFill>
                <a:srgbClr val="FF000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6C14D90-6918-602D-EABA-C24D6572A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67000"/>
          </a:xfrm>
        </p:spPr>
        <p:txBody>
          <a:bodyPr/>
          <a:lstStyle/>
          <a:p>
            <a:pPr eaLnBrk="1" hangingPunct="1"/>
            <a:r>
              <a:rPr lang="en-GB" altLang="en-US" dirty="0"/>
              <a:t>Object oriented analysis</a:t>
            </a:r>
            <a:r>
              <a:rPr lang="en-GB" altLang="en-US" sz="3600" dirty="0"/>
              <a:t> : </a:t>
            </a:r>
            <a:r>
              <a:rPr lang="en-GB" altLang="en-US" sz="2400" dirty="0"/>
              <a:t>use cases &amp; scenarios</a:t>
            </a:r>
          </a:p>
          <a:p>
            <a:pPr marL="0" indent="0" eaLnBrk="1" hangingPunct="1">
              <a:buNone/>
            </a:pPr>
            <a:r>
              <a:rPr lang="en-GB" altLang="en-US" sz="2800" dirty="0"/>
              <a:t> Safety Critical Systems:</a:t>
            </a:r>
          </a:p>
          <a:p>
            <a:pPr eaLnBrk="1" hangingPunct="1"/>
            <a:r>
              <a:rPr lang="en-GB" altLang="en-US" sz="2000" dirty="0"/>
              <a:t>Finite state machine models</a:t>
            </a:r>
          </a:p>
          <a:p>
            <a:pPr eaLnBrk="1" hangingPunct="1"/>
            <a:r>
              <a:rPr lang="en-GB" altLang="en-US" sz="2000" dirty="0"/>
              <a:t>Formal specification languages</a:t>
            </a:r>
          </a:p>
          <a:p>
            <a:pPr eaLnBrk="1" hangingPunct="1"/>
            <a:r>
              <a:rPr lang="en-GB" altLang="en-US" dirty="0"/>
              <a:t>Quality attributes</a:t>
            </a:r>
          </a:p>
          <a:p>
            <a:pPr eaLnBrk="1" hangingPunct="1"/>
            <a:r>
              <a:rPr lang="en-GB" altLang="en-US" dirty="0"/>
              <a:t>Prototypes</a:t>
            </a:r>
          </a:p>
          <a:p>
            <a:pPr marL="0" indent="0" eaLnBrk="1" hangingPunct="1">
              <a:buNone/>
            </a:pPr>
            <a:endParaRPr lang="en-GB" altLang="en-US" sz="3600" b="1" dirty="0"/>
          </a:p>
        </p:txBody>
      </p:sp>
      <p:sp>
        <p:nvSpPr>
          <p:cNvPr id="23557" name="Right Arrow 6">
            <a:hlinkClick r:id="rId2" action="ppaction://hlinksldjump"/>
            <a:extLst>
              <a:ext uri="{FF2B5EF4-FFF2-40B4-BE49-F238E27FC236}">
                <a16:creationId xmlns:a16="http://schemas.microsoft.com/office/drawing/2014/main" id="{B8E61528-C8DE-F5D4-7B2C-4656E8E1F7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6235" y="4419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01B15-517F-A508-4060-032B7EED2E8A}"/>
              </a:ext>
            </a:extLst>
          </p:cNvPr>
          <p:cNvSpPr txBox="1"/>
          <p:nvPr/>
        </p:nvSpPr>
        <p:spPr>
          <a:xfrm>
            <a:off x="628650" y="936626"/>
            <a:ext cx="68580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There are variety of techniques to understand requirements from stakeholders.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DD55B-B6E1-CD0F-A91B-981FAE36D3BE}"/>
              </a:ext>
            </a:extLst>
          </p:cNvPr>
          <p:cNvSpPr txBox="1"/>
          <p:nvPr/>
        </p:nvSpPr>
        <p:spPr>
          <a:xfrm>
            <a:off x="1255835" y="4157662"/>
            <a:ext cx="7620000" cy="1154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300" dirty="0">
                <a:latin typeface="+mn-lt"/>
              </a:rPr>
              <a:t>Regardless of technique used, -- </a:t>
            </a:r>
          </a:p>
          <a:p>
            <a:pPr>
              <a:defRPr/>
            </a:pPr>
            <a:r>
              <a:rPr lang="en-US" sz="2300" dirty="0">
                <a:latin typeface="+mn-lt"/>
              </a:rPr>
              <a:t>the </a:t>
            </a:r>
            <a:r>
              <a:rPr lang="en-US" sz="2300" u="sng" dirty="0">
                <a:latin typeface="+mn-lt"/>
              </a:rPr>
              <a:t>desired qualities of the system to be constructed     determine the shape of  architecture</a:t>
            </a:r>
            <a:r>
              <a:rPr lang="en-US" sz="2300" dirty="0">
                <a:latin typeface="+mn-lt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CC64DF04-5280-8F8A-DC4C-1A4C0170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01" y="681037"/>
            <a:ext cx="7886700" cy="1325563"/>
          </a:xfrm>
        </p:spPr>
        <p:txBody>
          <a:bodyPr/>
          <a:lstStyle/>
          <a:p>
            <a:r>
              <a:rPr lang="en-US" altLang="en-US" b="1" dirty="0">
                <a:latin typeface="+mn-lt"/>
              </a:rPr>
              <a:t>Creating or selecting the architecture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5FBE74F-235B-1A5A-E235-BDF99847E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Conceptual integrity</a:t>
            </a:r>
          </a:p>
          <a:p>
            <a:r>
              <a:rPr lang="en-US" altLang="en-US" sz="2800" dirty="0"/>
              <a:t>A small no. of minds coming together to design the system’s architecture.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26307A1D-8DBB-95D7-4CEF-D962AB8A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43914"/>
            <a:ext cx="7886700" cy="13255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+mn-lt"/>
              </a:rPr>
              <a:t>Communicating the architecture</a:t>
            </a:r>
            <a:r>
              <a:rPr lang="en-US" b="1" dirty="0"/>
              <a:t/>
            </a:r>
            <a:br>
              <a:rPr lang="en-US" b="1" dirty="0"/>
            </a:br>
            <a:endParaRPr lang="en-GB" b="1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E701F63B-A48B-0D07-A1AC-DB0F06333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71600"/>
            <a:ext cx="7543800" cy="41148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buFont typeface="Wingdings" pitchFamily="-18" charset="2"/>
              <a:buNone/>
              <a:defRPr/>
            </a:pPr>
            <a:r>
              <a:rPr lang="en-GB" dirty="0"/>
              <a:t>For effective architecture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It must be communicated clearly and unambiguously to all </a:t>
            </a:r>
            <a:r>
              <a:rPr lang="en-GB" b="1" dirty="0"/>
              <a:t>stakeholders</a:t>
            </a:r>
            <a:r>
              <a:rPr lang="en-GB" dirty="0"/>
              <a:t>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Developers must understand </a:t>
            </a:r>
            <a:r>
              <a:rPr lang="en-GB" b="1" dirty="0"/>
              <a:t>work assignments.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Testers must understand the </a:t>
            </a:r>
            <a:r>
              <a:rPr lang="en-GB" b="1" dirty="0"/>
              <a:t>task structures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Management must understand the </a:t>
            </a:r>
            <a:r>
              <a:rPr lang="en-GB" b="1" dirty="0"/>
              <a:t>scheduling implications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5605" name="Right Arrow 6">
            <a:hlinkClick r:id="rId2" action="ppaction://hlinksldjump"/>
            <a:extLst>
              <a:ext uri="{FF2B5EF4-FFF2-40B4-BE49-F238E27FC236}">
                <a16:creationId xmlns:a16="http://schemas.microsoft.com/office/drawing/2014/main" id="{AD2DAD16-70BA-03C9-8BD8-68FFBABDD0C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550" y="3934314"/>
            <a:ext cx="7620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BB1EE65-E6BF-052B-6A03-2733100E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latin typeface="+mn-lt"/>
              </a:rPr>
              <a:t>Analyzing or Evaluating the architecture</a:t>
            </a:r>
            <a:endParaRPr lang="en-GB" altLang="en-US" sz="3200" dirty="0">
              <a:latin typeface="+mn-lt"/>
            </a:endParaRP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BB3AC2AA-4BC0-B5F4-9125-9DEFDFD4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7696200" cy="4953000"/>
          </a:xfrm>
        </p:spPr>
        <p:txBody>
          <a:bodyPr/>
          <a:lstStyle/>
          <a:p>
            <a:pPr algn="just" eaLnBrk="1" hangingPunct="1"/>
            <a:r>
              <a:rPr lang="en-GB" altLang="en-US" dirty="0"/>
              <a:t>Out of multiple designs, after analysing, some design will be </a:t>
            </a:r>
            <a:r>
              <a:rPr lang="en-GB" altLang="en-US" b="1" dirty="0"/>
              <a:t>accepted or some are rejected.</a:t>
            </a:r>
          </a:p>
          <a:p>
            <a:pPr algn="just" eaLnBrk="1" hangingPunct="1"/>
            <a:r>
              <a:rPr lang="en-GB" altLang="en-US" dirty="0"/>
              <a:t>Evaluating an architecture for the qualities it supports is essential to ensure the  stakeholders satisfaction (needs).</a:t>
            </a:r>
          </a:p>
          <a:p>
            <a:pPr algn="just" eaLnBrk="1" hangingPunct="1"/>
            <a:r>
              <a:rPr lang="en-GB" altLang="en-US" dirty="0"/>
              <a:t>Scenario- based techniques are for evaluation of architecture.</a:t>
            </a:r>
          </a:p>
          <a:p>
            <a:pPr algn="just" eaLnBrk="1" hangingPunct="1"/>
            <a:endParaRPr lang="en-GB" altLang="en-US" sz="4000" b="1" dirty="0"/>
          </a:p>
          <a:p>
            <a:pPr algn="just" eaLnBrk="1" hangingPunct="1"/>
            <a:endParaRPr lang="en-GB" altLang="en-US" b="1" dirty="0"/>
          </a:p>
          <a:p>
            <a:pPr algn="just" eaLnBrk="1" hangingPunct="1"/>
            <a:endParaRPr lang="en-GB" altLang="en-US" b="1" dirty="0"/>
          </a:p>
        </p:txBody>
      </p:sp>
      <p:sp>
        <p:nvSpPr>
          <p:cNvPr id="26629" name="Right Arrow 6">
            <a:hlinkClick r:id="rId2" action="ppaction://hlinksldjump"/>
            <a:extLst>
              <a:ext uri="{FF2B5EF4-FFF2-40B4-BE49-F238E27FC236}">
                <a16:creationId xmlns:a16="http://schemas.microsoft.com/office/drawing/2014/main" id="{002C391D-A0D7-C88A-F7D7-0F817ED7171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8650" y="3498752"/>
            <a:ext cx="609600" cy="381000"/>
          </a:xfrm>
          <a:prstGeom prst="rightArrow">
            <a:avLst>
              <a:gd name="adj1" fmla="val 50000"/>
              <a:gd name="adj2" fmla="val 6329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14CFBE-435D-CADC-D0DD-EE7DE23DA3FD}"/>
              </a:ext>
            </a:extLst>
          </p:cNvPr>
          <p:cNvSpPr txBox="1"/>
          <p:nvPr/>
        </p:nvSpPr>
        <p:spPr>
          <a:xfrm>
            <a:off x="685800" y="457200"/>
            <a:ext cx="8458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6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Implementing based on the architecture</a:t>
            </a:r>
            <a:endParaRPr lang="en-US" sz="3600" u="sng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67470-B819-0913-1E7A-BF0D34E1E909}"/>
              </a:ext>
            </a:extLst>
          </p:cNvPr>
          <p:cNvSpPr txBox="1"/>
          <p:nvPr/>
        </p:nvSpPr>
        <p:spPr>
          <a:xfrm>
            <a:off x="838200" y="1295400"/>
            <a:ext cx="7543800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Concerned with keeping the developers faithful to the structures.</a:t>
            </a:r>
          </a:p>
          <a:p>
            <a:pPr>
              <a:defRPr/>
            </a:pPr>
            <a:r>
              <a:rPr lang="en-US" sz="2400" dirty="0">
                <a:latin typeface="+mn-lt"/>
              </a:rPr>
              <a:t>Should have an environment that assists developers in creating the  architecture.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079A4E-7912-AB69-CF82-02D4B64DD9FB}"/>
              </a:ext>
            </a:extLst>
          </p:cNvPr>
          <p:cNvSpPr/>
          <p:nvPr/>
        </p:nvSpPr>
        <p:spPr>
          <a:xfrm>
            <a:off x="723900" y="3187700"/>
            <a:ext cx="807720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Ensuring conformance to an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25616-4EAC-E831-DBC8-2424200F9F63}"/>
              </a:ext>
            </a:extLst>
          </p:cNvPr>
          <p:cNvSpPr txBox="1"/>
          <p:nvPr/>
        </p:nvSpPr>
        <p:spPr>
          <a:xfrm>
            <a:off x="838200" y="3733800"/>
            <a:ext cx="7696200" cy="2031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/>
              <a:t>   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Finally, when an architecture is created and used, it goes into maintenance phase. </a:t>
            </a:r>
          </a:p>
          <a:p>
            <a:pPr>
              <a:defRPr/>
            </a:pPr>
            <a:r>
              <a:rPr lang="en-US" sz="2400" dirty="0">
                <a:latin typeface="+mn-lt"/>
              </a:rPr>
              <a:t>   Constant vigilance is required to ensure that actual architecture and its implementations remain faithful to each other</a:t>
            </a:r>
            <a:r>
              <a:rPr lang="en-US" sz="3000" dirty="0">
                <a:latin typeface="+mn-l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5FD888-DE68-DAC1-2A8F-2332973021EC}"/>
              </a:ext>
            </a:extLst>
          </p:cNvPr>
          <p:cNvSpPr txBox="1"/>
          <p:nvPr/>
        </p:nvSpPr>
        <p:spPr>
          <a:xfrm>
            <a:off x="685800" y="990600"/>
            <a:ext cx="8001000" cy="430887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+mn-lt"/>
              </a:rPr>
              <a:t> </a:t>
            </a:r>
            <a:r>
              <a:rPr lang="en-US" sz="3000" dirty="0"/>
              <a:t>Given the same technical requirements for a system, two different architects in two diff. </a:t>
            </a:r>
            <a:r>
              <a:rPr lang="en-US" sz="3000" dirty="0" err="1"/>
              <a:t>organisations</a:t>
            </a:r>
            <a:r>
              <a:rPr lang="en-US" sz="3000" dirty="0"/>
              <a:t>, will produce different architectures. </a:t>
            </a:r>
          </a:p>
          <a:p>
            <a:pPr>
              <a:defRPr/>
            </a:pPr>
            <a:r>
              <a:rPr lang="en-US" sz="3200" dirty="0">
                <a:solidFill>
                  <a:srgbClr val="FF0000"/>
                </a:solidFill>
              </a:rPr>
              <a:t>  Then how to decide which is right one ?              </a:t>
            </a:r>
            <a:r>
              <a:rPr lang="en-US" sz="3000" dirty="0"/>
              <a:t>Rules of thumb/observations that should be followed when designing an architecture.</a:t>
            </a:r>
            <a:endParaRPr lang="en-US" sz="3200" dirty="0"/>
          </a:p>
          <a:p>
            <a:pPr>
              <a:defRPr/>
            </a:pPr>
            <a:r>
              <a:rPr lang="en-US" sz="2900" dirty="0"/>
              <a:t>These are </a:t>
            </a:r>
            <a:r>
              <a:rPr lang="en-US" sz="2900" u="sng" dirty="0">
                <a:solidFill>
                  <a:srgbClr val="FF0000"/>
                </a:solidFill>
              </a:rPr>
              <a:t>divided into two clusters:</a:t>
            </a:r>
            <a:endParaRPr lang="en-US" sz="2900" dirty="0"/>
          </a:p>
          <a:p>
            <a:pPr marL="514350" indent="-514350">
              <a:buFontTx/>
              <a:buAutoNum type="arabicPeriod"/>
              <a:defRPr/>
            </a:pPr>
            <a:r>
              <a:rPr lang="en-US" sz="2900" u="sng" dirty="0">
                <a:solidFill>
                  <a:srgbClr val="FF0000"/>
                </a:solidFill>
              </a:rPr>
              <a:t>Process recommendations</a:t>
            </a:r>
          </a:p>
          <a:p>
            <a:pPr marL="514350" indent="-514350">
              <a:defRPr/>
            </a:pPr>
            <a:r>
              <a:rPr lang="en-US" sz="2900" dirty="0">
                <a:solidFill>
                  <a:srgbClr val="FF0000"/>
                </a:solidFill>
              </a:rPr>
              <a:t>2.  </a:t>
            </a:r>
            <a:r>
              <a:rPr lang="en-US" sz="2900" u="sng" dirty="0">
                <a:solidFill>
                  <a:srgbClr val="FF0000"/>
                </a:solidFill>
              </a:rPr>
              <a:t>Product(structural) recommendations</a:t>
            </a:r>
            <a:r>
              <a:rPr lang="en-US" sz="3200" u="sng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EEDCB-D753-B0F8-E77F-9524A20601AD}"/>
              </a:ext>
            </a:extLst>
          </p:cNvPr>
          <p:cNvSpPr txBox="1"/>
          <p:nvPr/>
        </p:nvSpPr>
        <p:spPr>
          <a:xfrm>
            <a:off x="685800" y="381000"/>
            <a:ext cx="8077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Makes a ‘Good’ Architectural Process?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5B9A4253-7145-784C-E339-7730CDBF51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304800"/>
            <a:ext cx="8686800" cy="62484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     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recommendations are:(The architecture) </a:t>
            </a:r>
          </a:p>
          <a:p>
            <a:pPr eaLnBrk="1" hangingPunct="1"/>
            <a:r>
              <a:rPr lang="en-US" altLang="en-US" sz="2800" dirty="0"/>
              <a:t>be product of a single architect or small group of architects.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gather</a:t>
            </a:r>
            <a:r>
              <a:rPr lang="en-US" altLang="en-US" sz="2800" dirty="0"/>
              <a:t> both the functional requirements and a well specified, prioritized list of quality attributes.</a:t>
            </a:r>
          </a:p>
          <a:p>
            <a:pPr eaLnBrk="1" hangingPunct="1"/>
            <a:r>
              <a:rPr lang="en-US" altLang="en-US" sz="2800" dirty="0"/>
              <a:t>be </a:t>
            </a:r>
            <a:r>
              <a:rPr lang="en-US" altLang="en-US" sz="2800" dirty="0">
                <a:solidFill>
                  <a:srgbClr val="FF0000"/>
                </a:solidFill>
              </a:rPr>
              <a:t>well documented</a:t>
            </a:r>
            <a:r>
              <a:rPr lang="en-US" altLang="en-US" sz="2800" dirty="0"/>
              <a:t>, with at least one static view and one dynamic view.</a:t>
            </a:r>
          </a:p>
          <a:p>
            <a:pPr eaLnBrk="1" hangingPunct="1"/>
            <a:r>
              <a:rPr lang="en-US" altLang="en-US" sz="2800" dirty="0"/>
              <a:t>be</a:t>
            </a:r>
            <a:r>
              <a:rPr lang="en-US" altLang="en-US" sz="2800" dirty="0">
                <a:solidFill>
                  <a:srgbClr val="FF0000"/>
                </a:solidFill>
              </a:rPr>
              <a:t> reviewed </a:t>
            </a:r>
            <a:r>
              <a:rPr lang="en-US" altLang="en-US" sz="2800" dirty="0"/>
              <a:t>by the system’s stakeholders.</a:t>
            </a:r>
          </a:p>
          <a:p>
            <a:pPr eaLnBrk="1" hangingPunct="1"/>
            <a:r>
              <a:rPr lang="en-US" altLang="en-US" sz="2800" dirty="0"/>
              <a:t>be analyzed for applicable quantitative measures and formally evaluated for quality measures.</a:t>
            </a:r>
          </a:p>
          <a:p>
            <a:pPr eaLnBrk="1" hangingPunct="1"/>
            <a:r>
              <a:rPr lang="en-US" altLang="en-US" sz="2800" dirty="0"/>
              <a:t>develop a “skeletal” system to facilitate incremental implementation.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B598722-42EB-8264-EA27-81508B2E1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37" y="342900"/>
            <a:ext cx="7086600" cy="6858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The structural rules of thumb are:</a:t>
            </a:r>
            <a:endParaRPr lang="en-US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BDE7BA-DC0D-2578-32C1-91933C1CC4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2900" y="1219200"/>
            <a:ext cx="8458200" cy="4953000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The architecture should feature </a:t>
            </a:r>
            <a:r>
              <a:rPr lang="en-US" altLang="en-US" sz="2800" dirty="0">
                <a:solidFill>
                  <a:srgbClr val="FF0000"/>
                </a:solidFill>
              </a:rPr>
              <a:t>well-defined modules </a:t>
            </a:r>
            <a:r>
              <a:rPr lang="en-US" altLang="en-US" sz="2800" dirty="0"/>
              <a:t>based on the principles of information hiding and separation of concerns.</a:t>
            </a:r>
          </a:p>
          <a:p>
            <a:pPr algn="just" eaLnBrk="1" hangingPunct="1"/>
            <a:r>
              <a:rPr lang="en-US" altLang="en-US" sz="2800" dirty="0"/>
              <a:t>Each module should have a well-defined </a:t>
            </a:r>
            <a:r>
              <a:rPr lang="en-US" altLang="en-US" sz="2800" dirty="0">
                <a:solidFill>
                  <a:srgbClr val="FF0000"/>
                </a:solidFill>
              </a:rPr>
              <a:t>interface</a:t>
            </a:r>
            <a:r>
              <a:rPr lang="en-US" altLang="en-US" sz="2800" dirty="0"/>
              <a:t> that hides changeable aspects.</a:t>
            </a:r>
          </a:p>
          <a:p>
            <a:pPr algn="just" eaLnBrk="1" hangingPunct="1"/>
            <a:r>
              <a:rPr lang="en-US" altLang="en-US" sz="2800" dirty="0">
                <a:solidFill>
                  <a:srgbClr val="FF0000"/>
                </a:solidFill>
              </a:rPr>
              <a:t>Quality attributes</a:t>
            </a:r>
            <a:r>
              <a:rPr lang="en-US" altLang="en-US" sz="2800" dirty="0"/>
              <a:t> should be achieved using well-know architectural </a:t>
            </a:r>
            <a:r>
              <a:rPr lang="en-US" altLang="en-US" sz="2800" dirty="0">
                <a:solidFill>
                  <a:srgbClr val="FF0000"/>
                </a:solidFill>
              </a:rPr>
              <a:t>tactics</a:t>
            </a:r>
            <a:r>
              <a:rPr lang="en-US" altLang="en-US" sz="2800" dirty="0"/>
              <a:t>.</a:t>
            </a:r>
          </a:p>
          <a:p>
            <a:pPr algn="just" eaLnBrk="1" hangingPunct="1"/>
            <a:r>
              <a:rPr lang="en-US" altLang="en-US" sz="2800" dirty="0"/>
              <a:t>The architecture should be </a:t>
            </a:r>
            <a:r>
              <a:rPr lang="en-US" altLang="en-US" sz="2800" dirty="0">
                <a:solidFill>
                  <a:srgbClr val="FF0000"/>
                </a:solidFill>
              </a:rPr>
              <a:t>independent</a:t>
            </a:r>
            <a:r>
              <a:rPr lang="en-US" altLang="en-US" sz="2800" dirty="0"/>
              <a:t> of particular </a:t>
            </a:r>
            <a:r>
              <a:rPr lang="en-US" altLang="en-US" sz="2800" dirty="0">
                <a:solidFill>
                  <a:srgbClr val="FF0000"/>
                </a:solidFill>
              </a:rPr>
              <a:t>versions</a:t>
            </a:r>
            <a:r>
              <a:rPr lang="en-US" altLang="en-US" sz="2800" dirty="0"/>
              <a:t> of commercial products or tools.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/>
              <a:t>Modules that produce data should be separate from modules that consume data.</a:t>
            </a:r>
          </a:p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28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71009" y="2630906"/>
            <a:ext cx="3439160" cy="387985"/>
          </a:xfrm>
          <a:custGeom>
            <a:avLst/>
            <a:gdLst/>
            <a:ahLst/>
            <a:cxnLst/>
            <a:rect l="l" t="t" r="r" b="b"/>
            <a:pathLst>
              <a:path w="3439159" h="387985">
                <a:moveTo>
                  <a:pt x="3438601" y="0"/>
                </a:moveTo>
                <a:lnTo>
                  <a:pt x="0" y="0"/>
                </a:lnTo>
                <a:lnTo>
                  <a:pt x="0" y="387400"/>
                </a:lnTo>
                <a:lnTo>
                  <a:pt x="3438601" y="387400"/>
                </a:lnTo>
                <a:lnTo>
                  <a:pt x="3438601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28847" y="87283"/>
            <a:ext cx="8761614" cy="6567054"/>
            <a:chOff x="128847" y="87283"/>
            <a:chExt cx="8761614" cy="65670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847" y="719051"/>
              <a:ext cx="8761614" cy="59352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9608" y="745411"/>
              <a:ext cx="8660130" cy="5835650"/>
            </a:xfrm>
            <a:custGeom>
              <a:avLst/>
              <a:gdLst/>
              <a:ahLst/>
              <a:cxnLst/>
              <a:rect l="l" t="t" r="r" b="b"/>
              <a:pathLst>
                <a:path w="8660130" h="5835650">
                  <a:moveTo>
                    <a:pt x="8659696" y="0"/>
                  </a:moveTo>
                  <a:lnTo>
                    <a:pt x="0" y="0"/>
                  </a:lnTo>
                  <a:lnTo>
                    <a:pt x="0" y="5835189"/>
                  </a:lnTo>
                  <a:lnTo>
                    <a:pt x="8659696" y="5835189"/>
                  </a:lnTo>
                  <a:lnTo>
                    <a:pt x="86596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9608" y="745411"/>
              <a:ext cx="8660130" cy="5835650"/>
            </a:xfrm>
            <a:custGeom>
              <a:avLst/>
              <a:gdLst/>
              <a:ahLst/>
              <a:cxnLst/>
              <a:rect l="l" t="t" r="r" b="b"/>
              <a:pathLst>
                <a:path w="8660130" h="5835650">
                  <a:moveTo>
                    <a:pt x="0" y="0"/>
                  </a:moveTo>
                  <a:lnTo>
                    <a:pt x="8659695" y="0"/>
                  </a:lnTo>
                  <a:lnTo>
                    <a:pt x="8659695" y="5835188"/>
                  </a:lnTo>
                  <a:lnTo>
                    <a:pt x="0" y="58351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8548" y="87283"/>
              <a:ext cx="3295996" cy="6567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89198" y="115449"/>
              <a:ext cx="3194685" cy="553085"/>
            </a:xfrm>
            <a:custGeom>
              <a:avLst/>
              <a:gdLst/>
              <a:ahLst/>
              <a:cxnLst/>
              <a:rect l="l" t="t" r="r" b="b"/>
              <a:pathLst>
                <a:path w="3194685" h="553085">
                  <a:moveTo>
                    <a:pt x="3194465" y="0"/>
                  </a:moveTo>
                  <a:lnTo>
                    <a:pt x="0" y="0"/>
                  </a:lnTo>
                  <a:lnTo>
                    <a:pt x="0" y="552994"/>
                  </a:lnTo>
                  <a:lnTo>
                    <a:pt x="3194465" y="552994"/>
                  </a:lnTo>
                  <a:lnTo>
                    <a:pt x="3194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89198" y="115449"/>
              <a:ext cx="3194685" cy="553085"/>
            </a:xfrm>
            <a:custGeom>
              <a:avLst/>
              <a:gdLst/>
              <a:ahLst/>
              <a:cxnLst/>
              <a:rect l="l" t="t" r="r" b="b"/>
              <a:pathLst>
                <a:path w="3194685" h="553085">
                  <a:moveTo>
                    <a:pt x="0" y="0"/>
                  </a:moveTo>
                  <a:lnTo>
                    <a:pt x="3194465" y="0"/>
                  </a:lnTo>
                  <a:lnTo>
                    <a:pt x="3194465" y="552994"/>
                  </a:lnTo>
                  <a:lnTo>
                    <a:pt x="0" y="5529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2143" y="28347"/>
            <a:ext cx="27038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</a:t>
            </a:r>
            <a:r>
              <a:rPr sz="4000" spc="-5" dirty="0"/>
              <a:t>omponent</a:t>
            </a:r>
            <a:r>
              <a:rPr sz="4000" dirty="0"/>
              <a:t>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8348" y="778431"/>
            <a:ext cx="8451850" cy="550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4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software</a:t>
            </a:r>
            <a:r>
              <a:rPr sz="2400" b="1" dirty="0">
                <a:latin typeface="Calibri"/>
                <a:cs typeface="Calibri"/>
              </a:rPr>
              <a:t> component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an</a:t>
            </a:r>
            <a:r>
              <a:rPr sz="2400" spc="-5" dirty="0">
                <a:latin typeface="Calibri"/>
                <a:cs typeface="Calibri"/>
              </a:rPr>
              <a:t> architectural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 </a:t>
            </a:r>
            <a:r>
              <a:rPr sz="2400" dirty="0">
                <a:latin typeface="Calibri"/>
                <a:cs typeface="Calibri"/>
              </a:rPr>
              <a:t>that</a:t>
            </a:r>
          </a:p>
          <a:p>
            <a:pPr marL="355600" indent="-342900">
              <a:lnSpc>
                <a:spcPts val="284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encapsulates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subset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system’s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functionality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and/or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restricts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access</a:t>
            </a:r>
            <a:r>
              <a:rPr sz="2400" dirty="0">
                <a:latin typeface="Calibri"/>
                <a:cs typeface="Calibri"/>
              </a:rPr>
              <a:t> to that subset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 an explicitly </a:t>
            </a:r>
            <a:r>
              <a:rPr sz="2400" spc="-5" dirty="0">
                <a:latin typeface="Calibri"/>
                <a:cs typeface="Calibri"/>
              </a:rPr>
              <a:t>defined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interface</a:t>
            </a:r>
            <a:endParaRPr sz="2400" dirty="0">
              <a:latin typeface="Calibri"/>
              <a:cs typeface="Calibri"/>
            </a:endParaRPr>
          </a:p>
          <a:p>
            <a:pPr marL="354965" marR="523240" indent="-342900">
              <a:lnSpc>
                <a:spcPct val="100699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has explicitly </a:t>
            </a:r>
            <a:r>
              <a:rPr sz="2400" spc="-5" dirty="0">
                <a:latin typeface="Calibri"/>
                <a:cs typeface="Calibri"/>
              </a:rPr>
              <a:t>defined </a:t>
            </a:r>
            <a:r>
              <a:rPr sz="2400" dirty="0">
                <a:latin typeface="Calibri"/>
                <a:cs typeface="Calibri"/>
              </a:rPr>
              <a:t>dependencies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spc="-5" dirty="0">
                <a:latin typeface="Calibri"/>
                <a:cs typeface="Calibri"/>
              </a:rPr>
              <a:t>required execution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context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Components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typically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provide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application-specific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services.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Calibri"/>
                <a:cs typeface="Calibri"/>
              </a:rPr>
              <a:t>Types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of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components</a:t>
            </a:r>
            <a:endParaRPr sz="2400" dirty="0">
              <a:latin typeface="Calibri"/>
              <a:cs typeface="Calibri"/>
            </a:endParaRPr>
          </a:p>
          <a:p>
            <a:pPr marL="12700" marR="254000">
              <a:lnSpc>
                <a:spcPct val="100699"/>
              </a:lnSpc>
              <a:buFont typeface="Wingdings"/>
              <a:buChar char=""/>
              <a:tabLst>
                <a:tab pos="323850" algn="l"/>
              </a:tabLst>
            </a:pPr>
            <a:r>
              <a:rPr sz="2400" b="1" spc="-5" dirty="0">
                <a:latin typeface="Calibri"/>
                <a:cs typeface="Calibri"/>
              </a:rPr>
              <a:t>computational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does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computation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sort.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E.g.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function,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filter 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12700" marR="6985">
              <a:lnSpc>
                <a:spcPts val="2800"/>
              </a:lnSpc>
              <a:spcBef>
                <a:spcPts val="180"/>
              </a:spcBef>
              <a:buFont typeface="Wingdings"/>
              <a:buChar char=""/>
              <a:tabLst>
                <a:tab pos="323850" algn="l"/>
              </a:tabLst>
            </a:pPr>
            <a:r>
              <a:rPr sz="2400" b="1" spc="-5" dirty="0">
                <a:latin typeface="Calibri"/>
                <a:cs typeface="Calibri"/>
              </a:rPr>
              <a:t>memory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maintains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collection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persistent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E.g.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 system,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symbol</a:t>
            </a:r>
            <a:r>
              <a:rPr sz="2400" dirty="0">
                <a:latin typeface="Calibri"/>
                <a:cs typeface="Calibri"/>
              </a:rPr>
              <a:t> table.</a:t>
            </a:r>
          </a:p>
          <a:p>
            <a:pPr marL="12700" marR="161925">
              <a:lnSpc>
                <a:spcPts val="2900"/>
              </a:lnSpc>
              <a:spcBef>
                <a:spcPts val="20"/>
              </a:spcBef>
              <a:buFont typeface="Wingdings"/>
              <a:buChar char=""/>
              <a:tabLst>
                <a:tab pos="323850" algn="l"/>
              </a:tabLst>
            </a:pPr>
            <a:r>
              <a:rPr sz="2400" b="1" spc="-5" dirty="0">
                <a:latin typeface="Calibri"/>
                <a:cs typeface="Calibri"/>
              </a:rPr>
              <a:t>manager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contains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 + </a:t>
            </a:r>
            <a:r>
              <a:rPr sz="2400" spc="-5" dirty="0">
                <a:latin typeface="Calibri"/>
                <a:cs typeface="Calibri"/>
              </a:rPr>
              <a:t>operations.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 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retained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between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invocations 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operations.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E.g.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server.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ts val="2800"/>
              </a:lnSpc>
              <a:buFont typeface="Wingdings"/>
              <a:buChar char=""/>
              <a:tabLst>
                <a:tab pos="323850" algn="l"/>
              </a:tabLst>
            </a:pPr>
            <a:r>
              <a:rPr sz="2400" b="1" spc="-5" dirty="0">
                <a:latin typeface="Calibri"/>
                <a:cs typeface="Calibri"/>
              </a:rPr>
              <a:t>controller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governs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events.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E.g.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control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module,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358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9610" y="3070085"/>
            <a:ext cx="1018540" cy="387985"/>
          </a:xfrm>
          <a:custGeom>
            <a:avLst/>
            <a:gdLst/>
            <a:ahLst/>
            <a:cxnLst/>
            <a:rect l="l" t="t" r="r" b="b"/>
            <a:pathLst>
              <a:path w="1018539" h="387985">
                <a:moveTo>
                  <a:pt x="1018425" y="0"/>
                </a:moveTo>
                <a:lnTo>
                  <a:pt x="0" y="0"/>
                </a:lnTo>
                <a:lnTo>
                  <a:pt x="0" y="387400"/>
                </a:lnTo>
                <a:lnTo>
                  <a:pt x="1018425" y="387400"/>
                </a:lnTo>
                <a:lnTo>
                  <a:pt x="1018425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28198" y="2714485"/>
            <a:ext cx="4546600" cy="387985"/>
          </a:xfrm>
          <a:custGeom>
            <a:avLst/>
            <a:gdLst/>
            <a:ahLst/>
            <a:cxnLst/>
            <a:rect l="l" t="t" r="r" b="b"/>
            <a:pathLst>
              <a:path w="4546600" h="387985">
                <a:moveTo>
                  <a:pt x="4546485" y="0"/>
                </a:moveTo>
                <a:lnTo>
                  <a:pt x="0" y="0"/>
                </a:lnTo>
                <a:lnTo>
                  <a:pt x="0" y="387400"/>
                </a:lnTo>
                <a:lnTo>
                  <a:pt x="4546485" y="387400"/>
                </a:lnTo>
                <a:lnTo>
                  <a:pt x="4546485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785" y="170410"/>
            <a:ext cx="8853054" cy="6059978"/>
            <a:chOff x="153785" y="170410"/>
            <a:chExt cx="8853054" cy="6059978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85" y="802177"/>
              <a:ext cx="8853054" cy="54282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5266" y="828992"/>
              <a:ext cx="8749665" cy="5328920"/>
            </a:xfrm>
            <a:custGeom>
              <a:avLst/>
              <a:gdLst/>
              <a:ahLst/>
              <a:cxnLst/>
              <a:rect l="l" t="t" r="r" b="b"/>
              <a:pathLst>
                <a:path w="8749665" h="5328920">
                  <a:moveTo>
                    <a:pt x="8749501" y="0"/>
                  </a:moveTo>
                  <a:lnTo>
                    <a:pt x="0" y="0"/>
                  </a:lnTo>
                  <a:lnTo>
                    <a:pt x="0" y="5328295"/>
                  </a:lnTo>
                  <a:lnTo>
                    <a:pt x="8749501" y="5328295"/>
                  </a:lnTo>
                  <a:lnTo>
                    <a:pt x="87495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5266" y="828992"/>
              <a:ext cx="8749665" cy="5328920"/>
            </a:xfrm>
            <a:custGeom>
              <a:avLst/>
              <a:gdLst/>
              <a:ahLst/>
              <a:cxnLst/>
              <a:rect l="l" t="t" r="r" b="b"/>
              <a:pathLst>
                <a:path w="8749665" h="5328920">
                  <a:moveTo>
                    <a:pt x="0" y="0"/>
                  </a:moveTo>
                  <a:lnTo>
                    <a:pt x="8749500" y="0"/>
                  </a:lnTo>
                  <a:lnTo>
                    <a:pt x="8749500" y="5328294"/>
                  </a:lnTo>
                  <a:lnTo>
                    <a:pt x="0" y="53282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5708" y="170410"/>
              <a:ext cx="3158836" cy="6359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24200" y="196851"/>
              <a:ext cx="3060065" cy="534670"/>
            </a:xfrm>
            <a:custGeom>
              <a:avLst/>
              <a:gdLst/>
              <a:ahLst/>
              <a:cxnLst/>
              <a:rect l="l" t="t" r="r" b="b"/>
              <a:pathLst>
                <a:path w="3060065" h="534670">
                  <a:moveTo>
                    <a:pt x="3059465" y="0"/>
                  </a:moveTo>
                  <a:lnTo>
                    <a:pt x="0" y="0"/>
                  </a:lnTo>
                  <a:lnTo>
                    <a:pt x="0" y="534327"/>
                  </a:lnTo>
                  <a:lnTo>
                    <a:pt x="3059465" y="534327"/>
                  </a:lnTo>
                  <a:lnTo>
                    <a:pt x="3059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24199" y="196851"/>
              <a:ext cx="3060065" cy="534670"/>
            </a:xfrm>
            <a:custGeom>
              <a:avLst/>
              <a:gdLst/>
              <a:ahLst/>
              <a:cxnLst/>
              <a:rect l="l" t="t" r="r" b="b"/>
              <a:pathLst>
                <a:path w="3060065" h="534670">
                  <a:moveTo>
                    <a:pt x="0" y="0"/>
                  </a:moveTo>
                  <a:lnTo>
                    <a:pt x="3059465" y="0"/>
                  </a:lnTo>
                  <a:lnTo>
                    <a:pt x="3059465" y="534327"/>
                  </a:lnTo>
                  <a:lnTo>
                    <a:pt x="0" y="53432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68038" y="79659"/>
            <a:ext cx="24110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</a:t>
            </a:r>
            <a:r>
              <a:rPr sz="4000" spc="-5" dirty="0"/>
              <a:t>onnectors</a:t>
            </a:r>
            <a:endParaRPr sz="4000"/>
          </a:p>
        </p:txBody>
      </p:sp>
      <p:sp>
        <p:nvSpPr>
          <p:cNvPr id="13" name="object 13"/>
          <p:cNvSpPr txBox="1"/>
          <p:nvPr/>
        </p:nvSpPr>
        <p:spPr>
          <a:xfrm>
            <a:off x="284006" y="862012"/>
            <a:ext cx="8519160" cy="51409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92100" marR="36195" indent="-279400">
              <a:lnSpc>
                <a:spcPts val="2800"/>
              </a:lnSpc>
              <a:spcBef>
                <a:spcPts val="260"/>
              </a:spcBef>
              <a:buFont typeface="Wingdings"/>
              <a:buChar char=""/>
              <a:tabLst>
                <a:tab pos="29845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spc="-15" dirty="0">
                <a:latin typeface="Calibri"/>
                <a:cs typeface="Calibri"/>
              </a:rPr>
              <a:t>software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connector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architectural</a:t>
            </a:r>
            <a:r>
              <a:rPr sz="2400" dirty="0">
                <a:latin typeface="Calibri"/>
                <a:cs typeface="Calibri"/>
              </a:rPr>
              <a:t> building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,regulating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interactions</a:t>
            </a:r>
            <a:r>
              <a:rPr sz="2400" spc="-5" dirty="0">
                <a:latin typeface="Calibri"/>
                <a:cs typeface="Calibri"/>
              </a:rPr>
              <a:t> among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components.</a:t>
            </a:r>
            <a:endParaRPr sz="2400" dirty="0">
              <a:latin typeface="Calibri"/>
              <a:cs typeface="Calibri"/>
            </a:endParaRPr>
          </a:p>
          <a:p>
            <a:pPr marL="355600" marR="1129665" indent="-342900">
              <a:lnSpc>
                <a:spcPts val="2900"/>
              </a:lnSpc>
              <a:spcBef>
                <a:spcPts val="2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many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systems,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connectors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usually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simple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procedure </a:t>
            </a:r>
            <a:r>
              <a:rPr sz="2400" dirty="0">
                <a:latin typeface="Calibri"/>
                <a:cs typeface="Calibri"/>
              </a:rPr>
              <a:t>calls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shared</a:t>
            </a:r>
            <a:r>
              <a:rPr sz="2400" dirty="0">
                <a:latin typeface="Calibri"/>
                <a:cs typeface="Calibri"/>
              </a:rPr>
              <a:t> data </a:t>
            </a:r>
            <a:r>
              <a:rPr sz="2400" spc="-5" dirty="0">
                <a:latin typeface="Calibri"/>
                <a:cs typeface="Calibri"/>
              </a:rPr>
              <a:t>accesses</a:t>
            </a:r>
            <a:endParaRPr sz="2400" dirty="0">
              <a:latin typeface="Calibri"/>
              <a:cs typeface="Calibri"/>
            </a:endParaRPr>
          </a:p>
          <a:p>
            <a:pPr marL="598170" lvl="1" indent="-243204">
              <a:lnSpc>
                <a:spcPts val="2800"/>
              </a:lnSpc>
              <a:buSzPct val="95833"/>
              <a:buFont typeface="Wingdings"/>
              <a:buChar char=""/>
              <a:tabLst>
                <a:tab pos="598805" algn="l"/>
              </a:tabLst>
            </a:pPr>
            <a:r>
              <a:rPr sz="2400" dirty="0">
                <a:latin typeface="Calibri"/>
                <a:cs typeface="Calibri"/>
              </a:rPr>
              <a:t>Much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sophisticated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complex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connectors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possible!</a:t>
            </a:r>
            <a:endParaRPr sz="2400" dirty="0">
              <a:latin typeface="Calibri"/>
              <a:cs typeface="Calibri"/>
            </a:endParaRPr>
          </a:p>
          <a:p>
            <a:pPr marL="355600" marR="88900" indent="-342900">
              <a:lnSpc>
                <a:spcPts val="2800"/>
              </a:lnSpc>
              <a:spcBef>
                <a:spcPts val="1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Connectors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typically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provide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application-independent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interaction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facilities.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820"/>
              </a:lnSpc>
            </a:pPr>
            <a:r>
              <a:rPr sz="2400" b="1" spc="-5" dirty="0">
                <a:latin typeface="Calibri"/>
                <a:cs typeface="Calibri"/>
              </a:rPr>
              <a:t>Types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connectors:</a:t>
            </a:r>
            <a:endParaRPr sz="2400" dirty="0">
              <a:latin typeface="Calibri"/>
              <a:cs typeface="Calibri"/>
            </a:endParaRPr>
          </a:p>
          <a:p>
            <a:pPr marL="521970" lvl="1" indent="-243204">
              <a:lnSpc>
                <a:spcPct val="100000"/>
              </a:lnSpc>
              <a:spcBef>
                <a:spcPts val="20"/>
              </a:spcBef>
              <a:buSzPct val="95833"/>
              <a:buFont typeface="Wingdings"/>
              <a:buChar char=""/>
              <a:tabLst>
                <a:tab pos="522605" algn="l"/>
              </a:tabLst>
            </a:pPr>
            <a:r>
              <a:rPr sz="2400" spc="-5" dirty="0">
                <a:latin typeface="Calibri"/>
                <a:cs typeface="Calibri"/>
              </a:rPr>
              <a:t>Procedure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connectors</a:t>
            </a:r>
            <a:endParaRPr sz="2400" dirty="0">
              <a:latin typeface="Calibri"/>
              <a:cs typeface="Calibri"/>
            </a:endParaRPr>
          </a:p>
          <a:p>
            <a:pPr marL="589915" lvl="1" indent="-311150">
              <a:lnSpc>
                <a:spcPct val="100000"/>
              </a:lnSpc>
              <a:spcBef>
                <a:spcPts val="20"/>
              </a:spcBef>
              <a:buSzPct val="95833"/>
              <a:buFont typeface="Wingdings"/>
              <a:buChar char=""/>
              <a:tabLst>
                <a:tab pos="590550" algn="l"/>
              </a:tabLst>
            </a:pPr>
            <a:r>
              <a:rPr sz="2400" spc="-5" dirty="0">
                <a:latin typeface="Calibri"/>
                <a:cs typeface="Calibri"/>
              </a:rPr>
              <a:t>Shared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memory connectors</a:t>
            </a:r>
            <a:endParaRPr sz="2400" dirty="0">
              <a:latin typeface="Calibri"/>
              <a:cs typeface="Calibri"/>
            </a:endParaRPr>
          </a:p>
          <a:p>
            <a:pPr marL="659130" lvl="2" indent="-311785">
              <a:lnSpc>
                <a:spcPts val="2840"/>
              </a:lnSpc>
              <a:spcBef>
                <a:spcPts val="20"/>
              </a:spcBef>
              <a:buFont typeface="Wingdings"/>
              <a:buChar char=""/>
              <a:tabLst>
                <a:tab pos="659765" algn="l"/>
              </a:tabLst>
            </a:pPr>
            <a:r>
              <a:rPr sz="2400" spc="-5" dirty="0">
                <a:latin typeface="Calibri"/>
                <a:cs typeface="Calibri"/>
              </a:rPr>
              <a:t>Message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connectors</a:t>
            </a:r>
            <a:endParaRPr sz="2400" dirty="0">
              <a:latin typeface="Calibri"/>
              <a:cs typeface="Calibri"/>
            </a:endParaRPr>
          </a:p>
          <a:p>
            <a:pPr marL="659130" lvl="2" indent="-311785">
              <a:lnSpc>
                <a:spcPts val="2840"/>
              </a:lnSpc>
              <a:buFont typeface="Wingdings"/>
              <a:buChar char=""/>
              <a:tabLst>
                <a:tab pos="659765" algn="l"/>
              </a:tabLst>
            </a:pPr>
            <a:r>
              <a:rPr sz="2400" spc="-5" dirty="0">
                <a:latin typeface="Calibri"/>
                <a:cs typeface="Calibri"/>
              </a:rPr>
              <a:t>Streaming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connectors</a:t>
            </a:r>
            <a:endParaRPr sz="2400" dirty="0">
              <a:latin typeface="Calibri"/>
              <a:cs typeface="Calibri"/>
            </a:endParaRPr>
          </a:p>
          <a:p>
            <a:pPr marL="666115" lvl="2" indent="-311150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666750" algn="l"/>
              </a:tabLst>
            </a:pPr>
            <a:r>
              <a:rPr sz="2400" spc="-5" dirty="0">
                <a:latin typeface="Calibri"/>
                <a:cs typeface="Calibri"/>
              </a:rPr>
              <a:t>Distribution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connectors</a:t>
            </a:r>
            <a:endParaRPr sz="2400" dirty="0">
              <a:latin typeface="Calibri"/>
              <a:cs typeface="Calibri"/>
            </a:endParaRPr>
          </a:p>
          <a:p>
            <a:pPr marL="666115" lvl="2" indent="-311150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666750" algn="l"/>
              </a:tabLst>
            </a:pPr>
            <a:r>
              <a:rPr sz="2400" spc="-5" dirty="0">
                <a:latin typeface="Calibri"/>
                <a:cs typeface="Calibri"/>
              </a:rPr>
              <a:t>Wrapper/adaptor connectors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501" y="1292629"/>
            <a:ext cx="8911590" cy="4501515"/>
            <a:chOff x="66501" y="1292629"/>
            <a:chExt cx="8911590" cy="45015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01" y="1292629"/>
              <a:ext cx="8911243" cy="45013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5462" y="1321252"/>
              <a:ext cx="8813800" cy="4399280"/>
            </a:xfrm>
            <a:custGeom>
              <a:avLst/>
              <a:gdLst/>
              <a:ahLst/>
              <a:cxnLst/>
              <a:rect l="l" t="t" r="r" b="b"/>
              <a:pathLst>
                <a:path w="8813800" h="4399280">
                  <a:moveTo>
                    <a:pt x="8813645" y="0"/>
                  </a:moveTo>
                  <a:lnTo>
                    <a:pt x="0" y="0"/>
                  </a:lnTo>
                  <a:lnTo>
                    <a:pt x="0" y="4398664"/>
                  </a:lnTo>
                  <a:lnTo>
                    <a:pt x="8813645" y="4398664"/>
                  </a:lnTo>
                  <a:lnTo>
                    <a:pt x="88136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462" y="1321252"/>
              <a:ext cx="8813800" cy="4399280"/>
            </a:xfrm>
            <a:custGeom>
              <a:avLst/>
              <a:gdLst/>
              <a:ahLst/>
              <a:cxnLst/>
              <a:rect l="l" t="t" r="r" b="b"/>
              <a:pathLst>
                <a:path w="8813800" h="4399280">
                  <a:moveTo>
                    <a:pt x="0" y="0"/>
                  </a:moveTo>
                  <a:lnTo>
                    <a:pt x="8813644" y="0"/>
                  </a:lnTo>
                  <a:lnTo>
                    <a:pt x="8813644" y="4398664"/>
                  </a:lnTo>
                  <a:lnTo>
                    <a:pt x="0" y="439866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4683" y="166254"/>
            <a:ext cx="4871257" cy="685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93789" y="193685"/>
            <a:ext cx="4772660" cy="58674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50"/>
              </a:spcBef>
            </a:pPr>
            <a:r>
              <a:rPr spc="-5" dirty="0">
                <a:solidFill>
                  <a:srgbClr val="008000"/>
                </a:solidFill>
              </a:rPr>
              <a:t>Conﬁguration/Topology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6834" y="1444066"/>
            <a:ext cx="8582660" cy="39166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marR="231775" indent="-457200">
              <a:lnSpc>
                <a:spcPts val="3800"/>
              </a:lnSpc>
              <a:spcBef>
                <a:spcPts val="260"/>
              </a:spcBef>
              <a:buFont typeface="Wingdings"/>
              <a:buChar char=""/>
              <a:tabLst>
                <a:tab pos="469900" algn="l"/>
              </a:tabLst>
            </a:pPr>
            <a:r>
              <a:rPr sz="3200" spc="-5" dirty="0">
                <a:latin typeface="Calibri"/>
                <a:cs typeface="Calibri"/>
              </a:rPr>
              <a:t>Components</a:t>
            </a:r>
            <a:r>
              <a:rPr sz="3200" dirty="0">
                <a:latin typeface="Calibri"/>
                <a:cs typeface="Calibri"/>
              </a:rPr>
              <a:t> and </a:t>
            </a:r>
            <a:r>
              <a:rPr sz="3200" spc="-5" dirty="0">
                <a:latin typeface="Calibri"/>
                <a:cs typeface="Calibri"/>
              </a:rPr>
              <a:t>connectors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composed</a:t>
            </a:r>
            <a:r>
              <a:rPr sz="3200" dirty="0">
                <a:latin typeface="Calibri"/>
                <a:cs typeface="Calibri"/>
              </a:rPr>
              <a:t> in a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way </a:t>
            </a:r>
            <a:r>
              <a:rPr sz="3200" dirty="0">
                <a:latin typeface="Calibri"/>
                <a:cs typeface="Calibri"/>
              </a:rPr>
              <a:t>in a given </a:t>
            </a:r>
            <a:r>
              <a:rPr sz="3200" spc="-5" dirty="0">
                <a:latin typeface="Calibri"/>
                <a:cs typeface="Calibri"/>
              </a:rPr>
              <a:t>system’s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architecture</a:t>
            </a:r>
            <a:r>
              <a:rPr sz="3200" dirty="0">
                <a:latin typeface="Calibri"/>
                <a:cs typeface="Calibri"/>
              </a:rPr>
              <a:t> to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accomplish </a:t>
            </a:r>
            <a:r>
              <a:rPr sz="3200" dirty="0">
                <a:latin typeface="Calibri"/>
                <a:cs typeface="Calibri"/>
              </a:rPr>
              <a:t>that </a:t>
            </a:r>
            <a:r>
              <a:rPr sz="3200" spc="-5" dirty="0">
                <a:latin typeface="Calibri"/>
                <a:cs typeface="Calibri"/>
              </a:rPr>
              <a:t>system’s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objective.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3050">
              <a:latin typeface="Calibri"/>
              <a:cs typeface="Calibri"/>
            </a:endParaRPr>
          </a:p>
          <a:p>
            <a:pPr marL="469900" marR="5080" indent="-457200">
              <a:lnSpc>
                <a:spcPct val="99800"/>
              </a:lnSpc>
              <a:spcBef>
                <a:spcPts val="5"/>
              </a:spcBef>
              <a:buFont typeface="Wingdings"/>
              <a:buChar char="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An </a:t>
            </a:r>
            <a:r>
              <a:rPr sz="3200" b="1" dirty="0">
                <a:latin typeface="Calibri"/>
                <a:cs typeface="Calibri"/>
              </a:rPr>
              <a:t>architectural </a:t>
            </a:r>
            <a:r>
              <a:rPr sz="3200" b="1" spc="-5" dirty="0">
                <a:latin typeface="Calibri"/>
                <a:cs typeface="Calibri"/>
              </a:rPr>
              <a:t>conﬁguration</a:t>
            </a:r>
            <a:r>
              <a:rPr sz="3200" spc="-5" dirty="0">
                <a:latin typeface="Calibri"/>
                <a:cs typeface="Calibri"/>
              </a:rPr>
              <a:t>/topology, </a:t>
            </a:r>
            <a:r>
              <a:rPr sz="3200" dirty="0">
                <a:latin typeface="Calibri"/>
                <a:cs typeface="Calibri"/>
              </a:rPr>
              <a:t>is a set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associations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between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components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connectors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a </a:t>
            </a:r>
            <a:r>
              <a:rPr sz="3200" spc="-15" dirty="0">
                <a:latin typeface="Calibri"/>
                <a:cs typeface="Calibri"/>
              </a:rPr>
              <a:t>software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system’s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410" y="1575261"/>
            <a:ext cx="8836660" cy="4131945"/>
            <a:chOff x="170410" y="1575261"/>
            <a:chExt cx="8836660" cy="4131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410" y="1575261"/>
              <a:ext cx="8836428" cy="41314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9123" y="1603460"/>
              <a:ext cx="8738870" cy="4028440"/>
            </a:xfrm>
            <a:custGeom>
              <a:avLst/>
              <a:gdLst/>
              <a:ahLst/>
              <a:cxnLst/>
              <a:rect l="l" t="t" r="r" b="b"/>
              <a:pathLst>
                <a:path w="8738870" h="4028440">
                  <a:moveTo>
                    <a:pt x="8738288" y="0"/>
                  </a:moveTo>
                  <a:lnTo>
                    <a:pt x="0" y="0"/>
                  </a:lnTo>
                  <a:lnTo>
                    <a:pt x="0" y="4027892"/>
                  </a:lnTo>
                  <a:lnTo>
                    <a:pt x="8738288" y="4027892"/>
                  </a:lnTo>
                  <a:lnTo>
                    <a:pt x="8738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9123" y="1603459"/>
              <a:ext cx="8738870" cy="4028440"/>
            </a:xfrm>
            <a:custGeom>
              <a:avLst/>
              <a:gdLst/>
              <a:ahLst/>
              <a:cxnLst/>
              <a:rect l="l" t="t" r="r" b="b"/>
              <a:pathLst>
                <a:path w="8738870" h="4028440">
                  <a:moveTo>
                    <a:pt x="0" y="0"/>
                  </a:moveTo>
                  <a:lnTo>
                    <a:pt x="8738287" y="0"/>
                  </a:lnTo>
                  <a:lnTo>
                    <a:pt x="8738287" y="4027892"/>
                  </a:lnTo>
                  <a:lnTo>
                    <a:pt x="0" y="402789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836" y="124691"/>
            <a:ext cx="7144788" cy="6567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3700" y="153932"/>
            <a:ext cx="7043420" cy="55308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ts val="3735"/>
              </a:lnSpc>
            </a:pPr>
            <a:r>
              <a:rPr sz="3200" spc="-5" dirty="0"/>
              <a:t>Prescriptive</a:t>
            </a:r>
            <a:r>
              <a:rPr sz="3200" spc="-10" dirty="0"/>
              <a:t> </a:t>
            </a:r>
            <a:r>
              <a:rPr sz="3200" spc="-5" dirty="0"/>
              <a:t>vs.</a:t>
            </a:r>
            <a:r>
              <a:rPr sz="3200" spc="-10" dirty="0"/>
              <a:t> </a:t>
            </a:r>
            <a:r>
              <a:rPr sz="3200" spc="-5" dirty="0"/>
              <a:t>Descriptive Architecture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297862" y="1753334"/>
            <a:ext cx="8520430" cy="3004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49885" marR="5080" indent="-349885">
              <a:lnSpc>
                <a:spcPts val="3300"/>
              </a:lnSpc>
              <a:spcBef>
                <a:spcPts val="260"/>
              </a:spcBef>
              <a:buSzPct val="64285"/>
              <a:buFont typeface="Wingdings"/>
              <a:buChar char=""/>
              <a:tabLst>
                <a:tab pos="349885" algn="l"/>
                <a:tab pos="35052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system’s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prescriptive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architecture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captures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decisions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made </a:t>
            </a:r>
            <a:r>
              <a:rPr sz="2800" spc="-5" dirty="0">
                <a:solidFill>
                  <a:srgbClr val="FF6600"/>
                </a:solidFill>
                <a:latin typeface="Calibri"/>
                <a:cs typeface="Calibri"/>
              </a:rPr>
              <a:t>prior</a:t>
            </a:r>
            <a:r>
              <a:rPr sz="2800" dirty="0">
                <a:solidFill>
                  <a:srgbClr val="FF6600"/>
                </a:solidFill>
                <a:latin typeface="Calibri"/>
                <a:cs typeface="Calibri"/>
              </a:rPr>
              <a:t> to the </a:t>
            </a:r>
            <a:r>
              <a:rPr sz="2800" spc="-5" dirty="0">
                <a:solidFill>
                  <a:srgbClr val="FF6600"/>
                </a:solidFill>
                <a:latin typeface="Calibri"/>
                <a:cs typeface="Calibri"/>
              </a:rPr>
              <a:t>system’s</a:t>
            </a:r>
            <a:r>
              <a:rPr sz="2800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6600"/>
                </a:solidFill>
                <a:latin typeface="Calibri"/>
                <a:cs typeface="Calibri"/>
              </a:rPr>
              <a:t>construction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739775" lvl="1" indent="-283845">
              <a:lnSpc>
                <a:spcPts val="3300"/>
              </a:lnSpc>
              <a:buSzPct val="96428"/>
              <a:buFont typeface="Wingdings"/>
              <a:buChar char=""/>
              <a:tabLst>
                <a:tab pos="74041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as-conceived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as-intended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architecture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700">
              <a:latin typeface="Calibri"/>
              <a:cs typeface="Calibri"/>
            </a:endParaRPr>
          </a:p>
          <a:p>
            <a:pPr marL="173355" marR="127635" indent="-161290">
              <a:lnSpc>
                <a:spcPct val="101200"/>
              </a:lnSpc>
              <a:buFont typeface="Wingdings"/>
              <a:buChar char=""/>
              <a:tabLst>
                <a:tab pos="526415" algn="l"/>
                <a:tab pos="5270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system’s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descriptive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architecture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describes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how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system has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been built</a:t>
            </a:r>
            <a:endParaRPr sz="2800">
              <a:latin typeface="Calibri"/>
              <a:cs typeface="Calibri"/>
            </a:endParaRPr>
          </a:p>
          <a:p>
            <a:pPr marL="832485" lvl="1" indent="-363855">
              <a:lnSpc>
                <a:spcPts val="3300"/>
              </a:lnSpc>
              <a:buSzPct val="96428"/>
              <a:buFont typeface="Wingdings"/>
              <a:buChar char=""/>
              <a:tabLst>
                <a:tab pos="83311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as-implemented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as-realized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architecture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7323" y="178723"/>
            <a:ext cx="7789545" cy="532130"/>
            <a:chOff x="407323" y="178723"/>
            <a:chExt cx="7789545" cy="532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323" y="178723"/>
              <a:ext cx="7789025" cy="53201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205243"/>
              <a:ext cx="7689850" cy="433070"/>
            </a:xfrm>
            <a:custGeom>
              <a:avLst/>
              <a:gdLst/>
              <a:ahLst/>
              <a:cxnLst/>
              <a:rect l="l" t="t" r="r" b="b"/>
              <a:pathLst>
                <a:path w="7689850" h="433070">
                  <a:moveTo>
                    <a:pt x="7689329" y="0"/>
                  </a:moveTo>
                  <a:lnTo>
                    <a:pt x="0" y="0"/>
                  </a:lnTo>
                  <a:lnTo>
                    <a:pt x="0" y="432869"/>
                  </a:lnTo>
                  <a:lnTo>
                    <a:pt x="7689329" y="432869"/>
                  </a:lnTo>
                  <a:lnTo>
                    <a:pt x="7689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05243"/>
              <a:ext cx="7689850" cy="433070"/>
            </a:xfrm>
            <a:custGeom>
              <a:avLst/>
              <a:gdLst/>
              <a:ahLst/>
              <a:cxnLst/>
              <a:rect l="l" t="t" r="r" b="b"/>
              <a:pathLst>
                <a:path w="7689850" h="433070">
                  <a:moveTo>
                    <a:pt x="0" y="0"/>
                  </a:moveTo>
                  <a:lnTo>
                    <a:pt x="7689328" y="0"/>
                  </a:lnTo>
                  <a:lnTo>
                    <a:pt x="7689328" y="432868"/>
                  </a:lnTo>
                  <a:lnTo>
                    <a:pt x="0" y="4328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4640" y="914167"/>
            <a:ext cx="8454390" cy="5058410"/>
            <a:chOff x="103909" y="947650"/>
            <a:chExt cx="8454390" cy="50584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09" y="947650"/>
              <a:ext cx="8454043" cy="50582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3950" y="974905"/>
              <a:ext cx="8353425" cy="4957445"/>
            </a:xfrm>
            <a:custGeom>
              <a:avLst/>
              <a:gdLst/>
              <a:ahLst/>
              <a:cxnLst/>
              <a:rect l="l" t="t" r="r" b="b"/>
              <a:pathLst>
                <a:path w="8353425" h="4957445">
                  <a:moveTo>
                    <a:pt x="8353244" y="0"/>
                  </a:moveTo>
                  <a:lnTo>
                    <a:pt x="0" y="0"/>
                  </a:lnTo>
                  <a:lnTo>
                    <a:pt x="0" y="4956897"/>
                  </a:lnTo>
                  <a:lnTo>
                    <a:pt x="8353244" y="4956897"/>
                  </a:lnTo>
                  <a:lnTo>
                    <a:pt x="8353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950" y="974905"/>
              <a:ext cx="8353425" cy="4957445"/>
            </a:xfrm>
            <a:custGeom>
              <a:avLst/>
              <a:gdLst/>
              <a:ahLst/>
              <a:cxnLst/>
              <a:rect l="l" t="t" r="r" b="b"/>
              <a:pathLst>
                <a:path w="8353425" h="4957445">
                  <a:moveTo>
                    <a:pt x="0" y="0"/>
                  </a:moveTo>
                  <a:lnTo>
                    <a:pt x="8353242" y="0"/>
                  </a:lnTo>
                  <a:lnTo>
                    <a:pt x="8353242" y="4956897"/>
                  </a:lnTo>
                  <a:lnTo>
                    <a:pt x="0" y="49568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6223" y="3529456"/>
              <a:ext cx="1714500" cy="1638300"/>
            </a:xfrm>
            <a:custGeom>
              <a:avLst/>
              <a:gdLst/>
              <a:ahLst/>
              <a:cxnLst/>
              <a:rect l="l" t="t" r="r" b="b"/>
              <a:pathLst>
                <a:path w="1714500" h="1638300">
                  <a:moveTo>
                    <a:pt x="128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82700" y="12700"/>
                  </a:lnTo>
                  <a:lnTo>
                    <a:pt x="1282700" y="0"/>
                  </a:lnTo>
                  <a:close/>
                </a:path>
                <a:path w="1714500" h="1638300">
                  <a:moveTo>
                    <a:pt x="1714500" y="1625600"/>
                  </a:moveTo>
                  <a:lnTo>
                    <a:pt x="63500" y="1625600"/>
                  </a:lnTo>
                  <a:lnTo>
                    <a:pt x="63500" y="1638300"/>
                  </a:lnTo>
                  <a:lnTo>
                    <a:pt x="1714500" y="1638300"/>
                  </a:lnTo>
                  <a:lnTo>
                    <a:pt x="1714500" y="1625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24299" y="111760"/>
            <a:ext cx="7341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Domain</a:t>
            </a:r>
            <a:r>
              <a:rPr spc="-10" dirty="0"/>
              <a:t> </a:t>
            </a:r>
            <a:r>
              <a:rPr spc="-5" dirty="0"/>
              <a:t>Speciﬁc </a:t>
            </a:r>
            <a:r>
              <a:rPr spc="-15" dirty="0"/>
              <a:t>Software</a:t>
            </a:r>
            <a:r>
              <a:rPr spc="-5" dirty="0"/>
              <a:t> Architecture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975" y="1676400"/>
            <a:ext cx="6550025" cy="3826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400" indent="-457200">
              <a:lnSpc>
                <a:spcPts val="2460"/>
              </a:lnSpc>
              <a:buSzPct val="150000"/>
              <a:buFont typeface="Wingdings"/>
              <a:buChar char=""/>
              <a:tabLst>
                <a:tab pos="533400" algn="l"/>
              </a:tabLst>
            </a:pPr>
            <a:r>
              <a:rPr sz="2400" spc="-5" dirty="0">
                <a:latin typeface="Calibri"/>
                <a:cs typeface="Calibri"/>
              </a:rPr>
              <a:t>Domain-specific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architectures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(DSSAs):</a:t>
            </a:r>
            <a:endParaRPr sz="2400" dirty="0">
              <a:latin typeface="Calibri"/>
              <a:cs typeface="Calibri"/>
            </a:endParaRPr>
          </a:p>
          <a:p>
            <a:pPr marL="795655" lvl="1" indent="-363855">
              <a:lnSpc>
                <a:spcPts val="2850"/>
              </a:lnSpc>
              <a:buSzPct val="145833"/>
              <a:buFont typeface="Wingdings"/>
              <a:buChar char=""/>
              <a:tabLst>
                <a:tab pos="795655" algn="l"/>
              </a:tabLst>
            </a:pPr>
            <a:r>
              <a:rPr sz="2400" spc="-5" dirty="0">
                <a:latin typeface="Calibri"/>
                <a:cs typeface="Calibri"/>
              </a:rPr>
              <a:t>Specialized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a </a:t>
            </a:r>
            <a:r>
              <a:rPr sz="2400" spc="-5" dirty="0">
                <a:latin typeface="Calibri"/>
                <a:cs typeface="Calibri"/>
              </a:rPr>
              <a:t>particular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(domain).</a:t>
            </a:r>
            <a:endParaRPr sz="2400" dirty="0">
              <a:latin typeface="Calibri"/>
              <a:cs typeface="Calibri"/>
            </a:endParaRPr>
          </a:p>
          <a:p>
            <a:pPr marL="795655" lvl="1" indent="-363855">
              <a:lnSpc>
                <a:spcPts val="2900"/>
              </a:lnSpc>
              <a:buSzPct val="145833"/>
              <a:buFont typeface="Wingdings"/>
              <a:buChar char=""/>
              <a:tabLst>
                <a:tab pos="795655" algn="l"/>
              </a:tabLst>
            </a:pPr>
            <a:r>
              <a:rPr sz="2400" spc="-5" dirty="0">
                <a:latin typeface="Calibri"/>
                <a:cs typeface="Calibri"/>
              </a:rPr>
              <a:t>Generalized 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eﬀective</a:t>
            </a:r>
            <a:r>
              <a:rPr sz="2400" dirty="0">
                <a:latin typeface="Calibri"/>
                <a:cs typeface="Calibri"/>
              </a:rPr>
              <a:t> use in that </a:t>
            </a:r>
            <a:r>
              <a:rPr sz="2400" spc="-5" dirty="0">
                <a:latin typeface="Calibri"/>
                <a:cs typeface="Calibri"/>
              </a:rPr>
              <a:t>domain.</a:t>
            </a:r>
            <a:endParaRPr sz="2400" dirty="0">
              <a:latin typeface="Calibri"/>
              <a:cs typeface="Calibri"/>
            </a:endParaRPr>
          </a:p>
          <a:p>
            <a:pPr marL="795655" lvl="1" indent="-363855">
              <a:lnSpc>
                <a:spcPts val="3610"/>
              </a:lnSpc>
              <a:buSzPct val="145833"/>
              <a:buFont typeface="Wingdings"/>
              <a:buChar char=""/>
              <a:tabLst>
                <a:tab pos="795655" algn="l"/>
              </a:tabLst>
            </a:pPr>
            <a:r>
              <a:rPr sz="2400" spc="-5" dirty="0">
                <a:latin typeface="Calibri"/>
                <a:cs typeface="Calibri"/>
              </a:rPr>
              <a:t>Composed</a:t>
            </a:r>
            <a:r>
              <a:rPr sz="2400" dirty="0">
                <a:latin typeface="Calibri"/>
                <a:cs typeface="Calibri"/>
              </a:rPr>
              <a:t> using a </a:t>
            </a:r>
            <a:r>
              <a:rPr sz="2400" spc="-5" dirty="0">
                <a:latin typeface="Calibri"/>
                <a:cs typeface="Calibri"/>
              </a:rPr>
              <a:t>standardized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topology.</a:t>
            </a:r>
            <a:endParaRPr sz="4100" dirty="0">
              <a:latin typeface="Calibri"/>
              <a:cs typeface="Calibri"/>
            </a:endParaRPr>
          </a:p>
          <a:p>
            <a:pPr marL="533400" indent="-457200">
              <a:lnSpc>
                <a:spcPct val="100000"/>
              </a:lnSpc>
              <a:buSzPct val="152380"/>
              <a:buFont typeface="Wingdings"/>
              <a:buChar char=""/>
              <a:tabLst>
                <a:tab pos="533400" algn="l"/>
              </a:tabLst>
            </a:pPr>
            <a:r>
              <a:rPr sz="2100" b="1" spc="15" dirty="0">
                <a:latin typeface="Calibri"/>
                <a:cs typeface="Calibri"/>
              </a:rPr>
              <a:t>Key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10" dirty="0">
                <a:latin typeface="Calibri"/>
                <a:cs typeface="Calibri"/>
              </a:rPr>
              <a:t>beneﬁt</a:t>
            </a:r>
            <a:r>
              <a:rPr sz="2100" spc="10" dirty="0">
                <a:latin typeface="Calibri"/>
                <a:cs typeface="Calibri"/>
              </a:rPr>
              <a:t>:</a:t>
            </a:r>
            <a:endParaRPr sz="2100" dirty="0">
              <a:latin typeface="Calibri"/>
              <a:cs typeface="Calibri"/>
            </a:endParaRPr>
          </a:p>
          <a:p>
            <a:pPr marL="856615" lvl="1" indent="-323850">
              <a:lnSpc>
                <a:spcPct val="100000"/>
              </a:lnSpc>
              <a:spcBef>
                <a:spcPts val="1480"/>
              </a:spcBef>
              <a:buSzPct val="147619"/>
              <a:buFont typeface="Wingdings"/>
              <a:buChar char=""/>
              <a:tabLst>
                <a:tab pos="857250" algn="l"/>
              </a:tabLst>
            </a:pPr>
            <a:r>
              <a:rPr sz="2100" spc="15" dirty="0">
                <a:latin typeface="Calibri"/>
                <a:cs typeface="Calibri"/>
              </a:rPr>
              <a:t>maximal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reuse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of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knowledge.</a:t>
            </a:r>
            <a:endParaRPr sz="21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har char=""/>
            </a:pPr>
            <a:endParaRPr sz="4050" dirty="0">
              <a:latin typeface="Calibri"/>
              <a:cs typeface="Calibri"/>
            </a:endParaRPr>
          </a:p>
          <a:p>
            <a:pPr marL="594360" indent="-518795">
              <a:lnSpc>
                <a:spcPct val="100000"/>
              </a:lnSpc>
              <a:spcBef>
                <a:spcPts val="5"/>
              </a:spcBef>
              <a:buSzPct val="152380"/>
              <a:buFont typeface="Wingdings"/>
              <a:buChar char=""/>
              <a:tabLst>
                <a:tab pos="594360" algn="l"/>
                <a:tab pos="594995" algn="l"/>
              </a:tabLst>
            </a:pPr>
            <a:r>
              <a:rPr sz="2100" b="1" spc="15" dirty="0">
                <a:latin typeface="Calibri"/>
                <a:cs typeface="Calibri"/>
              </a:rPr>
              <a:t>Key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spc="10" dirty="0">
                <a:latin typeface="Calibri"/>
                <a:cs typeface="Calibri"/>
              </a:rPr>
              <a:t>drawback</a:t>
            </a:r>
            <a:r>
              <a:rPr sz="2100" spc="10" dirty="0">
                <a:latin typeface="Calibri"/>
                <a:cs typeface="Calibri"/>
              </a:rPr>
              <a:t>:</a:t>
            </a:r>
            <a:endParaRPr lang="en-US" sz="2100" dirty="0">
              <a:latin typeface="Calibri"/>
              <a:cs typeface="Calibri"/>
            </a:endParaRPr>
          </a:p>
          <a:p>
            <a:pPr marL="532765" lvl="1">
              <a:lnSpc>
                <a:spcPct val="100000"/>
              </a:lnSpc>
              <a:spcBef>
                <a:spcPts val="1480"/>
              </a:spcBef>
              <a:buSzPct val="147619"/>
              <a:tabLst>
                <a:tab pos="857250" algn="l"/>
              </a:tabLst>
            </a:pPr>
            <a:r>
              <a:rPr lang="en-US" sz="2100" spc="10" dirty="0">
                <a:latin typeface="Calibri"/>
                <a:cs typeface="Calibri"/>
              </a:rPr>
              <a:t>only</a:t>
            </a:r>
            <a:r>
              <a:rPr lang="en-US" sz="2100" dirty="0">
                <a:latin typeface="Calibri"/>
                <a:cs typeface="Calibri"/>
              </a:rPr>
              <a:t> </a:t>
            </a:r>
            <a:r>
              <a:rPr lang="en-US" sz="2100" spc="10" dirty="0">
                <a:latin typeface="Calibri"/>
                <a:cs typeface="Calibri"/>
              </a:rPr>
              <a:t>applicable</a:t>
            </a:r>
            <a:r>
              <a:rPr lang="en-US" sz="2100" spc="5" dirty="0">
                <a:latin typeface="Calibri"/>
                <a:cs typeface="Calibri"/>
              </a:rPr>
              <a:t> </a:t>
            </a:r>
            <a:r>
              <a:rPr lang="en-US" sz="2100" spc="10" dirty="0">
                <a:latin typeface="Calibri"/>
                <a:cs typeface="Calibri"/>
              </a:rPr>
              <a:t>in</a:t>
            </a:r>
            <a:r>
              <a:rPr lang="en-US" sz="2100" spc="5" dirty="0">
                <a:latin typeface="Calibri"/>
                <a:cs typeface="Calibri"/>
              </a:rPr>
              <a:t> </a:t>
            </a:r>
            <a:r>
              <a:rPr lang="en-US" sz="2100" spc="10" dirty="0">
                <a:latin typeface="Calibri"/>
                <a:cs typeface="Calibri"/>
              </a:rPr>
              <a:t>specific</a:t>
            </a:r>
            <a:r>
              <a:rPr lang="en-US" sz="2100" spc="5" dirty="0">
                <a:latin typeface="Calibri"/>
                <a:cs typeface="Calibri"/>
              </a:rPr>
              <a:t> </a:t>
            </a:r>
            <a:r>
              <a:rPr lang="en-US" sz="2100" spc="10" dirty="0">
                <a:latin typeface="Calibri"/>
                <a:cs typeface="Calibri"/>
              </a:rPr>
              <a:t>domain.</a:t>
            </a:r>
            <a:endParaRPr lang="en-US" sz="2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4192" y="178723"/>
            <a:ext cx="6413268" cy="685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6501" y="910244"/>
            <a:ext cx="9015730" cy="5038090"/>
            <a:chOff x="66501" y="910244"/>
            <a:chExt cx="9015730" cy="503809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01" y="910244"/>
              <a:ext cx="9015152" cy="50375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463" y="936421"/>
              <a:ext cx="8916670" cy="4939030"/>
            </a:xfrm>
            <a:custGeom>
              <a:avLst/>
              <a:gdLst/>
              <a:ahLst/>
              <a:cxnLst/>
              <a:rect l="l" t="t" r="r" b="b"/>
              <a:pathLst>
                <a:path w="8916670" h="4939030">
                  <a:moveTo>
                    <a:pt x="8916280" y="0"/>
                  </a:moveTo>
                  <a:lnTo>
                    <a:pt x="0" y="0"/>
                  </a:lnTo>
                  <a:lnTo>
                    <a:pt x="0" y="4938656"/>
                  </a:lnTo>
                  <a:lnTo>
                    <a:pt x="8916280" y="4938656"/>
                  </a:lnTo>
                  <a:lnTo>
                    <a:pt x="8916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463" y="936421"/>
              <a:ext cx="8916670" cy="4939030"/>
            </a:xfrm>
            <a:custGeom>
              <a:avLst/>
              <a:gdLst/>
              <a:ahLst/>
              <a:cxnLst/>
              <a:rect l="l" t="t" r="r" b="b"/>
              <a:pathLst>
                <a:path w="8916670" h="4939030">
                  <a:moveTo>
                    <a:pt x="0" y="0"/>
                  </a:moveTo>
                  <a:lnTo>
                    <a:pt x="8916279" y="0"/>
                  </a:lnTo>
                  <a:lnTo>
                    <a:pt x="8916279" y="4938656"/>
                  </a:lnTo>
                  <a:lnTo>
                    <a:pt x="0" y="493865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85552" y="207518"/>
            <a:ext cx="6312535" cy="58483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59"/>
              </a:spcBef>
            </a:pPr>
            <a:r>
              <a:rPr sz="2900" spc="-5" dirty="0"/>
              <a:t>Why</a:t>
            </a:r>
            <a:r>
              <a:rPr sz="2900" spc="5" dirty="0"/>
              <a:t> </a:t>
            </a:r>
            <a:r>
              <a:rPr sz="2900" spc="-15" dirty="0"/>
              <a:t>Software</a:t>
            </a:r>
            <a:r>
              <a:rPr sz="2900" spc="5" dirty="0"/>
              <a:t> </a:t>
            </a:r>
            <a:r>
              <a:rPr sz="2900" spc="-5" dirty="0"/>
              <a:t>Architecture</a:t>
            </a:r>
            <a:r>
              <a:rPr sz="2900" spc="5" dirty="0"/>
              <a:t> </a:t>
            </a:r>
            <a:r>
              <a:rPr sz="2900" dirty="0"/>
              <a:t>is</a:t>
            </a:r>
            <a:r>
              <a:rPr sz="2900" spc="5" dirty="0"/>
              <a:t> </a:t>
            </a:r>
            <a:r>
              <a:rPr sz="2900" spc="-5" dirty="0"/>
              <a:t>Important</a:t>
            </a:r>
            <a:endParaRPr sz="2900"/>
          </a:p>
        </p:txBody>
      </p:sp>
      <p:sp>
        <p:nvSpPr>
          <p:cNvPr id="8" name="object 8"/>
          <p:cNvSpPr txBox="1"/>
          <p:nvPr/>
        </p:nvSpPr>
        <p:spPr>
          <a:xfrm>
            <a:off x="194203" y="825067"/>
            <a:ext cx="8728710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3366FF"/>
                </a:solidFill>
                <a:latin typeface="Calibri"/>
                <a:cs typeface="Calibri"/>
              </a:rPr>
              <a:t>1.</a:t>
            </a:r>
            <a:r>
              <a:rPr sz="2000" b="1" spc="4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366FF"/>
                </a:solidFill>
                <a:latin typeface="Calibri"/>
                <a:cs typeface="Calibri"/>
              </a:rPr>
              <a:t>Communication</a:t>
            </a:r>
            <a:r>
              <a:rPr sz="2000" b="1" spc="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among </a:t>
            </a:r>
            <a:r>
              <a:rPr sz="2000" b="1" spc="-5" dirty="0">
                <a:solidFill>
                  <a:srgbClr val="3366FF"/>
                </a:solidFill>
                <a:latin typeface="Calibri"/>
                <a:cs typeface="Calibri"/>
              </a:rPr>
              <a:t>stakeholders</a:t>
            </a:r>
            <a:endParaRPr sz="2000" dirty="0">
              <a:latin typeface="Calibri"/>
              <a:cs typeface="Calibri"/>
            </a:endParaRPr>
          </a:p>
          <a:p>
            <a:pPr marL="291465" marR="5080" indent="-279400">
              <a:lnSpc>
                <a:spcPct val="100000"/>
              </a:lnSpc>
              <a:buFont typeface="Wingdings"/>
              <a:buChar char=""/>
              <a:tabLst>
                <a:tab pos="412750" algn="l"/>
                <a:tab pos="413384" algn="l"/>
              </a:tabLst>
            </a:pPr>
            <a:r>
              <a:rPr dirty="0"/>
              <a:t>	</a:t>
            </a:r>
            <a:r>
              <a:rPr sz="2000" spc="-5" dirty="0">
                <a:latin typeface="Calibri"/>
                <a:cs typeface="Calibri"/>
              </a:rPr>
              <a:t>Each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stakeholder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b="1" spc="-5" dirty="0">
                <a:latin typeface="Calibri"/>
                <a:cs typeface="Calibri"/>
              </a:rPr>
              <a:t>customer,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user,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project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manager,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coder,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tester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)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system</a:t>
            </a:r>
            <a:r>
              <a:rPr sz="2000" dirty="0">
                <a:latin typeface="Calibri"/>
                <a:cs typeface="Calibri"/>
              </a:rPr>
              <a:t> 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concerned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about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diﬀerent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characteristics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system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will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aﬀected </a:t>
            </a:r>
            <a:r>
              <a:rPr sz="2000" dirty="0">
                <a:latin typeface="Calibri"/>
                <a:cs typeface="Calibri"/>
              </a:rPr>
              <a:t>by the </a:t>
            </a:r>
            <a:r>
              <a:rPr sz="2000" spc="-5" dirty="0">
                <a:latin typeface="Calibri"/>
                <a:cs typeface="Calibri"/>
              </a:rPr>
              <a:t>architecture.</a:t>
            </a:r>
            <a:endParaRPr sz="2000" dirty="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buFont typeface="Wingdings"/>
              <a:buChar char=""/>
              <a:tabLst>
                <a:tab pos="812800" algn="l"/>
                <a:tab pos="81343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user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concerned</a:t>
            </a:r>
            <a:r>
              <a:rPr sz="2000" dirty="0">
                <a:latin typeface="Calibri"/>
                <a:cs typeface="Calibri"/>
              </a:rPr>
              <a:t> 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system</a:t>
            </a:r>
            <a:r>
              <a:rPr sz="2000" dirty="0">
                <a:latin typeface="Calibri"/>
                <a:cs typeface="Calibri"/>
              </a:rPr>
              <a:t> 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reliable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available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needed;</a:t>
            </a:r>
          </a:p>
          <a:p>
            <a:pPr marL="748665" marR="399415" lvl="1" indent="-279400">
              <a:lnSpc>
                <a:spcPct val="100000"/>
              </a:lnSpc>
              <a:buFont typeface="Wingdings"/>
              <a:buChar char=""/>
              <a:tabLst>
                <a:tab pos="812800" algn="l"/>
                <a:tab pos="813435" algn="l"/>
              </a:tabLst>
            </a:pPr>
            <a:r>
              <a:rPr dirty="0"/>
              <a:t>	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customer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concerned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implemented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schedule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within</a:t>
            </a:r>
            <a:r>
              <a:rPr sz="2000" dirty="0">
                <a:latin typeface="Calibri"/>
                <a:cs typeface="Calibri"/>
              </a:rPr>
              <a:t> budget;</a:t>
            </a:r>
          </a:p>
          <a:p>
            <a:pPr marL="748665" marR="354330" lvl="1" indent="-279400">
              <a:lnSpc>
                <a:spcPct val="100000"/>
              </a:lnSpc>
              <a:buFont typeface="Wingdings"/>
              <a:buChar char=""/>
              <a:tabLst>
                <a:tab pos="812800" algn="l"/>
                <a:tab pos="813435" algn="l"/>
              </a:tabLst>
            </a:pPr>
            <a:r>
              <a:rPr dirty="0"/>
              <a:t>	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b="1" spc="-5" dirty="0">
                <a:latin typeface="Calibri"/>
                <a:cs typeface="Calibri"/>
              </a:rPr>
              <a:t>manager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worried</a:t>
            </a:r>
            <a:r>
              <a:rPr sz="2000" dirty="0">
                <a:latin typeface="Calibri"/>
                <a:cs typeface="Calibri"/>
              </a:rPr>
              <a:t> (as </a:t>
            </a:r>
            <a:r>
              <a:rPr sz="2000" spc="-5" dirty="0">
                <a:latin typeface="Calibri"/>
                <a:cs typeface="Calibri"/>
              </a:rPr>
              <a:t>well</a:t>
            </a:r>
            <a:r>
              <a:rPr sz="2000" dirty="0">
                <a:latin typeface="Calibri"/>
                <a:cs typeface="Calibri"/>
              </a:rPr>
              <a:t> as </a:t>
            </a:r>
            <a:r>
              <a:rPr sz="2000" spc="-5" dirty="0">
                <a:latin typeface="Calibri"/>
                <a:cs typeface="Calibri"/>
              </a:rPr>
              <a:t>about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cost</a:t>
            </a:r>
            <a:r>
              <a:rPr sz="2000" dirty="0">
                <a:latin typeface="Calibri"/>
                <a:cs typeface="Calibri"/>
              </a:rPr>
              <a:t> and schedule)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 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will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allow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teams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work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largely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independently,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interacting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disciplined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controlled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ways.</a:t>
            </a:r>
            <a:endParaRPr sz="2000" dirty="0">
              <a:latin typeface="Calibri"/>
              <a:cs typeface="Calibri"/>
            </a:endParaRPr>
          </a:p>
          <a:p>
            <a:pPr marL="748665" marR="408305" lvl="1" indent="-279400">
              <a:lnSpc>
                <a:spcPct val="100000"/>
              </a:lnSpc>
              <a:buFont typeface="Wingdings"/>
              <a:buChar char=""/>
              <a:tabLst>
                <a:tab pos="812800" algn="l"/>
                <a:tab pos="813435" algn="l"/>
              </a:tabLst>
            </a:pPr>
            <a:r>
              <a:rPr dirty="0"/>
              <a:t>	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software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architect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worried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about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strategies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achieve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those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goals.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1950" dirty="0">
              <a:latin typeface="Calibri"/>
              <a:cs typeface="Calibri"/>
            </a:endParaRPr>
          </a:p>
          <a:p>
            <a:pPr marL="291465" marR="264795" indent="-2794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6235" algn="l"/>
              </a:tabLst>
            </a:pPr>
            <a:r>
              <a:rPr dirty="0"/>
              <a:t>	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provides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common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language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diﬀerent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concerns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expressed,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negotiated,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resolved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highly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intellectually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manageable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70" y="178723"/>
            <a:ext cx="8836660" cy="6251575"/>
            <a:chOff x="78970" y="178723"/>
            <a:chExt cx="8836660" cy="62515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70" y="943494"/>
              <a:ext cx="8836428" cy="5486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290" y="970260"/>
              <a:ext cx="8736965" cy="5386705"/>
            </a:xfrm>
            <a:custGeom>
              <a:avLst/>
              <a:gdLst/>
              <a:ahLst/>
              <a:cxnLst/>
              <a:rect l="l" t="t" r="r" b="b"/>
              <a:pathLst>
                <a:path w="8736965" h="5386705">
                  <a:moveTo>
                    <a:pt x="8736672" y="0"/>
                  </a:moveTo>
                  <a:lnTo>
                    <a:pt x="0" y="0"/>
                  </a:lnTo>
                  <a:lnTo>
                    <a:pt x="0" y="5386088"/>
                  </a:lnTo>
                  <a:lnTo>
                    <a:pt x="8736672" y="5386088"/>
                  </a:lnTo>
                  <a:lnTo>
                    <a:pt x="8736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290" y="970261"/>
              <a:ext cx="8736965" cy="5386705"/>
            </a:xfrm>
            <a:custGeom>
              <a:avLst/>
              <a:gdLst/>
              <a:ahLst/>
              <a:cxnLst/>
              <a:rect l="l" t="t" r="r" b="b"/>
              <a:pathLst>
                <a:path w="8736965" h="5386705">
                  <a:moveTo>
                    <a:pt x="0" y="0"/>
                  </a:moveTo>
                  <a:lnTo>
                    <a:pt x="8736670" y="0"/>
                  </a:lnTo>
                  <a:lnTo>
                    <a:pt x="8736670" y="5386088"/>
                  </a:lnTo>
                  <a:lnTo>
                    <a:pt x="0" y="53860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131" y="178723"/>
              <a:ext cx="6662651" cy="7356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11210" y="207518"/>
            <a:ext cx="6561455" cy="63500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359"/>
              </a:spcBef>
            </a:pPr>
            <a:r>
              <a:rPr sz="2900" spc="-5" dirty="0"/>
              <a:t>Why</a:t>
            </a:r>
            <a:r>
              <a:rPr sz="2900" dirty="0"/>
              <a:t> </a:t>
            </a:r>
            <a:r>
              <a:rPr sz="2900" spc="-15" dirty="0"/>
              <a:t>Software</a:t>
            </a:r>
            <a:r>
              <a:rPr sz="2900" spc="5" dirty="0"/>
              <a:t> </a:t>
            </a:r>
            <a:r>
              <a:rPr sz="2900" spc="-5" dirty="0"/>
              <a:t>Architecture</a:t>
            </a:r>
            <a:r>
              <a:rPr sz="2900" spc="5" dirty="0"/>
              <a:t> </a:t>
            </a:r>
            <a:r>
              <a:rPr sz="2900" dirty="0"/>
              <a:t>is</a:t>
            </a:r>
            <a:r>
              <a:rPr sz="2900" spc="5" dirty="0"/>
              <a:t> </a:t>
            </a:r>
            <a:r>
              <a:rPr sz="2900" spc="-5" dirty="0"/>
              <a:t>Important</a:t>
            </a:r>
            <a:endParaRPr sz="2900"/>
          </a:p>
        </p:txBody>
      </p:sp>
      <p:sp>
        <p:nvSpPr>
          <p:cNvPr id="8" name="object 8"/>
          <p:cNvSpPr txBox="1"/>
          <p:nvPr/>
        </p:nvSpPr>
        <p:spPr>
          <a:xfrm>
            <a:off x="207030" y="875047"/>
            <a:ext cx="8585835" cy="525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84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2.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It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 helps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make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early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 design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decisions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4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Software </a:t>
            </a:r>
            <a:r>
              <a:rPr sz="2000" spc="-5" dirty="0">
                <a:latin typeface="Calibri"/>
                <a:cs typeface="Calibri"/>
              </a:rPr>
              <a:t>architecture manifests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earliest </a:t>
            </a:r>
            <a:r>
              <a:rPr sz="2000" dirty="0">
                <a:latin typeface="Calibri"/>
                <a:cs typeface="Calibri"/>
              </a:rPr>
              <a:t>design </a:t>
            </a:r>
            <a:r>
              <a:rPr sz="2000" spc="-5" dirty="0">
                <a:latin typeface="Calibri"/>
                <a:cs typeface="Calibri"/>
              </a:rPr>
              <a:t>decisions about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system,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 </a:t>
            </a:r>
            <a:r>
              <a:rPr sz="2000" dirty="0">
                <a:latin typeface="Calibri"/>
                <a:cs typeface="Calibri"/>
              </a:rPr>
              <a:t>inﬂuence the </a:t>
            </a:r>
            <a:r>
              <a:rPr sz="2000" spc="-5" dirty="0">
                <a:latin typeface="Calibri"/>
                <a:cs typeface="Calibri"/>
              </a:rPr>
              <a:t>system's remaining development, </a:t>
            </a:r>
            <a:r>
              <a:rPr sz="2000" dirty="0">
                <a:latin typeface="Calibri"/>
                <a:cs typeface="Calibri"/>
              </a:rPr>
              <a:t>its </a:t>
            </a:r>
            <a:r>
              <a:rPr sz="2000" spc="-5" dirty="0">
                <a:latin typeface="Calibri"/>
                <a:cs typeface="Calibri"/>
              </a:rPr>
              <a:t>deployment, </a:t>
            </a:r>
            <a:r>
              <a:rPr sz="2000" dirty="0">
                <a:latin typeface="Calibri"/>
                <a:cs typeface="Calibri"/>
              </a:rPr>
              <a:t>and its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maintenance </a:t>
            </a:r>
            <a:r>
              <a:rPr sz="2000" dirty="0">
                <a:latin typeface="Calibri"/>
                <a:cs typeface="Calibri"/>
              </a:rPr>
              <a:t>life.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9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defines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66FF"/>
                </a:solidFill>
                <a:latin typeface="Calibri"/>
                <a:cs typeface="Calibri"/>
              </a:rPr>
              <a:t>constraints</a:t>
            </a:r>
            <a:r>
              <a:rPr sz="2000" spc="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66FF"/>
                </a:solidFill>
                <a:latin typeface="Calibri"/>
                <a:cs typeface="Calibri"/>
              </a:rPr>
              <a:t>on</a:t>
            </a:r>
            <a:r>
              <a:rPr sz="2000" spc="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66FF"/>
                </a:solidFill>
                <a:latin typeface="Calibri"/>
                <a:cs typeface="Calibri"/>
              </a:rPr>
              <a:t>implementation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"/>
            </a:pPr>
            <a:endParaRPr sz="1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dictates</a:t>
            </a:r>
            <a:r>
              <a:rPr sz="2000" spc="1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organizational</a:t>
            </a:r>
            <a:r>
              <a:rPr sz="2000" spc="1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structure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195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architecture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inhibits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or</a:t>
            </a: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 enables a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system's</a:t>
            </a: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 quality</a:t>
            </a:r>
            <a:r>
              <a:rPr sz="2000" spc="-10" dirty="0">
                <a:solidFill>
                  <a:srgbClr val="008000"/>
                </a:solidFill>
                <a:latin typeface="Calibri"/>
                <a:cs typeface="Calibri"/>
              </a:rPr>
              <a:t> attributes</a:t>
            </a:r>
            <a:endParaRPr sz="2000">
              <a:latin typeface="Calibri"/>
              <a:cs typeface="Calibri"/>
            </a:endParaRPr>
          </a:p>
          <a:p>
            <a:pPr marL="355600" marR="5080" algn="just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e.g.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z="2000" spc="-5" dirty="0">
                <a:latin typeface="Calibri"/>
                <a:cs typeface="Calibri"/>
              </a:rPr>
              <a:t>your system requires </a:t>
            </a:r>
            <a:r>
              <a:rPr sz="2000" dirty="0">
                <a:latin typeface="Calibri"/>
                <a:cs typeface="Calibri"/>
              </a:rPr>
              <a:t>high </a:t>
            </a:r>
            <a:r>
              <a:rPr sz="2000" spc="-5" dirty="0">
                <a:latin typeface="Calibri"/>
                <a:cs typeface="Calibri"/>
              </a:rPr>
              <a:t>performance, you </a:t>
            </a:r>
            <a:r>
              <a:rPr sz="2000" dirty="0">
                <a:latin typeface="Calibri"/>
                <a:cs typeface="Calibri"/>
              </a:rPr>
              <a:t>need to </a:t>
            </a:r>
            <a:r>
              <a:rPr sz="2000" spc="-5" dirty="0">
                <a:latin typeface="Calibri"/>
                <a:cs typeface="Calibri"/>
              </a:rPr>
              <a:t>manage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time- </a:t>
            </a:r>
            <a:r>
              <a:rPr sz="2000" dirty="0">
                <a:latin typeface="Calibri"/>
                <a:cs typeface="Calibri"/>
              </a:rPr>
              <a:t> based </a:t>
            </a:r>
            <a:r>
              <a:rPr sz="2000" spc="-5" dirty="0">
                <a:latin typeface="Calibri"/>
                <a:cs typeface="Calibri"/>
              </a:rPr>
              <a:t>behavior of elements </a:t>
            </a:r>
            <a:r>
              <a:rPr sz="2000" dirty="0">
                <a:latin typeface="Calibri"/>
                <a:cs typeface="Calibri"/>
              </a:rPr>
              <a:t>and the </a:t>
            </a:r>
            <a:r>
              <a:rPr sz="2000" spc="-5" dirty="0">
                <a:latin typeface="Calibri"/>
                <a:cs typeface="Calibri"/>
              </a:rPr>
              <a:t>frequency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volume of inter-element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communication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10" dirty="0">
                <a:latin typeface="Calibri"/>
                <a:cs typeface="Calibri"/>
              </a:rPr>
              <a:t>Predicting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system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qualities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studying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1950">
              <a:latin typeface="Calibri"/>
              <a:cs typeface="Calibri"/>
            </a:endParaRPr>
          </a:p>
          <a:p>
            <a:pPr marL="271780" indent="-25971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72415" algn="l"/>
              </a:tabLst>
            </a:pP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dirty="0">
                <a:latin typeface="Calibri"/>
                <a:cs typeface="Calibri"/>
              </a:rPr>
              <a:t> enables </a:t>
            </a:r>
            <a:r>
              <a:rPr sz="2000" spc="-5" dirty="0">
                <a:latin typeface="Calibri"/>
                <a:cs typeface="Calibri"/>
              </a:rPr>
              <a:t>more </a:t>
            </a:r>
            <a:r>
              <a:rPr sz="2000" b="1" dirty="0">
                <a:solidFill>
                  <a:srgbClr val="FF6600"/>
                </a:solidFill>
                <a:latin typeface="Calibri"/>
                <a:cs typeface="Calibri"/>
              </a:rPr>
              <a:t>accurate cost and </a:t>
            </a:r>
            <a:r>
              <a:rPr sz="2000" b="1" spc="-5" dirty="0">
                <a:solidFill>
                  <a:srgbClr val="FF6600"/>
                </a:solidFill>
                <a:latin typeface="Calibri"/>
                <a:cs typeface="Calibri"/>
              </a:rPr>
              <a:t>schedule</a:t>
            </a:r>
            <a:r>
              <a:rPr sz="2000" b="1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6600"/>
                </a:solidFill>
                <a:latin typeface="Calibri"/>
                <a:cs typeface="Calibri"/>
              </a:rPr>
              <a:t>estimates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378" y="178723"/>
            <a:ext cx="6579523" cy="6359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5349" y="1022465"/>
            <a:ext cx="8886825" cy="5066665"/>
            <a:chOff x="195349" y="1022465"/>
            <a:chExt cx="8886825" cy="50666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349" y="1022465"/>
              <a:ext cx="8886304" cy="50666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3754" y="1048459"/>
              <a:ext cx="8788400" cy="4967605"/>
            </a:xfrm>
            <a:custGeom>
              <a:avLst/>
              <a:gdLst/>
              <a:ahLst/>
              <a:cxnLst/>
              <a:rect l="l" t="t" r="r" b="b"/>
              <a:pathLst>
                <a:path w="8788400" h="4967605">
                  <a:moveTo>
                    <a:pt x="8787989" y="0"/>
                  </a:moveTo>
                  <a:lnTo>
                    <a:pt x="0" y="0"/>
                  </a:lnTo>
                  <a:lnTo>
                    <a:pt x="0" y="4967141"/>
                  </a:lnTo>
                  <a:lnTo>
                    <a:pt x="8787989" y="4967141"/>
                  </a:lnTo>
                  <a:lnTo>
                    <a:pt x="87879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754" y="1048460"/>
              <a:ext cx="8788400" cy="4967605"/>
            </a:xfrm>
            <a:custGeom>
              <a:avLst/>
              <a:gdLst/>
              <a:ahLst/>
              <a:cxnLst/>
              <a:rect l="l" t="t" r="r" b="b"/>
              <a:pathLst>
                <a:path w="8788400" h="4967605">
                  <a:moveTo>
                    <a:pt x="0" y="0"/>
                  </a:moveTo>
                  <a:lnTo>
                    <a:pt x="8787988" y="0"/>
                  </a:lnTo>
                  <a:lnTo>
                    <a:pt x="8787988" y="4967141"/>
                  </a:lnTo>
                  <a:lnTo>
                    <a:pt x="0" y="496714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8576" y="207518"/>
            <a:ext cx="6478905" cy="53340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70"/>
              </a:spcBef>
            </a:pPr>
            <a:r>
              <a:rPr sz="2900" spc="-5" dirty="0"/>
              <a:t>Why</a:t>
            </a:r>
            <a:r>
              <a:rPr sz="2900" dirty="0"/>
              <a:t> </a:t>
            </a:r>
            <a:r>
              <a:rPr sz="2900" spc="-15" dirty="0"/>
              <a:t>Software</a:t>
            </a:r>
            <a:r>
              <a:rPr sz="2900" spc="5" dirty="0"/>
              <a:t> </a:t>
            </a:r>
            <a:r>
              <a:rPr sz="2900" spc="-5" dirty="0"/>
              <a:t>Architecture</a:t>
            </a:r>
            <a:r>
              <a:rPr sz="2900" spc="5" dirty="0"/>
              <a:t> </a:t>
            </a:r>
            <a:r>
              <a:rPr sz="2900" dirty="0"/>
              <a:t>is</a:t>
            </a:r>
            <a:r>
              <a:rPr sz="2900" spc="5" dirty="0"/>
              <a:t> </a:t>
            </a:r>
            <a:r>
              <a:rPr sz="2900" spc="-5" dirty="0"/>
              <a:t>Important</a:t>
            </a:r>
            <a:endParaRPr sz="2900"/>
          </a:p>
        </p:txBody>
      </p:sp>
      <p:sp>
        <p:nvSpPr>
          <p:cNvPr id="8" name="object 8"/>
          <p:cNvSpPr txBox="1"/>
          <p:nvPr/>
        </p:nvSpPr>
        <p:spPr>
          <a:xfrm>
            <a:off x="156230" y="1027293"/>
            <a:ext cx="8608060" cy="26327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30"/>
              </a:spcBef>
            </a:pPr>
            <a:r>
              <a:rPr sz="2100" spc="10" dirty="0">
                <a:solidFill>
                  <a:srgbClr val="0000FF"/>
                </a:solidFill>
                <a:latin typeface="Calibri"/>
                <a:cs typeface="Calibri"/>
              </a:rPr>
              <a:t>3.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21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provides</a:t>
            </a:r>
            <a:r>
              <a:rPr sz="21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b="1" spc="15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1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transferable,</a:t>
            </a:r>
            <a:r>
              <a:rPr sz="21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00FF"/>
                </a:solidFill>
                <a:latin typeface="Calibri"/>
                <a:cs typeface="Calibri"/>
              </a:rPr>
              <a:t>re-usable</a:t>
            </a:r>
            <a:r>
              <a:rPr sz="2100" b="1" spc="15" dirty="0">
                <a:solidFill>
                  <a:srgbClr val="0000FF"/>
                </a:solidFill>
                <a:latin typeface="Calibri"/>
                <a:cs typeface="Calibri"/>
              </a:rPr>
              <a:t> model</a:t>
            </a:r>
            <a:endParaRPr sz="2100">
              <a:latin typeface="Calibri"/>
              <a:cs typeface="Calibri"/>
            </a:endParaRPr>
          </a:p>
          <a:p>
            <a:pPr marL="635000" marR="322580" indent="-571500">
              <a:lnSpc>
                <a:spcPts val="2600"/>
              </a:lnSpc>
              <a:spcBef>
                <a:spcPts val="70"/>
              </a:spcBef>
              <a:buSzPct val="152380"/>
              <a:buFont typeface="Wingdings"/>
              <a:buChar char=""/>
              <a:tabLst>
                <a:tab pos="634365" algn="l"/>
                <a:tab pos="635000" algn="l"/>
              </a:tabLst>
            </a:pPr>
            <a:r>
              <a:rPr sz="2100" spc="5" dirty="0">
                <a:latin typeface="Calibri"/>
                <a:cs typeface="Calibri"/>
              </a:rPr>
              <a:t>Software </a:t>
            </a:r>
            <a:r>
              <a:rPr sz="2100" spc="10" dirty="0">
                <a:latin typeface="Calibri"/>
                <a:cs typeface="Calibri"/>
              </a:rPr>
              <a:t>architecture constitutes </a:t>
            </a:r>
            <a:r>
              <a:rPr sz="2100" spc="15" dirty="0">
                <a:latin typeface="Calibri"/>
                <a:cs typeface="Calibri"/>
              </a:rPr>
              <a:t>a </a:t>
            </a:r>
            <a:r>
              <a:rPr sz="2100" spc="10" dirty="0">
                <a:latin typeface="Calibri"/>
                <a:cs typeface="Calibri"/>
              </a:rPr>
              <a:t>relatively small, intellectually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graspable </a:t>
            </a:r>
            <a:r>
              <a:rPr sz="2100" spc="15" dirty="0">
                <a:latin typeface="Calibri"/>
                <a:cs typeface="Calibri"/>
              </a:rPr>
              <a:t>model </a:t>
            </a:r>
            <a:r>
              <a:rPr sz="2100" spc="10" dirty="0">
                <a:latin typeface="Calibri"/>
                <a:cs typeface="Calibri"/>
              </a:rPr>
              <a:t>for </a:t>
            </a:r>
            <a:r>
              <a:rPr sz="2100" spc="15" dirty="0">
                <a:latin typeface="Calibri"/>
                <a:cs typeface="Calibri"/>
              </a:rPr>
              <a:t>how a </a:t>
            </a:r>
            <a:r>
              <a:rPr sz="2100" spc="10" dirty="0">
                <a:latin typeface="Calibri"/>
                <a:cs typeface="Calibri"/>
              </a:rPr>
              <a:t>system is structured </a:t>
            </a:r>
            <a:r>
              <a:rPr sz="2100" spc="15" dirty="0">
                <a:latin typeface="Calibri"/>
                <a:cs typeface="Calibri"/>
              </a:rPr>
              <a:t>and how </a:t>
            </a:r>
            <a:r>
              <a:rPr sz="2100" spc="10" dirty="0">
                <a:latin typeface="Calibri"/>
                <a:cs typeface="Calibri"/>
              </a:rPr>
              <a:t>its </a:t>
            </a:r>
            <a:r>
              <a:rPr sz="2100" spc="15" dirty="0">
                <a:latin typeface="Calibri"/>
                <a:cs typeface="Calibri"/>
              </a:rPr>
              <a:t>elements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work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together,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this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008000"/>
                </a:solidFill>
                <a:latin typeface="Calibri"/>
                <a:cs typeface="Calibri"/>
              </a:rPr>
              <a:t>model</a:t>
            </a:r>
            <a:r>
              <a:rPr sz="2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2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transferable</a:t>
            </a:r>
            <a:r>
              <a:rPr sz="2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across systems</a:t>
            </a:r>
            <a:r>
              <a:rPr sz="2100" spc="10" dirty="0"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35000" marR="30480" indent="-571500">
              <a:lnSpc>
                <a:spcPct val="101200"/>
              </a:lnSpc>
              <a:buSzPct val="152380"/>
              <a:buFont typeface="Wingdings"/>
              <a:buChar char=""/>
              <a:tabLst>
                <a:tab pos="634365" algn="l"/>
                <a:tab pos="635000" algn="l"/>
              </a:tabLst>
            </a:pPr>
            <a:r>
              <a:rPr sz="2100" spc="10" dirty="0">
                <a:latin typeface="Calibri"/>
                <a:cs typeface="Calibri"/>
              </a:rPr>
              <a:t>In </a:t>
            </a:r>
            <a:r>
              <a:rPr sz="2100" spc="5" dirty="0">
                <a:latin typeface="Calibri"/>
                <a:cs typeface="Calibri"/>
              </a:rPr>
              <a:t>particular,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it</a:t>
            </a:r>
            <a:r>
              <a:rPr sz="2100" spc="15" dirty="0">
                <a:latin typeface="Calibri"/>
                <a:cs typeface="Calibri"/>
              </a:rPr>
              <a:t> can be </a:t>
            </a:r>
            <a:r>
              <a:rPr sz="2100" spc="10" dirty="0">
                <a:latin typeface="Calibri"/>
                <a:cs typeface="Calibri"/>
              </a:rPr>
              <a:t>applied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other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systems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exhibiting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similar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quality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attribute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</a:t>
            </a:r>
            <a:r>
              <a:rPr sz="2100" spc="10" dirty="0">
                <a:latin typeface="Calibri"/>
                <a:cs typeface="Calibri"/>
              </a:rPr>
              <a:t> functional requirements</a:t>
            </a:r>
            <a:r>
              <a:rPr sz="2100" spc="15" dirty="0">
                <a:latin typeface="Calibri"/>
                <a:cs typeface="Calibri"/>
              </a:rPr>
              <a:t> and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3366FF"/>
                </a:solidFill>
                <a:latin typeface="Calibri"/>
                <a:cs typeface="Calibri"/>
              </a:rPr>
              <a:t>can</a:t>
            </a:r>
            <a:r>
              <a:rPr sz="2100" spc="10" dirty="0">
                <a:solidFill>
                  <a:srgbClr val="3366FF"/>
                </a:solidFill>
                <a:latin typeface="Calibri"/>
                <a:cs typeface="Calibri"/>
              </a:rPr>
              <a:t> promote</a:t>
            </a:r>
            <a:r>
              <a:rPr sz="2100" spc="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3366FF"/>
                </a:solidFill>
                <a:latin typeface="Calibri"/>
                <a:cs typeface="Calibri"/>
              </a:rPr>
              <a:t>large-scale re- </a:t>
            </a:r>
            <a:r>
              <a:rPr sz="2100" spc="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3366FF"/>
                </a:solidFill>
                <a:latin typeface="Calibri"/>
                <a:cs typeface="Calibri"/>
              </a:rPr>
              <a:t>use</a:t>
            </a:r>
            <a:r>
              <a:rPr sz="2100" spc="10" dirty="0"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531" y="3956760"/>
            <a:ext cx="7049134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0" dirty="0">
                <a:latin typeface="Calibri"/>
                <a:cs typeface="Calibri"/>
              </a:rPr>
              <a:t>Systems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can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be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built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using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0090"/>
                </a:solidFill>
                <a:latin typeface="Calibri"/>
                <a:cs typeface="Calibri"/>
              </a:rPr>
              <a:t>large,</a:t>
            </a:r>
            <a:r>
              <a:rPr sz="2100" spc="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0090"/>
                </a:solidFill>
                <a:latin typeface="Calibri"/>
                <a:cs typeface="Calibri"/>
              </a:rPr>
              <a:t>externally</a:t>
            </a:r>
            <a:r>
              <a:rPr sz="2100" spc="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000090"/>
                </a:solidFill>
                <a:latin typeface="Calibri"/>
                <a:cs typeface="Calibri"/>
              </a:rPr>
              <a:t>developed</a:t>
            </a:r>
            <a:r>
              <a:rPr sz="2100" spc="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000090"/>
                </a:solidFill>
                <a:latin typeface="Calibri"/>
                <a:cs typeface="Calibri"/>
              </a:rPr>
              <a:t>elements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9789" y="4604458"/>
            <a:ext cx="596836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5" dirty="0">
                <a:latin typeface="Calibri"/>
                <a:cs typeface="Calibri"/>
              </a:rPr>
              <a:t>An</a:t>
            </a:r>
            <a:r>
              <a:rPr sz="2100" spc="10" dirty="0">
                <a:latin typeface="Calibri"/>
                <a:cs typeface="Calibri"/>
              </a:rPr>
              <a:t> architecture permits </a:t>
            </a:r>
            <a:r>
              <a:rPr sz="2100" spc="10" dirty="0">
                <a:solidFill>
                  <a:srgbClr val="FF6600"/>
                </a:solidFill>
                <a:latin typeface="Calibri"/>
                <a:cs typeface="Calibri"/>
              </a:rPr>
              <a:t>template-based </a:t>
            </a:r>
            <a:r>
              <a:rPr sz="2100" spc="15" dirty="0">
                <a:solidFill>
                  <a:srgbClr val="FF6600"/>
                </a:solidFill>
                <a:latin typeface="Calibri"/>
                <a:cs typeface="Calibri"/>
              </a:rPr>
              <a:t>development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030" y="3783194"/>
            <a:ext cx="348615" cy="198120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3200" dirty="0">
                <a:latin typeface="Wingdings"/>
                <a:cs typeface="Wingdings"/>
              </a:rPr>
              <a:t></a:t>
            </a:r>
            <a:endParaRPr sz="32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3200" dirty="0">
                <a:latin typeface="Wingdings"/>
                <a:cs typeface="Wingdings"/>
              </a:rPr>
              <a:t></a:t>
            </a:r>
            <a:endParaRPr sz="32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3200" dirty="0">
                <a:latin typeface="Wingdings"/>
                <a:cs typeface="Wingdings"/>
              </a:rPr>
              <a:t>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047" y="5264858"/>
            <a:ext cx="484886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5" dirty="0">
                <a:latin typeface="Calibri"/>
                <a:cs typeface="Calibri"/>
              </a:rPr>
              <a:t>An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architecture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can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be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basis</a:t>
            </a:r>
            <a:r>
              <a:rPr sz="210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for</a:t>
            </a:r>
            <a:r>
              <a:rPr sz="2100" spc="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training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552" y="266007"/>
            <a:ext cx="4946072" cy="6525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8723" y="972588"/>
            <a:ext cx="8674735" cy="5553075"/>
            <a:chOff x="178723" y="972588"/>
            <a:chExt cx="8674735" cy="55530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972588"/>
              <a:ext cx="8674329" cy="55529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0924" y="1000559"/>
              <a:ext cx="8569960" cy="5452110"/>
            </a:xfrm>
            <a:custGeom>
              <a:avLst/>
              <a:gdLst/>
              <a:ahLst/>
              <a:cxnLst/>
              <a:rect l="l" t="t" r="r" b="b"/>
              <a:pathLst>
                <a:path w="8569960" h="5452110">
                  <a:moveTo>
                    <a:pt x="8569893" y="0"/>
                  </a:moveTo>
                  <a:lnTo>
                    <a:pt x="0" y="0"/>
                  </a:lnTo>
                  <a:lnTo>
                    <a:pt x="0" y="5451765"/>
                  </a:lnTo>
                  <a:lnTo>
                    <a:pt x="8569893" y="5451765"/>
                  </a:lnTo>
                  <a:lnTo>
                    <a:pt x="85698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924" y="1000559"/>
              <a:ext cx="8569960" cy="5452110"/>
            </a:xfrm>
            <a:custGeom>
              <a:avLst/>
              <a:gdLst/>
              <a:ahLst/>
              <a:cxnLst/>
              <a:rect l="l" t="t" r="r" b="b"/>
              <a:pathLst>
                <a:path w="8569960" h="5452110">
                  <a:moveTo>
                    <a:pt x="0" y="0"/>
                  </a:moveTo>
                  <a:lnTo>
                    <a:pt x="8569891" y="0"/>
                  </a:lnTo>
                  <a:lnTo>
                    <a:pt x="8569891" y="5451764"/>
                  </a:lnTo>
                  <a:lnTo>
                    <a:pt x="0" y="545176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79889" y="295037"/>
            <a:ext cx="4845685" cy="55118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855">
              <a:lnSpc>
                <a:spcPts val="3465"/>
              </a:lnSpc>
            </a:pPr>
            <a:r>
              <a:rPr sz="3200" spc="-5" dirty="0">
                <a:solidFill>
                  <a:srgbClr val="008000"/>
                </a:solidFill>
              </a:rPr>
              <a:t>Role</a:t>
            </a:r>
            <a:r>
              <a:rPr sz="3200" spc="-10" dirty="0">
                <a:solidFill>
                  <a:srgbClr val="008000"/>
                </a:solidFill>
              </a:rPr>
              <a:t> </a:t>
            </a:r>
            <a:r>
              <a:rPr sz="3200" dirty="0">
                <a:solidFill>
                  <a:srgbClr val="008000"/>
                </a:solidFill>
              </a:rPr>
              <a:t>of</a:t>
            </a:r>
            <a:r>
              <a:rPr sz="3200" spc="-5" dirty="0">
                <a:solidFill>
                  <a:srgbClr val="008000"/>
                </a:solidFill>
              </a:rPr>
              <a:t> </a:t>
            </a:r>
            <a:r>
              <a:rPr sz="3200" spc="-15" dirty="0">
                <a:solidFill>
                  <a:srgbClr val="008000"/>
                </a:solidFill>
              </a:rPr>
              <a:t>Software</a:t>
            </a:r>
            <a:r>
              <a:rPr sz="3200" spc="-5" dirty="0">
                <a:solidFill>
                  <a:srgbClr val="008000"/>
                </a:solidFill>
              </a:rPr>
              <a:t> Architect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290949" y="1676400"/>
            <a:ext cx="8527122" cy="4405758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451484" indent="-363220">
              <a:lnSpc>
                <a:spcPct val="100000"/>
              </a:lnSpc>
              <a:spcBef>
                <a:spcPts val="1450"/>
              </a:spcBef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sz="2100" spc="15" dirty="0">
                <a:latin typeface="Calibri"/>
                <a:cs typeface="Calibri"/>
              </a:rPr>
              <a:t>Lead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FF6600"/>
                </a:solidFill>
                <a:latin typeface="Calibri"/>
                <a:cs typeface="Calibri"/>
              </a:rPr>
              <a:t>problem</a:t>
            </a:r>
            <a:r>
              <a:rPr sz="2100" spc="-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FF6600"/>
                </a:solidFill>
                <a:latin typeface="Calibri"/>
                <a:cs typeface="Calibri"/>
              </a:rPr>
              <a:t>domain</a:t>
            </a:r>
            <a:r>
              <a:rPr sz="2100" spc="-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FF6600"/>
                </a:solidFill>
                <a:latin typeface="Calibri"/>
                <a:cs typeface="Calibri"/>
              </a:rPr>
              <a:t>analysis</a:t>
            </a:r>
            <a:r>
              <a:rPr sz="2100" spc="-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FF6600"/>
                </a:solidFill>
                <a:latin typeface="Calibri"/>
                <a:cs typeface="Calibri"/>
              </a:rPr>
              <a:t>team</a:t>
            </a:r>
            <a:endParaRPr sz="2100" dirty="0">
              <a:latin typeface="Calibri"/>
              <a:cs typeface="Calibri"/>
            </a:endParaRPr>
          </a:p>
          <a:p>
            <a:pPr marL="451484" indent="-363220">
              <a:lnSpc>
                <a:spcPct val="100000"/>
              </a:lnSpc>
              <a:spcBef>
                <a:spcPts val="1260"/>
              </a:spcBef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sz="2100" spc="10" dirty="0">
                <a:latin typeface="Calibri"/>
                <a:cs typeface="Calibri"/>
              </a:rPr>
              <a:t>Ensure that</a:t>
            </a:r>
            <a:r>
              <a:rPr sz="2100" spc="15" dirty="0">
                <a:latin typeface="Calibri"/>
                <a:cs typeface="Calibri"/>
              </a:rPr>
              <a:t> the </a:t>
            </a:r>
            <a:r>
              <a:rPr sz="2100" spc="10" dirty="0">
                <a:solidFill>
                  <a:srgbClr val="3366FF"/>
                </a:solidFill>
                <a:latin typeface="Calibri"/>
                <a:cs typeface="Calibri"/>
              </a:rPr>
              <a:t>technical design</a:t>
            </a:r>
            <a:r>
              <a:rPr sz="2100" spc="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meets </a:t>
            </a:r>
            <a:r>
              <a:rPr sz="2100" spc="10" dirty="0">
                <a:solidFill>
                  <a:srgbClr val="FF0000"/>
                </a:solidFill>
                <a:latin typeface="Calibri"/>
                <a:cs typeface="Calibri"/>
              </a:rPr>
              <a:t>quality requirement</a:t>
            </a:r>
            <a:endParaRPr sz="2100" dirty="0">
              <a:latin typeface="Calibri"/>
              <a:cs typeface="Calibri"/>
            </a:endParaRPr>
          </a:p>
          <a:p>
            <a:pPr marL="451484" indent="-363220">
              <a:lnSpc>
                <a:spcPct val="100000"/>
              </a:lnSpc>
              <a:spcBef>
                <a:spcPts val="1360"/>
              </a:spcBef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sz="2100" spc="15" dirty="0">
                <a:latin typeface="Calibri"/>
                <a:cs typeface="Calibri"/>
              </a:rPr>
              <a:t>Perform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continuous</a:t>
            </a:r>
            <a:r>
              <a:rPr sz="2100" spc="1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risk assessment</a:t>
            </a:r>
            <a:r>
              <a:rPr sz="2100" spc="10" dirty="0">
                <a:latin typeface="Calibri"/>
                <a:cs typeface="Calibri"/>
              </a:rPr>
              <a:t>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develop risk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008000"/>
                </a:solidFill>
                <a:latin typeface="Calibri"/>
                <a:cs typeface="Calibri"/>
              </a:rPr>
              <a:t>mitigation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 strategies</a:t>
            </a:r>
            <a:endParaRPr sz="2100" dirty="0">
              <a:latin typeface="Calibri"/>
              <a:cs typeface="Calibri"/>
            </a:endParaRPr>
          </a:p>
          <a:p>
            <a:pPr marL="511809" indent="-423545">
              <a:lnSpc>
                <a:spcPct val="100000"/>
              </a:lnSpc>
              <a:spcBef>
                <a:spcPts val="2360"/>
              </a:spcBef>
              <a:buSzPct val="152380"/>
              <a:buFont typeface="Wingdings"/>
              <a:buChar char=""/>
              <a:tabLst>
                <a:tab pos="512445" algn="l"/>
              </a:tabLst>
            </a:pPr>
            <a:r>
              <a:rPr sz="2100" spc="10" dirty="0">
                <a:latin typeface="Calibri"/>
                <a:cs typeface="Calibri"/>
              </a:rPr>
              <a:t>Perform 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early prototyping </a:t>
            </a:r>
            <a:r>
              <a:rPr sz="2100" spc="15" dirty="0">
                <a:solidFill>
                  <a:srgbClr val="800000"/>
                </a:solidFill>
                <a:latin typeface="Calibri"/>
                <a:cs typeface="Calibri"/>
              </a:rPr>
              <a:t>aimed</a:t>
            </a:r>
            <a:r>
              <a:rPr sz="2100" spc="1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at </a:t>
            </a:r>
            <a:r>
              <a:rPr sz="2100" spc="5" dirty="0">
                <a:solidFill>
                  <a:srgbClr val="008000"/>
                </a:solidFill>
                <a:latin typeface="Calibri"/>
                <a:cs typeface="Calibri"/>
              </a:rPr>
              <a:t>mitigating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 major risks</a:t>
            </a:r>
            <a:endParaRPr sz="2100" dirty="0">
              <a:latin typeface="Calibri"/>
              <a:cs typeface="Calibri"/>
            </a:endParaRPr>
          </a:p>
          <a:p>
            <a:pPr marL="367665" marR="1432560" indent="-279400">
              <a:lnSpc>
                <a:spcPct val="112400"/>
              </a:lnSpc>
              <a:spcBef>
                <a:spcPts val="735"/>
              </a:spcBef>
              <a:buClr>
                <a:srgbClr val="000000"/>
              </a:buClr>
              <a:buSzPct val="152380"/>
              <a:buFont typeface="Wingdings"/>
              <a:buChar char=""/>
              <a:tabLst>
                <a:tab pos="512445" algn="l"/>
              </a:tabLst>
            </a:pPr>
            <a:r>
              <a:rPr sz="2100" spc="15" dirty="0">
                <a:solidFill>
                  <a:srgbClr val="008000"/>
                </a:solidFill>
                <a:latin typeface="Calibri"/>
                <a:cs typeface="Calibri"/>
              </a:rPr>
              <a:t>Communicate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 with</a:t>
            </a:r>
            <a:r>
              <a:rPr sz="21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stakeholders</a:t>
            </a:r>
            <a:r>
              <a:rPr sz="21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through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detailed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technical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presentations</a:t>
            </a:r>
            <a:endParaRPr sz="2100" dirty="0">
              <a:latin typeface="Calibri"/>
              <a:cs typeface="Calibri"/>
            </a:endParaRPr>
          </a:p>
          <a:p>
            <a:pPr marL="451484" indent="-363220">
              <a:lnSpc>
                <a:spcPts val="2720"/>
              </a:lnSpc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sz="2100" spc="10" dirty="0">
                <a:latin typeface="Calibri"/>
                <a:cs typeface="Calibri"/>
              </a:rPr>
              <a:t>Listen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to stakeholders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</a:t>
            </a:r>
            <a:r>
              <a:rPr sz="2100" spc="10" dirty="0">
                <a:latin typeface="Calibri"/>
                <a:cs typeface="Calibri"/>
              </a:rPr>
              <a:t> build </a:t>
            </a:r>
            <a:r>
              <a:rPr sz="2100" spc="10" dirty="0">
                <a:solidFill>
                  <a:srgbClr val="0000FF"/>
                </a:solidFill>
                <a:latin typeface="Calibri"/>
                <a:cs typeface="Calibri"/>
              </a:rPr>
              <a:t>consensus</a:t>
            </a:r>
            <a:endParaRPr sz="2100" dirty="0">
              <a:latin typeface="Calibri"/>
              <a:cs typeface="Calibri"/>
            </a:endParaRPr>
          </a:p>
          <a:p>
            <a:pPr marL="367665" marR="30480" indent="-279400">
              <a:lnSpc>
                <a:spcPct val="91200"/>
              </a:lnSpc>
              <a:spcBef>
                <a:spcPts val="1700"/>
              </a:spcBef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sz="2100" spc="15" dirty="0">
                <a:latin typeface="Calibri"/>
                <a:cs typeface="Calibri"/>
              </a:rPr>
              <a:t>Review</a:t>
            </a:r>
            <a:r>
              <a:rPr sz="2100" spc="10" dirty="0">
                <a:latin typeface="Calibri"/>
                <a:cs typeface="Calibri"/>
              </a:rPr>
              <a:t> developer</a:t>
            </a:r>
            <a:r>
              <a:rPr sz="2100" spc="15" dirty="0">
                <a:latin typeface="Calibri"/>
                <a:cs typeface="Calibri"/>
              </a:rPr>
              <a:t> code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and </a:t>
            </a:r>
            <a:r>
              <a:rPr sz="2100" spc="10" dirty="0">
                <a:latin typeface="Calibri"/>
                <a:cs typeface="Calibri"/>
              </a:rPr>
              <a:t>ensure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conformance to</a:t>
            </a:r>
            <a:r>
              <a:rPr sz="2100" spc="15" dirty="0">
                <a:latin typeface="Calibri"/>
                <a:cs typeface="Calibri"/>
              </a:rPr>
              <a:t> the</a:t>
            </a:r>
            <a:r>
              <a:rPr sz="2100" spc="10" dirty="0">
                <a:latin typeface="Calibri"/>
                <a:cs typeface="Calibri"/>
              </a:rPr>
              <a:t> architecture</a:t>
            </a:r>
            <a:r>
              <a:rPr sz="2100" spc="15" dirty="0">
                <a:latin typeface="Calibri"/>
                <a:cs typeface="Calibri"/>
              </a:rPr>
              <a:t> and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good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coding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practices</a:t>
            </a:r>
            <a:endParaRPr sz="2100" dirty="0">
              <a:latin typeface="Calibri"/>
              <a:cs typeface="Calibri"/>
            </a:endParaRPr>
          </a:p>
          <a:p>
            <a:pPr marL="451484" indent="-363220">
              <a:lnSpc>
                <a:spcPts val="2820"/>
              </a:lnSpc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sz="2100" spc="10" dirty="0">
                <a:latin typeface="Calibri"/>
                <a:cs typeface="Calibri"/>
              </a:rPr>
              <a:t>Serve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as </a:t>
            </a:r>
            <a:r>
              <a:rPr sz="2100" spc="15" dirty="0">
                <a:latin typeface="Calibri"/>
                <a:cs typeface="Calibri"/>
              </a:rPr>
              <a:t>a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008000"/>
                </a:solidFill>
                <a:latin typeface="Calibri"/>
                <a:cs typeface="Calibri"/>
              </a:rPr>
              <a:t>mentor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 for analysts, designers, </a:t>
            </a:r>
            <a:r>
              <a:rPr sz="2100" spc="15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2100" spc="10" dirty="0">
                <a:solidFill>
                  <a:srgbClr val="008000"/>
                </a:solidFill>
                <a:latin typeface="Calibri"/>
                <a:cs typeface="Calibri"/>
              </a:rPr>
              <a:t> developers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7192E-587E-F381-12ED-2AFB1BE8F02C}"/>
              </a:ext>
            </a:extLst>
          </p:cNvPr>
          <p:cNvSpPr txBox="1"/>
          <p:nvPr/>
        </p:nvSpPr>
        <p:spPr>
          <a:xfrm>
            <a:off x="213736" y="1337392"/>
            <a:ext cx="649186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1484" indent="-363220">
              <a:lnSpc>
                <a:spcPct val="100000"/>
              </a:lnSpc>
              <a:spcBef>
                <a:spcPts val="1450"/>
              </a:spcBef>
              <a:buSzPct val="147619"/>
              <a:buFont typeface="Wingdings"/>
              <a:buChar char=""/>
              <a:tabLst>
                <a:tab pos="452120" algn="l"/>
              </a:tabLst>
            </a:pPr>
            <a:r>
              <a:rPr lang="en-US" sz="2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Convert </a:t>
            </a:r>
            <a:r>
              <a:rPr lang="en-US" sz="2100" b="0" i="0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customer requirements </a:t>
            </a:r>
            <a:r>
              <a:rPr lang="en-US" sz="2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into </a:t>
            </a:r>
            <a:r>
              <a:rPr lang="en-US" sz="2100" b="0" i="0" dirty="0">
                <a:solidFill>
                  <a:srgbClr val="3366FF"/>
                </a:solidFill>
                <a:effectLst/>
                <a:latin typeface="Calibri" panose="020F0502020204030204" pitchFamily="34" charset="0"/>
              </a:rPr>
              <a:t>technical design</a:t>
            </a:r>
            <a:r>
              <a:rPr lang="en-US" sz="2100" dirty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276" y="245225"/>
            <a:ext cx="6936969" cy="74398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909" y="1292628"/>
            <a:ext cx="8861425" cy="4692650"/>
            <a:chOff x="103909" y="1292628"/>
            <a:chExt cx="8861425" cy="4692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09" y="1292628"/>
              <a:ext cx="8861366" cy="46925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3950" y="1321252"/>
              <a:ext cx="8761730" cy="4592320"/>
            </a:xfrm>
            <a:custGeom>
              <a:avLst/>
              <a:gdLst/>
              <a:ahLst/>
              <a:cxnLst/>
              <a:rect l="l" t="t" r="r" b="b"/>
              <a:pathLst>
                <a:path w="8761730" h="4592320">
                  <a:moveTo>
                    <a:pt x="8761448" y="0"/>
                  </a:moveTo>
                  <a:lnTo>
                    <a:pt x="0" y="0"/>
                  </a:lnTo>
                  <a:lnTo>
                    <a:pt x="0" y="4592309"/>
                  </a:lnTo>
                  <a:lnTo>
                    <a:pt x="8761448" y="4592309"/>
                  </a:lnTo>
                  <a:lnTo>
                    <a:pt x="8761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950" y="1321252"/>
              <a:ext cx="8761730" cy="4592320"/>
            </a:xfrm>
            <a:custGeom>
              <a:avLst/>
              <a:gdLst/>
              <a:ahLst/>
              <a:cxnLst/>
              <a:rect l="l" t="t" r="r" b="b"/>
              <a:pathLst>
                <a:path w="8761730" h="4592320">
                  <a:moveTo>
                    <a:pt x="0" y="0"/>
                  </a:moveTo>
                  <a:lnTo>
                    <a:pt x="8761447" y="0"/>
                  </a:lnTo>
                  <a:lnTo>
                    <a:pt x="8761447" y="4592309"/>
                  </a:lnTo>
                  <a:lnTo>
                    <a:pt x="0" y="459230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3504" y="274638"/>
            <a:ext cx="6838315" cy="64008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565150">
              <a:lnSpc>
                <a:spcPct val="100000"/>
              </a:lnSpc>
              <a:spcBef>
                <a:spcPts val="114"/>
              </a:spcBef>
            </a:pPr>
            <a:r>
              <a:rPr sz="4000" spc="-5" dirty="0"/>
              <a:t>Architectural Design Process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383540" y="1449019"/>
            <a:ext cx="8462645" cy="411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structuring </a:t>
            </a:r>
            <a:r>
              <a:rPr sz="24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24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partitioning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"/>
            </a:pPr>
            <a:endParaRPr sz="3350">
              <a:latin typeface="Calibri"/>
              <a:cs typeface="Calibri"/>
            </a:endParaRPr>
          </a:p>
          <a:p>
            <a:pPr marL="354965" marR="5080" indent="-342900">
              <a:lnSpc>
                <a:spcPts val="2820"/>
              </a:lnSpc>
              <a:buFont typeface="Wingdings"/>
              <a:buChar char=""/>
              <a:tabLst>
                <a:tab pos="358140" algn="l"/>
                <a:tab pos="2501900" algn="l"/>
                <a:tab pos="2985135" algn="l"/>
                <a:tab pos="4325620" algn="l"/>
                <a:tab pos="5445760" algn="l"/>
                <a:tab pos="6176645" algn="l"/>
                <a:tab pos="7970520" algn="l"/>
              </a:tabLst>
            </a:pPr>
            <a:r>
              <a:rPr sz="2400" spc="30" dirty="0">
                <a:latin typeface="Calibri"/>
                <a:cs typeface="Calibri"/>
              </a:rPr>
              <a:t>Decomposi</a:t>
            </a:r>
            <a:r>
              <a:rPr sz="2400" spc="5" dirty="0">
                <a:latin typeface="Calibri"/>
                <a:cs typeface="Calibri"/>
              </a:rPr>
              <a:t>ti</a:t>
            </a:r>
            <a:r>
              <a:rPr sz="2400" spc="3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	</a:t>
            </a:r>
            <a:r>
              <a:rPr sz="2400" spc="3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	</a:t>
            </a:r>
            <a:r>
              <a:rPr sz="2400" spc="30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30" dirty="0">
                <a:latin typeface="Calibri"/>
                <a:cs typeface="Calibri"/>
              </a:rPr>
              <a:t>war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30" dirty="0">
                <a:latin typeface="Calibri"/>
                <a:cs typeface="Calibri"/>
              </a:rPr>
              <a:t>syste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30" dirty="0">
                <a:solidFill>
                  <a:srgbClr val="0000FF"/>
                </a:solidFill>
                <a:latin typeface="Calibri"/>
                <a:cs typeface="Calibri"/>
              </a:rPr>
              <a:t>int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o	</a:t>
            </a:r>
            <a:r>
              <a:rPr sz="2400" spc="30" dirty="0">
                <a:solidFill>
                  <a:srgbClr val="0000FF"/>
                </a:solidFill>
                <a:latin typeface="Calibri"/>
                <a:cs typeface="Calibri"/>
              </a:rPr>
              <a:t>sub-system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	</a:t>
            </a:r>
            <a:r>
              <a:rPr sz="2400" spc="30" dirty="0">
                <a:solidFill>
                  <a:srgbClr val="0000FF"/>
                </a:solidFill>
                <a:latin typeface="Calibri"/>
                <a:cs typeface="Calibri"/>
              </a:rPr>
              <a:t>and 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communications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between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sub-systems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"/>
            </a:pPr>
            <a:endParaRPr sz="32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Sub-system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system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from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sub-systems.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"/>
            </a:pPr>
            <a:endParaRPr sz="32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Decomposition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sub-system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6600"/>
                </a:solidFill>
                <a:latin typeface="Calibri"/>
                <a:cs typeface="Calibri"/>
              </a:rPr>
              <a:t>into </a:t>
            </a:r>
            <a:r>
              <a:rPr sz="2400" spc="-5" dirty="0">
                <a:solidFill>
                  <a:srgbClr val="FF6600"/>
                </a:solidFill>
                <a:latin typeface="Calibri"/>
                <a:cs typeface="Calibri"/>
              </a:rPr>
              <a:t>modules</a:t>
            </a:r>
            <a:r>
              <a:rPr sz="2400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6600"/>
                </a:solidFill>
                <a:latin typeface="Calibri"/>
                <a:cs typeface="Calibri"/>
              </a:rPr>
              <a:t>or</a:t>
            </a:r>
            <a:r>
              <a:rPr sz="2400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6600"/>
                </a:solidFill>
                <a:latin typeface="Calibri"/>
                <a:cs typeface="Calibri"/>
              </a:rPr>
              <a:t>components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Component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(module)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provides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services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component.</a:t>
            </a:r>
            <a:endParaRPr sz="20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50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Reuse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7323" y="344977"/>
            <a:ext cx="7814309" cy="719455"/>
            <a:chOff x="407323" y="344977"/>
            <a:chExt cx="7814309" cy="719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323" y="344977"/>
              <a:ext cx="7813963" cy="7190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372003"/>
              <a:ext cx="7715250" cy="619125"/>
            </a:xfrm>
            <a:custGeom>
              <a:avLst/>
              <a:gdLst/>
              <a:ahLst/>
              <a:cxnLst/>
              <a:rect l="l" t="t" r="r" b="b"/>
              <a:pathLst>
                <a:path w="7715250" h="619125">
                  <a:moveTo>
                    <a:pt x="7611885" y="0"/>
                  </a:moveTo>
                  <a:lnTo>
                    <a:pt x="103101" y="0"/>
                  </a:lnTo>
                  <a:lnTo>
                    <a:pt x="62969" y="8102"/>
                  </a:lnTo>
                  <a:lnTo>
                    <a:pt x="30197" y="30198"/>
                  </a:lnTo>
                  <a:lnTo>
                    <a:pt x="8102" y="62970"/>
                  </a:lnTo>
                  <a:lnTo>
                    <a:pt x="0" y="103102"/>
                  </a:lnTo>
                  <a:lnTo>
                    <a:pt x="0" y="515495"/>
                  </a:lnTo>
                  <a:lnTo>
                    <a:pt x="8102" y="555627"/>
                  </a:lnTo>
                  <a:lnTo>
                    <a:pt x="30197" y="588399"/>
                  </a:lnTo>
                  <a:lnTo>
                    <a:pt x="62969" y="610494"/>
                  </a:lnTo>
                  <a:lnTo>
                    <a:pt x="103101" y="618596"/>
                  </a:lnTo>
                  <a:lnTo>
                    <a:pt x="7611885" y="618596"/>
                  </a:lnTo>
                  <a:lnTo>
                    <a:pt x="7652018" y="610494"/>
                  </a:lnTo>
                  <a:lnTo>
                    <a:pt x="7684790" y="588399"/>
                  </a:lnTo>
                  <a:lnTo>
                    <a:pt x="7706886" y="555627"/>
                  </a:lnTo>
                  <a:lnTo>
                    <a:pt x="7714988" y="515495"/>
                  </a:lnTo>
                  <a:lnTo>
                    <a:pt x="7714988" y="103102"/>
                  </a:lnTo>
                  <a:lnTo>
                    <a:pt x="7706886" y="62970"/>
                  </a:lnTo>
                  <a:lnTo>
                    <a:pt x="7684790" y="30198"/>
                  </a:lnTo>
                  <a:lnTo>
                    <a:pt x="7652018" y="8102"/>
                  </a:lnTo>
                  <a:lnTo>
                    <a:pt x="76118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72003"/>
              <a:ext cx="7715250" cy="619125"/>
            </a:xfrm>
            <a:custGeom>
              <a:avLst/>
              <a:gdLst/>
              <a:ahLst/>
              <a:cxnLst/>
              <a:rect l="l" t="t" r="r" b="b"/>
              <a:pathLst>
                <a:path w="7715250" h="619125">
                  <a:moveTo>
                    <a:pt x="0" y="103101"/>
                  </a:moveTo>
                  <a:lnTo>
                    <a:pt x="8102" y="62969"/>
                  </a:lnTo>
                  <a:lnTo>
                    <a:pt x="30197" y="30197"/>
                  </a:lnTo>
                  <a:lnTo>
                    <a:pt x="62970" y="8102"/>
                  </a:lnTo>
                  <a:lnTo>
                    <a:pt x="103101" y="0"/>
                  </a:lnTo>
                  <a:lnTo>
                    <a:pt x="7611885" y="0"/>
                  </a:lnTo>
                  <a:lnTo>
                    <a:pt x="7652016" y="8102"/>
                  </a:lnTo>
                  <a:lnTo>
                    <a:pt x="7684788" y="30197"/>
                  </a:lnTo>
                  <a:lnTo>
                    <a:pt x="7706884" y="62969"/>
                  </a:lnTo>
                  <a:lnTo>
                    <a:pt x="7714986" y="103101"/>
                  </a:lnTo>
                  <a:lnTo>
                    <a:pt x="7714986" y="515494"/>
                  </a:lnTo>
                  <a:lnTo>
                    <a:pt x="7706884" y="555626"/>
                  </a:lnTo>
                  <a:lnTo>
                    <a:pt x="7684788" y="588398"/>
                  </a:lnTo>
                  <a:lnTo>
                    <a:pt x="7652016" y="610494"/>
                  </a:lnTo>
                  <a:lnTo>
                    <a:pt x="7611885" y="618596"/>
                  </a:lnTo>
                  <a:lnTo>
                    <a:pt x="103101" y="618596"/>
                  </a:lnTo>
                  <a:lnTo>
                    <a:pt x="62970" y="610494"/>
                  </a:lnTo>
                  <a:lnTo>
                    <a:pt x="30197" y="588398"/>
                  </a:lnTo>
                  <a:lnTo>
                    <a:pt x="8102" y="555626"/>
                  </a:lnTo>
                  <a:lnTo>
                    <a:pt x="0" y="515494"/>
                  </a:lnTo>
                  <a:lnTo>
                    <a:pt x="0" y="103101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3785" y="1924396"/>
            <a:ext cx="8823960" cy="3317240"/>
            <a:chOff x="153785" y="1924396"/>
            <a:chExt cx="8823960" cy="33172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785" y="1924396"/>
              <a:ext cx="8823960" cy="33167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5266" y="1951909"/>
              <a:ext cx="8724265" cy="3218180"/>
            </a:xfrm>
            <a:custGeom>
              <a:avLst/>
              <a:gdLst/>
              <a:ahLst/>
              <a:cxnLst/>
              <a:rect l="l" t="t" r="r" b="b"/>
              <a:pathLst>
                <a:path w="8724265" h="3218179">
                  <a:moveTo>
                    <a:pt x="8723842" y="0"/>
                  </a:moveTo>
                  <a:lnTo>
                    <a:pt x="0" y="0"/>
                  </a:lnTo>
                  <a:lnTo>
                    <a:pt x="0" y="3217645"/>
                  </a:lnTo>
                  <a:lnTo>
                    <a:pt x="8723842" y="3217645"/>
                  </a:lnTo>
                  <a:lnTo>
                    <a:pt x="8723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5266" y="1951910"/>
              <a:ext cx="8724265" cy="3218180"/>
            </a:xfrm>
            <a:custGeom>
              <a:avLst/>
              <a:gdLst/>
              <a:ahLst/>
              <a:cxnLst/>
              <a:rect l="l" t="t" r="r" b="b"/>
              <a:pathLst>
                <a:path w="8724265" h="3218179">
                  <a:moveTo>
                    <a:pt x="0" y="0"/>
                  </a:moveTo>
                  <a:lnTo>
                    <a:pt x="8723841" y="0"/>
                  </a:lnTo>
                  <a:lnTo>
                    <a:pt x="8723841" y="3217645"/>
                  </a:lnTo>
                  <a:lnTo>
                    <a:pt x="0" y="321764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39" y="345599"/>
            <a:ext cx="76142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Sub-systems,</a:t>
            </a:r>
            <a:r>
              <a:rPr spc="-10" dirty="0"/>
              <a:t> </a:t>
            </a:r>
            <a:r>
              <a:rPr spc="-5" dirty="0"/>
              <a:t>Modules</a:t>
            </a:r>
            <a:r>
              <a:rPr spc="-10" dirty="0"/>
              <a:t> </a:t>
            </a:r>
            <a:r>
              <a:rPr spc="-5" dirty="0"/>
              <a:t>and Components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3540" y="1959530"/>
            <a:ext cx="8230234" cy="30353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marR="5080" indent="-342900" algn="just">
              <a:lnSpc>
                <a:spcPts val="2100"/>
              </a:lnSpc>
              <a:spcBef>
                <a:spcPts val="42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sub-system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a </a:t>
            </a:r>
            <a:r>
              <a:rPr sz="2000" spc="-5" dirty="0">
                <a:latin typeface="Calibri"/>
                <a:cs typeface="Calibri"/>
              </a:rPr>
              <a:t>system </a:t>
            </a:r>
            <a:r>
              <a:rPr sz="2000" dirty="0">
                <a:latin typeface="Calibri"/>
                <a:cs typeface="Calibri"/>
              </a:rPr>
              <a:t>in its </a:t>
            </a:r>
            <a:r>
              <a:rPr sz="2000" spc="-5" dirty="0">
                <a:latin typeface="Calibri"/>
                <a:cs typeface="Calibri"/>
              </a:rPr>
              <a:t>own right whose operation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independent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services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provided</a:t>
            </a:r>
            <a:r>
              <a:rPr sz="2000" dirty="0">
                <a:latin typeface="Calibri"/>
                <a:cs typeface="Calibri"/>
              </a:rPr>
              <a:t> by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sub-systems.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"/>
            </a:pPr>
            <a:endParaRPr sz="2550">
              <a:latin typeface="Calibri"/>
              <a:cs typeface="Calibri"/>
            </a:endParaRPr>
          </a:p>
          <a:p>
            <a:pPr marL="354965" marR="5080" indent="-342900" algn="just">
              <a:lnSpc>
                <a:spcPts val="212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module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system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</a:t>
            </a:r>
            <a:r>
              <a:rPr sz="2000" dirty="0">
                <a:latin typeface="Calibri"/>
                <a:cs typeface="Calibri"/>
              </a:rPr>
              <a:t> 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7F0101"/>
                </a:solidFill>
                <a:latin typeface="Calibri"/>
                <a:cs typeface="Calibri"/>
              </a:rPr>
              <a:t>provides</a:t>
            </a:r>
            <a:r>
              <a:rPr sz="2000" b="1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7F0101"/>
                </a:solidFill>
                <a:latin typeface="Calibri"/>
                <a:cs typeface="Calibri"/>
              </a:rPr>
              <a:t>services</a:t>
            </a:r>
            <a:r>
              <a:rPr sz="2000" b="1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would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normally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considered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separate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"/>
            </a:pPr>
            <a:endParaRPr sz="260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892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component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7F0101"/>
                </a:solidFill>
                <a:latin typeface="Calibri"/>
                <a:cs typeface="Calibri"/>
              </a:rPr>
              <a:t>independently</a:t>
            </a:r>
            <a:r>
              <a:rPr sz="2000" b="1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7F0101"/>
                </a:solidFill>
                <a:latin typeface="Calibri"/>
                <a:cs typeface="Calibri"/>
              </a:rPr>
              <a:t>deliverable</a:t>
            </a:r>
            <a:r>
              <a:rPr sz="2000" b="1" i="1" dirty="0">
                <a:solidFill>
                  <a:srgbClr val="7F0101"/>
                </a:solidFill>
                <a:latin typeface="Calibri"/>
                <a:cs typeface="Calibri"/>
              </a:rPr>
              <a:t> unit</a:t>
            </a:r>
            <a:r>
              <a:rPr sz="2000" b="1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software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encapsulates</a:t>
            </a:r>
            <a:r>
              <a:rPr sz="2000" dirty="0">
                <a:latin typeface="Calibri"/>
                <a:cs typeface="Calibri"/>
              </a:rPr>
              <a:t> its design and </a:t>
            </a:r>
            <a:r>
              <a:rPr sz="2000" spc="-5" dirty="0">
                <a:latin typeface="Calibri"/>
                <a:cs typeface="Calibri"/>
              </a:rPr>
              <a:t>implementation</a:t>
            </a:r>
            <a:r>
              <a:rPr sz="2000" dirty="0">
                <a:latin typeface="Calibri"/>
                <a:cs typeface="Calibri"/>
              </a:rPr>
              <a:t> and </a:t>
            </a:r>
            <a:r>
              <a:rPr sz="2000" spc="-5" dirty="0">
                <a:latin typeface="Calibri"/>
                <a:cs typeface="Calibri"/>
              </a:rPr>
              <a:t>oﬀers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interfaces</a:t>
            </a:r>
            <a:r>
              <a:rPr sz="2000" dirty="0">
                <a:latin typeface="Calibri"/>
                <a:cs typeface="Calibri"/>
              </a:rPr>
              <a:t> to 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out-side, </a:t>
            </a:r>
            <a:r>
              <a:rPr sz="2000" dirty="0">
                <a:latin typeface="Calibri"/>
                <a:cs typeface="Calibri"/>
              </a:rPr>
              <a:t>by </a:t>
            </a:r>
            <a:r>
              <a:rPr sz="2000" spc="-5" dirty="0">
                <a:latin typeface="Calibri"/>
                <a:cs typeface="Calibri"/>
              </a:rPr>
              <a:t>which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5" dirty="0">
                <a:latin typeface="Calibri"/>
                <a:cs typeface="Calibri"/>
              </a:rPr>
              <a:t>may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-5" dirty="0">
                <a:latin typeface="Calibri"/>
                <a:cs typeface="Calibri"/>
              </a:rPr>
              <a:t>composed with other components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form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larger whole.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27068" y="432261"/>
            <a:ext cx="4077970" cy="631825"/>
            <a:chOff x="2527068" y="432261"/>
            <a:chExt cx="4077970" cy="631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7068" y="432261"/>
              <a:ext cx="4077392" cy="6317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78665" y="461797"/>
              <a:ext cx="3975100" cy="528955"/>
            </a:xfrm>
            <a:custGeom>
              <a:avLst/>
              <a:gdLst/>
              <a:ahLst/>
              <a:cxnLst/>
              <a:rect l="l" t="t" r="r" b="b"/>
              <a:pathLst>
                <a:path w="3975100" h="528955">
                  <a:moveTo>
                    <a:pt x="3974533" y="0"/>
                  </a:moveTo>
                  <a:lnTo>
                    <a:pt x="0" y="0"/>
                  </a:lnTo>
                  <a:lnTo>
                    <a:pt x="0" y="528803"/>
                  </a:lnTo>
                  <a:lnTo>
                    <a:pt x="3974533" y="528803"/>
                  </a:lnTo>
                  <a:lnTo>
                    <a:pt x="39745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78665" y="461797"/>
              <a:ext cx="3975100" cy="528955"/>
            </a:xfrm>
            <a:custGeom>
              <a:avLst/>
              <a:gdLst/>
              <a:ahLst/>
              <a:cxnLst/>
              <a:rect l="l" t="t" r="r" b="b"/>
              <a:pathLst>
                <a:path w="3975100" h="528955">
                  <a:moveTo>
                    <a:pt x="0" y="0"/>
                  </a:moveTo>
                  <a:lnTo>
                    <a:pt x="3974532" y="0"/>
                  </a:lnTo>
                  <a:lnTo>
                    <a:pt x="3974532" y="528802"/>
                  </a:lnTo>
                  <a:lnTo>
                    <a:pt x="0" y="528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8723" y="1113904"/>
            <a:ext cx="8815705" cy="4759325"/>
            <a:chOff x="178723" y="1113904"/>
            <a:chExt cx="8815705" cy="47593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1113904"/>
              <a:ext cx="8815646" cy="47590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600" y="1143001"/>
              <a:ext cx="8713470" cy="4655185"/>
            </a:xfrm>
            <a:custGeom>
              <a:avLst/>
              <a:gdLst/>
              <a:ahLst/>
              <a:cxnLst/>
              <a:rect l="l" t="t" r="r" b="b"/>
              <a:pathLst>
                <a:path w="8713470" h="4655185">
                  <a:moveTo>
                    <a:pt x="8713339" y="0"/>
                  </a:moveTo>
                  <a:lnTo>
                    <a:pt x="0" y="0"/>
                  </a:lnTo>
                  <a:lnTo>
                    <a:pt x="0" y="4655111"/>
                  </a:lnTo>
                  <a:lnTo>
                    <a:pt x="8713339" y="4655111"/>
                  </a:lnTo>
                  <a:lnTo>
                    <a:pt x="87133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9" y="1143001"/>
              <a:ext cx="8713470" cy="4655185"/>
            </a:xfrm>
            <a:custGeom>
              <a:avLst/>
              <a:gdLst/>
              <a:ahLst/>
              <a:cxnLst/>
              <a:rect l="l" t="t" r="r" b="b"/>
              <a:pathLst>
                <a:path w="8713470" h="4655185">
                  <a:moveTo>
                    <a:pt x="0" y="0"/>
                  </a:moveTo>
                  <a:lnTo>
                    <a:pt x="8713337" y="0"/>
                  </a:lnTo>
                  <a:lnTo>
                    <a:pt x="8713337" y="4655111"/>
                  </a:lnTo>
                  <a:lnTo>
                    <a:pt x="0" y="46551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672456" y="315119"/>
            <a:ext cx="38061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Architecture</a:t>
            </a:r>
            <a:r>
              <a:rPr sz="4000" spc="-35" dirty="0"/>
              <a:t> </a:t>
            </a:r>
            <a:r>
              <a:rPr sz="4000" spc="-5" dirty="0"/>
              <a:t>Style</a:t>
            </a:r>
            <a:endParaRPr sz="4000"/>
          </a:p>
        </p:txBody>
      </p:sp>
      <p:sp>
        <p:nvSpPr>
          <p:cNvPr id="12" name="object 12"/>
          <p:cNvSpPr txBox="1"/>
          <p:nvPr/>
        </p:nvSpPr>
        <p:spPr>
          <a:xfrm>
            <a:off x="307340" y="1092200"/>
            <a:ext cx="8563610" cy="46253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4965" marR="6350" indent="-342900" algn="just">
              <a:lnSpc>
                <a:spcPct val="79500"/>
              </a:lnSpc>
              <a:spcBef>
                <a:spcPts val="910"/>
              </a:spcBef>
              <a:buSzPct val="96969"/>
              <a:buFont typeface="Wingdings"/>
              <a:buChar char=""/>
              <a:tabLst>
                <a:tab pos="387350" algn="l"/>
              </a:tabLst>
            </a:pPr>
            <a:r>
              <a:rPr sz="3300" dirty="0">
                <a:latin typeface="Calibri"/>
                <a:cs typeface="Calibri"/>
              </a:rPr>
              <a:t>Set </a:t>
            </a:r>
            <a:r>
              <a:rPr sz="3300" spc="-5" dirty="0">
                <a:latin typeface="Calibri"/>
                <a:cs typeface="Calibri"/>
              </a:rPr>
              <a:t>of rules, constraints, or </a:t>
            </a:r>
            <a:r>
              <a:rPr sz="3300" spc="-20" dirty="0">
                <a:latin typeface="Calibri"/>
                <a:cs typeface="Calibri"/>
              </a:rPr>
              <a:t>patterns </a:t>
            </a:r>
            <a:r>
              <a:rPr sz="3300" spc="-5" dirty="0">
                <a:latin typeface="Calibri"/>
                <a:cs typeface="Calibri"/>
              </a:rPr>
              <a:t>of how </a:t>
            </a:r>
            <a:r>
              <a:rPr sz="3300" dirty="0">
                <a:latin typeface="Calibri"/>
                <a:cs typeface="Calibri"/>
              </a:rPr>
              <a:t>to 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structure</a:t>
            </a:r>
            <a:r>
              <a:rPr sz="3300" dirty="0">
                <a:latin typeface="Calibri"/>
                <a:cs typeface="Calibri"/>
              </a:rPr>
              <a:t> a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system</a:t>
            </a:r>
            <a:r>
              <a:rPr sz="3300" dirty="0">
                <a:latin typeface="Calibri"/>
                <a:cs typeface="Calibri"/>
              </a:rPr>
              <a:t> into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set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of</a:t>
            </a:r>
            <a:r>
              <a:rPr sz="3300" spc="73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components </a:t>
            </a:r>
            <a:r>
              <a:rPr sz="3300" spc="-73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and</a:t>
            </a:r>
            <a:r>
              <a:rPr sz="3300" spc="-5" dirty="0">
                <a:latin typeface="Calibri"/>
                <a:cs typeface="Calibri"/>
              </a:rPr>
              <a:t> connectors.</a:t>
            </a:r>
            <a:endParaRPr sz="3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"/>
            </a:pPr>
            <a:endParaRPr sz="3850" dirty="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79800"/>
              </a:lnSpc>
              <a:spcBef>
                <a:spcPts val="5"/>
              </a:spcBef>
              <a:buSzPct val="96969"/>
              <a:buFont typeface="Wingdings"/>
              <a:buChar char=""/>
              <a:tabLst>
                <a:tab pos="387350" algn="l"/>
              </a:tabLst>
            </a:pPr>
            <a:r>
              <a:rPr sz="3300" spc="5" dirty="0">
                <a:latin typeface="Calibri"/>
                <a:cs typeface="Calibri"/>
              </a:rPr>
              <a:t>An</a:t>
            </a:r>
            <a:r>
              <a:rPr sz="3300" spc="10" dirty="0">
                <a:latin typeface="Calibri"/>
                <a:cs typeface="Calibri"/>
              </a:rPr>
              <a:t> </a:t>
            </a:r>
            <a:r>
              <a:rPr sz="3300" i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architectural</a:t>
            </a:r>
            <a:r>
              <a:rPr sz="3300" i="1" u="heavy" spc="7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300" i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style</a:t>
            </a:r>
            <a:r>
              <a:rPr sz="3300" i="1" spc="770" dirty="0">
                <a:latin typeface="Calibri"/>
                <a:cs typeface="Calibri"/>
              </a:rPr>
              <a:t> </a:t>
            </a:r>
            <a:r>
              <a:rPr sz="3300" spc="5" dirty="0">
                <a:latin typeface="Calibri"/>
                <a:cs typeface="Calibri"/>
              </a:rPr>
              <a:t>defines</a:t>
            </a:r>
            <a:r>
              <a:rPr sz="3300" spc="1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10" dirty="0">
                <a:solidFill>
                  <a:srgbClr val="FF0000"/>
                </a:solidFill>
                <a:latin typeface="Calibri"/>
                <a:cs typeface="Calibri"/>
              </a:rPr>
              <a:t>family</a:t>
            </a:r>
            <a:r>
              <a:rPr sz="3300" spc="7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300" spc="1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33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300" spc="-5" dirty="0">
                <a:solidFill>
                  <a:srgbClr val="FF0000"/>
                </a:solidFill>
                <a:latin typeface="Calibri"/>
                <a:cs typeface="Calibri"/>
              </a:rPr>
              <a:t>systems</a:t>
            </a:r>
            <a:r>
              <a:rPr sz="33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in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terms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of</a:t>
            </a:r>
            <a:r>
              <a:rPr sz="3300" dirty="0">
                <a:latin typeface="Calibri"/>
                <a:cs typeface="Calibri"/>
              </a:rPr>
              <a:t> a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pattern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of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structural 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organization. More specifically, </a:t>
            </a:r>
            <a:r>
              <a:rPr sz="3300" dirty="0">
                <a:latin typeface="Calibri"/>
                <a:cs typeface="Calibri"/>
              </a:rPr>
              <a:t>an </a:t>
            </a:r>
            <a:r>
              <a:rPr sz="3300" spc="-5" dirty="0">
                <a:latin typeface="Calibri"/>
                <a:cs typeface="Calibri"/>
              </a:rPr>
              <a:t>architectural 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style defines </a:t>
            </a:r>
            <a:r>
              <a:rPr sz="3300" dirty="0">
                <a:latin typeface="Calibri"/>
                <a:cs typeface="Calibri"/>
              </a:rPr>
              <a:t>a </a:t>
            </a:r>
            <a:r>
              <a:rPr sz="3300" spc="-5" dirty="0">
                <a:latin typeface="Calibri"/>
                <a:cs typeface="Calibri"/>
              </a:rPr>
              <a:t>vocabulary of </a:t>
            </a:r>
            <a:r>
              <a:rPr sz="3300" spc="-5" dirty="0">
                <a:solidFill>
                  <a:srgbClr val="7F0101"/>
                </a:solidFill>
                <a:latin typeface="Calibri"/>
                <a:cs typeface="Calibri"/>
              </a:rPr>
              <a:t>components </a:t>
            </a:r>
            <a:r>
              <a:rPr sz="3300" dirty="0">
                <a:latin typeface="Calibri"/>
                <a:cs typeface="Calibri"/>
              </a:rPr>
              <a:t>and 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5" dirty="0">
                <a:solidFill>
                  <a:srgbClr val="7F0101"/>
                </a:solidFill>
                <a:latin typeface="Calibri"/>
                <a:cs typeface="Calibri"/>
              </a:rPr>
              <a:t>connector</a:t>
            </a:r>
            <a:r>
              <a:rPr sz="3300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types,</a:t>
            </a:r>
            <a:r>
              <a:rPr sz="3300" dirty="0">
                <a:latin typeface="Calibri"/>
                <a:cs typeface="Calibri"/>
              </a:rPr>
              <a:t> and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a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set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of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5" dirty="0">
                <a:solidFill>
                  <a:srgbClr val="7F0101"/>
                </a:solidFill>
                <a:latin typeface="Calibri"/>
                <a:cs typeface="Calibri"/>
              </a:rPr>
              <a:t>constraints</a:t>
            </a:r>
            <a:r>
              <a:rPr sz="3300" spc="73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on </a:t>
            </a:r>
            <a:r>
              <a:rPr sz="3300" spc="-73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how </a:t>
            </a:r>
            <a:r>
              <a:rPr sz="3300" dirty="0">
                <a:latin typeface="Calibri"/>
                <a:cs typeface="Calibri"/>
              </a:rPr>
              <a:t>they can be</a:t>
            </a:r>
            <a:r>
              <a:rPr sz="3300" spc="-5" dirty="0">
                <a:latin typeface="Calibri"/>
                <a:cs typeface="Calibri"/>
              </a:rPr>
              <a:t> combined.</a:t>
            </a:r>
            <a:endParaRPr sz="3300" dirty="0">
              <a:latin typeface="Calibri"/>
              <a:cs typeface="Calibri"/>
            </a:endParaRPr>
          </a:p>
          <a:p>
            <a:pPr marR="6985" algn="r">
              <a:lnSpc>
                <a:spcPts val="2255"/>
              </a:lnSpc>
            </a:pPr>
            <a:r>
              <a:rPr sz="1900" dirty="0">
                <a:latin typeface="Calibri"/>
                <a:cs typeface="Calibri"/>
              </a:rPr>
              <a:t>—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Shaw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Garlan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316" y="964275"/>
            <a:ext cx="8362603" cy="41355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7814" y="166254"/>
            <a:ext cx="6596148" cy="7190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70088" y="194326"/>
            <a:ext cx="6491605" cy="61785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30"/>
              </a:spcBef>
            </a:pPr>
            <a:r>
              <a:rPr sz="4000" spc="-5" dirty="0"/>
              <a:t>Types</a:t>
            </a:r>
            <a:r>
              <a:rPr sz="4000" spc="-10" dirty="0"/>
              <a:t> </a:t>
            </a:r>
            <a:r>
              <a:rPr sz="4000" dirty="0"/>
              <a:t>of</a:t>
            </a:r>
            <a:r>
              <a:rPr sz="4000" spc="-5" dirty="0"/>
              <a:t> Architectural Styles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192438" y="990601"/>
            <a:ext cx="8261984" cy="403796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546100" indent="-343535">
              <a:lnSpc>
                <a:spcPct val="100000"/>
              </a:lnSpc>
              <a:spcBef>
                <a:spcPts val="359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spc="-5" dirty="0">
                <a:latin typeface="Calibri"/>
                <a:cs typeface="Calibri"/>
              </a:rPr>
              <a:t>Pipes-and-Filter</a:t>
            </a:r>
            <a:endParaRPr sz="2400">
              <a:latin typeface="Calibri"/>
              <a:cs typeface="Calibri"/>
            </a:endParaRPr>
          </a:p>
          <a:p>
            <a:pPr marL="546100" indent="-343535">
              <a:lnSpc>
                <a:spcPct val="100000"/>
              </a:lnSpc>
              <a:spcBef>
                <a:spcPts val="720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spc="-5" dirty="0">
                <a:latin typeface="Calibri"/>
                <a:cs typeface="Calibri"/>
              </a:rPr>
              <a:t>Client-Server</a:t>
            </a:r>
            <a:endParaRPr sz="2400">
              <a:latin typeface="Calibri"/>
              <a:cs typeface="Calibri"/>
            </a:endParaRPr>
          </a:p>
          <a:p>
            <a:pPr marL="546100" indent="-343535">
              <a:lnSpc>
                <a:spcPct val="100000"/>
              </a:lnSpc>
              <a:spcBef>
                <a:spcPts val="820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spc="-5" dirty="0">
                <a:latin typeface="Calibri"/>
                <a:cs typeface="Calibri"/>
              </a:rPr>
              <a:t>Peer-to-Peer</a:t>
            </a:r>
            <a:endParaRPr sz="2400">
              <a:latin typeface="Calibri"/>
              <a:cs typeface="Calibri"/>
            </a:endParaRPr>
          </a:p>
          <a:p>
            <a:pPr marL="546100" indent="-343535">
              <a:lnSpc>
                <a:spcPct val="100000"/>
              </a:lnSpc>
              <a:spcBef>
                <a:spcPts val="820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Based</a:t>
            </a:r>
            <a:endParaRPr sz="2400">
              <a:latin typeface="Calibri"/>
              <a:cs typeface="Calibri"/>
            </a:endParaRPr>
          </a:p>
          <a:p>
            <a:pPr marL="546100" indent="-343535">
              <a:lnSpc>
                <a:spcPct val="100000"/>
              </a:lnSpc>
              <a:spcBef>
                <a:spcPts val="820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spc="-5" dirty="0">
                <a:latin typeface="Calibri"/>
                <a:cs typeface="Calibri"/>
              </a:rPr>
              <a:t>Layering</a:t>
            </a:r>
            <a:endParaRPr sz="2400">
              <a:latin typeface="Calibri"/>
              <a:cs typeface="Calibri"/>
            </a:endParaRPr>
          </a:p>
          <a:p>
            <a:pPr marL="546100" indent="-343535">
              <a:lnSpc>
                <a:spcPct val="100000"/>
              </a:lnSpc>
              <a:spcBef>
                <a:spcPts val="820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dirty="0">
                <a:latin typeface="Calibri"/>
                <a:cs typeface="Calibri"/>
              </a:rPr>
              <a:t>MVC</a:t>
            </a:r>
            <a:endParaRPr sz="2400">
              <a:latin typeface="Calibri"/>
              <a:cs typeface="Calibri"/>
            </a:endParaRPr>
          </a:p>
          <a:p>
            <a:pPr marL="546100" indent="-343535">
              <a:lnSpc>
                <a:spcPct val="100000"/>
              </a:lnSpc>
              <a:spcBef>
                <a:spcPts val="720"/>
              </a:spcBef>
              <a:buFont typeface="Wingdings"/>
              <a:buChar char=""/>
              <a:tabLst>
                <a:tab pos="546735" algn="l"/>
              </a:tabLst>
            </a:pPr>
            <a:r>
              <a:rPr sz="2400" dirty="0">
                <a:latin typeface="Calibri"/>
                <a:cs typeface="Calibri"/>
              </a:rPr>
              <a:t>SOA </a:t>
            </a:r>
            <a:r>
              <a:rPr sz="2400" spc="-5" dirty="0">
                <a:latin typeface="Calibri"/>
                <a:cs typeface="Calibri"/>
              </a:rPr>
              <a:t>(Service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Oriented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Architecture)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349" y="361603"/>
            <a:ext cx="8695690" cy="6343015"/>
            <a:chOff x="195349" y="361603"/>
            <a:chExt cx="8695690" cy="6343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7356" y="361603"/>
              <a:ext cx="3636817" cy="58189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96761" y="388680"/>
              <a:ext cx="3538220" cy="480059"/>
            </a:xfrm>
            <a:custGeom>
              <a:avLst/>
              <a:gdLst/>
              <a:ahLst/>
              <a:cxnLst/>
              <a:rect l="l" t="t" r="r" b="b"/>
              <a:pathLst>
                <a:path w="3538220" h="480059">
                  <a:moveTo>
                    <a:pt x="3538051" y="0"/>
                  </a:moveTo>
                  <a:lnTo>
                    <a:pt x="0" y="0"/>
                  </a:lnTo>
                  <a:lnTo>
                    <a:pt x="0" y="479753"/>
                  </a:lnTo>
                  <a:lnTo>
                    <a:pt x="3538051" y="479753"/>
                  </a:lnTo>
                  <a:lnTo>
                    <a:pt x="3538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6760" y="388680"/>
              <a:ext cx="3538220" cy="480059"/>
            </a:xfrm>
            <a:custGeom>
              <a:avLst/>
              <a:gdLst/>
              <a:ahLst/>
              <a:cxnLst/>
              <a:rect l="l" t="t" r="r" b="b"/>
              <a:pathLst>
                <a:path w="3538220" h="480059">
                  <a:moveTo>
                    <a:pt x="0" y="0"/>
                  </a:moveTo>
                  <a:lnTo>
                    <a:pt x="3538050" y="0"/>
                  </a:lnTo>
                  <a:lnTo>
                    <a:pt x="3538050" y="479754"/>
                  </a:lnTo>
                  <a:lnTo>
                    <a:pt x="0" y="47975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349" y="939338"/>
              <a:ext cx="8695112" cy="5764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6061" y="965713"/>
              <a:ext cx="8593455" cy="5664200"/>
            </a:xfrm>
            <a:custGeom>
              <a:avLst/>
              <a:gdLst/>
              <a:ahLst/>
              <a:cxnLst/>
              <a:rect l="l" t="t" r="r" b="b"/>
              <a:pathLst>
                <a:path w="8593455" h="5664200">
                  <a:moveTo>
                    <a:pt x="8593136" y="0"/>
                  </a:moveTo>
                  <a:lnTo>
                    <a:pt x="0" y="0"/>
                  </a:lnTo>
                  <a:lnTo>
                    <a:pt x="0" y="5663685"/>
                  </a:lnTo>
                  <a:lnTo>
                    <a:pt x="8593136" y="5663685"/>
                  </a:lnTo>
                  <a:lnTo>
                    <a:pt x="8593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6061" y="965712"/>
              <a:ext cx="8593455" cy="5664200"/>
            </a:xfrm>
            <a:custGeom>
              <a:avLst/>
              <a:gdLst/>
              <a:ahLst/>
              <a:cxnLst/>
              <a:rect l="l" t="t" r="r" b="b"/>
              <a:pathLst>
                <a:path w="8593455" h="5664200">
                  <a:moveTo>
                    <a:pt x="0" y="0"/>
                  </a:moveTo>
                  <a:lnTo>
                    <a:pt x="8593135" y="0"/>
                  </a:lnTo>
                  <a:lnTo>
                    <a:pt x="8593135" y="5663685"/>
                  </a:lnTo>
                  <a:lnTo>
                    <a:pt x="0" y="56636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89306" y="254001"/>
            <a:ext cx="33540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Pipes-and-Filter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324802" y="873760"/>
            <a:ext cx="5227320" cy="1176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system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Streams of</a:t>
            </a:r>
            <a:r>
              <a:rPr sz="2000" dirty="0">
                <a:latin typeface="Calibri"/>
                <a:cs typeface="Calibri"/>
              </a:rPr>
              <a:t> data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spc="-5" dirty="0">
                <a:solidFill>
                  <a:srgbClr val="FF6600"/>
                </a:solidFill>
                <a:latin typeface="Calibri"/>
                <a:cs typeface="Calibri"/>
              </a:rPr>
              <a:t>pipe</a:t>
            </a:r>
            <a:r>
              <a:rPr sz="2000" spc="-5" dirty="0">
                <a:latin typeface="Calibri"/>
                <a:cs typeface="Calibri"/>
              </a:rPr>
              <a:t>) for</a:t>
            </a:r>
            <a:r>
              <a:rPr sz="2000" dirty="0">
                <a:latin typeface="Calibri"/>
                <a:cs typeface="Calibri"/>
              </a:rPr>
              <a:t> input and </a:t>
            </a:r>
            <a:r>
              <a:rPr sz="2000" spc="-5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50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Transformation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b="1" spc="-5" dirty="0">
                <a:latin typeface="Calibri"/>
                <a:cs typeface="Calibri"/>
              </a:rPr>
              <a:t>ﬁlter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43688" y="2207342"/>
            <a:ext cx="1501775" cy="1002665"/>
            <a:chOff x="6543688" y="2207342"/>
            <a:chExt cx="1501775" cy="1002665"/>
          </a:xfrm>
        </p:grpSpPr>
        <p:sp>
          <p:nvSpPr>
            <p:cNvPr id="12" name="object 12"/>
            <p:cNvSpPr/>
            <p:nvPr/>
          </p:nvSpPr>
          <p:spPr>
            <a:xfrm>
              <a:off x="6550038" y="2213692"/>
              <a:ext cx="1489075" cy="989965"/>
            </a:xfrm>
            <a:custGeom>
              <a:avLst/>
              <a:gdLst/>
              <a:ahLst/>
              <a:cxnLst/>
              <a:rect l="l" t="t" r="r" b="b"/>
              <a:pathLst>
                <a:path w="1489075" h="989964">
                  <a:moveTo>
                    <a:pt x="1488847" y="0"/>
                  </a:moveTo>
                  <a:lnTo>
                    <a:pt x="0" y="0"/>
                  </a:lnTo>
                  <a:lnTo>
                    <a:pt x="0" y="989563"/>
                  </a:lnTo>
                  <a:lnTo>
                    <a:pt x="1488847" y="989563"/>
                  </a:lnTo>
                  <a:lnTo>
                    <a:pt x="1488847" y="0"/>
                  </a:lnTo>
                  <a:close/>
                </a:path>
              </a:pathLst>
            </a:custGeom>
            <a:solidFill>
              <a:srgbClr val="DC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50038" y="2213692"/>
              <a:ext cx="1489075" cy="989965"/>
            </a:xfrm>
            <a:custGeom>
              <a:avLst/>
              <a:gdLst/>
              <a:ahLst/>
              <a:cxnLst/>
              <a:rect l="l" t="t" r="r" b="b"/>
              <a:pathLst>
                <a:path w="1489075" h="989964">
                  <a:moveTo>
                    <a:pt x="0" y="0"/>
                  </a:moveTo>
                  <a:lnTo>
                    <a:pt x="1488847" y="0"/>
                  </a:lnTo>
                  <a:lnTo>
                    <a:pt x="1488847" y="989563"/>
                  </a:lnTo>
                  <a:lnTo>
                    <a:pt x="0" y="98956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17962" y="2804680"/>
              <a:ext cx="787400" cy="274955"/>
            </a:xfrm>
            <a:custGeom>
              <a:avLst/>
              <a:gdLst/>
              <a:ahLst/>
              <a:cxnLst/>
              <a:rect l="l" t="t" r="r" b="b"/>
              <a:pathLst>
                <a:path w="787400" h="274955">
                  <a:moveTo>
                    <a:pt x="0" y="0"/>
                  </a:moveTo>
                  <a:lnTo>
                    <a:pt x="786961" y="0"/>
                  </a:lnTo>
                  <a:lnTo>
                    <a:pt x="786961" y="274878"/>
                  </a:lnTo>
                  <a:lnTo>
                    <a:pt x="0" y="274878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45578" y="2680986"/>
              <a:ext cx="485140" cy="0"/>
            </a:xfrm>
            <a:custGeom>
              <a:avLst/>
              <a:gdLst/>
              <a:ahLst/>
              <a:cxnLst/>
              <a:rect l="l" t="t" r="r" b="b"/>
              <a:pathLst>
                <a:path w="485140">
                  <a:moveTo>
                    <a:pt x="485061" y="0"/>
                  </a:moveTo>
                  <a:lnTo>
                    <a:pt x="0" y="1"/>
                  </a:lnTo>
                </a:path>
              </a:pathLst>
            </a:custGeom>
            <a:ln w="25399">
              <a:solidFill>
                <a:srgbClr val="1A3D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79840" y="26428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2540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D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13847" y="2243258"/>
            <a:ext cx="217170" cy="4260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omic Sans MS"/>
                <a:cs typeface="Comic Sans MS"/>
              </a:rPr>
              <a:t>KEY</a:t>
            </a:r>
            <a:endParaRPr sz="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r>
              <a:rPr sz="900" dirty="0">
                <a:latin typeface="Comic Sans MS"/>
                <a:cs typeface="Comic Sans MS"/>
              </a:rPr>
              <a:t>pipe</a:t>
            </a:r>
            <a:endParaRPr sz="9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6192" y="2103740"/>
            <a:ext cx="8069580" cy="1732280"/>
            <a:chOff x="436192" y="2103740"/>
            <a:chExt cx="8069580" cy="173228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92" y="2433595"/>
              <a:ext cx="5518308" cy="14018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0948" y="2103740"/>
              <a:ext cx="2124798" cy="111325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14931" y="3868497"/>
            <a:ext cx="811466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"The </a:t>
            </a:r>
            <a:r>
              <a:rPr sz="2800" b="1" i="1" spc="-5" dirty="0">
                <a:latin typeface="Calibri"/>
                <a:cs typeface="Calibri"/>
              </a:rPr>
              <a:t>Pipes and Filters </a:t>
            </a:r>
            <a:r>
              <a:rPr sz="2800" spc="-5" dirty="0">
                <a:latin typeface="Calibri"/>
                <a:cs typeface="Calibri"/>
              </a:rPr>
              <a:t>architectural </a:t>
            </a:r>
            <a:r>
              <a:rPr sz="2800" spc="-15" dirty="0">
                <a:latin typeface="Calibri"/>
                <a:cs typeface="Calibri"/>
              </a:rPr>
              <a:t>pattern </a:t>
            </a:r>
            <a:r>
              <a:rPr sz="2800" spc="-5" dirty="0">
                <a:latin typeface="Calibri"/>
                <a:cs typeface="Calibri"/>
              </a:rPr>
              <a:t>provides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structure for systems </a:t>
            </a:r>
            <a:r>
              <a:rPr sz="2800" dirty="0">
                <a:latin typeface="Calibri"/>
                <a:cs typeface="Calibri"/>
              </a:rPr>
              <a:t>that </a:t>
            </a: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process </a:t>
            </a:r>
            <a:r>
              <a:rPr sz="2800" b="1" dirty="0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stream </a:t>
            </a:r>
            <a:r>
              <a:rPr sz="2800" b="1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2800" b="1" spc="-10" dirty="0">
                <a:solidFill>
                  <a:srgbClr val="008000"/>
                </a:solidFill>
                <a:latin typeface="Calibri"/>
                <a:cs typeface="Calibri"/>
              </a:rPr>
              <a:t>data</a:t>
            </a:r>
            <a:r>
              <a:rPr sz="2800" spc="-10" dirty="0">
                <a:latin typeface="Calibri"/>
                <a:cs typeface="Calibri"/>
              </a:rPr>
              <a:t>.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20" dirty="0">
                <a:latin typeface="Calibri"/>
                <a:cs typeface="Calibri"/>
              </a:rPr>
              <a:t>Each</a:t>
            </a:r>
            <a:r>
              <a:rPr sz="2800" spc="25" dirty="0">
                <a:latin typeface="Calibri"/>
                <a:cs typeface="Calibri"/>
              </a:rPr>
              <a:t> processing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20" dirty="0">
                <a:latin typeface="Calibri"/>
                <a:cs typeface="Calibri"/>
              </a:rPr>
              <a:t>step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25" dirty="0">
                <a:solidFill>
                  <a:srgbClr val="3366FF"/>
                </a:solidFill>
                <a:latin typeface="Calibri"/>
                <a:cs typeface="Calibri"/>
              </a:rPr>
              <a:t>encapsulated</a:t>
            </a:r>
            <a:r>
              <a:rPr sz="2800" spc="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spc="15" dirty="0">
                <a:solidFill>
                  <a:srgbClr val="3366FF"/>
                </a:solidFill>
                <a:latin typeface="Calibri"/>
                <a:cs typeface="Calibri"/>
              </a:rPr>
              <a:t>in</a:t>
            </a:r>
            <a:r>
              <a:rPr sz="2800" spc="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F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spc="20" dirty="0">
                <a:solidFill>
                  <a:srgbClr val="3366FF"/>
                </a:solidFill>
                <a:latin typeface="Calibri"/>
                <a:cs typeface="Calibri"/>
              </a:rPr>
              <a:t>filter </a:t>
            </a:r>
            <a:r>
              <a:rPr sz="2800" spc="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66FF"/>
                </a:solidFill>
                <a:latin typeface="Calibri"/>
                <a:cs typeface="Calibri"/>
              </a:rPr>
              <a:t>component</a:t>
            </a:r>
            <a:r>
              <a:rPr sz="2800" spc="-5" dirty="0">
                <a:latin typeface="Calibri"/>
                <a:cs typeface="Calibri"/>
              </a:rPr>
              <a:t>. Data [are] </a:t>
            </a:r>
            <a:r>
              <a:rPr sz="2800" dirty="0">
                <a:latin typeface="Calibri"/>
                <a:cs typeface="Calibri"/>
              </a:rPr>
              <a:t>passed </a:t>
            </a:r>
            <a:r>
              <a:rPr sz="2800" spc="-5" dirty="0">
                <a:latin typeface="Calibri"/>
                <a:cs typeface="Calibri"/>
              </a:rPr>
              <a:t>through </a:t>
            </a:r>
            <a:r>
              <a:rPr sz="2800" dirty="0">
                <a:latin typeface="Calibri"/>
                <a:cs typeface="Calibri"/>
              </a:rPr>
              <a:t>pipes </a:t>
            </a:r>
            <a:r>
              <a:rPr sz="2800" spc="-5" dirty="0">
                <a:solidFill>
                  <a:srgbClr val="000090"/>
                </a:solidFill>
                <a:latin typeface="Calibri"/>
                <a:cs typeface="Calibri"/>
              </a:rPr>
              <a:t>between </a:t>
            </a:r>
            <a:r>
              <a:rPr sz="280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90"/>
                </a:solidFill>
                <a:latin typeface="Calibri"/>
                <a:cs typeface="Calibri"/>
              </a:rPr>
              <a:t>adjacent filters</a:t>
            </a:r>
            <a:r>
              <a:rPr sz="2800" spc="-5" dirty="0">
                <a:latin typeface="Calibri"/>
                <a:cs typeface="Calibri"/>
              </a:rPr>
              <a:t>. Recombining filters allows you </a:t>
            </a:r>
            <a:r>
              <a:rPr sz="2800" dirty="0">
                <a:latin typeface="Calibri"/>
                <a:cs typeface="Calibri"/>
              </a:rPr>
              <a:t>to build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families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related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filters."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9140" y="2973323"/>
            <a:ext cx="407034" cy="323215"/>
          </a:xfrm>
          <a:custGeom>
            <a:avLst/>
            <a:gdLst/>
            <a:ahLst/>
            <a:cxnLst/>
            <a:rect l="l" t="t" r="r" b="b"/>
            <a:pathLst>
              <a:path w="407034" h="323214">
                <a:moveTo>
                  <a:pt x="406907" y="0"/>
                </a:moveTo>
                <a:lnTo>
                  <a:pt x="0" y="0"/>
                </a:lnTo>
                <a:lnTo>
                  <a:pt x="0" y="322834"/>
                </a:lnTo>
                <a:lnTo>
                  <a:pt x="406907" y="322834"/>
                </a:lnTo>
                <a:lnTo>
                  <a:pt x="406907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25113" y="969263"/>
            <a:ext cx="3331210" cy="323215"/>
          </a:xfrm>
          <a:custGeom>
            <a:avLst/>
            <a:gdLst/>
            <a:ahLst/>
            <a:cxnLst/>
            <a:rect l="l" t="t" r="r" b="b"/>
            <a:pathLst>
              <a:path w="3331209" h="323215">
                <a:moveTo>
                  <a:pt x="3330955" y="0"/>
                </a:moveTo>
                <a:lnTo>
                  <a:pt x="0" y="0"/>
                </a:lnTo>
                <a:lnTo>
                  <a:pt x="0" y="322834"/>
                </a:lnTo>
                <a:lnTo>
                  <a:pt x="3330955" y="322834"/>
                </a:lnTo>
                <a:lnTo>
                  <a:pt x="3330955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53538" y="810490"/>
            <a:ext cx="8466512" cy="5806440"/>
            <a:chOff x="253538" y="810490"/>
            <a:chExt cx="8466512" cy="58064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538" y="810490"/>
              <a:ext cx="8466512" cy="58064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4800" y="838201"/>
              <a:ext cx="8364855" cy="5704205"/>
            </a:xfrm>
            <a:custGeom>
              <a:avLst/>
              <a:gdLst/>
              <a:ahLst/>
              <a:cxnLst/>
              <a:rect l="l" t="t" r="r" b="b"/>
              <a:pathLst>
                <a:path w="8364855" h="5704205">
                  <a:moveTo>
                    <a:pt x="8364536" y="0"/>
                  </a:moveTo>
                  <a:lnTo>
                    <a:pt x="0" y="0"/>
                  </a:lnTo>
                  <a:lnTo>
                    <a:pt x="0" y="5703916"/>
                  </a:lnTo>
                  <a:lnTo>
                    <a:pt x="8364536" y="5703916"/>
                  </a:lnTo>
                  <a:lnTo>
                    <a:pt x="8364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4800" y="838201"/>
              <a:ext cx="8364855" cy="5704205"/>
            </a:xfrm>
            <a:custGeom>
              <a:avLst/>
              <a:gdLst/>
              <a:ahLst/>
              <a:cxnLst/>
              <a:rect l="l" t="t" r="r" b="b"/>
              <a:pathLst>
                <a:path w="8364855" h="5704205">
                  <a:moveTo>
                    <a:pt x="0" y="0"/>
                  </a:moveTo>
                  <a:lnTo>
                    <a:pt x="8364535" y="0"/>
                  </a:lnTo>
                  <a:lnTo>
                    <a:pt x="8364535" y="5703916"/>
                  </a:lnTo>
                  <a:lnTo>
                    <a:pt x="0" y="570391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82664" y="345441"/>
            <a:ext cx="1075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ntd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003" y="1436250"/>
            <a:ext cx="8306434" cy="24811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u="sng" spc="-5" dirty="0" smtClean="0">
                <a:solidFill>
                  <a:srgbClr val="FF6600"/>
                </a:solidFill>
                <a:uFill>
                  <a:solidFill>
                    <a:srgbClr val="FF7C00"/>
                  </a:solidFill>
                </a:uFill>
                <a:latin typeface="Calibri"/>
                <a:cs typeface="Calibri"/>
              </a:rPr>
              <a:t>Implementation</a:t>
            </a:r>
            <a:r>
              <a:rPr sz="2000" u="sng" spc="-15" dirty="0" smtClean="0">
                <a:solidFill>
                  <a:srgbClr val="FF6600"/>
                </a:solidFill>
                <a:uFill>
                  <a:solidFill>
                    <a:srgbClr val="FF7C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5" dirty="0">
                <a:solidFill>
                  <a:srgbClr val="FF6600"/>
                </a:solidFill>
                <a:uFill>
                  <a:solidFill>
                    <a:srgbClr val="FF7C00"/>
                  </a:solidFill>
                </a:uFill>
                <a:latin typeface="Calibri"/>
                <a:cs typeface="Calibri"/>
              </a:rPr>
              <a:t>steps: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i="1" spc="-5" dirty="0">
                <a:latin typeface="Calibri"/>
                <a:cs typeface="Calibri"/>
              </a:rPr>
              <a:t>Divide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the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functionality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of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the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problem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into</a:t>
            </a:r>
            <a:r>
              <a:rPr sz="2000" b="1" i="1" dirty="0">
                <a:latin typeface="Calibri"/>
                <a:cs typeface="Calibri"/>
              </a:rPr>
              <a:t> a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sequence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of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processing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steps.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i="1" spc="-5" dirty="0">
                <a:latin typeface="Calibri"/>
                <a:cs typeface="Calibri"/>
              </a:rPr>
              <a:t>Deﬁne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the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type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and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format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of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the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data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be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passed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along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each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pipe.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i="1" spc="-5" dirty="0">
                <a:latin typeface="Calibri"/>
                <a:cs typeface="Calibri"/>
              </a:rPr>
              <a:t>Determine how to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implement</a:t>
            </a:r>
            <a:r>
              <a:rPr sz="2000" b="1" i="1" spc="-1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each pipe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connection.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i="1" spc="-5" dirty="0">
                <a:latin typeface="Calibri"/>
                <a:cs typeface="Calibri"/>
              </a:rPr>
              <a:t>Design and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implement the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ﬁlters.</a:t>
            </a:r>
            <a:endParaRPr sz="2000" dirty="0">
              <a:latin typeface="Calibri"/>
              <a:cs typeface="Calibri"/>
            </a:endParaRPr>
          </a:p>
          <a:p>
            <a:pPr marL="12700" marR="267970">
              <a:lnSpc>
                <a:spcPct val="100800"/>
              </a:lnSpc>
              <a:spcBef>
                <a:spcPts val="480"/>
              </a:spcBef>
            </a:pP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Note: </a:t>
            </a:r>
            <a:r>
              <a:rPr sz="2000" dirty="0">
                <a:solidFill>
                  <a:srgbClr val="000090"/>
                </a:solidFill>
                <a:latin typeface="Calibri"/>
                <a:cs typeface="Calibri"/>
              </a:rPr>
              <a:t>The design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000090"/>
                </a:solidFill>
                <a:latin typeface="Calibri"/>
                <a:cs typeface="Calibri"/>
              </a:rPr>
              <a:t> a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filter</a:t>
            </a:r>
            <a:r>
              <a:rPr sz="200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based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nature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the task 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-5" dirty="0">
                <a:latin typeface="Calibri"/>
                <a:cs typeface="Calibri"/>
              </a:rPr>
              <a:t>performed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natures</a:t>
            </a:r>
            <a:r>
              <a:rPr sz="200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000090"/>
                </a:solidFill>
                <a:latin typeface="Calibri"/>
                <a:cs typeface="Calibri"/>
              </a:rPr>
              <a:t> the pipes</a:t>
            </a:r>
            <a:r>
              <a:rPr sz="2000" spc="-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dirty="0">
                <a:latin typeface="Calibri"/>
                <a:cs typeface="Calibri"/>
              </a:rPr>
              <a:t> it can be </a:t>
            </a:r>
            <a:r>
              <a:rPr sz="2000" spc="-5" dirty="0">
                <a:latin typeface="Calibri"/>
                <a:cs typeface="Calibri"/>
              </a:rPr>
              <a:t>connected.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847" y="107186"/>
            <a:ext cx="8896985" cy="5866130"/>
            <a:chOff x="128847" y="107186"/>
            <a:chExt cx="8896985" cy="5866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847" y="810491"/>
              <a:ext cx="8591203" cy="51622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9608" y="838201"/>
              <a:ext cx="8489950" cy="5062855"/>
            </a:xfrm>
            <a:custGeom>
              <a:avLst/>
              <a:gdLst/>
              <a:ahLst/>
              <a:cxnLst/>
              <a:rect l="l" t="t" r="r" b="b"/>
              <a:pathLst>
                <a:path w="8489950" h="5062855">
                  <a:moveTo>
                    <a:pt x="8489727" y="0"/>
                  </a:moveTo>
                  <a:lnTo>
                    <a:pt x="0" y="0"/>
                  </a:lnTo>
                  <a:lnTo>
                    <a:pt x="0" y="5062532"/>
                  </a:lnTo>
                  <a:lnTo>
                    <a:pt x="8489727" y="5062532"/>
                  </a:lnTo>
                  <a:lnTo>
                    <a:pt x="8489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9608" y="838201"/>
              <a:ext cx="8489950" cy="5062855"/>
            </a:xfrm>
            <a:custGeom>
              <a:avLst/>
              <a:gdLst/>
              <a:ahLst/>
              <a:cxnLst/>
              <a:rect l="l" t="t" r="r" b="b"/>
              <a:pathLst>
                <a:path w="8489950" h="5062855">
                  <a:moveTo>
                    <a:pt x="0" y="0"/>
                  </a:moveTo>
                  <a:lnTo>
                    <a:pt x="8489726" y="0"/>
                  </a:lnTo>
                  <a:lnTo>
                    <a:pt x="8489726" y="5062532"/>
                  </a:lnTo>
                  <a:lnTo>
                    <a:pt x="0" y="506253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20839" y="345441"/>
            <a:ext cx="1075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ntd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858915"/>
            <a:ext cx="8396605" cy="375792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795"/>
              </a:spcBef>
              <a:buClr>
                <a:srgbClr val="008000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spc="-5" dirty="0">
                <a:solidFill>
                  <a:srgbClr val="008F00"/>
                </a:solidFill>
                <a:latin typeface="Calibri"/>
                <a:cs typeface="Calibri"/>
              </a:rPr>
              <a:t>Several</a:t>
            </a:r>
            <a:r>
              <a:rPr sz="3200" spc="-10" dirty="0">
                <a:solidFill>
                  <a:srgbClr val="008F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8F00"/>
                </a:solidFill>
                <a:latin typeface="Calibri"/>
                <a:cs typeface="Calibri"/>
              </a:rPr>
              <a:t>important</a:t>
            </a:r>
            <a:r>
              <a:rPr sz="3200" spc="-10" dirty="0">
                <a:solidFill>
                  <a:srgbClr val="008F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8F00"/>
                </a:solidFill>
                <a:latin typeface="Calibri"/>
                <a:cs typeface="Calibri"/>
              </a:rPr>
              <a:t>properties</a:t>
            </a:r>
            <a:endParaRPr sz="3200">
              <a:latin typeface="Calibri"/>
              <a:cs typeface="Calibri"/>
            </a:endParaRPr>
          </a:p>
          <a:p>
            <a:pPr marL="748665" marR="5080" lvl="1" indent="-279400">
              <a:lnSpc>
                <a:spcPct val="100000"/>
              </a:lnSpc>
              <a:spcBef>
                <a:spcPts val="39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The designer can </a:t>
            </a:r>
            <a:r>
              <a:rPr sz="1800" spc="-5" dirty="0">
                <a:latin typeface="Calibri"/>
                <a:cs typeface="Calibri"/>
              </a:rPr>
              <a:t>understand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5" dirty="0">
                <a:latin typeface="Calibri"/>
                <a:cs typeface="Calibri"/>
              </a:rPr>
              <a:t>entire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system's</a:t>
            </a:r>
            <a:r>
              <a:rPr sz="1800" dirty="0">
                <a:latin typeface="Calibri"/>
                <a:cs typeface="Calibri"/>
              </a:rPr>
              <a:t> eﬀect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dirty="0">
                <a:latin typeface="Calibri"/>
                <a:cs typeface="Calibri"/>
              </a:rPr>
              <a:t> input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dirty="0">
                <a:latin typeface="Calibri"/>
                <a:cs typeface="Calibri"/>
              </a:rPr>
              <a:t> as the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composition of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5" dirty="0">
                <a:latin typeface="Calibri"/>
                <a:cs typeface="Calibri"/>
              </a:rPr>
              <a:t>filters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38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filters</a:t>
            </a:r>
            <a:r>
              <a:rPr sz="1800" dirty="0">
                <a:latin typeface="Calibri"/>
                <a:cs typeface="Calibri"/>
              </a:rPr>
              <a:t> can be</a:t>
            </a:r>
            <a:r>
              <a:rPr sz="1800" spc="-5" dirty="0">
                <a:latin typeface="Calibri"/>
                <a:cs typeface="Calibri"/>
              </a:rPr>
              <a:t> reused</a:t>
            </a:r>
            <a:r>
              <a:rPr sz="1800" dirty="0">
                <a:latin typeface="Calibri"/>
                <a:cs typeface="Calibri"/>
              </a:rPr>
              <a:t> easily </a:t>
            </a:r>
            <a:r>
              <a:rPr sz="1800" spc="-5" dirty="0">
                <a:latin typeface="Calibri"/>
                <a:cs typeface="Calibri"/>
              </a:rPr>
              <a:t>on other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System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evolution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simple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 MT"/>
              <a:buChar char="–"/>
            </a:pPr>
            <a:endParaRPr sz="275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buClr>
                <a:srgbClr val="FF6600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spc="-5" dirty="0">
                <a:solidFill>
                  <a:srgbClr val="FF7C00"/>
                </a:solidFill>
                <a:latin typeface="Calibri"/>
                <a:cs typeface="Calibri"/>
              </a:rPr>
              <a:t>Drawbacks</a:t>
            </a:r>
            <a:endParaRPr sz="32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Encourages batch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Not good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handling </a:t>
            </a:r>
            <a:r>
              <a:rPr sz="1800" spc="-5" dirty="0">
                <a:latin typeface="Calibri"/>
                <a:cs typeface="Calibri"/>
              </a:rPr>
              <a:t>interactive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Duplication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filters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538" y="985057"/>
            <a:ext cx="8712200" cy="5794375"/>
            <a:chOff x="253538" y="985057"/>
            <a:chExt cx="8712200" cy="57943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538" y="985057"/>
              <a:ext cx="8711737" cy="57939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4800" y="1013387"/>
              <a:ext cx="8610600" cy="5692775"/>
            </a:xfrm>
            <a:custGeom>
              <a:avLst/>
              <a:gdLst/>
              <a:ahLst/>
              <a:cxnLst/>
              <a:rect l="l" t="t" r="r" b="b"/>
              <a:pathLst>
                <a:path w="8610600" h="5692775">
                  <a:moveTo>
                    <a:pt x="8610598" y="0"/>
                  </a:moveTo>
                  <a:lnTo>
                    <a:pt x="0" y="0"/>
                  </a:lnTo>
                  <a:lnTo>
                    <a:pt x="0" y="5692212"/>
                  </a:lnTo>
                  <a:lnTo>
                    <a:pt x="8610598" y="5692212"/>
                  </a:lnTo>
                  <a:lnTo>
                    <a:pt x="8610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800" y="1013387"/>
              <a:ext cx="8610600" cy="5692775"/>
            </a:xfrm>
            <a:custGeom>
              <a:avLst/>
              <a:gdLst/>
              <a:ahLst/>
              <a:cxnLst/>
              <a:rect l="l" t="t" r="r" b="b"/>
              <a:pathLst>
                <a:path w="8610600" h="5692775">
                  <a:moveTo>
                    <a:pt x="0" y="0"/>
                  </a:moveTo>
                  <a:lnTo>
                    <a:pt x="8610597" y="0"/>
                  </a:lnTo>
                  <a:lnTo>
                    <a:pt x="8610597" y="5692211"/>
                  </a:lnTo>
                  <a:lnTo>
                    <a:pt x="0" y="56922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93323" y="241068"/>
            <a:ext cx="3836670" cy="669290"/>
            <a:chOff x="2693323" y="241068"/>
            <a:chExt cx="3836670" cy="6692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323" y="241068"/>
              <a:ext cx="3836323" cy="6691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5445" y="269382"/>
              <a:ext cx="3733800" cy="568960"/>
            </a:xfrm>
            <a:custGeom>
              <a:avLst/>
              <a:gdLst/>
              <a:ahLst/>
              <a:cxnLst/>
              <a:rect l="l" t="t" r="r" b="b"/>
              <a:pathLst>
                <a:path w="3733800" h="568960">
                  <a:moveTo>
                    <a:pt x="3733335" y="0"/>
                  </a:moveTo>
                  <a:lnTo>
                    <a:pt x="0" y="0"/>
                  </a:lnTo>
                  <a:lnTo>
                    <a:pt x="0" y="568819"/>
                  </a:lnTo>
                  <a:lnTo>
                    <a:pt x="3733335" y="568819"/>
                  </a:lnTo>
                  <a:lnTo>
                    <a:pt x="37333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5445" y="269382"/>
              <a:ext cx="3733800" cy="568960"/>
            </a:xfrm>
            <a:custGeom>
              <a:avLst/>
              <a:gdLst/>
              <a:ahLst/>
              <a:cxnLst/>
              <a:rect l="l" t="t" r="r" b="b"/>
              <a:pathLst>
                <a:path w="3733800" h="568960">
                  <a:moveTo>
                    <a:pt x="0" y="0"/>
                  </a:moveTo>
                  <a:lnTo>
                    <a:pt x="3733335" y="0"/>
                  </a:lnTo>
                  <a:lnTo>
                    <a:pt x="3733335" y="568818"/>
                  </a:lnTo>
                  <a:lnTo>
                    <a:pt x="0" y="56881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87963" y="177801"/>
            <a:ext cx="27539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</a:t>
            </a:r>
            <a:r>
              <a:rPr sz="4000" spc="-5" dirty="0"/>
              <a:t>lient</a:t>
            </a:r>
            <a:r>
              <a:rPr sz="4000" dirty="0"/>
              <a:t>-</a:t>
            </a:r>
            <a:r>
              <a:rPr sz="4000" spc="-5" dirty="0"/>
              <a:t>Server</a:t>
            </a:r>
            <a:endParaRPr sz="4000"/>
          </a:p>
        </p:txBody>
      </p:sp>
      <p:sp>
        <p:nvSpPr>
          <p:cNvPr id="11" name="object 11"/>
          <p:cNvSpPr txBox="1"/>
          <p:nvPr/>
        </p:nvSpPr>
        <p:spPr>
          <a:xfrm>
            <a:off x="380365" y="1031509"/>
            <a:ext cx="8458835" cy="3820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4965" marR="5080" indent="-342900" algn="just">
              <a:lnSpc>
                <a:spcPct val="99500"/>
              </a:lnSpc>
              <a:spcBef>
                <a:spcPts val="11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client-server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architecture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7F0101"/>
                </a:solidFill>
                <a:latin typeface="Calibri"/>
                <a:cs typeface="Calibri"/>
              </a:rPr>
              <a:t>distributes</a:t>
            </a:r>
            <a:r>
              <a:rPr sz="24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7F0101"/>
                </a:solidFill>
                <a:latin typeface="Calibri"/>
                <a:cs typeface="Calibri"/>
              </a:rPr>
              <a:t>application</a:t>
            </a:r>
            <a:r>
              <a:rPr sz="2400" i="1" dirty="0">
                <a:solidFill>
                  <a:srgbClr val="7F0101"/>
                </a:solidFill>
                <a:latin typeface="Calibri"/>
                <a:cs typeface="Calibri"/>
              </a:rPr>
              <a:t> logic</a:t>
            </a:r>
            <a:r>
              <a:rPr sz="24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7F0101"/>
                </a:solidFill>
                <a:latin typeface="Calibri"/>
                <a:cs typeface="Calibri"/>
              </a:rPr>
              <a:t>and </a:t>
            </a:r>
            <a:r>
              <a:rPr sz="24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7F0101"/>
                </a:solidFill>
                <a:latin typeface="Calibri"/>
                <a:cs typeface="Calibri"/>
              </a:rPr>
              <a:t>services</a:t>
            </a:r>
            <a:r>
              <a:rPr sz="24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respectively</a:t>
            </a:r>
            <a:r>
              <a:rPr sz="2400" dirty="0">
                <a:latin typeface="Calibri"/>
                <a:cs typeface="Calibri"/>
              </a:rPr>
              <a:t> 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number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client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dirty="0">
                <a:latin typeface="Calibri"/>
                <a:cs typeface="Calibri"/>
              </a:rPr>
              <a:t> sub-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systems,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each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potentially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running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diﬀerent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machine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communicating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through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5" dirty="0">
                <a:latin typeface="Calibri"/>
                <a:cs typeface="Calibri"/>
              </a:rPr>
              <a:t>network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(e.g,</a:t>
            </a:r>
            <a:r>
              <a:rPr sz="2400" dirty="0">
                <a:latin typeface="Calibri"/>
                <a:cs typeface="Calibri"/>
              </a:rPr>
              <a:t> by </a:t>
            </a:r>
            <a:r>
              <a:rPr sz="2400" spc="-5" dirty="0">
                <a:latin typeface="Calibri"/>
                <a:cs typeface="Calibri"/>
              </a:rPr>
              <a:t>RPC).</a:t>
            </a: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Two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types of components:</a:t>
            </a:r>
            <a:endParaRPr sz="2400" dirty="0">
              <a:latin typeface="Calibri"/>
              <a:cs typeface="Calibri"/>
            </a:endParaRPr>
          </a:p>
          <a:p>
            <a:pPr marL="755650" lvl="1" indent="-286385" algn="just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Server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oﬀer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services(Response/Reply)</a:t>
            </a:r>
            <a:endParaRPr sz="2000" dirty="0">
              <a:latin typeface="Calibri"/>
              <a:cs typeface="Calibri"/>
            </a:endParaRPr>
          </a:p>
          <a:p>
            <a:pPr marL="755650" lvl="1" indent="-286385" algn="just">
              <a:lnSpc>
                <a:spcPct val="100000"/>
              </a:lnSpc>
              <a:spcBef>
                <a:spcPts val="500"/>
              </a:spcBef>
              <a:buFont typeface="Arial MT"/>
              <a:buChar char="–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Clients sends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request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receive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response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from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server.</a:t>
            </a:r>
            <a:endParaRPr sz="2000" dirty="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99400"/>
              </a:lnSpc>
              <a:spcBef>
                <a:spcPts val="61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Client </a:t>
            </a:r>
            <a:r>
              <a:rPr sz="2400" spc="-5" dirty="0">
                <a:latin typeface="Calibri"/>
                <a:cs typeface="Calibri"/>
              </a:rPr>
              <a:t>may </a:t>
            </a:r>
            <a:r>
              <a:rPr sz="2400" dirty="0">
                <a:latin typeface="Calibri"/>
                <a:cs typeface="Calibri"/>
              </a:rPr>
              <a:t>send the </a:t>
            </a:r>
            <a:r>
              <a:rPr sz="2400" spc="-5" dirty="0">
                <a:latin typeface="Calibri"/>
                <a:cs typeface="Calibri"/>
              </a:rPr>
              <a:t>server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request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server reply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response </a:t>
            </a:r>
            <a:r>
              <a:rPr sz="2400" dirty="0">
                <a:latin typeface="Calibri"/>
                <a:cs typeface="Calibri"/>
              </a:rPr>
              <a:t> 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request.</a:t>
            </a:r>
            <a:r>
              <a:rPr sz="2400" dirty="0">
                <a:latin typeface="Calibri"/>
                <a:cs typeface="Calibri"/>
              </a:rPr>
              <a:t> It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request</a:t>
            </a:r>
            <a:r>
              <a:rPr sz="2400" dirty="0">
                <a:latin typeface="Calibri"/>
                <a:cs typeface="Calibri"/>
              </a:rPr>
              <a:t> 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response/reply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mechanism.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200" y="4751387"/>
            <a:ext cx="6781798" cy="195421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501" y="107186"/>
            <a:ext cx="8959850" cy="4955540"/>
            <a:chOff x="66501" y="107186"/>
            <a:chExt cx="8959850" cy="4955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01" y="656705"/>
              <a:ext cx="8653548" cy="44057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5462" y="685801"/>
              <a:ext cx="8554085" cy="4304665"/>
            </a:xfrm>
            <a:custGeom>
              <a:avLst/>
              <a:gdLst/>
              <a:ahLst/>
              <a:cxnLst/>
              <a:rect l="l" t="t" r="r" b="b"/>
              <a:pathLst>
                <a:path w="8554085" h="4304665">
                  <a:moveTo>
                    <a:pt x="8553873" y="0"/>
                  </a:moveTo>
                  <a:lnTo>
                    <a:pt x="0" y="0"/>
                  </a:lnTo>
                  <a:lnTo>
                    <a:pt x="0" y="4304167"/>
                  </a:lnTo>
                  <a:lnTo>
                    <a:pt x="8553873" y="4304167"/>
                  </a:lnTo>
                  <a:lnTo>
                    <a:pt x="855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462" y="685801"/>
              <a:ext cx="8554085" cy="4304665"/>
            </a:xfrm>
            <a:custGeom>
              <a:avLst/>
              <a:gdLst/>
              <a:ahLst/>
              <a:cxnLst/>
              <a:rect l="l" t="t" r="r" b="b"/>
              <a:pathLst>
                <a:path w="8554085" h="4304665">
                  <a:moveTo>
                    <a:pt x="0" y="0"/>
                  </a:moveTo>
                  <a:lnTo>
                    <a:pt x="8553872" y="0"/>
                  </a:lnTo>
                  <a:lnTo>
                    <a:pt x="8553872" y="4304166"/>
                  </a:lnTo>
                  <a:lnTo>
                    <a:pt x="0" y="430416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33279" y="254001"/>
            <a:ext cx="9626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2500" b="0" spc="-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2500" b="0" dirty="0">
                <a:solidFill>
                  <a:srgbClr val="000000"/>
                </a:solidFill>
                <a:latin typeface="Calibri"/>
                <a:cs typeface="Calibri"/>
              </a:rPr>
              <a:t>ntd</a:t>
            </a:r>
            <a:r>
              <a:rPr sz="2500" b="0" spc="-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500" b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746760"/>
            <a:ext cx="8335645" cy="32994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00" b="1" i="1" spc="-5" dirty="0">
                <a:solidFill>
                  <a:srgbClr val="FF6600"/>
                </a:solidFill>
                <a:latin typeface="Calibri"/>
                <a:cs typeface="Calibri"/>
              </a:rPr>
              <a:t>Advantages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Distribution</a:t>
            </a:r>
            <a:r>
              <a:rPr sz="20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data is </a:t>
            </a:r>
            <a:r>
              <a:rPr sz="2000" spc="-10" dirty="0">
                <a:latin typeface="Calibri"/>
                <a:cs typeface="Calibri"/>
              </a:rPr>
              <a:t>straightforward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Makes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eﬀective</a:t>
            </a:r>
            <a:r>
              <a:rPr sz="2000" i="1" dirty="0">
                <a:solidFill>
                  <a:srgbClr val="7F0101"/>
                </a:solidFill>
                <a:latin typeface="Calibri"/>
                <a:cs typeface="Calibri"/>
              </a:rPr>
              <a:t> use of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networked</a:t>
            </a:r>
            <a:r>
              <a:rPr sz="20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systems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May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require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cheaper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hardware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Easy 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add</a:t>
            </a:r>
            <a:r>
              <a:rPr sz="20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new</a:t>
            </a:r>
            <a:r>
              <a:rPr sz="20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servers</a:t>
            </a:r>
            <a:r>
              <a:rPr sz="20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upgrade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existing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"/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i="1" spc="-5" dirty="0">
                <a:solidFill>
                  <a:srgbClr val="FF6600"/>
                </a:solidFill>
                <a:latin typeface="Calibri"/>
                <a:cs typeface="Calibri"/>
              </a:rPr>
              <a:t>Disadvantages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Redundant</a:t>
            </a:r>
            <a:r>
              <a:rPr sz="2000" i="1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management</a:t>
            </a:r>
            <a:r>
              <a:rPr sz="20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each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</a:t>
            </a:r>
            <a:endParaRPr sz="2000">
              <a:latin typeface="Calibri"/>
              <a:cs typeface="Calibri"/>
            </a:endParaRPr>
          </a:p>
          <a:p>
            <a:pPr marL="354965" marR="5080" indent="-342900">
              <a:lnSpc>
                <a:spcPts val="2120"/>
              </a:lnSpc>
              <a:spcBef>
                <a:spcPts val="5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May</a:t>
            </a:r>
            <a:r>
              <a:rPr sz="2000" spc="-5" dirty="0">
                <a:latin typeface="Calibri"/>
                <a:cs typeface="Calibri"/>
              </a:rPr>
              <a:t> require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central</a:t>
            </a:r>
            <a:r>
              <a:rPr sz="20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7F0101"/>
                </a:solidFill>
                <a:latin typeface="Calibri"/>
                <a:cs typeface="Calibri"/>
              </a:rPr>
              <a:t>registry</a:t>
            </a:r>
            <a:r>
              <a:rPr sz="2000" i="1" spc="5" dirty="0">
                <a:solidFill>
                  <a:srgbClr val="7F0101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services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—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may</a:t>
            </a:r>
            <a:r>
              <a:rPr sz="2000" dirty="0">
                <a:latin typeface="Calibri"/>
                <a:cs typeface="Calibri"/>
              </a:rPr>
              <a:t> be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hard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find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servers</a:t>
            </a:r>
            <a:r>
              <a:rPr sz="2000" dirty="0">
                <a:latin typeface="Calibri"/>
                <a:cs typeface="Calibri"/>
              </a:rPr>
              <a:t> and </a:t>
            </a:r>
            <a:r>
              <a:rPr sz="2000" spc="-5" dirty="0">
                <a:latin typeface="Calibri"/>
                <a:cs typeface="Calibri"/>
              </a:rPr>
              <a:t>services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available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876" y="332508"/>
            <a:ext cx="8940800" cy="6002020"/>
            <a:chOff x="49876" y="332508"/>
            <a:chExt cx="8940800" cy="6002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76" y="1068185"/>
              <a:ext cx="8940337" cy="52661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307" y="1094558"/>
              <a:ext cx="8839200" cy="5166995"/>
            </a:xfrm>
            <a:custGeom>
              <a:avLst/>
              <a:gdLst/>
              <a:ahLst/>
              <a:cxnLst/>
              <a:rect l="l" t="t" r="r" b="b"/>
              <a:pathLst>
                <a:path w="8839200" h="5166995">
                  <a:moveTo>
                    <a:pt x="8839197" y="0"/>
                  </a:moveTo>
                  <a:lnTo>
                    <a:pt x="0" y="0"/>
                  </a:lnTo>
                  <a:lnTo>
                    <a:pt x="0" y="5166686"/>
                  </a:lnTo>
                  <a:lnTo>
                    <a:pt x="8839197" y="5166686"/>
                  </a:lnTo>
                  <a:lnTo>
                    <a:pt x="8839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307" y="1094558"/>
              <a:ext cx="8839200" cy="5166995"/>
            </a:xfrm>
            <a:custGeom>
              <a:avLst/>
              <a:gdLst/>
              <a:ahLst/>
              <a:cxnLst/>
              <a:rect l="l" t="t" r="r" b="b"/>
              <a:pathLst>
                <a:path w="8839200" h="5166995">
                  <a:moveTo>
                    <a:pt x="0" y="0"/>
                  </a:moveTo>
                  <a:lnTo>
                    <a:pt x="8839197" y="0"/>
                  </a:lnTo>
                  <a:lnTo>
                    <a:pt x="8839197" y="5166685"/>
                  </a:lnTo>
                  <a:lnTo>
                    <a:pt x="0" y="51666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8345" y="332508"/>
              <a:ext cx="4397432" cy="73152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99056" y="359176"/>
            <a:ext cx="4298315" cy="63182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8915">
              <a:lnSpc>
                <a:spcPts val="4370"/>
              </a:lnSpc>
            </a:pPr>
            <a:r>
              <a:rPr sz="4000" spc="-5" dirty="0"/>
              <a:t>Peer-to-Peer</a:t>
            </a:r>
            <a:r>
              <a:rPr sz="4000" spc="-40" dirty="0"/>
              <a:t> </a:t>
            </a:r>
            <a:r>
              <a:rPr sz="4000" spc="-5" dirty="0"/>
              <a:t>(P2P)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307340" y="1099820"/>
            <a:ext cx="8458835" cy="47218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4965" marR="5080" indent="-342900">
              <a:lnSpc>
                <a:spcPts val="2800"/>
              </a:lnSpc>
              <a:spcBef>
                <a:spcPts val="26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Each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component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own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process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both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dirty="0">
                <a:latin typeface="Calibri"/>
                <a:cs typeface="Calibri"/>
              </a:rPr>
              <a:t> to </a:t>
            </a:r>
            <a:r>
              <a:rPr sz="2400" spc="-5" dirty="0">
                <a:latin typeface="Calibri"/>
                <a:cs typeface="Calibri"/>
              </a:rPr>
              <a:t>other</a:t>
            </a:r>
            <a:r>
              <a:rPr sz="2400" dirty="0">
                <a:latin typeface="Calibri"/>
                <a:cs typeface="Calibri"/>
              </a:rPr>
              <a:t> peer </a:t>
            </a:r>
            <a:r>
              <a:rPr sz="2400" spc="-5" dirty="0">
                <a:latin typeface="Calibri"/>
                <a:cs typeface="Calibri"/>
              </a:rPr>
              <a:t>components.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ct val="101499"/>
              </a:lnSpc>
              <a:spcBef>
                <a:spcPts val="470"/>
              </a:spcBef>
              <a:buFont typeface="Wingdings"/>
              <a:buChar char=""/>
              <a:tabLst>
                <a:tab pos="355600" algn="l"/>
                <a:tab pos="1032510" algn="l"/>
                <a:tab pos="2663825" algn="l"/>
                <a:tab pos="3302000" algn="l"/>
                <a:tab pos="4374515" algn="l"/>
                <a:tab pos="4723765" algn="l"/>
                <a:tab pos="5878195" algn="l"/>
                <a:tab pos="6344285" algn="l"/>
                <a:tab pos="6991350" algn="l"/>
                <a:tab pos="7875905" algn="l"/>
              </a:tabLst>
            </a:pPr>
            <a:r>
              <a:rPr sz="2400" dirty="0">
                <a:latin typeface="Calibri"/>
                <a:cs typeface="Calibri"/>
              </a:rPr>
              <a:t>Any	c</a:t>
            </a:r>
            <a:r>
              <a:rPr sz="2400" spc="-5" dirty="0">
                <a:latin typeface="Calibri"/>
                <a:cs typeface="Calibri"/>
              </a:rPr>
              <a:t>om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nent	can	ini</a:t>
            </a:r>
            <a:r>
              <a:rPr sz="2400" spc="-15" dirty="0">
                <a:latin typeface="Calibri"/>
                <a:cs typeface="Calibri"/>
              </a:rPr>
              <a:t>ti</a:t>
            </a:r>
            <a:r>
              <a:rPr sz="2400" dirty="0">
                <a:latin typeface="Calibri"/>
                <a:cs typeface="Calibri"/>
              </a:rPr>
              <a:t>ate	a	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equest	to	any	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ther	peer  </a:t>
            </a:r>
            <a:r>
              <a:rPr sz="2400" spc="-5" dirty="0">
                <a:latin typeface="Calibri"/>
                <a:cs typeface="Calibri"/>
              </a:rPr>
              <a:t>component.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Characteristics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Scale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well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39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Increased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system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capabilities</a:t>
            </a:r>
            <a:endParaRPr sz="1800">
              <a:latin typeface="Calibri"/>
              <a:cs typeface="Calibri"/>
            </a:endParaRPr>
          </a:p>
          <a:p>
            <a:pPr marL="748665" marR="5080" lvl="1" indent="-279400">
              <a:lnSpc>
                <a:spcPct val="100800"/>
              </a:lnSpc>
              <a:spcBef>
                <a:spcPts val="46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Peers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are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distributed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network,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heterogeneous,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mutually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independent.</a:t>
            </a:r>
            <a:endParaRPr sz="20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Robust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face of</a:t>
            </a:r>
            <a:r>
              <a:rPr sz="2000" dirty="0">
                <a:latin typeface="Calibri"/>
                <a:cs typeface="Calibri"/>
              </a:rPr>
              <a:t> independent </a:t>
            </a:r>
            <a:r>
              <a:rPr sz="2000" spc="-5" dirty="0">
                <a:latin typeface="Calibri"/>
                <a:cs typeface="Calibri"/>
              </a:rPr>
              <a:t>failures. Highly</a:t>
            </a:r>
            <a:r>
              <a:rPr sz="2000" dirty="0">
                <a:latin typeface="Calibri"/>
                <a:cs typeface="Calibri"/>
              </a:rPr>
              <a:t> scalable</a:t>
            </a:r>
            <a:endParaRPr sz="2000">
              <a:latin typeface="Calibri"/>
              <a:cs typeface="Calibri"/>
            </a:endParaRPr>
          </a:p>
          <a:p>
            <a:pPr marL="748665" marR="5715" lvl="1" indent="-279400">
              <a:lnSpc>
                <a:spcPct val="100800"/>
              </a:lnSpc>
              <a:spcBef>
                <a:spcPts val="384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diﬀers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from</a:t>
            </a:r>
            <a:r>
              <a:rPr sz="2000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client/server</a:t>
            </a:r>
            <a:r>
              <a:rPr sz="2000" u="sng" spc="50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architectures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some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computers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are </a:t>
            </a:r>
            <a:r>
              <a:rPr sz="2000" spc="-4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dedicated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serving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others.</a:t>
            </a:r>
            <a:endParaRPr sz="20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Components</a:t>
            </a:r>
            <a:r>
              <a:rPr sz="2000" dirty="0">
                <a:latin typeface="Calibri"/>
                <a:cs typeface="Calibri"/>
              </a:rPr>
              <a:t> do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oﬀer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performance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heavy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loads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1803" y="394855"/>
            <a:ext cx="5200015" cy="631825"/>
            <a:chOff x="1961803" y="394855"/>
            <a:chExt cx="5200015" cy="631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803" y="394855"/>
              <a:ext cx="5199611" cy="6317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13723" y="423315"/>
              <a:ext cx="5099685" cy="530225"/>
            </a:xfrm>
            <a:custGeom>
              <a:avLst/>
              <a:gdLst/>
              <a:ahLst/>
              <a:cxnLst/>
              <a:rect l="l" t="t" r="r" b="b"/>
              <a:pathLst>
                <a:path w="5099684" h="530225">
                  <a:moveTo>
                    <a:pt x="5099090" y="0"/>
                  </a:moveTo>
                  <a:lnTo>
                    <a:pt x="0" y="0"/>
                  </a:lnTo>
                  <a:lnTo>
                    <a:pt x="0" y="529788"/>
                  </a:lnTo>
                  <a:lnTo>
                    <a:pt x="5099090" y="529788"/>
                  </a:lnTo>
                  <a:lnTo>
                    <a:pt x="5099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3723" y="423314"/>
              <a:ext cx="5099685" cy="530225"/>
            </a:xfrm>
            <a:custGeom>
              <a:avLst/>
              <a:gdLst/>
              <a:ahLst/>
              <a:cxnLst/>
              <a:rect l="l" t="t" r="r" b="b"/>
              <a:pathLst>
                <a:path w="5099684" h="530225">
                  <a:moveTo>
                    <a:pt x="0" y="0"/>
                  </a:moveTo>
                  <a:lnTo>
                    <a:pt x="5099090" y="0"/>
                  </a:lnTo>
                  <a:lnTo>
                    <a:pt x="5099090" y="529787"/>
                  </a:lnTo>
                  <a:lnTo>
                    <a:pt x="0" y="5297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8723" y="1217814"/>
            <a:ext cx="8632825" cy="5012690"/>
            <a:chOff x="178723" y="1217814"/>
            <a:chExt cx="8632825" cy="50126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1217814"/>
              <a:ext cx="8632766" cy="50125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600" y="1244286"/>
              <a:ext cx="8533765" cy="4913630"/>
            </a:xfrm>
            <a:custGeom>
              <a:avLst/>
              <a:gdLst/>
              <a:ahLst/>
              <a:cxnLst/>
              <a:rect l="l" t="t" r="r" b="b"/>
              <a:pathLst>
                <a:path w="8533765" h="4913630">
                  <a:moveTo>
                    <a:pt x="8533730" y="0"/>
                  </a:moveTo>
                  <a:lnTo>
                    <a:pt x="0" y="0"/>
                  </a:lnTo>
                  <a:lnTo>
                    <a:pt x="0" y="4913001"/>
                  </a:lnTo>
                  <a:lnTo>
                    <a:pt x="8533730" y="4913001"/>
                  </a:lnTo>
                  <a:lnTo>
                    <a:pt x="8533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9" y="1244286"/>
              <a:ext cx="8533765" cy="4913630"/>
            </a:xfrm>
            <a:custGeom>
              <a:avLst/>
              <a:gdLst/>
              <a:ahLst/>
              <a:cxnLst/>
              <a:rect l="l" t="t" r="r" b="b"/>
              <a:pathLst>
                <a:path w="8533765" h="4913630">
                  <a:moveTo>
                    <a:pt x="0" y="0"/>
                  </a:moveTo>
                  <a:lnTo>
                    <a:pt x="8533729" y="0"/>
                  </a:lnTo>
                  <a:lnTo>
                    <a:pt x="8533729" y="4913001"/>
                  </a:lnTo>
                  <a:lnTo>
                    <a:pt x="0" y="49130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42294" y="322581"/>
            <a:ext cx="4847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Event-Based</a:t>
            </a:r>
            <a:r>
              <a:rPr spc="-30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7340" y="1176020"/>
            <a:ext cx="8433435" cy="43681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4965" marR="1131570" indent="-342900">
              <a:lnSpc>
                <a:spcPts val="3800"/>
              </a:lnSpc>
              <a:spcBef>
                <a:spcPts val="260"/>
              </a:spcBef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spc="-5" dirty="0">
                <a:latin typeface="Calibri"/>
                <a:cs typeface="Calibri"/>
              </a:rPr>
              <a:t>Components interact </a:t>
            </a:r>
            <a:r>
              <a:rPr sz="3200" dirty="0">
                <a:latin typeface="Calibri"/>
                <a:cs typeface="Calibri"/>
              </a:rPr>
              <a:t>by </a:t>
            </a:r>
            <a:r>
              <a:rPr sz="3200" spc="-5" dirty="0">
                <a:latin typeface="Calibri"/>
                <a:cs typeface="Calibri"/>
              </a:rPr>
              <a:t>broadcasting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reacting </a:t>
            </a:r>
            <a:r>
              <a:rPr sz="3200" dirty="0">
                <a:latin typeface="Calibri"/>
                <a:cs typeface="Calibri"/>
              </a:rPr>
              <a:t>to events</a:t>
            </a:r>
            <a:endParaRPr sz="32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7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Component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expresses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subscribing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  <a:p>
            <a:pPr marL="748665" marR="505459" lvl="1" indent="-279400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When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another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component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announces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(publishes)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taken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place,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subscribing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components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notified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Implicit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invocation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common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form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publish-subscribe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architecture</a:t>
            </a:r>
            <a:endParaRPr sz="1800">
              <a:latin typeface="Calibri"/>
              <a:cs typeface="Calibri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latin typeface="Calibri"/>
                <a:cs typeface="Calibri"/>
              </a:rPr>
              <a:t>Registering: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subscribing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component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associates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procedures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each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event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interest </a:t>
            </a:r>
            <a:r>
              <a:rPr sz="1600" dirty="0">
                <a:latin typeface="Calibri"/>
                <a:cs typeface="Calibri"/>
              </a:rPr>
              <a:t>(called the </a:t>
            </a:r>
            <a:r>
              <a:rPr sz="1600" spc="-5" dirty="0">
                <a:latin typeface="Calibri"/>
                <a:cs typeface="Calibri"/>
              </a:rPr>
              <a:t>procedure)</a:t>
            </a:r>
            <a:endParaRPr sz="160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745"/>
              </a:spcBef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spc="-5" dirty="0">
                <a:latin typeface="Calibri"/>
                <a:cs typeface="Calibri"/>
              </a:rPr>
              <a:t>Characteristics</a:t>
            </a:r>
            <a:endParaRPr sz="32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Strong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support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evolution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customization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Easy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reuse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components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other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event-driven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10" dirty="0">
                <a:latin typeface="Calibri"/>
                <a:cs typeface="Calibri"/>
              </a:rPr>
              <a:t>Difficult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7323" y="964276"/>
            <a:ext cx="8312784" cy="5424170"/>
            <a:chOff x="407323" y="964276"/>
            <a:chExt cx="8312784" cy="5424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323" y="964276"/>
              <a:ext cx="8312726" cy="54240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990601"/>
              <a:ext cx="8212455" cy="5323840"/>
            </a:xfrm>
            <a:custGeom>
              <a:avLst/>
              <a:gdLst/>
              <a:ahLst/>
              <a:cxnLst/>
              <a:rect l="l" t="t" r="r" b="b"/>
              <a:pathLst>
                <a:path w="8212455" h="5323840">
                  <a:moveTo>
                    <a:pt x="8212136" y="0"/>
                  </a:moveTo>
                  <a:lnTo>
                    <a:pt x="0" y="0"/>
                  </a:lnTo>
                  <a:lnTo>
                    <a:pt x="0" y="5323486"/>
                  </a:lnTo>
                  <a:lnTo>
                    <a:pt x="8212136" y="5323486"/>
                  </a:lnTo>
                  <a:lnTo>
                    <a:pt x="8212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990601"/>
              <a:ext cx="8212455" cy="5323840"/>
            </a:xfrm>
            <a:custGeom>
              <a:avLst/>
              <a:gdLst/>
              <a:ahLst/>
              <a:cxnLst/>
              <a:rect l="l" t="t" r="r" b="b"/>
              <a:pathLst>
                <a:path w="8212455" h="5323840">
                  <a:moveTo>
                    <a:pt x="0" y="0"/>
                  </a:moveTo>
                  <a:lnTo>
                    <a:pt x="8212135" y="0"/>
                  </a:lnTo>
                  <a:lnTo>
                    <a:pt x="8212135" y="5323486"/>
                  </a:lnTo>
                  <a:lnTo>
                    <a:pt x="0" y="53234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2870711"/>
              <a:ext cx="1872614" cy="905510"/>
            </a:xfrm>
            <a:custGeom>
              <a:avLst/>
              <a:gdLst/>
              <a:ahLst/>
              <a:cxnLst/>
              <a:rect l="l" t="t" r="r" b="b"/>
              <a:pathLst>
                <a:path w="1872614" h="905510">
                  <a:moveTo>
                    <a:pt x="0" y="0"/>
                  </a:moveTo>
                  <a:lnTo>
                    <a:pt x="1872048" y="0"/>
                  </a:lnTo>
                  <a:lnTo>
                    <a:pt x="1872048" y="905275"/>
                  </a:lnTo>
                  <a:lnTo>
                    <a:pt x="0" y="9052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70919" y="391159"/>
            <a:ext cx="1224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3200" b="0" spc="-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3200" b="0" dirty="0">
                <a:solidFill>
                  <a:srgbClr val="000000"/>
                </a:solidFill>
                <a:latin typeface="Calibri"/>
                <a:cs typeface="Calibri"/>
              </a:rPr>
              <a:t>ntd</a:t>
            </a:r>
            <a:r>
              <a:rPr sz="3200" b="0" spc="-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3200" b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39" y="2903733"/>
            <a:ext cx="8489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Event Source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25745" y="2851879"/>
            <a:ext cx="1872614" cy="905510"/>
          </a:xfrm>
          <a:custGeom>
            <a:avLst/>
            <a:gdLst/>
            <a:ahLst/>
            <a:cxnLst/>
            <a:rect l="l" t="t" r="r" b="b"/>
            <a:pathLst>
              <a:path w="1872615" h="905510">
                <a:moveTo>
                  <a:pt x="0" y="0"/>
                </a:moveTo>
                <a:lnTo>
                  <a:pt x="1872048" y="0"/>
                </a:lnTo>
                <a:lnTo>
                  <a:pt x="1872048" y="905275"/>
                </a:lnTo>
                <a:lnTo>
                  <a:pt x="0" y="90527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04485" y="2884897"/>
            <a:ext cx="759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Event</a:t>
            </a:r>
            <a:r>
              <a:rPr sz="1200" b="1" spc="-6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33749" y="4885923"/>
            <a:ext cx="1872614" cy="905510"/>
          </a:xfrm>
          <a:custGeom>
            <a:avLst/>
            <a:gdLst/>
            <a:ahLst/>
            <a:cxnLst/>
            <a:rect l="l" t="t" r="r" b="b"/>
            <a:pathLst>
              <a:path w="1872615" h="905510">
                <a:moveTo>
                  <a:pt x="0" y="0"/>
                </a:moveTo>
                <a:lnTo>
                  <a:pt x="1872048" y="0"/>
                </a:lnTo>
                <a:lnTo>
                  <a:pt x="1872048" y="905275"/>
                </a:lnTo>
                <a:lnTo>
                  <a:pt x="0" y="90527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12490" y="4918944"/>
            <a:ext cx="759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Event</a:t>
            </a:r>
            <a:r>
              <a:rPr sz="1200" b="1" spc="-6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27537" y="3041013"/>
            <a:ext cx="4406900" cy="2527935"/>
            <a:chOff x="2027537" y="3041013"/>
            <a:chExt cx="4406900" cy="2527935"/>
          </a:xfrm>
        </p:grpSpPr>
        <p:sp>
          <p:nvSpPr>
            <p:cNvPr id="14" name="object 14"/>
            <p:cNvSpPr/>
            <p:nvPr/>
          </p:nvSpPr>
          <p:spPr>
            <a:xfrm>
              <a:off x="2481648" y="3529893"/>
              <a:ext cx="3719195" cy="1905"/>
            </a:xfrm>
            <a:custGeom>
              <a:avLst/>
              <a:gdLst/>
              <a:ahLst/>
              <a:cxnLst/>
              <a:rect l="l" t="t" r="r" b="b"/>
              <a:pathLst>
                <a:path w="3719195" h="1904">
                  <a:moveTo>
                    <a:pt x="0" y="0"/>
                  </a:moveTo>
                  <a:lnTo>
                    <a:pt x="3718718" y="157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49550" y="349334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33" y="0"/>
                  </a:moveTo>
                  <a:lnTo>
                    <a:pt x="0" y="76200"/>
                  </a:lnTo>
                  <a:lnTo>
                    <a:pt x="76216" y="381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07049" y="3077883"/>
              <a:ext cx="3719195" cy="1270"/>
            </a:xfrm>
            <a:custGeom>
              <a:avLst/>
              <a:gdLst/>
              <a:ahLst/>
              <a:cxnLst/>
              <a:rect l="l" t="t" r="r" b="b"/>
              <a:pathLst>
                <a:path w="3719195" h="1269">
                  <a:moveTo>
                    <a:pt x="3718696" y="0"/>
                  </a:moveTo>
                  <a:lnTo>
                    <a:pt x="0" y="124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1648" y="3041013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76187" y="0"/>
                  </a:moveTo>
                  <a:lnTo>
                    <a:pt x="0" y="38125"/>
                  </a:lnTo>
                  <a:lnTo>
                    <a:pt x="76212" y="76200"/>
                  </a:lnTo>
                  <a:lnTo>
                    <a:pt x="7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97658" y="3529893"/>
              <a:ext cx="0" cy="1582420"/>
            </a:xfrm>
            <a:custGeom>
              <a:avLst/>
              <a:gdLst/>
              <a:ahLst/>
              <a:cxnLst/>
              <a:rect l="l" t="t" r="r" b="b"/>
              <a:pathLst>
                <a:path h="1582420">
                  <a:moveTo>
                    <a:pt x="0" y="0"/>
                  </a:moveTo>
                  <a:lnTo>
                    <a:pt x="0" y="1582035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7658" y="5111929"/>
              <a:ext cx="3510915" cy="0"/>
            </a:xfrm>
            <a:custGeom>
              <a:avLst/>
              <a:gdLst/>
              <a:ahLst/>
              <a:cxnLst/>
              <a:rect l="l" t="t" r="r" b="b"/>
              <a:pathLst>
                <a:path w="3510915">
                  <a:moveTo>
                    <a:pt x="0" y="0"/>
                  </a:moveTo>
                  <a:lnTo>
                    <a:pt x="3510756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57614" y="50738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65638" y="5563938"/>
              <a:ext cx="4368165" cy="0"/>
            </a:xfrm>
            <a:custGeom>
              <a:avLst/>
              <a:gdLst/>
              <a:ahLst/>
              <a:cxnLst/>
              <a:rect l="l" t="t" r="r" b="b"/>
              <a:pathLst>
                <a:path w="4368165">
                  <a:moveTo>
                    <a:pt x="4368112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65637" y="3781176"/>
              <a:ext cx="0" cy="1783080"/>
            </a:xfrm>
            <a:custGeom>
              <a:avLst/>
              <a:gdLst/>
              <a:ahLst/>
              <a:cxnLst/>
              <a:rect l="l" t="t" r="r" b="b"/>
              <a:pathLst>
                <a:path h="1783079">
                  <a:moveTo>
                    <a:pt x="0" y="178276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27537" y="37557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184404" y="2395220"/>
            <a:ext cx="121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Subscribe(register)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92409" y="3619414"/>
            <a:ext cx="1209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Publish(broadcast)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2139" y="924559"/>
            <a:ext cx="5704205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64135" marR="5080" indent="-52069">
              <a:lnSpc>
                <a:spcPts val="1900"/>
              </a:lnSpc>
              <a:spcBef>
                <a:spcPts val="380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broadcast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models</a:t>
            </a:r>
            <a:r>
              <a:rPr sz="1800" dirty="0">
                <a:latin typeface="Calibri"/>
                <a:cs typeface="Calibri"/>
              </a:rPr>
              <a:t> 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broadcast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 </a:t>
            </a:r>
            <a:r>
              <a:rPr sz="1800" spc="-5" dirty="0">
                <a:latin typeface="Calibri"/>
                <a:cs typeface="Calibri"/>
              </a:rPr>
              <a:t>sub-systems.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5" dirty="0">
                <a:latin typeface="Calibri"/>
                <a:cs typeface="Calibri"/>
              </a:rPr>
              <a:t> sub-system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dirty="0">
                <a:latin typeface="Calibri"/>
                <a:cs typeface="Calibri"/>
              </a:rPr>
              <a:t> can handle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event </a:t>
            </a:r>
            <a:r>
              <a:rPr sz="1800" spc="-5" dirty="0">
                <a:latin typeface="Calibri"/>
                <a:cs typeface="Calibri"/>
              </a:rPr>
              <a:t>may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5" dirty="0">
                <a:latin typeface="Calibri"/>
                <a:cs typeface="Calibri"/>
              </a:rPr>
              <a:t>so.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78876" y="374072"/>
            <a:ext cx="2128520" cy="586105"/>
            <a:chOff x="3478876" y="374072"/>
            <a:chExt cx="2128520" cy="586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8876" y="374072"/>
              <a:ext cx="2128057" cy="5860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28024" y="400526"/>
              <a:ext cx="2027555" cy="487680"/>
            </a:xfrm>
            <a:custGeom>
              <a:avLst/>
              <a:gdLst/>
              <a:ahLst/>
              <a:cxnLst/>
              <a:rect l="l" t="t" r="r" b="b"/>
              <a:pathLst>
                <a:path w="2027554" h="487680">
                  <a:moveTo>
                    <a:pt x="2027011" y="0"/>
                  </a:moveTo>
                  <a:lnTo>
                    <a:pt x="0" y="0"/>
                  </a:lnTo>
                  <a:lnTo>
                    <a:pt x="0" y="487452"/>
                  </a:lnTo>
                  <a:lnTo>
                    <a:pt x="2027011" y="487452"/>
                  </a:lnTo>
                  <a:lnTo>
                    <a:pt x="20270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8024" y="400526"/>
              <a:ext cx="2027555" cy="487680"/>
            </a:xfrm>
            <a:custGeom>
              <a:avLst/>
              <a:gdLst/>
              <a:ahLst/>
              <a:cxnLst/>
              <a:rect l="l" t="t" r="r" b="b"/>
              <a:pathLst>
                <a:path w="2027554" h="487680">
                  <a:moveTo>
                    <a:pt x="0" y="0"/>
                  </a:moveTo>
                  <a:lnTo>
                    <a:pt x="2027010" y="0"/>
                  </a:lnTo>
                  <a:lnTo>
                    <a:pt x="2027010" y="487451"/>
                  </a:lnTo>
                  <a:lnTo>
                    <a:pt x="0" y="48745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8723" y="1039091"/>
            <a:ext cx="8787130" cy="5054600"/>
            <a:chOff x="178723" y="1039091"/>
            <a:chExt cx="8787130" cy="5054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1039091"/>
              <a:ext cx="8786552" cy="50541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600" y="1066801"/>
              <a:ext cx="8686800" cy="4951730"/>
            </a:xfrm>
            <a:custGeom>
              <a:avLst/>
              <a:gdLst/>
              <a:ahLst/>
              <a:cxnLst/>
              <a:rect l="l" t="t" r="r" b="b"/>
              <a:pathLst>
                <a:path w="8686800" h="4951730">
                  <a:moveTo>
                    <a:pt x="8686798" y="0"/>
                  </a:moveTo>
                  <a:lnTo>
                    <a:pt x="0" y="0"/>
                  </a:lnTo>
                  <a:lnTo>
                    <a:pt x="0" y="4951483"/>
                  </a:lnTo>
                  <a:lnTo>
                    <a:pt x="8686798" y="4951483"/>
                  </a:lnTo>
                  <a:lnTo>
                    <a:pt x="8686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9" y="1066801"/>
              <a:ext cx="8686800" cy="4951730"/>
            </a:xfrm>
            <a:custGeom>
              <a:avLst/>
              <a:gdLst/>
              <a:ahLst/>
              <a:cxnLst/>
              <a:rect l="l" t="t" r="r" b="b"/>
              <a:pathLst>
                <a:path w="8686800" h="4951730">
                  <a:moveTo>
                    <a:pt x="0" y="0"/>
                  </a:moveTo>
                  <a:lnTo>
                    <a:pt x="8686797" y="0"/>
                  </a:lnTo>
                  <a:lnTo>
                    <a:pt x="8686797" y="4951483"/>
                  </a:lnTo>
                  <a:lnTo>
                    <a:pt x="0" y="495148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62660" y="292101"/>
            <a:ext cx="18084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Layering</a:t>
            </a:r>
            <a:endParaRPr sz="4000"/>
          </a:p>
        </p:txBody>
      </p:sp>
      <p:sp>
        <p:nvSpPr>
          <p:cNvPr id="11" name="object 11"/>
          <p:cNvSpPr txBox="1"/>
          <p:nvPr/>
        </p:nvSpPr>
        <p:spPr>
          <a:xfrm>
            <a:off x="307340" y="1050374"/>
            <a:ext cx="8535035" cy="484251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5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Layers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 hierarchical</a:t>
            </a:r>
            <a:endParaRPr sz="2400">
              <a:latin typeface="Calibri"/>
              <a:cs typeface="Calibri"/>
            </a:endParaRPr>
          </a:p>
          <a:p>
            <a:pPr marL="748665" marR="5080" lvl="1" indent="-279400">
              <a:lnSpc>
                <a:spcPts val="1970"/>
              </a:lnSpc>
              <a:spcBef>
                <a:spcPts val="33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Each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layer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provides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service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outside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layer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  <a:p>
            <a:pPr marL="748665" marR="5080" lvl="1" indent="-279400">
              <a:lnSpc>
                <a:spcPts val="1870"/>
              </a:lnSpc>
              <a:spcBef>
                <a:spcPts val="540"/>
              </a:spcBef>
              <a:buFont typeface="Arial MT"/>
              <a:buChar char="–"/>
              <a:tabLst>
                <a:tab pos="755015" algn="l"/>
                <a:tab pos="755650" algn="l"/>
                <a:tab pos="2360295" algn="l"/>
              </a:tabLst>
            </a:pPr>
            <a:r>
              <a:rPr sz="1800" spc="-5" dirty="0">
                <a:latin typeface="Calibri"/>
                <a:cs typeface="Calibri"/>
              </a:rPr>
              <a:t>Layer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bridging:	allowing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layer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access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services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layers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below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lower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54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Each layer </a:t>
            </a:r>
            <a:r>
              <a:rPr sz="1800" dirty="0">
                <a:latin typeface="Calibri"/>
                <a:cs typeface="Calibri"/>
              </a:rPr>
              <a:t>has </a:t>
            </a:r>
            <a:r>
              <a:rPr sz="1800" spc="-5" dirty="0">
                <a:latin typeface="Calibri"/>
                <a:cs typeface="Calibri"/>
              </a:rPr>
              <a:t>two interfaces.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Upper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interface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provides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services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Lower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interface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requires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services.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2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protocols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3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Explain</a:t>
            </a:r>
            <a:r>
              <a:rPr sz="1800" spc="-5" dirty="0">
                <a:latin typeface="Calibri"/>
                <a:cs typeface="Calibri"/>
              </a:rPr>
              <a:t> how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</a:t>
            </a:r>
            <a:r>
              <a:rPr sz="1800" dirty="0">
                <a:latin typeface="Calibri"/>
                <a:cs typeface="Calibri"/>
              </a:rPr>
              <a:t> pair </a:t>
            </a:r>
            <a:r>
              <a:rPr sz="1800" spc="-5" dirty="0">
                <a:latin typeface="Calibri"/>
                <a:cs typeface="Calibri"/>
              </a:rPr>
              <a:t>of layers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interact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Advantages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13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High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abstraction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Relatively </a:t>
            </a:r>
            <a:r>
              <a:rPr sz="1800" dirty="0">
                <a:latin typeface="Calibri"/>
                <a:cs typeface="Calibri"/>
              </a:rPr>
              <a:t>easy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 add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modify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layer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Disadvantages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35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always</a:t>
            </a:r>
            <a:r>
              <a:rPr sz="1800" dirty="0">
                <a:latin typeface="Calibri"/>
                <a:cs typeface="Calibri"/>
              </a:rPr>
              <a:t> easy to </a:t>
            </a:r>
            <a:r>
              <a:rPr sz="1800" spc="-5" dirty="0">
                <a:latin typeface="Calibri"/>
                <a:cs typeface="Calibri"/>
              </a:rPr>
              <a:t>structure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system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layers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37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System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performance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may</a:t>
            </a:r>
            <a:r>
              <a:rPr sz="1800" dirty="0">
                <a:latin typeface="Calibri"/>
                <a:cs typeface="Calibri"/>
              </a:rPr>
              <a:t> suﬀer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from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extra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coordination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among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layers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818" y="885306"/>
            <a:ext cx="8258809" cy="5307965"/>
            <a:chOff x="207818" y="885306"/>
            <a:chExt cx="8258809" cy="53079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818" y="885306"/>
              <a:ext cx="8258694" cy="53076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6583" y="914401"/>
              <a:ext cx="8159750" cy="5204460"/>
            </a:xfrm>
            <a:custGeom>
              <a:avLst/>
              <a:gdLst/>
              <a:ahLst/>
              <a:cxnLst/>
              <a:rect l="l" t="t" r="r" b="b"/>
              <a:pathLst>
                <a:path w="8159750" h="5204460">
                  <a:moveTo>
                    <a:pt x="8159359" y="0"/>
                  </a:moveTo>
                  <a:lnTo>
                    <a:pt x="0" y="0"/>
                  </a:lnTo>
                  <a:lnTo>
                    <a:pt x="0" y="5204403"/>
                  </a:lnTo>
                  <a:lnTo>
                    <a:pt x="8159359" y="5204403"/>
                  </a:lnTo>
                  <a:lnTo>
                    <a:pt x="8159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6583" y="914401"/>
              <a:ext cx="8159750" cy="5204460"/>
            </a:xfrm>
            <a:custGeom>
              <a:avLst/>
              <a:gdLst/>
              <a:ahLst/>
              <a:cxnLst/>
              <a:rect l="l" t="t" r="r" b="b"/>
              <a:pathLst>
                <a:path w="8159750" h="5204460">
                  <a:moveTo>
                    <a:pt x="0" y="0"/>
                  </a:moveTo>
                  <a:lnTo>
                    <a:pt x="8159357" y="0"/>
                  </a:lnTo>
                  <a:lnTo>
                    <a:pt x="8159357" y="5204403"/>
                  </a:lnTo>
                  <a:lnTo>
                    <a:pt x="0" y="520440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40944" y="215901"/>
            <a:ext cx="15252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-5" dirty="0">
                <a:solidFill>
                  <a:srgbClr val="000000"/>
                </a:solidFill>
                <a:latin typeface="Calibri"/>
                <a:cs typeface="Calibri"/>
              </a:rPr>
              <a:t>Contd..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39" y="947420"/>
            <a:ext cx="2814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OSI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600200"/>
            <a:ext cx="7445373" cy="41909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218" y="245225"/>
            <a:ext cx="6899563" cy="74398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3538" y="1113906"/>
            <a:ext cx="8637270" cy="4501515"/>
            <a:chOff x="253538" y="1113906"/>
            <a:chExt cx="8637270" cy="45015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538" y="1113906"/>
              <a:ext cx="8636923" cy="45013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4800" y="1143001"/>
              <a:ext cx="8534400" cy="4398645"/>
            </a:xfrm>
            <a:custGeom>
              <a:avLst/>
              <a:gdLst/>
              <a:ahLst/>
              <a:cxnLst/>
              <a:rect l="l" t="t" r="r" b="b"/>
              <a:pathLst>
                <a:path w="8534400" h="4398645">
                  <a:moveTo>
                    <a:pt x="8534398" y="0"/>
                  </a:moveTo>
                  <a:lnTo>
                    <a:pt x="0" y="0"/>
                  </a:lnTo>
                  <a:lnTo>
                    <a:pt x="0" y="4398557"/>
                  </a:lnTo>
                  <a:lnTo>
                    <a:pt x="8534398" y="4398557"/>
                  </a:lnTo>
                  <a:lnTo>
                    <a:pt x="8534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800" y="1143001"/>
              <a:ext cx="8534400" cy="4398645"/>
            </a:xfrm>
            <a:custGeom>
              <a:avLst/>
              <a:gdLst/>
              <a:ahLst/>
              <a:cxnLst/>
              <a:rect l="l" t="t" r="r" b="b"/>
              <a:pathLst>
                <a:path w="8534400" h="4398645">
                  <a:moveTo>
                    <a:pt x="0" y="0"/>
                  </a:moveTo>
                  <a:lnTo>
                    <a:pt x="8534397" y="0"/>
                  </a:lnTo>
                  <a:lnTo>
                    <a:pt x="8534397" y="4398557"/>
                  </a:lnTo>
                  <a:lnTo>
                    <a:pt x="0" y="439855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1338" y="274638"/>
            <a:ext cx="6801484" cy="64008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14"/>
              </a:spcBef>
            </a:pPr>
            <a:r>
              <a:rPr sz="4000" u="heavy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MVC</a:t>
            </a:r>
            <a:r>
              <a:rPr sz="4000" spc="-15" dirty="0">
                <a:solidFill>
                  <a:srgbClr val="0000FF"/>
                </a:solidFill>
              </a:rPr>
              <a:t> </a:t>
            </a:r>
            <a:r>
              <a:rPr sz="4000" spc="-5" dirty="0"/>
              <a:t>(Model-View-Controller)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383540" y="1115059"/>
            <a:ext cx="8383270" cy="39979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 algn="just">
              <a:lnSpc>
                <a:spcPct val="79900"/>
              </a:lnSpc>
              <a:spcBef>
                <a:spcPts val="6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MVC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paradigm,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modeling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external world, </a:t>
            </a:r>
            <a:r>
              <a:rPr sz="2400" dirty="0">
                <a:latin typeface="Calibri"/>
                <a:cs typeface="Calibri"/>
              </a:rPr>
              <a:t>and the visual </a:t>
            </a:r>
            <a:r>
              <a:rPr sz="2400" spc="-5" dirty="0">
                <a:latin typeface="Calibri"/>
                <a:cs typeface="Calibri"/>
              </a:rPr>
              <a:t>feedback </a:t>
            </a:r>
            <a:r>
              <a:rPr sz="2400" dirty="0">
                <a:latin typeface="Calibri"/>
                <a:cs typeface="Calibri"/>
              </a:rPr>
              <a:t>to the user </a:t>
            </a:r>
            <a:r>
              <a:rPr sz="2400" spc="-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explicitly </a:t>
            </a:r>
            <a:r>
              <a:rPr sz="2400" spc="5" dirty="0">
                <a:latin typeface="Calibri"/>
                <a:cs typeface="Calibri"/>
              </a:rPr>
              <a:t> separated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handled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three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types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objects,</a:t>
            </a:r>
            <a:r>
              <a:rPr sz="2400" spc="10" dirty="0">
                <a:latin typeface="Calibri"/>
                <a:cs typeface="Calibri"/>
              </a:rPr>
              <a:t> each 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specialized for</a:t>
            </a:r>
            <a:r>
              <a:rPr sz="2400" dirty="0">
                <a:latin typeface="Calibri"/>
                <a:cs typeface="Calibri"/>
              </a:rPr>
              <a:t> its task.</a:t>
            </a:r>
            <a:endParaRPr sz="2400">
              <a:latin typeface="Calibri"/>
              <a:cs typeface="Calibri"/>
            </a:endParaRPr>
          </a:p>
          <a:p>
            <a:pPr marL="748665" marR="5080" lvl="1" indent="-279400" algn="just">
              <a:lnSpc>
                <a:spcPts val="1920"/>
              </a:lnSpc>
              <a:spcBef>
                <a:spcPts val="445"/>
              </a:spcBef>
              <a:buFont typeface="Arial MT"/>
              <a:buChar char="–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The </a:t>
            </a:r>
            <a:r>
              <a:rPr sz="2000" b="1" spc="-5" dirty="0">
                <a:latin typeface="Calibri"/>
                <a:cs typeface="Calibri"/>
              </a:rPr>
              <a:t>view </a:t>
            </a:r>
            <a:r>
              <a:rPr sz="2000" spc="-5" dirty="0">
                <a:latin typeface="Calibri"/>
                <a:cs typeface="Calibri"/>
              </a:rPr>
              <a:t>manages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graphical and/or textual output </a:t>
            </a:r>
            <a:r>
              <a:rPr sz="2000" dirty="0">
                <a:latin typeface="Calibri"/>
                <a:cs typeface="Calibri"/>
              </a:rPr>
              <a:t>to the </a:t>
            </a:r>
            <a:r>
              <a:rPr sz="2000" spc="-5" dirty="0">
                <a:latin typeface="Calibri"/>
                <a:cs typeface="Calibri"/>
              </a:rPr>
              <a:t>portion of 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bitmapped</a:t>
            </a:r>
            <a:r>
              <a:rPr sz="2000" dirty="0">
                <a:latin typeface="Calibri"/>
                <a:cs typeface="Calibri"/>
              </a:rPr>
              <a:t> display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 is </a:t>
            </a:r>
            <a:r>
              <a:rPr sz="2000" spc="-5" dirty="0">
                <a:latin typeface="Calibri"/>
                <a:cs typeface="Calibri"/>
              </a:rPr>
              <a:t>allocated</a:t>
            </a:r>
            <a:r>
              <a:rPr sz="2000" dirty="0">
                <a:latin typeface="Calibri"/>
                <a:cs typeface="Calibri"/>
              </a:rPr>
              <a:t> to its </a:t>
            </a:r>
            <a:r>
              <a:rPr sz="2000" spc="-5" dirty="0"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 MT"/>
              <a:buChar char="–"/>
            </a:pPr>
            <a:endParaRPr sz="2300">
              <a:latin typeface="Calibri"/>
              <a:cs typeface="Calibri"/>
            </a:endParaRPr>
          </a:p>
          <a:p>
            <a:pPr marL="748665" marR="5715" lvl="1" indent="-279400" algn="just">
              <a:lnSpc>
                <a:spcPts val="1920"/>
              </a:lnSpc>
              <a:buFont typeface="Arial MT"/>
              <a:buChar char="–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The </a:t>
            </a:r>
            <a:r>
              <a:rPr sz="2000" b="1" spc="-5" dirty="0">
                <a:latin typeface="Calibri"/>
                <a:cs typeface="Calibri"/>
              </a:rPr>
              <a:t>controller </a:t>
            </a:r>
            <a:r>
              <a:rPr sz="2000" spc="-5" dirty="0">
                <a:latin typeface="Calibri"/>
                <a:cs typeface="Calibri"/>
              </a:rPr>
              <a:t>interprets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mouse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keyboard </a:t>
            </a:r>
            <a:r>
              <a:rPr sz="2000" dirty="0">
                <a:latin typeface="Calibri"/>
                <a:cs typeface="Calibri"/>
              </a:rPr>
              <a:t>inputs </a:t>
            </a:r>
            <a:r>
              <a:rPr sz="2000" spc="-5" dirty="0">
                <a:latin typeface="Calibri"/>
                <a:cs typeface="Calibri"/>
              </a:rPr>
              <a:t>from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user,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commanding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model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and/or</a:t>
            </a:r>
            <a:r>
              <a:rPr sz="2000" dirty="0">
                <a:latin typeface="Calibri"/>
                <a:cs typeface="Calibri"/>
              </a:rPr>
              <a:t> the view to change as </a:t>
            </a:r>
            <a:r>
              <a:rPr sz="2000" spc="-5" dirty="0">
                <a:latin typeface="Calibri"/>
                <a:cs typeface="Calibri"/>
              </a:rPr>
              <a:t>appropriate.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 MT"/>
              <a:buChar char="–"/>
            </a:pPr>
            <a:endParaRPr sz="2350">
              <a:latin typeface="Calibri"/>
              <a:cs typeface="Calibri"/>
            </a:endParaRPr>
          </a:p>
          <a:p>
            <a:pPr marL="748665" marR="5080" lvl="1" indent="-279400" algn="just">
              <a:lnSpc>
                <a:spcPct val="79400"/>
              </a:lnSpc>
              <a:buFont typeface="Arial MT"/>
              <a:buChar char="–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The </a:t>
            </a:r>
            <a:r>
              <a:rPr sz="2000" b="1" spc="-5" dirty="0">
                <a:latin typeface="Calibri"/>
                <a:cs typeface="Calibri"/>
              </a:rPr>
              <a:t>model </a:t>
            </a:r>
            <a:r>
              <a:rPr sz="2000" spc="-5" dirty="0">
                <a:latin typeface="Calibri"/>
                <a:cs typeface="Calibri"/>
              </a:rPr>
              <a:t>manages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behavior </a:t>
            </a:r>
            <a:r>
              <a:rPr sz="2000" dirty="0">
                <a:latin typeface="Calibri"/>
                <a:cs typeface="Calibri"/>
              </a:rPr>
              <a:t>and data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application domain,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responds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requests for information about </a:t>
            </a:r>
            <a:r>
              <a:rPr sz="2000" dirty="0">
                <a:latin typeface="Calibri"/>
                <a:cs typeface="Calibri"/>
              </a:rPr>
              <a:t>its state (usually </a:t>
            </a:r>
            <a:r>
              <a:rPr sz="2000" spc="-5" dirty="0">
                <a:latin typeface="Calibri"/>
                <a:cs typeface="Calibri"/>
              </a:rPr>
              <a:t>from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view),</a:t>
            </a:r>
            <a:r>
              <a:rPr sz="2000" dirty="0">
                <a:latin typeface="Calibri"/>
                <a:cs typeface="Calibri"/>
              </a:rPr>
              <a:t> and </a:t>
            </a:r>
            <a:r>
              <a:rPr sz="2000" spc="-5" dirty="0">
                <a:latin typeface="Calibri"/>
                <a:cs typeface="Calibri"/>
              </a:rPr>
              <a:t>responds</a:t>
            </a:r>
            <a:r>
              <a:rPr sz="2000" dirty="0">
                <a:latin typeface="Calibri"/>
                <a:cs typeface="Calibri"/>
              </a:rPr>
              <a:t> to </a:t>
            </a:r>
            <a:r>
              <a:rPr sz="2000" spc="-5" dirty="0">
                <a:latin typeface="Calibri"/>
                <a:cs typeface="Calibri"/>
              </a:rPr>
              <a:t>instructions</a:t>
            </a:r>
            <a:r>
              <a:rPr sz="2000" dirty="0">
                <a:latin typeface="Calibri"/>
                <a:cs typeface="Calibri"/>
              </a:rPr>
              <a:t> to change state (usually </a:t>
            </a:r>
            <a:r>
              <a:rPr sz="2000" spc="-5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controller).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2094" y="336665"/>
            <a:ext cx="6899909" cy="740410"/>
            <a:chOff x="1172094" y="336665"/>
            <a:chExt cx="6899909" cy="740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2094" y="336665"/>
              <a:ext cx="6899563" cy="7398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106" y="362898"/>
              <a:ext cx="6801484" cy="640080"/>
            </a:xfrm>
            <a:custGeom>
              <a:avLst/>
              <a:gdLst/>
              <a:ahLst/>
              <a:cxnLst/>
              <a:rect l="l" t="t" r="r" b="b"/>
              <a:pathLst>
                <a:path w="6801484" h="640080">
                  <a:moveTo>
                    <a:pt x="6801321" y="0"/>
                  </a:moveTo>
                  <a:lnTo>
                    <a:pt x="0" y="0"/>
                  </a:lnTo>
                  <a:lnTo>
                    <a:pt x="0" y="639761"/>
                  </a:lnTo>
                  <a:lnTo>
                    <a:pt x="6801321" y="639761"/>
                  </a:lnTo>
                  <a:lnTo>
                    <a:pt x="6801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1106" y="362898"/>
              <a:ext cx="6801484" cy="640080"/>
            </a:xfrm>
            <a:custGeom>
              <a:avLst/>
              <a:gdLst/>
              <a:ahLst/>
              <a:cxnLst/>
              <a:rect l="l" t="t" r="r" b="b"/>
              <a:pathLst>
                <a:path w="6801484" h="640080">
                  <a:moveTo>
                    <a:pt x="0" y="0"/>
                  </a:moveTo>
                  <a:lnTo>
                    <a:pt x="6801321" y="0"/>
                  </a:lnTo>
                  <a:lnTo>
                    <a:pt x="6801321" y="639761"/>
                  </a:lnTo>
                  <a:lnTo>
                    <a:pt x="0" y="63976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010" y="4052453"/>
            <a:ext cx="6579523" cy="14838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4006" y="1607820"/>
            <a:ext cx="8365490" cy="2166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2900">
              <a:lnSpc>
                <a:spcPct val="100400"/>
              </a:lnSpc>
              <a:spcBef>
                <a:spcPts val="85"/>
              </a:spcBef>
              <a:buSzPct val="114285"/>
              <a:buFont typeface="Wingdings"/>
              <a:buChar char=""/>
              <a:tabLst>
                <a:tab pos="450850" algn="l"/>
              </a:tabLst>
            </a:pPr>
            <a:r>
              <a:rPr sz="2800" dirty="0">
                <a:latin typeface="Calibri"/>
                <a:cs typeface="Calibri"/>
              </a:rPr>
              <a:t>The MVC </a:t>
            </a:r>
            <a:r>
              <a:rPr sz="2800" spc="-5" dirty="0">
                <a:latin typeface="Calibri"/>
                <a:cs typeface="Calibri"/>
              </a:rPr>
              <a:t>paradigm</a:t>
            </a:r>
            <a:r>
              <a:rPr sz="2800" dirty="0">
                <a:latin typeface="Calibri"/>
                <a:cs typeface="Calibri"/>
              </a:rPr>
              <a:t>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way 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breaking</a:t>
            </a:r>
            <a:r>
              <a:rPr sz="2800" dirty="0">
                <a:latin typeface="Calibri"/>
                <a:cs typeface="Calibri"/>
              </a:rPr>
              <a:t> an </a:t>
            </a:r>
            <a:r>
              <a:rPr sz="2800" spc="-5" dirty="0">
                <a:latin typeface="Calibri"/>
                <a:cs typeface="Calibri"/>
              </a:rPr>
              <a:t>application,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dirty="0">
                <a:latin typeface="Calibri"/>
                <a:cs typeface="Calibri"/>
              </a:rPr>
              <a:t>even just a piece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dirty="0">
                <a:latin typeface="Calibri"/>
                <a:cs typeface="Calibri"/>
              </a:rPr>
              <a:t> an </a:t>
            </a:r>
            <a:r>
              <a:rPr sz="2800" spc="-5" dirty="0">
                <a:latin typeface="Calibri"/>
                <a:cs typeface="Calibri"/>
              </a:rPr>
              <a:t>application's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interface, </a:t>
            </a:r>
            <a:r>
              <a:rPr sz="2800" dirty="0">
                <a:latin typeface="Calibri"/>
                <a:cs typeface="Calibri"/>
              </a:rPr>
              <a:t>into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three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parts:</a:t>
            </a:r>
            <a:r>
              <a:rPr sz="2800" dirty="0">
                <a:latin typeface="Calibri"/>
                <a:cs typeface="Calibri"/>
              </a:rPr>
              <a:t> the </a:t>
            </a:r>
            <a:r>
              <a:rPr sz="2800" spc="-5" dirty="0">
                <a:latin typeface="Calibri"/>
                <a:cs typeface="Calibri"/>
              </a:rPr>
              <a:t>model,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view,</a:t>
            </a:r>
            <a:r>
              <a:rPr sz="2800" dirty="0">
                <a:latin typeface="Calibri"/>
                <a:cs typeface="Calibri"/>
              </a:rPr>
              <a:t> 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controller. </a:t>
            </a:r>
            <a:r>
              <a:rPr sz="2800" dirty="0">
                <a:latin typeface="Calibri"/>
                <a:cs typeface="Calibri"/>
              </a:rPr>
              <a:t> MVC </a:t>
            </a:r>
            <a:r>
              <a:rPr sz="2800" spc="-5" dirty="0">
                <a:latin typeface="Calibri"/>
                <a:cs typeface="Calibri"/>
              </a:rPr>
              <a:t>was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originally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developed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map</a:t>
            </a:r>
            <a:r>
              <a:rPr sz="2800" dirty="0">
                <a:latin typeface="Calibri"/>
                <a:cs typeface="Calibri"/>
              </a:rPr>
              <a:t> 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traditional </a:t>
            </a:r>
            <a:r>
              <a:rPr sz="2800" dirty="0">
                <a:latin typeface="Calibri"/>
                <a:cs typeface="Calibri"/>
              </a:rPr>
              <a:t> input,</a:t>
            </a:r>
            <a:r>
              <a:rPr sz="2800" spc="-5" dirty="0">
                <a:latin typeface="Calibri"/>
                <a:cs typeface="Calibri"/>
              </a:rPr>
              <a:t> processing,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output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roles</a:t>
            </a:r>
            <a:r>
              <a:rPr sz="2800" dirty="0">
                <a:latin typeface="Calibri"/>
                <a:cs typeface="Calibri"/>
              </a:rPr>
              <a:t> into the GUI </a:t>
            </a:r>
            <a:r>
              <a:rPr sz="2800" spc="-5" dirty="0">
                <a:latin typeface="Calibri"/>
                <a:cs typeface="Calibri"/>
              </a:rPr>
              <a:t>realm: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020" y="4079203"/>
            <a:ext cx="6478905" cy="138557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199390" rIns="0" bIns="0" rtlCol="0">
            <a:spAutoFit/>
          </a:bodyPr>
          <a:lstStyle/>
          <a:p>
            <a:pPr marL="190500" marR="1842135">
              <a:lnSpc>
                <a:spcPct val="119000"/>
              </a:lnSpc>
              <a:spcBef>
                <a:spcPts val="1570"/>
              </a:spcBef>
            </a:pPr>
            <a:r>
              <a:rPr sz="2800" b="1" dirty="0">
                <a:latin typeface="Calibri"/>
                <a:cs typeface="Calibri"/>
              </a:rPr>
              <a:t>Input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alibri"/>
                <a:cs typeface="Calibri"/>
              </a:rPr>
              <a:t>Processing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Output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Controller </a:t>
            </a:r>
            <a:r>
              <a:rPr sz="2800" dirty="0">
                <a:solidFill>
                  <a:srgbClr val="008F00"/>
                </a:solidFill>
                <a:latin typeface="Symbol"/>
                <a:cs typeface="Symbol"/>
              </a:rPr>
              <a:t></a:t>
            </a:r>
            <a:r>
              <a:rPr sz="2800" spc="-80" dirty="0">
                <a:solidFill>
                  <a:srgbClr val="008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Model</a:t>
            </a:r>
            <a:r>
              <a:rPr sz="2800" b="1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8F00"/>
                </a:solidFill>
                <a:latin typeface="Symbol"/>
                <a:cs typeface="Symbol"/>
              </a:rPr>
              <a:t></a:t>
            </a:r>
            <a:r>
              <a:rPr sz="2800" spc="-80" dirty="0">
                <a:solidFill>
                  <a:srgbClr val="008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8000"/>
                </a:solidFill>
                <a:latin typeface="Calibri"/>
                <a:cs typeface="Calibri"/>
              </a:rPr>
              <a:t>View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04636" y="277019"/>
            <a:ext cx="6341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u="heavy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MVC</a:t>
            </a:r>
            <a:r>
              <a:rPr sz="4000" spc="-25" dirty="0">
                <a:solidFill>
                  <a:srgbClr val="0000FF"/>
                </a:solidFill>
              </a:rPr>
              <a:t> </a:t>
            </a:r>
            <a:r>
              <a:rPr sz="4000" spc="-5" dirty="0"/>
              <a:t>(Model-View-Controller)</a:t>
            </a:r>
            <a:endParaRPr sz="4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6906" y="1251139"/>
            <a:ext cx="7585709" cy="13157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6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pattern</a:t>
            </a:r>
            <a:r>
              <a:rPr sz="2800" spc="-5" dirty="0">
                <a:latin typeface="Calibri"/>
                <a:cs typeface="Calibri"/>
              </a:rPr>
              <a:t> isolates </a:t>
            </a:r>
            <a:r>
              <a:rPr sz="2800" dirty="0">
                <a:latin typeface="Calibri"/>
                <a:cs typeface="Calibri"/>
              </a:rPr>
              <a:t>business </a:t>
            </a:r>
            <a:r>
              <a:rPr sz="2800" spc="-5" dirty="0">
                <a:latin typeface="Calibri"/>
                <a:cs typeface="Calibri"/>
              </a:rPr>
              <a:t>logic from </a:t>
            </a:r>
            <a:r>
              <a:rPr sz="2800" dirty="0">
                <a:latin typeface="Calibri"/>
                <a:cs typeface="Calibri"/>
              </a:rPr>
              <a:t>input and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presentation,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permitting</a:t>
            </a:r>
            <a:r>
              <a:rPr sz="2800" dirty="0">
                <a:latin typeface="Calibri"/>
                <a:cs typeface="Calibri"/>
              </a:rPr>
              <a:t> independent </a:t>
            </a:r>
            <a:r>
              <a:rPr sz="2800" spc="-5" dirty="0">
                <a:latin typeface="Calibri"/>
                <a:cs typeface="Calibri"/>
              </a:rPr>
              <a:t>development,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testing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5" dirty="0">
                <a:latin typeface="Calibri"/>
                <a:cs typeface="Calibri"/>
              </a:rPr>
              <a:t>maintenance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158" y="2777961"/>
            <a:ext cx="6123109" cy="347061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72094" y="336665"/>
            <a:ext cx="6899909" cy="740410"/>
            <a:chOff x="1172094" y="336665"/>
            <a:chExt cx="6899909" cy="7404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094" y="336665"/>
              <a:ext cx="6899563" cy="7398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836" y="390698"/>
              <a:ext cx="5195454" cy="66501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1106" y="362898"/>
            <a:ext cx="6801484" cy="64008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595"/>
              </a:spcBef>
            </a:pPr>
            <a:r>
              <a:rPr sz="3200" u="heavy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MVC</a:t>
            </a:r>
            <a:r>
              <a:rPr sz="3200" spc="-15" dirty="0">
                <a:solidFill>
                  <a:srgbClr val="0000FF"/>
                </a:solidFill>
              </a:rPr>
              <a:t> </a:t>
            </a:r>
            <a:r>
              <a:rPr sz="3200" spc="-5" dirty="0"/>
              <a:t>(Model-View-Controller)</a:t>
            </a:r>
            <a:endParaRPr sz="32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294" y="245225"/>
            <a:ext cx="3487188" cy="81880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8723" y="1192875"/>
            <a:ext cx="8018145" cy="2793365"/>
            <a:chOff x="178723" y="1192875"/>
            <a:chExt cx="8018145" cy="27933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1192875"/>
              <a:ext cx="8017625" cy="27930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1219201"/>
              <a:ext cx="7918450" cy="2693670"/>
            </a:xfrm>
            <a:custGeom>
              <a:avLst/>
              <a:gdLst/>
              <a:ahLst/>
              <a:cxnLst/>
              <a:rect l="l" t="t" r="r" b="b"/>
              <a:pathLst>
                <a:path w="7918450" h="2693670">
                  <a:moveTo>
                    <a:pt x="7917929" y="0"/>
                  </a:moveTo>
                  <a:lnTo>
                    <a:pt x="0" y="0"/>
                  </a:lnTo>
                  <a:lnTo>
                    <a:pt x="0" y="2693242"/>
                  </a:lnTo>
                  <a:lnTo>
                    <a:pt x="7917929" y="2693242"/>
                  </a:lnTo>
                  <a:lnTo>
                    <a:pt x="79179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599" y="1219201"/>
              <a:ext cx="7918450" cy="2693670"/>
            </a:xfrm>
            <a:custGeom>
              <a:avLst/>
              <a:gdLst/>
              <a:ahLst/>
              <a:cxnLst/>
              <a:rect l="l" t="t" r="r" b="b"/>
              <a:pathLst>
                <a:path w="7918450" h="2693670">
                  <a:moveTo>
                    <a:pt x="0" y="0"/>
                  </a:moveTo>
                  <a:lnTo>
                    <a:pt x="7917928" y="0"/>
                  </a:lnTo>
                  <a:lnTo>
                    <a:pt x="7917928" y="2693242"/>
                  </a:lnTo>
                  <a:lnTo>
                    <a:pt x="0" y="269324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22420" y="274638"/>
            <a:ext cx="3387090" cy="71628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415"/>
              </a:spcBef>
            </a:pPr>
            <a:r>
              <a:rPr sz="4000" spc="-5" dirty="0"/>
              <a:t>MVC</a:t>
            </a:r>
            <a:r>
              <a:rPr sz="4000" spc="-35" dirty="0"/>
              <a:t> </a:t>
            </a:r>
            <a:r>
              <a:rPr sz="4000" spc="-5" dirty="0"/>
              <a:t>Beneﬁts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307340" y="1196847"/>
            <a:ext cx="7195820" cy="20135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Clarity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19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implement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maintain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Modularity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one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don't </a:t>
            </a:r>
            <a:r>
              <a:rPr sz="2400" dirty="0">
                <a:latin typeface="Calibri"/>
                <a:cs typeface="Calibri"/>
              </a:rPr>
              <a:t>aﬀect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develop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parallel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once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you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have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509" y="107186"/>
            <a:ext cx="8693785" cy="6418580"/>
            <a:chOff x="332509" y="107186"/>
            <a:chExt cx="8693785" cy="64185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509" y="320039"/>
              <a:ext cx="8109064" cy="62054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4175" y="346348"/>
              <a:ext cx="8006715" cy="6106160"/>
            </a:xfrm>
            <a:custGeom>
              <a:avLst/>
              <a:gdLst/>
              <a:ahLst/>
              <a:cxnLst/>
              <a:rect l="l" t="t" r="r" b="b"/>
              <a:pathLst>
                <a:path w="8006715" h="6106160">
                  <a:moveTo>
                    <a:pt x="8006109" y="0"/>
                  </a:moveTo>
                  <a:lnTo>
                    <a:pt x="0" y="0"/>
                  </a:lnTo>
                  <a:lnTo>
                    <a:pt x="0" y="6105976"/>
                  </a:lnTo>
                  <a:lnTo>
                    <a:pt x="8006109" y="6105976"/>
                  </a:lnTo>
                  <a:lnTo>
                    <a:pt x="80061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174" y="346348"/>
              <a:ext cx="8006715" cy="6106160"/>
            </a:xfrm>
            <a:custGeom>
              <a:avLst/>
              <a:gdLst/>
              <a:ahLst/>
              <a:cxnLst/>
              <a:rect l="l" t="t" r="r" b="b"/>
              <a:pathLst>
                <a:path w="8006715" h="6106160">
                  <a:moveTo>
                    <a:pt x="0" y="0"/>
                  </a:moveTo>
                  <a:lnTo>
                    <a:pt x="8006108" y="0"/>
                  </a:lnTo>
                  <a:lnTo>
                    <a:pt x="8006108" y="6105976"/>
                  </a:lnTo>
                  <a:lnTo>
                    <a:pt x="0" y="610597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175" y="609601"/>
              <a:ext cx="7616823" cy="51053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01883" y="394854"/>
            <a:ext cx="3774440" cy="669290"/>
            <a:chOff x="2601883" y="394854"/>
            <a:chExt cx="3774440" cy="6692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1883" y="394854"/>
              <a:ext cx="3773977" cy="669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52415" y="423315"/>
              <a:ext cx="3672840" cy="567690"/>
            </a:xfrm>
            <a:custGeom>
              <a:avLst/>
              <a:gdLst/>
              <a:ahLst/>
              <a:cxnLst/>
              <a:rect l="l" t="t" r="r" b="b"/>
              <a:pathLst>
                <a:path w="3672840" h="567690">
                  <a:moveTo>
                    <a:pt x="3672370" y="0"/>
                  </a:moveTo>
                  <a:lnTo>
                    <a:pt x="0" y="0"/>
                  </a:lnTo>
                  <a:lnTo>
                    <a:pt x="0" y="567286"/>
                  </a:lnTo>
                  <a:lnTo>
                    <a:pt x="3672370" y="567286"/>
                  </a:lnTo>
                  <a:lnTo>
                    <a:pt x="3672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52415" y="423315"/>
              <a:ext cx="3672840" cy="567690"/>
            </a:xfrm>
            <a:custGeom>
              <a:avLst/>
              <a:gdLst/>
              <a:ahLst/>
              <a:cxnLst/>
              <a:rect l="l" t="t" r="r" b="b"/>
              <a:pathLst>
                <a:path w="3672840" h="567690">
                  <a:moveTo>
                    <a:pt x="0" y="0"/>
                  </a:moveTo>
                  <a:lnTo>
                    <a:pt x="3672370" y="0"/>
                  </a:lnTo>
                  <a:lnTo>
                    <a:pt x="3672370" y="567285"/>
                  </a:lnTo>
                  <a:lnTo>
                    <a:pt x="0" y="5672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53538" y="1176251"/>
            <a:ext cx="8637270" cy="4360545"/>
            <a:chOff x="253538" y="1176251"/>
            <a:chExt cx="8637270" cy="43605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538" y="1176251"/>
              <a:ext cx="8636923" cy="43600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4800" y="1205802"/>
              <a:ext cx="8534400" cy="4258945"/>
            </a:xfrm>
            <a:custGeom>
              <a:avLst/>
              <a:gdLst/>
              <a:ahLst/>
              <a:cxnLst/>
              <a:rect l="l" t="t" r="r" b="b"/>
              <a:pathLst>
                <a:path w="8534400" h="4258945">
                  <a:moveTo>
                    <a:pt x="8534398" y="0"/>
                  </a:moveTo>
                  <a:lnTo>
                    <a:pt x="0" y="0"/>
                  </a:lnTo>
                  <a:lnTo>
                    <a:pt x="0" y="4258790"/>
                  </a:lnTo>
                  <a:lnTo>
                    <a:pt x="8534398" y="4258790"/>
                  </a:lnTo>
                  <a:lnTo>
                    <a:pt x="8534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4800" y="1205802"/>
              <a:ext cx="8534400" cy="4258945"/>
            </a:xfrm>
            <a:custGeom>
              <a:avLst/>
              <a:gdLst/>
              <a:ahLst/>
              <a:cxnLst/>
              <a:rect l="l" t="t" r="r" b="b"/>
              <a:pathLst>
                <a:path w="8534400" h="4258945">
                  <a:moveTo>
                    <a:pt x="0" y="0"/>
                  </a:moveTo>
                  <a:lnTo>
                    <a:pt x="8534397" y="0"/>
                  </a:lnTo>
                  <a:lnTo>
                    <a:pt x="8534397" y="4258789"/>
                  </a:lnTo>
                  <a:lnTo>
                    <a:pt x="0" y="42587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34441" y="315119"/>
            <a:ext cx="348170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Summary</a:t>
            </a:r>
            <a:r>
              <a:rPr sz="4000" spc="-50" dirty="0"/>
              <a:t> </a:t>
            </a:r>
            <a:r>
              <a:rPr sz="4000" spc="-5" dirty="0"/>
              <a:t>(MVC)</a:t>
            </a:r>
            <a:endParaRPr sz="4000"/>
          </a:p>
        </p:txBody>
      </p:sp>
      <p:sp>
        <p:nvSpPr>
          <p:cNvPr id="11" name="object 11"/>
          <p:cNvSpPr txBox="1">
            <a:spLocks noGrp="1"/>
          </p:cNvSpPr>
          <p:nvPr>
            <p:ph idx="1"/>
          </p:nvPr>
        </p:nvSpPr>
        <p:spPr>
          <a:xfrm>
            <a:off x="545485" y="1272479"/>
            <a:ext cx="7886700" cy="435133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60680" marR="5080" indent="-342900">
              <a:lnSpc>
                <a:spcPts val="3300"/>
              </a:lnSpc>
              <a:spcBef>
                <a:spcPts val="260"/>
              </a:spcBef>
              <a:buFont typeface="Wingdings"/>
              <a:buChar char=""/>
              <a:tabLst>
                <a:tab pos="361315" algn="l"/>
                <a:tab pos="1029335" algn="l"/>
                <a:tab pos="2030730" algn="l"/>
                <a:tab pos="2458085" algn="l"/>
                <a:tab pos="3284854" algn="l"/>
                <a:tab pos="3636645" algn="l"/>
                <a:tab pos="4074795" algn="l"/>
                <a:tab pos="4908550" algn="l"/>
                <a:tab pos="5935345" algn="l"/>
                <a:tab pos="7329805" algn="l"/>
              </a:tabLst>
            </a:pPr>
            <a:r>
              <a:rPr dirty="0"/>
              <a:t>The	int</a:t>
            </a:r>
            <a:r>
              <a:rPr spc="-5" dirty="0"/>
              <a:t>e</a:t>
            </a:r>
            <a:r>
              <a:rPr dirty="0"/>
              <a:t>nt	</a:t>
            </a:r>
            <a:r>
              <a:rPr spc="-5" dirty="0"/>
              <a:t>o</a:t>
            </a:r>
            <a:r>
              <a:rPr dirty="0"/>
              <a:t>f	MVC	is	to	keep	neatly	sepa</a:t>
            </a:r>
            <a:r>
              <a:rPr spc="-5" dirty="0"/>
              <a:t>r</a:t>
            </a:r>
            <a:r>
              <a:rPr dirty="0"/>
              <a:t>ate	</a:t>
            </a:r>
            <a:r>
              <a:rPr spc="-5" dirty="0"/>
              <a:t>o</a:t>
            </a:r>
            <a:r>
              <a:rPr dirty="0"/>
              <a:t>bjects  into</a:t>
            </a:r>
            <a:r>
              <a:rPr spc="-5" dirty="0"/>
              <a:t> one</a:t>
            </a:r>
            <a:r>
              <a:rPr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tree</a:t>
            </a:r>
            <a:r>
              <a:rPr dirty="0"/>
              <a:t> </a:t>
            </a:r>
            <a:r>
              <a:rPr spc="-5" dirty="0"/>
              <a:t>categories</a:t>
            </a:r>
          </a:p>
          <a:p>
            <a:pPr marL="761365" lvl="1" indent="-286385">
              <a:lnSpc>
                <a:spcPct val="100000"/>
              </a:lnSpc>
              <a:spcBef>
                <a:spcPts val="515"/>
              </a:spcBef>
              <a:buFont typeface="Arial MT"/>
              <a:buChar char="–"/>
              <a:tabLst>
                <a:tab pos="761365" algn="l"/>
              </a:tabLst>
            </a:pPr>
            <a:r>
              <a:rPr sz="2400" dirty="0">
                <a:latin typeface="Calibri"/>
                <a:cs typeface="Calibri"/>
              </a:rPr>
              <a:t>Model</a:t>
            </a:r>
          </a:p>
          <a:p>
            <a:pPr marL="1161415" lvl="2" indent="-22860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1160780" algn="l"/>
                <a:tab pos="1161415" algn="l"/>
              </a:tabLst>
            </a:pPr>
            <a:r>
              <a:rPr sz="2000" dirty="0">
                <a:latin typeface="Calibri"/>
                <a:cs typeface="Calibri"/>
              </a:rPr>
              <a:t>The data,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business </a:t>
            </a:r>
            <a:r>
              <a:rPr sz="2000" spc="-5" dirty="0">
                <a:latin typeface="Calibri"/>
                <a:cs typeface="Calibri"/>
              </a:rPr>
              <a:t>logic,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rules,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strategies,</a:t>
            </a:r>
            <a:r>
              <a:rPr sz="2000" dirty="0">
                <a:latin typeface="Calibri"/>
                <a:cs typeface="Calibri"/>
              </a:rPr>
              <a:t> and so </a:t>
            </a:r>
            <a:r>
              <a:rPr sz="2000" spc="-5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61365" lvl="1" indent="-286385">
              <a:lnSpc>
                <a:spcPct val="100000"/>
              </a:lnSpc>
              <a:spcBef>
                <a:spcPts val="595"/>
              </a:spcBef>
              <a:buFont typeface="Arial MT"/>
              <a:buChar char="–"/>
              <a:tabLst>
                <a:tab pos="761365" algn="l"/>
              </a:tabLst>
            </a:pPr>
            <a:r>
              <a:rPr sz="2400" spc="-5" dirty="0">
                <a:latin typeface="Calibri"/>
                <a:cs typeface="Calibri"/>
              </a:rPr>
              <a:t>View</a:t>
            </a:r>
            <a:endParaRPr sz="2400" dirty="0">
              <a:latin typeface="Calibri"/>
              <a:cs typeface="Calibri"/>
            </a:endParaRPr>
          </a:p>
          <a:p>
            <a:pPr marL="1161415" marR="5080" lvl="2" indent="-228600">
              <a:lnSpc>
                <a:spcPts val="2320"/>
              </a:lnSpc>
              <a:spcBef>
                <a:spcPts val="665"/>
              </a:spcBef>
              <a:buFont typeface="Arial MT"/>
              <a:buChar char="•"/>
              <a:tabLst>
                <a:tab pos="1160780" algn="l"/>
                <a:tab pos="1161415" algn="l"/>
              </a:tabLst>
            </a:pPr>
            <a:r>
              <a:rPr sz="2000" spc="-5" dirty="0">
                <a:latin typeface="Calibri"/>
                <a:cs typeface="Calibri"/>
              </a:rPr>
              <a:t>Displays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model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components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allows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edit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 the </a:t>
            </a:r>
            <a:r>
              <a:rPr sz="2000" spc="-5" dirty="0">
                <a:latin typeface="Calibri"/>
                <a:cs typeface="Calibri"/>
              </a:rPr>
              <a:t>model</a:t>
            </a:r>
            <a:endParaRPr sz="2000" dirty="0">
              <a:latin typeface="Calibri"/>
              <a:cs typeface="Calibri"/>
            </a:endParaRPr>
          </a:p>
          <a:p>
            <a:pPr marL="761365" lvl="1" indent="-286385">
              <a:lnSpc>
                <a:spcPct val="100000"/>
              </a:lnSpc>
              <a:spcBef>
                <a:spcPts val="515"/>
              </a:spcBef>
              <a:buFont typeface="Arial MT"/>
              <a:buChar char="–"/>
              <a:tabLst>
                <a:tab pos="761365" algn="l"/>
              </a:tabLst>
            </a:pPr>
            <a:r>
              <a:rPr sz="2400" spc="-5" dirty="0">
                <a:latin typeface="Calibri"/>
                <a:cs typeface="Calibri"/>
              </a:rPr>
              <a:t>Controller</a:t>
            </a:r>
            <a:endParaRPr sz="2400" dirty="0">
              <a:latin typeface="Calibri"/>
              <a:cs typeface="Calibri"/>
            </a:endParaRPr>
          </a:p>
          <a:p>
            <a:pPr marL="1161415" lvl="2" indent="-22860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1160780" algn="l"/>
                <a:tab pos="1161415" algn="l"/>
              </a:tabLst>
            </a:pPr>
            <a:r>
              <a:rPr sz="2000" spc="-5" dirty="0">
                <a:latin typeface="Calibri"/>
                <a:cs typeface="Calibri"/>
              </a:rPr>
              <a:t>Allows </a:t>
            </a:r>
            <a:r>
              <a:rPr sz="2000" dirty="0">
                <a:latin typeface="Calibri"/>
                <a:cs typeface="Calibri"/>
              </a:rPr>
              <a:t>data to</a:t>
            </a:r>
            <a:r>
              <a:rPr sz="2000" spc="-5" dirty="0">
                <a:latin typeface="Calibri"/>
                <a:cs typeface="Calibri"/>
              </a:rPr>
              <a:t> ﬂow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between </a:t>
            </a:r>
            <a:r>
              <a:rPr sz="2000" dirty="0">
                <a:latin typeface="Calibri"/>
                <a:cs typeface="Calibri"/>
              </a:rPr>
              <a:t>the view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the</a:t>
            </a:r>
            <a:r>
              <a:rPr sz="2000" spc="-5" dirty="0">
                <a:latin typeface="Calibri"/>
                <a:cs typeface="Calibri"/>
              </a:rPr>
              <a:t> model</a:t>
            </a:r>
            <a:endParaRPr sz="2000" dirty="0">
              <a:latin typeface="Calibri"/>
              <a:cs typeface="Calibri"/>
            </a:endParaRPr>
          </a:p>
          <a:p>
            <a:pPr marL="1161415" lvl="2" indent="-22860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1160780" algn="l"/>
                <a:tab pos="1161415" algn="l"/>
              </a:tabLst>
            </a:pP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controller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mediates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between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view and </a:t>
            </a:r>
            <a:r>
              <a:rPr sz="2000" spc="-5" dirty="0">
                <a:latin typeface="Calibri"/>
                <a:cs typeface="Calibri"/>
              </a:rPr>
              <a:t>model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66948" y="394853"/>
            <a:ext cx="6130925" cy="557530"/>
            <a:chOff x="1566948" y="394853"/>
            <a:chExt cx="6130925" cy="557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6948" y="394853"/>
              <a:ext cx="6130636" cy="5569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16476" y="423315"/>
              <a:ext cx="6031865" cy="455930"/>
            </a:xfrm>
            <a:custGeom>
              <a:avLst/>
              <a:gdLst/>
              <a:ahLst/>
              <a:cxnLst/>
              <a:rect l="l" t="t" r="r" b="b"/>
              <a:pathLst>
                <a:path w="6031865" h="455930">
                  <a:moveTo>
                    <a:pt x="6031741" y="0"/>
                  </a:moveTo>
                  <a:lnTo>
                    <a:pt x="0" y="0"/>
                  </a:lnTo>
                  <a:lnTo>
                    <a:pt x="0" y="455728"/>
                  </a:lnTo>
                  <a:lnTo>
                    <a:pt x="6031741" y="455728"/>
                  </a:lnTo>
                  <a:lnTo>
                    <a:pt x="60317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16476" y="423315"/>
              <a:ext cx="6031865" cy="455930"/>
            </a:xfrm>
            <a:custGeom>
              <a:avLst/>
              <a:gdLst/>
              <a:ahLst/>
              <a:cxnLst/>
              <a:rect l="l" t="t" r="r" b="b"/>
              <a:pathLst>
                <a:path w="6031865" h="455930">
                  <a:moveTo>
                    <a:pt x="0" y="0"/>
                  </a:moveTo>
                  <a:lnTo>
                    <a:pt x="6031740" y="0"/>
                  </a:lnTo>
                  <a:lnTo>
                    <a:pt x="6031740" y="455728"/>
                  </a:lnTo>
                  <a:lnTo>
                    <a:pt x="0" y="45572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2831" y="1007230"/>
            <a:ext cx="8787130" cy="3990340"/>
            <a:chOff x="178723" y="1163782"/>
            <a:chExt cx="8787130" cy="39903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1163782"/>
              <a:ext cx="8786552" cy="39901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600" y="1192975"/>
              <a:ext cx="8686800" cy="3886835"/>
            </a:xfrm>
            <a:custGeom>
              <a:avLst/>
              <a:gdLst/>
              <a:ahLst/>
              <a:cxnLst/>
              <a:rect l="l" t="t" r="r" b="b"/>
              <a:pathLst>
                <a:path w="8686800" h="3886835">
                  <a:moveTo>
                    <a:pt x="8686798" y="0"/>
                  </a:moveTo>
                  <a:lnTo>
                    <a:pt x="0" y="0"/>
                  </a:lnTo>
                  <a:lnTo>
                    <a:pt x="0" y="3886786"/>
                  </a:lnTo>
                  <a:lnTo>
                    <a:pt x="8686798" y="3886786"/>
                  </a:lnTo>
                  <a:lnTo>
                    <a:pt x="8686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9" y="1192976"/>
              <a:ext cx="8686800" cy="3886835"/>
            </a:xfrm>
            <a:custGeom>
              <a:avLst/>
              <a:gdLst/>
              <a:ahLst/>
              <a:cxnLst/>
              <a:rect l="l" t="t" r="r" b="b"/>
              <a:pathLst>
                <a:path w="8686800" h="3886835">
                  <a:moveTo>
                    <a:pt x="0" y="0"/>
                  </a:moveTo>
                  <a:lnTo>
                    <a:pt x="8686797" y="0"/>
                  </a:lnTo>
                  <a:lnTo>
                    <a:pt x="8686797" y="3886785"/>
                  </a:lnTo>
                  <a:lnTo>
                    <a:pt x="0" y="38867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36852" y="320773"/>
            <a:ext cx="5858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Combining</a:t>
            </a:r>
            <a:r>
              <a:rPr dirty="0"/>
              <a:t> </a:t>
            </a:r>
            <a:r>
              <a:rPr spc="-5" dirty="0"/>
              <a:t>Architectural</a:t>
            </a:r>
            <a:r>
              <a:rPr dirty="0"/>
              <a:t> </a:t>
            </a:r>
            <a:r>
              <a:rPr spc="-5" dirty="0"/>
              <a:t>Styles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7340" y="1036828"/>
            <a:ext cx="8555355" cy="37058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5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Actual </a:t>
            </a:r>
            <a:r>
              <a:rPr sz="2400" spc="-10" dirty="0">
                <a:latin typeface="Calibri"/>
                <a:cs typeface="Calibri"/>
              </a:rPr>
              <a:t>software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architectures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rarely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purely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style</a:t>
            </a: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4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Architectural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styles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combined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several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ways</a:t>
            </a:r>
            <a:endParaRPr sz="2400" dirty="0">
              <a:latin typeface="Calibri"/>
              <a:cs typeface="Calibri"/>
            </a:endParaRPr>
          </a:p>
          <a:p>
            <a:pPr marL="748665" marR="19685" lvl="1" indent="-279400" algn="just">
              <a:lnSpc>
                <a:spcPct val="100800"/>
              </a:lnSpc>
              <a:spcBef>
                <a:spcPts val="505"/>
              </a:spcBef>
              <a:buFont typeface="Arial MT"/>
              <a:buChar char="–"/>
              <a:tabLst>
                <a:tab pos="757555" algn="l"/>
              </a:tabLst>
            </a:pPr>
            <a:r>
              <a:rPr sz="2000" spc="15" dirty="0">
                <a:latin typeface="Calibri"/>
                <a:cs typeface="Calibri"/>
              </a:rPr>
              <a:t>Use</a:t>
            </a:r>
            <a:r>
              <a:rPr sz="2000" spc="20" dirty="0">
                <a:latin typeface="Calibri"/>
                <a:cs typeface="Calibri"/>
              </a:rPr>
              <a:t> diﬀerent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styles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diﬀerent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layers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(e.g.,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overall</a:t>
            </a:r>
            <a:r>
              <a:rPr sz="2000" spc="25" dirty="0">
                <a:latin typeface="Calibri"/>
                <a:cs typeface="Calibri"/>
              </a:rPr>
              <a:t> client-server 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decomposed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 </a:t>
            </a:r>
            <a:r>
              <a:rPr sz="2000" spc="-5" dirty="0">
                <a:latin typeface="Calibri"/>
                <a:cs typeface="Calibri"/>
              </a:rPr>
              <a:t>layers)</a:t>
            </a:r>
            <a:endParaRPr sz="2000" dirty="0">
              <a:latin typeface="Calibri"/>
              <a:cs typeface="Calibri"/>
            </a:endParaRPr>
          </a:p>
          <a:p>
            <a:pPr marL="748665" marR="25400" lvl="1" indent="-279400" algn="just">
              <a:lnSpc>
                <a:spcPct val="98300"/>
              </a:lnSpc>
              <a:spcBef>
                <a:spcPts val="520"/>
              </a:spcBef>
              <a:buFont typeface="Arial MT"/>
              <a:buChar char="–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Use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mixture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styles</a:t>
            </a:r>
            <a:r>
              <a:rPr sz="2000" dirty="0">
                <a:latin typeface="Calibri"/>
                <a:cs typeface="Calibri"/>
              </a:rPr>
              <a:t> 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diﬀerent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types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interaction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(e.g.,</a:t>
            </a:r>
            <a:r>
              <a:rPr sz="2000" dirty="0">
                <a:latin typeface="Calibri"/>
                <a:cs typeface="Calibri"/>
              </a:rPr>
              <a:t> client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components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interact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another</a:t>
            </a:r>
            <a:r>
              <a:rPr sz="2000" dirty="0">
                <a:latin typeface="Calibri"/>
                <a:cs typeface="Calibri"/>
              </a:rPr>
              <a:t> using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publish-subscribe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communications</a:t>
            </a:r>
            <a:endParaRPr sz="2000" dirty="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101099"/>
              </a:lnSpc>
              <a:spcBef>
                <a:spcPts val="545"/>
              </a:spcBef>
              <a:buFont typeface="Wingdings"/>
              <a:buChar char=""/>
              <a:tabLst>
                <a:tab pos="364490" algn="l"/>
              </a:tabLst>
            </a:pPr>
            <a:r>
              <a:rPr sz="2400" spc="70" dirty="0">
                <a:latin typeface="Calibri"/>
                <a:cs typeface="Calibri"/>
              </a:rPr>
              <a:t>If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125" dirty="0">
                <a:latin typeface="Calibri"/>
                <a:cs typeface="Calibri"/>
              </a:rPr>
              <a:t>architecture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120" dirty="0">
                <a:latin typeface="Calibri"/>
                <a:cs typeface="Calibri"/>
              </a:rPr>
              <a:t>expressed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collection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of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35" dirty="0">
                <a:latin typeface="Calibri"/>
                <a:cs typeface="Calibri"/>
              </a:rPr>
              <a:t>models, 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documentation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must</a:t>
            </a:r>
            <a:r>
              <a:rPr sz="2400" dirty="0">
                <a:latin typeface="Calibri"/>
                <a:cs typeface="Calibri"/>
              </a:rPr>
              <a:t> 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created</a:t>
            </a:r>
            <a:r>
              <a:rPr sz="2400" dirty="0">
                <a:latin typeface="Calibri"/>
                <a:cs typeface="Calibri"/>
              </a:rPr>
              <a:t> 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relation</a:t>
            </a:r>
            <a:r>
              <a:rPr sz="2400" spc="5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between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models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109" y="66501"/>
            <a:ext cx="7776556" cy="122612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8723" y="1612668"/>
            <a:ext cx="8329930" cy="3994785"/>
            <a:chOff x="178723" y="1612668"/>
            <a:chExt cx="8329930" cy="39947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3" y="1612668"/>
              <a:ext cx="8329352" cy="39942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0924" y="1641943"/>
              <a:ext cx="8227695" cy="3892550"/>
            </a:xfrm>
            <a:custGeom>
              <a:avLst/>
              <a:gdLst/>
              <a:ahLst/>
              <a:cxnLst/>
              <a:rect l="l" t="t" r="r" b="b"/>
              <a:pathLst>
                <a:path w="8227695" h="3892550">
                  <a:moveTo>
                    <a:pt x="8227273" y="0"/>
                  </a:moveTo>
                  <a:lnTo>
                    <a:pt x="0" y="0"/>
                  </a:lnTo>
                  <a:lnTo>
                    <a:pt x="0" y="3892081"/>
                  </a:lnTo>
                  <a:lnTo>
                    <a:pt x="8227273" y="3892081"/>
                  </a:lnTo>
                  <a:lnTo>
                    <a:pt x="8227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924" y="1641943"/>
              <a:ext cx="8227695" cy="3892550"/>
            </a:xfrm>
            <a:custGeom>
              <a:avLst/>
              <a:gdLst/>
              <a:ahLst/>
              <a:cxnLst/>
              <a:rect l="l" t="t" r="r" b="b"/>
              <a:pathLst>
                <a:path w="8227695" h="3892550">
                  <a:moveTo>
                    <a:pt x="0" y="0"/>
                  </a:moveTo>
                  <a:lnTo>
                    <a:pt x="8227271" y="0"/>
                  </a:lnTo>
                  <a:lnTo>
                    <a:pt x="8227271" y="3892080"/>
                  </a:lnTo>
                  <a:lnTo>
                    <a:pt x="0" y="389208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99" y="1981199"/>
              <a:ext cx="7848598" cy="355282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9600" y="92076"/>
            <a:ext cx="7678420" cy="112712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1722120" marR="217170" indent="-1268095">
              <a:lnSpc>
                <a:spcPts val="3300"/>
              </a:lnSpc>
              <a:spcBef>
                <a:spcPts val="1235"/>
              </a:spcBef>
            </a:pPr>
            <a:r>
              <a:rPr sz="2800" spc="-10" dirty="0"/>
              <a:t>Combination</a:t>
            </a:r>
            <a:r>
              <a:rPr sz="2800" spc="-5" dirty="0"/>
              <a:t> of Event-based, Client-Server, and </a:t>
            </a:r>
            <a:r>
              <a:rPr sz="2800" spc="-620" dirty="0"/>
              <a:t> </a:t>
            </a:r>
            <a:r>
              <a:rPr sz="2800" spc="-5" dirty="0"/>
              <a:t>Repository</a:t>
            </a:r>
            <a:r>
              <a:rPr sz="2800" dirty="0"/>
              <a:t> </a:t>
            </a:r>
            <a:r>
              <a:rPr sz="2800" spc="-5" dirty="0"/>
              <a:t>Architecture</a:t>
            </a:r>
            <a:r>
              <a:rPr sz="2800" dirty="0"/>
              <a:t> </a:t>
            </a:r>
            <a:r>
              <a:rPr sz="2800" spc="-5" dirty="0"/>
              <a:t>Styles</a:t>
            </a:r>
            <a:endParaRPr sz="28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8017" y="245225"/>
            <a:ext cx="5399116" cy="81880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5225" y="1359130"/>
            <a:ext cx="8362950" cy="5104130"/>
            <a:chOff x="245225" y="1359130"/>
            <a:chExt cx="8362950" cy="51041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225" y="1359130"/>
              <a:ext cx="8362603" cy="51040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5070" y="1385390"/>
              <a:ext cx="8262620" cy="5003165"/>
            </a:xfrm>
            <a:custGeom>
              <a:avLst/>
              <a:gdLst/>
              <a:ahLst/>
              <a:cxnLst/>
              <a:rect l="l" t="t" r="r" b="b"/>
              <a:pathLst>
                <a:path w="8262620" h="5003165">
                  <a:moveTo>
                    <a:pt x="8261992" y="0"/>
                  </a:moveTo>
                  <a:lnTo>
                    <a:pt x="0" y="0"/>
                  </a:lnTo>
                  <a:lnTo>
                    <a:pt x="0" y="5002794"/>
                  </a:lnTo>
                  <a:lnTo>
                    <a:pt x="8261992" y="5002794"/>
                  </a:lnTo>
                  <a:lnTo>
                    <a:pt x="826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5070" y="1385391"/>
              <a:ext cx="8262620" cy="5003165"/>
            </a:xfrm>
            <a:custGeom>
              <a:avLst/>
              <a:gdLst/>
              <a:ahLst/>
              <a:cxnLst/>
              <a:rect l="l" t="t" r="r" b="b"/>
              <a:pathLst>
                <a:path w="8262620" h="5003165">
                  <a:moveTo>
                    <a:pt x="0" y="0"/>
                  </a:moveTo>
                  <a:lnTo>
                    <a:pt x="8261991" y="0"/>
                  </a:lnTo>
                  <a:lnTo>
                    <a:pt x="8261991" y="5002794"/>
                  </a:lnTo>
                  <a:lnTo>
                    <a:pt x="0" y="50027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600200"/>
              <a:ext cx="7772398" cy="41147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60231" y="274638"/>
            <a:ext cx="5299075" cy="716280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415"/>
              </a:spcBef>
            </a:pPr>
            <a:r>
              <a:rPr sz="4000" spc="-5" dirty="0"/>
              <a:t>Four-Tier</a:t>
            </a:r>
            <a:r>
              <a:rPr sz="4000" spc="-15" dirty="0"/>
              <a:t> </a:t>
            </a:r>
            <a:r>
              <a:rPr sz="4000" spc="-5" dirty="0"/>
              <a:t>Architectures</a:t>
            </a:r>
            <a:endParaRPr sz="4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8633" y="816363"/>
            <a:ext cx="6183630" cy="859155"/>
          </a:xfrm>
          <a:prstGeom prst="rect">
            <a:avLst/>
          </a:prstGeom>
          <a:ln w="9524">
            <a:solidFill>
              <a:srgbClr val="008F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980"/>
              </a:spcBef>
            </a:pPr>
            <a:r>
              <a:rPr sz="4000" spc="-5" dirty="0">
                <a:solidFill>
                  <a:srgbClr val="008000"/>
                </a:solidFill>
              </a:rPr>
              <a:t>Architectural</a:t>
            </a:r>
            <a:r>
              <a:rPr sz="4000" spc="-10" dirty="0">
                <a:solidFill>
                  <a:srgbClr val="008000"/>
                </a:solidFill>
              </a:rPr>
              <a:t> </a:t>
            </a:r>
            <a:r>
              <a:rPr sz="4000" spc="-5" dirty="0">
                <a:solidFill>
                  <a:srgbClr val="008000"/>
                </a:solidFill>
              </a:rPr>
              <a:t>view models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335323" y="2144190"/>
            <a:ext cx="8350250" cy="27202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indent="-20447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"/>
              <a:tabLst>
                <a:tab pos="217170" algn="l"/>
              </a:tabLst>
            </a:pP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documents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concerns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stakeholders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</a:p>
          <a:p>
            <a:pPr marL="12700" marR="5080">
              <a:lnSpc>
                <a:spcPts val="2000"/>
              </a:lnSpc>
              <a:spcBef>
                <a:spcPts val="1840"/>
              </a:spcBef>
              <a:buSzPct val="94444"/>
              <a:buFont typeface="Wingdings"/>
              <a:buChar char=""/>
              <a:tabLst>
                <a:tab pos="268605" algn="l"/>
              </a:tabLst>
            </a:pPr>
            <a:r>
              <a:rPr sz="2000" spc="-5" dirty="0">
                <a:latin typeface="Calibri"/>
                <a:cs typeface="Calibri"/>
              </a:rPr>
              <a:t>Deferent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Stakeholders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end-user,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system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engineers,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developers,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clients,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architects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project managers.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"/>
            </a:pPr>
            <a:endParaRPr sz="2000" dirty="0">
              <a:latin typeface="Calibri"/>
              <a:cs typeface="Calibri"/>
            </a:endParaRPr>
          </a:p>
          <a:p>
            <a:pPr marL="12700" marR="36195">
              <a:lnSpc>
                <a:spcPts val="1900"/>
              </a:lnSpc>
              <a:buSzPct val="94444"/>
              <a:buFont typeface="Wingdings"/>
              <a:buChar char=""/>
              <a:tabLst>
                <a:tab pos="268605" algn="l"/>
              </a:tabLst>
            </a:pPr>
            <a:r>
              <a:rPr sz="2000" spc="-5" dirty="0">
                <a:latin typeface="Calibri"/>
                <a:cs typeface="Calibri"/>
              </a:rPr>
              <a:t>Architecture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documents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contained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complex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diagrams,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hard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represented on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documentation.</a:t>
            </a:r>
            <a:endParaRPr sz="2000" dirty="0">
              <a:latin typeface="Calibri"/>
              <a:cs typeface="Calibri"/>
            </a:endParaRPr>
          </a:p>
          <a:p>
            <a:pPr marL="12700" marR="9525">
              <a:lnSpc>
                <a:spcPct val="101899"/>
              </a:lnSpc>
              <a:spcBef>
                <a:spcPts val="1860"/>
              </a:spcBef>
            </a:pPr>
            <a:r>
              <a:rPr sz="2000" dirty="0">
                <a:latin typeface="Calibri"/>
                <a:cs typeface="Calibri"/>
              </a:rPr>
              <a:t>Using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diﬀerent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notations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several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Views,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addressing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specific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concerns. </a:t>
            </a:r>
            <a:r>
              <a:rPr sz="2000" spc="-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" dirty="0">
                <a:latin typeface="Calibri"/>
                <a:cs typeface="Calibri"/>
              </a:rPr>
              <a:t> “4+1”</a:t>
            </a:r>
            <a:r>
              <a:rPr sz="2000" dirty="0">
                <a:latin typeface="Calibri"/>
                <a:cs typeface="Calibri"/>
              </a:rPr>
              <a:t> view </a:t>
            </a:r>
            <a:r>
              <a:rPr sz="2000" spc="-5" dirty="0">
                <a:latin typeface="Calibri"/>
                <a:cs typeface="Calibri"/>
              </a:rPr>
              <a:t>model.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2548" y="1496290"/>
            <a:ext cx="7851775" cy="4522470"/>
            <a:chOff x="652548" y="1496290"/>
            <a:chExt cx="7851775" cy="4522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548" y="1496290"/>
              <a:ext cx="7851369" cy="45221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02982" y="1523999"/>
              <a:ext cx="7751445" cy="4419600"/>
            </a:xfrm>
            <a:custGeom>
              <a:avLst/>
              <a:gdLst/>
              <a:ahLst/>
              <a:cxnLst/>
              <a:rect l="l" t="t" r="r" b="b"/>
              <a:pathLst>
                <a:path w="7751445" h="4419600">
                  <a:moveTo>
                    <a:pt x="7751446" y="0"/>
                  </a:moveTo>
                  <a:lnTo>
                    <a:pt x="0" y="0"/>
                  </a:lnTo>
                  <a:lnTo>
                    <a:pt x="0" y="4419599"/>
                  </a:lnTo>
                  <a:lnTo>
                    <a:pt x="7751446" y="4419599"/>
                  </a:lnTo>
                  <a:lnTo>
                    <a:pt x="77514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982" y="1524000"/>
              <a:ext cx="7751445" cy="4419600"/>
            </a:xfrm>
            <a:custGeom>
              <a:avLst/>
              <a:gdLst/>
              <a:ahLst/>
              <a:cxnLst/>
              <a:rect l="l" t="t" r="r" b="b"/>
              <a:pathLst>
                <a:path w="7751445" h="4419600">
                  <a:moveTo>
                    <a:pt x="0" y="0"/>
                  </a:moveTo>
                  <a:lnTo>
                    <a:pt x="7751446" y="0"/>
                  </a:lnTo>
                  <a:lnTo>
                    <a:pt x="7751446" y="4419598"/>
                  </a:lnTo>
                  <a:lnTo>
                    <a:pt x="0" y="44195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774" y="365760"/>
            <a:ext cx="7153101" cy="74814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128837" y="2281237"/>
            <a:ext cx="1838325" cy="1152525"/>
            <a:chOff x="2128837" y="2281237"/>
            <a:chExt cx="1838325" cy="1152525"/>
          </a:xfrm>
        </p:grpSpPr>
        <p:sp>
          <p:nvSpPr>
            <p:cNvPr id="8" name="object 8"/>
            <p:cNvSpPr/>
            <p:nvPr/>
          </p:nvSpPr>
          <p:spPr>
            <a:xfrm>
              <a:off x="2133600" y="2286000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828800" y="11430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3600" y="2286000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0" y="0"/>
                  </a:moveTo>
                  <a:lnTo>
                    <a:pt x="1828799" y="0"/>
                  </a:lnTo>
                  <a:lnTo>
                    <a:pt x="1828799" y="1142999"/>
                  </a:lnTo>
                  <a:lnTo>
                    <a:pt x="0" y="1142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15539" y="2707640"/>
            <a:ext cx="1258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Logical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view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72037" y="3805237"/>
            <a:ext cx="1838325" cy="1152525"/>
            <a:chOff x="4872037" y="3805237"/>
            <a:chExt cx="1838325" cy="1152525"/>
          </a:xfrm>
        </p:grpSpPr>
        <p:sp>
          <p:nvSpPr>
            <p:cNvPr id="12" name="object 12"/>
            <p:cNvSpPr/>
            <p:nvPr/>
          </p:nvSpPr>
          <p:spPr>
            <a:xfrm>
              <a:off x="4876800" y="3809999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828800" y="11430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76800" y="3810000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0" y="0"/>
                  </a:moveTo>
                  <a:lnTo>
                    <a:pt x="1828799" y="0"/>
                  </a:lnTo>
                  <a:lnTo>
                    <a:pt x="1828799" y="1142999"/>
                  </a:lnTo>
                  <a:lnTo>
                    <a:pt x="0" y="1142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82540" y="4231640"/>
            <a:ext cx="141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Physical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View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128837" y="3805237"/>
            <a:ext cx="1838325" cy="1152525"/>
            <a:chOff x="2128837" y="3805237"/>
            <a:chExt cx="1838325" cy="1152525"/>
          </a:xfrm>
        </p:grpSpPr>
        <p:sp>
          <p:nvSpPr>
            <p:cNvPr id="16" name="object 16"/>
            <p:cNvSpPr/>
            <p:nvPr/>
          </p:nvSpPr>
          <p:spPr>
            <a:xfrm>
              <a:off x="2133600" y="3809999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828800" y="11430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33600" y="3810000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0" y="0"/>
                  </a:moveTo>
                  <a:lnTo>
                    <a:pt x="1828799" y="0"/>
                  </a:lnTo>
                  <a:lnTo>
                    <a:pt x="1828799" y="1142999"/>
                  </a:lnTo>
                  <a:lnTo>
                    <a:pt x="0" y="1142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52039" y="4231640"/>
            <a:ext cx="139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View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95837" y="2281237"/>
            <a:ext cx="1914525" cy="1152525"/>
            <a:chOff x="4795837" y="2281237"/>
            <a:chExt cx="1914525" cy="1152525"/>
          </a:xfrm>
        </p:grpSpPr>
        <p:sp>
          <p:nvSpPr>
            <p:cNvPr id="20" name="object 20"/>
            <p:cNvSpPr/>
            <p:nvPr/>
          </p:nvSpPr>
          <p:spPr>
            <a:xfrm>
              <a:off x="4800600" y="22860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190499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904998" y="1143000"/>
                  </a:lnTo>
                  <a:lnTo>
                    <a:pt x="1904998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600" y="22860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0" y="0"/>
                  </a:moveTo>
                  <a:lnTo>
                    <a:pt x="1904999" y="0"/>
                  </a:lnTo>
                  <a:lnTo>
                    <a:pt x="1904999" y="1142999"/>
                  </a:lnTo>
                  <a:lnTo>
                    <a:pt x="0" y="1142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82540" y="2570479"/>
            <a:ext cx="136017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69900" marR="5080" indent="-46990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Arial MT"/>
                <a:cs typeface="Arial MT"/>
              </a:rPr>
              <a:t>Development  view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49359" y="395262"/>
            <a:ext cx="7051675" cy="645795"/>
          </a:xfrm>
          <a:prstGeom prst="rect">
            <a:avLst/>
          </a:prstGeom>
          <a:solidFill>
            <a:srgbClr val="FFFFFF"/>
          </a:solidFill>
          <a:ln w="9524">
            <a:solidFill>
              <a:srgbClr val="5B92C7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sz="4000" spc="-5" dirty="0"/>
              <a:t>4+1</a:t>
            </a:r>
            <a:r>
              <a:rPr sz="4000" spc="-15" dirty="0"/>
              <a:t> </a:t>
            </a:r>
            <a:r>
              <a:rPr sz="4000" spc="-5" dirty="0"/>
              <a:t>View Model </a:t>
            </a:r>
            <a:r>
              <a:rPr sz="4000" dirty="0"/>
              <a:t>of</a:t>
            </a:r>
            <a:r>
              <a:rPr sz="4000" spc="-5" dirty="0"/>
              <a:t> Architecture</a:t>
            </a:r>
            <a:endParaRPr sz="4000"/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2422" y="1753650"/>
            <a:ext cx="822769" cy="758057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6709055" y="1536585"/>
            <a:ext cx="1052830" cy="1048385"/>
            <a:chOff x="6709055" y="1536585"/>
            <a:chExt cx="1052830" cy="1048385"/>
          </a:xfrm>
        </p:grpSpPr>
        <p:sp>
          <p:nvSpPr>
            <p:cNvPr id="26" name="object 26"/>
            <p:cNvSpPr/>
            <p:nvPr/>
          </p:nvSpPr>
          <p:spPr>
            <a:xfrm>
              <a:off x="6709055" y="1536585"/>
              <a:ext cx="1052830" cy="1048385"/>
            </a:xfrm>
            <a:custGeom>
              <a:avLst/>
              <a:gdLst/>
              <a:ahLst/>
              <a:cxnLst/>
              <a:rect l="l" t="t" r="r" b="b"/>
              <a:pathLst>
                <a:path w="1052829" h="1048385">
                  <a:moveTo>
                    <a:pt x="526247" y="0"/>
                  </a:moveTo>
                  <a:lnTo>
                    <a:pt x="468798" y="67945"/>
                  </a:lnTo>
                  <a:lnTo>
                    <a:pt x="394154" y="15109"/>
                  </a:lnTo>
                  <a:lnTo>
                    <a:pt x="356774" y="96887"/>
                  </a:lnTo>
                  <a:lnTo>
                    <a:pt x="272983" y="63769"/>
                  </a:lnTo>
                  <a:lnTo>
                    <a:pt x="255346" y="153929"/>
                  </a:lnTo>
                  <a:lnTo>
                    <a:pt x="165215" y="142966"/>
                  </a:lnTo>
                  <a:lnTo>
                    <a:pt x="171839" y="233184"/>
                  </a:lnTo>
                  <a:lnTo>
                    <a:pt x="81347" y="244116"/>
                  </a:lnTo>
                  <a:lnTo>
                    <a:pt x="110216" y="330070"/>
                  </a:lnTo>
                  <a:lnTo>
                    <a:pt x="26419" y="363100"/>
                  </a:lnTo>
                  <a:lnTo>
                    <a:pt x="72566" y="440297"/>
                  </a:lnTo>
                  <a:lnTo>
                    <a:pt x="0" y="493134"/>
                  </a:lnTo>
                  <a:lnTo>
                    <a:pt x="66230" y="554757"/>
                  </a:lnTo>
                  <a:lnTo>
                    <a:pt x="8782" y="625226"/>
                  </a:lnTo>
                  <a:lnTo>
                    <a:pt x="88044" y="669218"/>
                  </a:lnTo>
                  <a:lnTo>
                    <a:pt x="50680" y="750648"/>
                  </a:lnTo>
                  <a:lnTo>
                    <a:pt x="136634" y="772448"/>
                  </a:lnTo>
                  <a:lnTo>
                    <a:pt x="121157" y="860489"/>
                  </a:lnTo>
                  <a:lnTo>
                    <a:pt x="211287" y="862937"/>
                  </a:lnTo>
                  <a:lnTo>
                    <a:pt x="215894" y="951054"/>
                  </a:lnTo>
                  <a:lnTo>
                    <a:pt x="303937" y="928809"/>
                  </a:lnTo>
                  <a:lnTo>
                    <a:pt x="332530" y="1014763"/>
                  </a:lnTo>
                  <a:lnTo>
                    <a:pt x="411699" y="972865"/>
                  </a:lnTo>
                  <a:lnTo>
                    <a:pt x="460011" y="1047879"/>
                  </a:lnTo>
                  <a:lnTo>
                    <a:pt x="526247" y="986256"/>
                  </a:lnTo>
                  <a:lnTo>
                    <a:pt x="592104" y="1047879"/>
                  </a:lnTo>
                  <a:lnTo>
                    <a:pt x="640707" y="972865"/>
                  </a:lnTo>
                  <a:lnTo>
                    <a:pt x="719962" y="1014763"/>
                  </a:lnTo>
                  <a:lnTo>
                    <a:pt x="748469" y="928809"/>
                  </a:lnTo>
                  <a:lnTo>
                    <a:pt x="836510" y="951054"/>
                  </a:lnTo>
                  <a:lnTo>
                    <a:pt x="841122" y="860489"/>
                  </a:lnTo>
                  <a:lnTo>
                    <a:pt x="931252" y="860489"/>
                  </a:lnTo>
                  <a:lnTo>
                    <a:pt x="915766" y="772448"/>
                  </a:lnTo>
                  <a:lnTo>
                    <a:pt x="1001721" y="750648"/>
                  </a:lnTo>
                  <a:lnTo>
                    <a:pt x="964369" y="669218"/>
                  </a:lnTo>
                  <a:lnTo>
                    <a:pt x="1043625" y="625226"/>
                  </a:lnTo>
                  <a:lnTo>
                    <a:pt x="986264" y="554757"/>
                  </a:lnTo>
                  <a:lnTo>
                    <a:pt x="1052412" y="493134"/>
                  </a:lnTo>
                  <a:lnTo>
                    <a:pt x="979564" y="440297"/>
                  </a:lnTo>
                  <a:lnTo>
                    <a:pt x="1026050" y="363100"/>
                  </a:lnTo>
                  <a:lnTo>
                    <a:pt x="942185" y="330070"/>
                  </a:lnTo>
                  <a:lnTo>
                    <a:pt x="970691" y="244116"/>
                  </a:lnTo>
                  <a:lnTo>
                    <a:pt x="880560" y="233184"/>
                  </a:lnTo>
                  <a:lnTo>
                    <a:pt x="887260" y="142966"/>
                  </a:lnTo>
                  <a:lnTo>
                    <a:pt x="797072" y="153929"/>
                  </a:lnTo>
                  <a:lnTo>
                    <a:pt x="779498" y="63769"/>
                  </a:lnTo>
                  <a:lnTo>
                    <a:pt x="695632" y="96887"/>
                  </a:lnTo>
                  <a:lnTo>
                    <a:pt x="656193" y="15109"/>
                  </a:lnTo>
                  <a:lnTo>
                    <a:pt x="583260" y="67945"/>
                  </a:lnTo>
                  <a:lnTo>
                    <a:pt x="526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13590" y="1540819"/>
              <a:ext cx="1043940" cy="1039494"/>
            </a:xfrm>
            <a:custGeom>
              <a:avLst/>
              <a:gdLst/>
              <a:ahLst/>
              <a:cxnLst/>
              <a:rect l="l" t="t" r="r" b="b"/>
              <a:pathLst>
                <a:path w="1043940" h="1039494">
                  <a:moveTo>
                    <a:pt x="521712" y="0"/>
                  </a:moveTo>
                  <a:lnTo>
                    <a:pt x="464263" y="68322"/>
                  </a:lnTo>
                  <a:lnTo>
                    <a:pt x="391707" y="15485"/>
                  </a:lnTo>
                  <a:lnTo>
                    <a:pt x="352239" y="96828"/>
                  </a:lnTo>
                  <a:lnTo>
                    <a:pt x="268448" y="63710"/>
                  </a:lnTo>
                  <a:lnTo>
                    <a:pt x="252898" y="151839"/>
                  </a:lnTo>
                  <a:lnTo>
                    <a:pt x="162769" y="140907"/>
                  </a:lnTo>
                  <a:lnTo>
                    <a:pt x="169462" y="231038"/>
                  </a:lnTo>
                  <a:lnTo>
                    <a:pt x="79259" y="242318"/>
                  </a:lnTo>
                  <a:lnTo>
                    <a:pt x="107842" y="327924"/>
                  </a:lnTo>
                  <a:lnTo>
                    <a:pt x="23972" y="361041"/>
                  </a:lnTo>
                  <a:lnTo>
                    <a:pt x="72566" y="436063"/>
                  </a:lnTo>
                  <a:lnTo>
                    <a:pt x="0" y="488900"/>
                  </a:lnTo>
                  <a:lnTo>
                    <a:pt x="65871" y="550523"/>
                  </a:lnTo>
                  <a:lnTo>
                    <a:pt x="8854" y="618469"/>
                  </a:lnTo>
                  <a:lnTo>
                    <a:pt x="85595" y="662519"/>
                  </a:lnTo>
                  <a:lnTo>
                    <a:pt x="48305" y="744240"/>
                  </a:lnTo>
                  <a:lnTo>
                    <a:pt x="136347" y="766124"/>
                  </a:lnTo>
                  <a:lnTo>
                    <a:pt x="118709" y="854167"/>
                  </a:lnTo>
                  <a:lnTo>
                    <a:pt x="208912" y="854167"/>
                  </a:lnTo>
                  <a:lnTo>
                    <a:pt x="213448" y="944300"/>
                  </a:lnTo>
                  <a:lnTo>
                    <a:pt x="301578" y="922487"/>
                  </a:lnTo>
                  <a:lnTo>
                    <a:pt x="330084" y="1008440"/>
                  </a:lnTo>
                  <a:lnTo>
                    <a:pt x="407164" y="964385"/>
                  </a:lnTo>
                  <a:lnTo>
                    <a:pt x="455476" y="1039037"/>
                  </a:lnTo>
                  <a:lnTo>
                    <a:pt x="521712" y="979575"/>
                  </a:lnTo>
                  <a:lnTo>
                    <a:pt x="587569" y="1039037"/>
                  </a:lnTo>
                  <a:lnTo>
                    <a:pt x="636172" y="964385"/>
                  </a:lnTo>
                  <a:lnTo>
                    <a:pt x="713281" y="1008440"/>
                  </a:lnTo>
                  <a:lnTo>
                    <a:pt x="741846" y="922487"/>
                  </a:lnTo>
                  <a:lnTo>
                    <a:pt x="827741" y="944300"/>
                  </a:lnTo>
                  <a:lnTo>
                    <a:pt x="834151" y="854167"/>
                  </a:lnTo>
                  <a:lnTo>
                    <a:pt x="924628" y="854167"/>
                  </a:lnTo>
                  <a:lnTo>
                    <a:pt x="906997" y="766124"/>
                  </a:lnTo>
                  <a:lnTo>
                    <a:pt x="995097" y="744240"/>
                  </a:lnTo>
                  <a:lnTo>
                    <a:pt x="955310" y="662519"/>
                  </a:lnTo>
                  <a:lnTo>
                    <a:pt x="1034566" y="618469"/>
                  </a:lnTo>
                  <a:lnTo>
                    <a:pt x="977465" y="550523"/>
                  </a:lnTo>
                  <a:lnTo>
                    <a:pt x="1043353" y="488900"/>
                  </a:lnTo>
                  <a:lnTo>
                    <a:pt x="970767" y="436063"/>
                  </a:lnTo>
                  <a:lnTo>
                    <a:pt x="1019021" y="361041"/>
                  </a:lnTo>
                  <a:lnTo>
                    <a:pt x="935562" y="327924"/>
                  </a:lnTo>
                  <a:lnTo>
                    <a:pt x="962008" y="242318"/>
                  </a:lnTo>
                  <a:lnTo>
                    <a:pt x="873880" y="231038"/>
                  </a:lnTo>
                  <a:lnTo>
                    <a:pt x="878113" y="140907"/>
                  </a:lnTo>
                  <a:lnTo>
                    <a:pt x="790072" y="151839"/>
                  </a:lnTo>
                  <a:lnTo>
                    <a:pt x="772440" y="63710"/>
                  </a:lnTo>
                  <a:lnTo>
                    <a:pt x="689009" y="96828"/>
                  </a:lnTo>
                  <a:lnTo>
                    <a:pt x="651658" y="15485"/>
                  </a:lnTo>
                  <a:lnTo>
                    <a:pt x="578725" y="68322"/>
                  </a:lnTo>
                  <a:lnTo>
                    <a:pt x="521712" y="0"/>
                  </a:lnTo>
                  <a:close/>
                </a:path>
              </a:pathLst>
            </a:custGeom>
            <a:solidFill>
              <a:srgbClr val="F5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17837" y="1542907"/>
              <a:ext cx="1035050" cy="1035050"/>
            </a:xfrm>
            <a:custGeom>
              <a:avLst/>
              <a:gdLst/>
              <a:ahLst/>
              <a:cxnLst/>
              <a:rect l="l" t="t" r="r" b="b"/>
              <a:pathLst>
                <a:path w="1035050" h="1035050">
                  <a:moveTo>
                    <a:pt x="517465" y="0"/>
                  </a:moveTo>
                  <a:lnTo>
                    <a:pt x="460016" y="70497"/>
                  </a:lnTo>
                  <a:lnTo>
                    <a:pt x="387460" y="17660"/>
                  </a:lnTo>
                  <a:lnTo>
                    <a:pt x="350166" y="96916"/>
                  </a:lnTo>
                  <a:lnTo>
                    <a:pt x="266289" y="66234"/>
                  </a:lnTo>
                  <a:lnTo>
                    <a:pt x="251172" y="152187"/>
                  </a:lnTo>
                  <a:lnTo>
                    <a:pt x="160609" y="140907"/>
                  </a:lnTo>
                  <a:lnTo>
                    <a:pt x="167303" y="231472"/>
                  </a:lnTo>
                  <a:lnTo>
                    <a:pt x="79261" y="242318"/>
                  </a:lnTo>
                  <a:lnTo>
                    <a:pt x="105681" y="325836"/>
                  </a:lnTo>
                  <a:lnTo>
                    <a:pt x="24333" y="358954"/>
                  </a:lnTo>
                  <a:lnTo>
                    <a:pt x="70477" y="433975"/>
                  </a:lnTo>
                  <a:lnTo>
                    <a:pt x="0" y="486812"/>
                  </a:lnTo>
                  <a:lnTo>
                    <a:pt x="63784" y="548435"/>
                  </a:lnTo>
                  <a:lnTo>
                    <a:pt x="6695" y="616381"/>
                  </a:lnTo>
                  <a:lnTo>
                    <a:pt x="85957" y="660431"/>
                  </a:lnTo>
                  <a:lnTo>
                    <a:pt x="48594" y="739715"/>
                  </a:lnTo>
                  <a:lnTo>
                    <a:pt x="134189" y="761876"/>
                  </a:lnTo>
                  <a:lnTo>
                    <a:pt x="116624" y="849922"/>
                  </a:lnTo>
                  <a:lnTo>
                    <a:pt x="207112" y="849922"/>
                  </a:lnTo>
                  <a:lnTo>
                    <a:pt x="211362" y="938037"/>
                  </a:lnTo>
                  <a:lnTo>
                    <a:pt x="297331" y="915791"/>
                  </a:lnTo>
                  <a:lnTo>
                    <a:pt x="325837" y="1001748"/>
                  </a:lnTo>
                  <a:lnTo>
                    <a:pt x="405093" y="957761"/>
                  </a:lnTo>
                  <a:lnTo>
                    <a:pt x="451229" y="1034862"/>
                  </a:lnTo>
                  <a:lnTo>
                    <a:pt x="517465" y="973239"/>
                  </a:lnTo>
                  <a:lnTo>
                    <a:pt x="581176" y="1034862"/>
                  </a:lnTo>
                  <a:lnTo>
                    <a:pt x="629749" y="957761"/>
                  </a:lnTo>
                  <a:lnTo>
                    <a:pt x="706569" y="1001748"/>
                  </a:lnTo>
                  <a:lnTo>
                    <a:pt x="735453" y="915791"/>
                  </a:lnTo>
                  <a:lnTo>
                    <a:pt x="821029" y="938037"/>
                  </a:lnTo>
                  <a:lnTo>
                    <a:pt x="827728" y="849922"/>
                  </a:lnTo>
                  <a:lnTo>
                    <a:pt x="915771" y="849922"/>
                  </a:lnTo>
                  <a:lnTo>
                    <a:pt x="900314" y="761876"/>
                  </a:lnTo>
                  <a:lnTo>
                    <a:pt x="986269" y="739715"/>
                  </a:lnTo>
                  <a:lnTo>
                    <a:pt x="948889" y="660431"/>
                  </a:lnTo>
                  <a:lnTo>
                    <a:pt x="1026055" y="616381"/>
                  </a:lnTo>
                  <a:lnTo>
                    <a:pt x="968607" y="548435"/>
                  </a:lnTo>
                  <a:lnTo>
                    <a:pt x="1034842" y="486812"/>
                  </a:lnTo>
                  <a:lnTo>
                    <a:pt x="961909" y="433975"/>
                  </a:lnTo>
                  <a:lnTo>
                    <a:pt x="1010598" y="358954"/>
                  </a:lnTo>
                  <a:lnTo>
                    <a:pt x="926732" y="325836"/>
                  </a:lnTo>
                  <a:lnTo>
                    <a:pt x="955587" y="242318"/>
                  </a:lnTo>
                  <a:lnTo>
                    <a:pt x="865110" y="231472"/>
                  </a:lnTo>
                  <a:lnTo>
                    <a:pt x="871778" y="140907"/>
                  </a:lnTo>
                  <a:lnTo>
                    <a:pt x="783737" y="152187"/>
                  </a:lnTo>
                  <a:lnTo>
                    <a:pt x="766105" y="66234"/>
                  </a:lnTo>
                  <a:lnTo>
                    <a:pt x="684762" y="96916"/>
                  </a:lnTo>
                  <a:lnTo>
                    <a:pt x="644946" y="17660"/>
                  </a:lnTo>
                  <a:lnTo>
                    <a:pt x="574478" y="70497"/>
                  </a:lnTo>
                  <a:lnTo>
                    <a:pt x="517465" y="0"/>
                  </a:lnTo>
                  <a:close/>
                </a:path>
              </a:pathLst>
            </a:custGeom>
            <a:solidFill>
              <a:srgbClr val="EC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19926" y="1547519"/>
              <a:ext cx="1028700" cy="1026160"/>
            </a:xfrm>
            <a:custGeom>
              <a:avLst/>
              <a:gdLst/>
              <a:ahLst/>
              <a:cxnLst/>
              <a:rect l="l" t="t" r="r" b="b"/>
              <a:pathLst>
                <a:path w="1028700" h="1026160">
                  <a:moveTo>
                    <a:pt x="515376" y="0"/>
                  </a:moveTo>
                  <a:lnTo>
                    <a:pt x="457927" y="68322"/>
                  </a:lnTo>
                  <a:lnTo>
                    <a:pt x="385371" y="17572"/>
                  </a:lnTo>
                  <a:lnTo>
                    <a:pt x="348077" y="96828"/>
                  </a:lnTo>
                  <a:lnTo>
                    <a:pt x="266647" y="63710"/>
                  </a:lnTo>
                  <a:lnTo>
                    <a:pt x="249083" y="151753"/>
                  </a:lnTo>
                  <a:lnTo>
                    <a:pt x="163126" y="140907"/>
                  </a:lnTo>
                  <a:lnTo>
                    <a:pt x="167374" y="228949"/>
                  </a:lnTo>
                  <a:lnTo>
                    <a:pt x="79259" y="239882"/>
                  </a:lnTo>
                  <a:lnTo>
                    <a:pt x="108197" y="323660"/>
                  </a:lnTo>
                  <a:lnTo>
                    <a:pt x="24331" y="356430"/>
                  </a:lnTo>
                  <a:lnTo>
                    <a:pt x="72923" y="431452"/>
                  </a:lnTo>
                  <a:lnTo>
                    <a:pt x="0" y="482201"/>
                  </a:lnTo>
                  <a:lnTo>
                    <a:pt x="66230" y="543824"/>
                  </a:lnTo>
                  <a:lnTo>
                    <a:pt x="8854" y="611770"/>
                  </a:lnTo>
                  <a:lnTo>
                    <a:pt x="85956" y="653732"/>
                  </a:lnTo>
                  <a:lnTo>
                    <a:pt x="48662" y="733016"/>
                  </a:lnTo>
                  <a:lnTo>
                    <a:pt x="134620" y="755177"/>
                  </a:lnTo>
                  <a:lnTo>
                    <a:pt x="119070" y="843222"/>
                  </a:lnTo>
                  <a:lnTo>
                    <a:pt x="207112" y="843222"/>
                  </a:lnTo>
                  <a:lnTo>
                    <a:pt x="211361" y="931264"/>
                  </a:lnTo>
                  <a:lnTo>
                    <a:pt x="297329" y="909092"/>
                  </a:lnTo>
                  <a:lnTo>
                    <a:pt x="325836" y="992888"/>
                  </a:lnTo>
                  <a:lnTo>
                    <a:pt x="403004" y="950989"/>
                  </a:lnTo>
                  <a:lnTo>
                    <a:pt x="449140" y="1025715"/>
                  </a:lnTo>
                  <a:lnTo>
                    <a:pt x="515376" y="964020"/>
                  </a:lnTo>
                  <a:lnTo>
                    <a:pt x="579086" y="1025715"/>
                  </a:lnTo>
                  <a:lnTo>
                    <a:pt x="625226" y="950989"/>
                  </a:lnTo>
                  <a:lnTo>
                    <a:pt x="704480" y="992888"/>
                  </a:lnTo>
                  <a:lnTo>
                    <a:pt x="730898" y="909092"/>
                  </a:lnTo>
                  <a:lnTo>
                    <a:pt x="816853" y="931264"/>
                  </a:lnTo>
                  <a:lnTo>
                    <a:pt x="823551" y="843222"/>
                  </a:lnTo>
                  <a:lnTo>
                    <a:pt x="911594" y="843222"/>
                  </a:lnTo>
                  <a:lnTo>
                    <a:pt x="893963" y="755177"/>
                  </a:lnTo>
                  <a:lnTo>
                    <a:pt x="979916" y="733016"/>
                  </a:lnTo>
                  <a:lnTo>
                    <a:pt x="942275" y="653732"/>
                  </a:lnTo>
                  <a:lnTo>
                    <a:pt x="1019355" y="611770"/>
                  </a:lnTo>
                  <a:lnTo>
                    <a:pt x="964431" y="543824"/>
                  </a:lnTo>
                  <a:lnTo>
                    <a:pt x="1028230" y="482201"/>
                  </a:lnTo>
                  <a:lnTo>
                    <a:pt x="955672" y="431452"/>
                  </a:lnTo>
                  <a:lnTo>
                    <a:pt x="1003899" y="356430"/>
                  </a:lnTo>
                  <a:lnTo>
                    <a:pt x="922555" y="323660"/>
                  </a:lnTo>
                  <a:lnTo>
                    <a:pt x="948974" y="239882"/>
                  </a:lnTo>
                  <a:lnTo>
                    <a:pt x="860845" y="228949"/>
                  </a:lnTo>
                  <a:lnTo>
                    <a:pt x="865455" y="140907"/>
                  </a:lnTo>
                  <a:lnTo>
                    <a:pt x="779501" y="151753"/>
                  </a:lnTo>
                  <a:lnTo>
                    <a:pt x="761927" y="63710"/>
                  </a:lnTo>
                  <a:lnTo>
                    <a:pt x="680526" y="96828"/>
                  </a:lnTo>
                  <a:lnTo>
                    <a:pt x="642857" y="17572"/>
                  </a:lnTo>
                  <a:lnTo>
                    <a:pt x="570299" y="68322"/>
                  </a:lnTo>
                  <a:lnTo>
                    <a:pt x="515376" y="0"/>
                  </a:lnTo>
                  <a:close/>
                </a:path>
              </a:pathLst>
            </a:custGeom>
            <a:solidFill>
              <a:srgbClr val="E2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24533" y="1551694"/>
              <a:ext cx="1019810" cy="1017905"/>
            </a:xfrm>
            <a:custGeom>
              <a:avLst/>
              <a:gdLst/>
              <a:ahLst/>
              <a:cxnLst/>
              <a:rect l="l" t="t" r="r" b="b"/>
              <a:pathLst>
                <a:path w="1019809" h="1017905">
                  <a:moveTo>
                    <a:pt x="508594" y="0"/>
                  </a:moveTo>
                  <a:lnTo>
                    <a:pt x="453321" y="68408"/>
                  </a:lnTo>
                  <a:lnTo>
                    <a:pt x="382911" y="15572"/>
                  </a:lnTo>
                  <a:lnTo>
                    <a:pt x="345560" y="94827"/>
                  </a:lnTo>
                  <a:lnTo>
                    <a:pt x="264201" y="64146"/>
                  </a:lnTo>
                  <a:lnTo>
                    <a:pt x="246564" y="149752"/>
                  </a:lnTo>
                  <a:lnTo>
                    <a:pt x="160608" y="138819"/>
                  </a:lnTo>
                  <a:lnTo>
                    <a:pt x="165215" y="226861"/>
                  </a:lnTo>
                  <a:lnTo>
                    <a:pt x="79261" y="237794"/>
                  </a:lnTo>
                  <a:lnTo>
                    <a:pt x="105680" y="321660"/>
                  </a:lnTo>
                  <a:lnTo>
                    <a:pt x="24334" y="352254"/>
                  </a:lnTo>
                  <a:lnTo>
                    <a:pt x="70477" y="427276"/>
                  </a:lnTo>
                  <a:lnTo>
                    <a:pt x="0" y="478025"/>
                  </a:lnTo>
                  <a:lnTo>
                    <a:pt x="63781" y="539648"/>
                  </a:lnTo>
                  <a:lnTo>
                    <a:pt x="8783" y="605506"/>
                  </a:lnTo>
                  <a:lnTo>
                    <a:pt x="85954" y="649556"/>
                  </a:lnTo>
                  <a:lnTo>
                    <a:pt x="48232" y="728840"/>
                  </a:lnTo>
                  <a:lnTo>
                    <a:pt x="132101" y="751001"/>
                  </a:lnTo>
                  <a:lnTo>
                    <a:pt x="116624" y="836599"/>
                  </a:lnTo>
                  <a:lnTo>
                    <a:pt x="204666" y="836599"/>
                  </a:lnTo>
                  <a:lnTo>
                    <a:pt x="209202" y="922553"/>
                  </a:lnTo>
                  <a:lnTo>
                    <a:pt x="294811" y="902827"/>
                  </a:lnTo>
                  <a:lnTo>
                    <a:pt x="321229" y="984177"/>
                  </a:lnTo>
                  <a:lnTo>
                    <a:pt x="398397" y="942279"/>
                  </a:lnTo>
                  <a:lnTo>
                    <a:pt x="444534" y="1017292"/>
                  </a:lnTo>
                  <a:lnTo>
                    <a:pt x="508594" y="957756"/>
                  </a:lnTo>
                  <a:lnTo>
                    <a:pt x="574480" y="1017292"/>
                  </a:lnTo>
                  <a:lnTo>
                    <a:pt x="620619" y="942279"/>
                  </a:lnTo>
                  <a:lnTo>
                    <a:pt x="697786" y="984177"/>
                  </a:lnTo>
                  <a:lnTo>
                    <a:pt x="724204" y="902827"/>
                  </a:lnTo>
                  <a:lnTo>
                    <a:pt x="810158" y="922553"/>
                  </a:lnTo>
                  <a:lnTo>
                    <a:pt x="814334" y="836599"/>
                  </a:lnTo>
                  <a:lnTo>
                    <a:pt x="902376" y="836599"/>
                  </a:lnTo>
                  <a:lnTo>
                    <a:pt x="887267" y="751001"/>
                  </a:lnTo>
                  <a:lnTo>
                    <a:pt x="970786" y="728840"/>
                  </a:lnTo>
                  <a:lnTo>
                    <a:pt x="933406" y="649556"/>
                  </a:lnTo>
                  <a:lnTo>
                    <a:pt x="1010573" y="605506"/>
                  </a:lnTo>
                  <a:lnTo>
                    <a:pt x="955213" y="539648"/>
                  </a:lnTo>
                  <a:lnTo>
                    <a:pt x="1019360" y="478025"/>
                  </a:lnTo>
                  <a:lnTo>
                    <a:pt x="948891" y="427276"/>
                  </a:lnTo>
                  <a:lnTo>
                    <a:pt x="995029" y="352254"/>
                  </a:lnTo>
                  <a:lnTo>
                    <a:pt x="913686" y="321660"/>
                  </a:lnTo>
                  <a:lnTo>
                    <a:pt x="940104" y="237794"/>
                  </a:lnTo>
                  <a:lnTo>
                    <a:pt x="854151" y="226861"/>
                  </a:lnTo>
                  <a:lnTo>
                    <a:pt x="858414" y="138819"/>
                  </a:lnTo>
                  <a:lnTo>
                    <a:pt x="772807" y="149752"/>
                  </a:lnTo>
                  <a:lnTo>
                    <a:pt x="755176" y="64146"/>
                  </a:lnTo>
                  <a:lnTo>
                    <a:pt x="673455" y="94827"/>
                  </a:lnTo>
                  <a:lnTo>
                    <a:pt x="636104" y="15572"/>
                  </a:lnTo>
                  <a:lnTo>
                    <a:pt x="565693" y="68408"/>
                  </a:lnTo>
                  <a:lnTo>
                    <a:pt x="508594" y="0"/>
                  </a:lnTo>
                  <a:close/>
                </a:path>
              </a:pathLst>
            </a:custGeom>
            <a:solidFill>
              <a:srgbClr val="D8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28781" y="1556304"/>
              <a:ext cx="1010919" cy="1008380"/>
            </a:xfrm>
            <a:custGeom>
              <a:avLst/>
              <a:gdLst/>
              <a:ahLst/>
              <a:cxnLst/>
              <a:rect l="l" t="t" r="r" b="b"/>
              <a:pathLst>
                <a:path w="1010920" h="1008380">
                  <a:moveTo>
                    <a:pt x="504346" y="0"/>
                  </a:moveTo>
                  <a:lnTo>
                    <a:pt x="449073" y="65887"/>
                  </a:lnTo>
                  <a:lnTo>
                    <a:pt x="378663" y="15486"/>
                  </a:lnTo>
                  <a:lnTo>
                    <a:pt x="341312" y="94740"/>
                  </a:lnTo>
                  <a:lnTo>
                    <a:pt x="259953" y="61624"/>
                  </a:lnTo>
                  <a:lnTo>
                    <a:pt x="244405" y="147577"/>
                  </a:lnTo>
                  <a:lnTo>
                    <a:pt x="158520" y="136354"/>
                  </a:lnTo>
                  <a:lnTo>
                    <a:pt x="163055" y="224397"/>
                  </a:lnTo>
                  <a:lnTo>
                    <a:pt x="77101" y="235620"/>
                  </a:lnTo>
                  <a:lnTo>
                    <a:pt x="103518" y="317050"/>
                  </a:lnTo>
                  <a:lnTo>
                    <a:pt x="24258" y="350080"/>
                  </a:lnTo>
                  <a:lnTo>
                    <a:pt x="70404" y="422666"/>
                  </a:lnTo>
                  <a:lnTo>
                    <a:pt x="0" y="475503"/>
                  </a:lnTo>
                  <a:lnTo>
                    <a:pt x="64068" y="535038"/>
                  </a:lnTo>
                  <a:lnTo>
                    <a:pt x="6694" y="600896"/>
                  </a:lnTo>
                  <a:lnTo>
                    <a:pt x="83794" y="642800"/>
                  </a:lnTo>
                  <a:lnTo>
                    <a:pt x="46504" y="722055"/>
                  </a:lnTo>
                  <a:lnTo>
                    <a:pt x="129941" y="743950"/>
                  </a:lnTo>
                  <a:lnTo>
                    <a:pt x="114461" y="827741"/>
                  </a:lnTo>
                  <a:lnTo>
                    <a:pt x="202506" y="829829"/>
                  </a:lnTo>
                  <a:lnTo>
                    <a:pt x="207114" y="915783"/>
                  </a:lnTo>
                  <a:lnTo>
                    <a:pt x="290563" y="893613"/>
                  </a:lnTo>
                  <a:lnTo>
                    <a:pt x="319474" y="977479"/>
                  </a:lnTo>
                  <a:lnTo>
                    <a:pt x="394149" y="935508"/>
                  </a:lnTo>
                  <a:lnTo>
                    <a:pt x="442723" y="1008075"/>
                  </a:lnTo>
                  <a:lnTo>
                    <a:pt x="504346" y="948900"/>
                  </a:lnTo>
                  <a:lnTo>
                    <a:pt x="568144" y="1008075"/>
                  </a:lnTo>
                  <a:lnTo>
                    <a:pt x="614282" y="935508"/>
                  </a:lnTo>
                  <a:lnTo>
                    <a:pt x="691391" y="977479"/>
                  </a:lnTo>
                  <a:lnTo>
                    <a:pt x="717810" y="893613"/>
                  </a:lnTo>
                  <a:lnTo>
                    <a:pt x="801300" y="915783"/>
                  </a:lnTo>
                  <a:lnTo>
                    <a:pt x="807999" y="829829"/>
                  </a:lnTo>
                  <a:lnTo>
                    <a:pt x="893952" y="827741"/>
                  </a:lnTo>
                  <a:lnTo>
                    <a:pt x="878409" y="743950"/>
                  </a:lnTo>
                  <a:lnTo>
                    <a:pt x="962275" y="722055"/>
                  </a:lnTo>
                  <a:lnTo>
                    <a:pt x="927069" y="642800"/>
                  </a:lnTo>
                  <a:lnTo>
                    <a:pt x="1001744" y="600896"/>
                  </a:lnTo>
                  <a:lnTo>
                    <a:pt x="946818" y="535038"/>
                  </a:lnTo>
                  <a:lnTo>
                    <a:pt x="1010500" y="473415"/>
                  </a:lnTo>
                  <a:lnTo>
                    <a:pt x="940120" y="422666"/>
                  </a:lnTo>
                  <a:lnTo>
                    <a:pt x="986257" y="350080"/>
                  </a:lnTo>
                  <a:lnTo>
                    <a:pt x="904828" y="317050"/>
                  </a:lnTo>
                  <a:lnTo>
                    <a:pt x="931246" y="235620"/>
                  </a:lnTo>
                  <a:lnTo>
                    <a:pt x="845379" y="224397"/>
                  </a:lnTo>
                  <a:lnTo>
                    <a:pt x="851990" y="136354"/>
                  </a:lnTo>
                  <a:lnTo>
                    <a:pt x="766123" y="147577"/>
                  </a:lnTo>
                  <a:lnTo>
                    <a:pt x="748463" y="61624"/>
                  </a:lnTo>
                  <a:lnTo>
                    <a:pt x="667119" y="94740"/>
                  </a:lnTo>
                  <a:lnTo>
                    <a:pt x="629768" y="15486"/>
                  </a:lnTo>
                  <a:lnTo>
                    <a:pt x="559358" y="65887"/>
                  </a:lnTo>
                  <a:lnTo>
                    <a:pt x="504346" y="0"/>
                  </a:lnTo>
                  <a:close/>
                </a:path>
              </a:pathLst>
            </a:custGeom>
            <a:solidFill>
              <a:srgbClr val="CEF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33316" y="1560568"/>
              <a:ext cx="1002030" cy="1000125"/>
            </a:xfrm>
            <a:custGeom>
              <a:avLst/>
              <a:gdLst/>
              <a:ahLst/>
              <a:cxnLst/>
              <a:rect l="l" t="t" r="r" b="b"/>
              <a:pathLst>
                <a:path w="1002029" h="1000125">
                  <a:moveTo>
                    <a:pt x="499811" y="0"/>
                  </a:moveTo>
                  <a:lnTo>
                    <a:pt x="444538" y="66234"/>
                  </a:lnTo>
                  <a:lnTo>
                    <a:pt x="374128" y="15455"/>
                  </a:lnTo>
                  <a:lnTo>
                    <a:pt x="338863" y="92652"/>
                  </a:lnTo>
                  <a:lnTo>
                    <a:pt x="257507" y="61624"/>
                  </a:lnTo>
                  <a:lnTo>
                    <a:pt x="242026" y="147577"/>
                  </a:lnTo>
                  <a:lnTo>
                    <a:pt x="156432" y="136616"/>
                  </a:lnTo>
                  <a:lnTo>
                    <a:pt x="160680" y="222570"/>
                  </a:lnTo>
                  <a:lnTo>
                    <a:pt x="77171" y="233531"/>
                  </a:lnTo>
                  <a:lnTo>
                    <a:pt x="103592" y="314874"/>
                  </a:lnTo>
                  <a:lnTo>
                    <a:pt x="21884" y="345817"/>
                  </a:lnTo>
                  <a:lnTo>
                    <a:pt x="68389" y="420549"/>
                  </a:lnTo>
                  <a:lnTo>
                    <a:pt x="0" y="471239"/>
                  </a:lnTo>
                  <a:lnTo>
                    <a:pt x="61694" y="528309"/>
                  </a:lnTo>
                  <a:lnTo>
                    <a:pt x="6694" y="596633"/>
                  </a:lnTo>
                  <a:lnTo>
                    <a:pt x="81419" y="638536"/>
                  </a:lnTo>
                  <a:lnTo>
                    <a:pt x="46145" y="715704"/>
                  </a:lnTo>
                  <a:lnTo>
                    <a:pt x="130011" y="737511"/>
                  </a:lnTo>
                  <a:lnTo>
                    <a:pt x="112373" y="821390"/>
                  </a:lnTo>
                  <a:lnTo>
                    <a:pt x="200418" y="821390"/>
                  </a:lnTo>
                  <a:lnTo>
                    <a:pt x="204664" y="906987"/>
                  </a:lnTo>
                  <a:lnTo>
                    <a:pt x="288521" y="887261"/>
                  </a:lnTo>
                  <a:lnTo>
                    <a:pt x="314939" y="968607"/>
                  </a:lnTo>
                  <a:lnTo>
                    <a:pt x="391701" y="927072"/>
                  </a:lnTo>
                  <a:lnTo>
                    <a:pt x="438188" y="999564"/>
                  </a:lnTo>
                  <a:lnTo>
                    <a:pt x="499811" y="940100"/>
                  </a:lnTo>
                  <a:lnTo>
                    <a:pt x="563609" y="999564"/>
                  </a:lnTo>
                  <a:lnTo>
                    <a:pt x="609747" y="927072"/>
                  </a:lnTo>
                  <a:lnTo>
                    <a:pt x="684770" y="968607"/>
                  </a:lnTo>
                  <a:lnTo>
                    <a:pt x="711187" y="887261"/>
                  </a:lnTo>
                  <a:lnTo>
                    <a:pt x="794677" y="906987"/>
                  </a:lnTo>
                  <a:lnTo>
                    <a:pt x="801375" y="821390"/>
                  </a:lnTo>
                  <a:lnTo>
                    <a:pt x="887271" y="821390"/>
                  </a:lnTo>
                  <a:lnTo>
                    <a:pt x="871786" y="737511"/>
                  </a:lnTo>
                  <a:lnTo>
                    <a:pt x="953128" y="715704"/>
                  </a:lnTo>
                  <a:lnTo>
                    <a:pt x="917924" y="638536"/>
                  </a:lnTo>
                  <a:lnTo>
                    <a:pt x="992945" y="596633"/>
                  </a:lnTo>
                  <a:lnTo>
                    <a:pt x="937672" y="528309"/>
                  </a:lnTo>
                  <a:lnTo>
                    <a:pt x="1001789" y="471239"/>
                  </a:lnTo>
                  <a:lnTo>
                    <a:pt x="931321" y="418402"/>
                  </a:lnTo>
                  <a:lnTo>
                    <a:pt x="977460" y="345817"/>
                  </a:lnTo>
                  <a:lnTo>
                    <a:pt x="898204" y="314874"/>
                  </a:lnTo>
                  <a:lnTo>
                    <a:pt x="924623" y="233531"/>
                  </a:lnTo>
                  <a:lnTo>
                    <a:pt x="838668" y="222570"/>
                  </a:lnTo>
                  <a:lnTo>
                    <a:pt x="843279" y="136616"/>
                  </a:lnTo>
                  <a:lnTo>
                    <a:pt x="757325" y="145402"/>
                  </a:lnTo>
                  <a:lnTo>
                    <a:pt x="741840" y="61624"/>
                  </a:lnTo>
                  <a:lnTo>
                    <a:pt x="662584" y="92652"/>
                  </a:lnTo>
                  <a:lnTo>
                    <a:pt x="625233" y="15455"/>
                  </a:lnTo>
                  <a:lnTo>
                    <a:pt x="554823" y="66234"/>
                  </a:lnTo>
                  <a:lnTo>
                    <a:pt x="499811" y="0"/>
                  </a:lnTo>
                  <a:close/>
                </a:path>
              </a:pathLst>
            </a:custGeom>
            <a:solidFill>
              <a:srgbClr val="C5F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35475" y="1565092"/>
              <a:ext cx="995044" cy="990600"/>
            </a:xfrm>
            <a:custGeom>
              <a:avLst/>
              <a:gdLst/>
              <a:ahLst/>
              <a:cxnLst/>
              <a:rect l="l" t="t" r="r" b="b"/>
              <a:pathLst>
                <a:path w="995045" h="990600">
                  <a:moveTo>
                    <a:pt x="497652" y="0"/>
                  </a:moveTo>
                  <a:lnTo>
                    <a:pt x="442379" y="65886"/>
                  </a:lnTo>
                  <a:lnTo>
                    <a:pt x="374404" y="15543"/>
                  </a:lnTo>
                  <a:lnTo>
                    <a:pt x="336704" y="92304"/>
                  </a:lnTo>
                  <a:lnTo>
                    <a:pt x="257435" y="61710"/>
                  </a:lnTo>
                  <a:lnTo>
                    <a:pt x="242316" y="145141"/>
                  </a:lnTo>
                  <a:lnTo>
                    <a:pt x="156361" y="134180"/>
                  </a:lnTo>
                  <a:lnTo>
                    <a:pt x="160609" y="220134"/>
                  </a:lnTo>
                  <a:lnTo>
                    <a:pt x="77100" y="231095"/>
                  </a:lnTo>
                  <a:lnTo>
                    <a:pt x="103521" y="312439"/>
                  </a:lnTo>
                  <a:lnTo>
                    <a:pt x="24260" y="343468"/>
                  </a:lnTo>
                  <a:lnTo>
                    <a:pt x="70407" y="416025"/>
                  </a:lnTo>
                  <a:lnTo>
                    <a:pt x="0" y="466716"/>
                  </a:lnTo>
                  <a:lnTo>
                    <a:pt x="61624" y="523786"/>
                  </a:lnTo>
                  <a:lnTo>
                    <a:pt x="8783" y="590021"/>
                  </a:lnTo>
                  <a:lnTo>
                    <a:pt x="83797" y="631925"/>
                  </a:lnTo>
                  <a:lnTo>
                    <a:pt x="46146" y="708745"/>
                  </a:lnTo>
                  <a:lnTo>
                    <a:pt x="129940" y="730900"/>
                  </a:lnTo>
                  <a:lnTo>
                    <a:pt x="114462" y="814345"/>
                  </a:lnTo>
                  <a:lnTo>
                    <a:pt x="200419" y="814345"/>
                  </a:lnTo>
                  <a:lnTo>
                    <a:pt x="204593" y="900303"/>
                  </a:lnTo>
                  <a:lnTo>
                    <a:pt x="288451" y="878489"/>
                  </a:lnTo>
                  <a:lnTo>
                    <a:pt x="314869" y="959838"/>
                  </a:lnTo>
                  <a:lnTo>
                    <a:pt x="389542" y="920028"/>
                  </a:lnTo>
                  <a:lnTo>
                    <a:pt x="436029" y="990504"/>
                  </a:lnTo>
                  <a:lnTo>
                    <a:pt x="497652" y="933416"/>
                  </a:lnTo>
                  <a:lnTo>
                    <a:pt x="559362" y="990504"/>
                  </a:lnTo>
                  <a:lnTo>
                    <a:pt x="605443" y="920028"/>
                  </a:lnTo>
                  <a:lnTo>
                    <a:pt x="680145" y="959838"/>
                  </a:lnTo>
                  <a:lnTo>
                    <a:pt x="706563" y="878489"/>
                  </a:lnTo>
                  <a:lnTo>
                    <a:pt x="790371" y="900303"/>
                  </a:lnTo>
                  <a:lnTo>
                    <a:pt x="794605" y="814345"/>
                  </a:lnTo>
                  <a:lnTo>
                    <a:pt x="880588" y="814345"/>
                  </a:lnTo>
                  <a:lnTo>
                    <a:pt x="865016" y="730900"/>
                  </a:lnTo>
                  <a:lnTo>
                    <a:pt x="948883" y="708745"/>
                  </a:lnTo>
                  <a:lnTo>
                    <a:pt x="911531" y="631925"/>
                  </a:lnTo>
                  <a:lnTo>
                    <a:pt x="986262" y="590021"/>
                  </a:lnTo>
                  <a:lnTo>
                    <a:pt x="933425" y="523786"/>
                  </a:lnTo>
                  <a:lnTo>
                    <a:pt x="995050" y="466716"/>
                  </a:lnTo>
                  <a:lnTo>
                    <a:pt x="924552" y="416025"/>
                  </a:lnTo>
                  <a:lnTo>
                    <a:pt x="970719" y="343468"/>
                  </a:lnTo>
                  <a:lnTo>
                    <a:pt x="891434" y="312439"/>
                  </a:lnTo>
                  <a:lnTo>
                    <a:pt x="917853" y="231095"/>
                  </a:lnTo>
                  <a:lnTo>
                    <a:pt x="832275" y="220134"/>
                  </a:lnTo>
                  <a:lnTo>
                    <a:pt x="838685" y="134180"/>
                  </a:lnTo>
                  <a:lnTo>
                    <a:pt x="753078" y="145141"/>
                  </a:lnTo>
                  <a:lnTo>
                    <a:pt x="737534" y="61710"/>
                  </a:lnTo>
                  <a:lnTo>
                    <a:pt x="658279" y="92304"/>
                  </a:lnTo>
                  <a:lnTo>
                    <a:pt x="620986" y="15543"/>
                  </a:lnTo>
                  <a:lnTo>
                    <a:pt x="552664" y="65886"/>
                  </a:lnTo>
                  <a:lnTo>
                    <a:pt x="497652" y="0"/>
                  </a:lnTo>
                  <a:close/>
                </a:path>
              </a:pathLst>
            </a:custGeom>
            <a:solidFill>
              <a:srgbClr val="BBF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40010" y="1569355"/>
              <a:ext cx="986790" cy="982344"/>
            </a:xfrm>
            <a:custGeom>
              <a:avLst/>
              <a:gdLst/>
              <a:ahLst/>
              <a:cxnLst/>
              <a:rect l="l" t="t" r="r" b="b"/>
              <a:pathLst>
                <a:path w="986790" h="982344">
                  <a:moveTo>
                    <a:pt x="493116" y="0"/>
                  </a:moveTo>
                  <a:lnTo>
                    <a:pt x="437843" y="64117"/>
                  </a:lnTo>
                  <a:lnTo>
                    <a:pt x="369869" y="15455"/>
                  </a:lnTo>
                  <a:lnTo>
                    <a:pt x="334693" y="90477"/>
                  </a:lnTo>
                  <a:lnTo>
                    <a:pt x="255418" y="59535"/>
                  </a:lnTo>
                  <a:lnTo>
                    <a:pt x="237780" y="143314"/>
                  </a:lnTo>
                  <a:lnTo>
                    <a:pt x="153986" y="132091"/>
                  </a:lnTo>
                  <a:lnTo>
                    <a:pt x="160610" y="218046"/>
                  </a:lnTo>
                  <a:lnTo>
                    <a:pt x="74725" y="228920"/>
                  </a:lnTo>
                  <a:lnTo>
                    <a:pt x="101146" y="308175"/>
                  </a:lnTo>
                  <a:lnTo>
                    <a:pt x="23973" y="341293"/>
                  </a:lnTo>
                  <a:lnTo>
                    <a:pt x="68030" y="411761"/>
                  </a:lnTo>
                  <a:lnTo>
                    <a:pt x="0" y="462452"/>
                  </a:lnTo>
                  <a:lnTo>
                    <a:pt x="61695" y="519522"/>
                  </a:lnTo>
                  <a:lnTo>
                    <a:pt x="8856" y="585758"/>
                  </a:lnTo>
                  <a:lnTo>
                    <a:pt x="81422" y="627661"/>
                  </a:lnTo>
                  <a:lnTo>
                    <a:pt x="46146" y="702306"/>
                  </a:lnTo>
                  <a:lnTo>
                    <a:pt x="127565" y="724548"/>
                  </a:lnTo>
                  <a:lnTo>
                    <a:pt x="112016" y="807994"/>
                  </a:lnTo>
                  <a:lnTo>
                    <a:pt x="197970" y="807994"/>
                  </a:lnTo>
                  <a:lnTo>
                    <a:pt x="202577" y="891863"/>
                  </a:lnTo>
                  <a:lnTo>
                    <a:pt x="283916" y="871778"/>
                  </a:lnTo>
                  <a:lnTo>
                    <a:pt x="310334" y="951039"/>
                  </a:lnTo>
                  <a:lnTo>
                    <a:pt x="385006" y="911589"/>
                  </a:lnTo>
                  <a:lnTo>
                    <a:pt x="431493" y="981993"/>
                  </a:lnTo>
                  <a:lnTo>
                    <a:pt x="493116" y="924618"/>
                  </a:lnTo>
                  <a:lnTo>
                    <a:pt x="554827" y="981993"/>
                  </a:lnTo>
                  <a:lnTo>
                    <a:pt x="600908" y="911589"/>
                  </a:lnTo>
                  <a:lnTo>
                    <a:pt x="673464" y="951039"/>
                  </a:lnTo>
                  <a:lnTo>
                    <a:pt x="699883" y="871778"/>
                  </a:lnTo>
                  <a:lnTo>
                    <a:pt x="783748" y="891863"/>
                  </a:lnTo>
                  <a:lnTo>
                    <a:pt x="787982" y="807994"/>
                  </a:lnTo>
                  <a:lnTo>
                    <a:pt x="873879" y="807994"/>
                  </a:lnTo>
                  <a:lnTo>
                    <a:pt x="858392" y="724548"/>
                  </a:lnTo>
                  <a:lnTo>
                    <a:pt x="939736" y="702306"/>
                  </a:lnTo>
                  <a:lnTo>
                    <a:pt x="904560" y="627661"/>
                  </a:lnTo>
                  <a:lnTo>
                    <a:pt x="977464" y="585758"/>
                  </a:lnTo>
                  <a:lnTo>
                    <a:pt x="924627" y="519522"/>
                  </a:lnTo>
                  <a:lnTo>
                    <a:pt x="986251" y="462452"/>
                  </a:lnTo>
                  <a:lnTo>
                    <a:pt x="917929" y="411761"/>
                  </a:lnTo>
                  <a:lnTo>
                    <a:pt x="962007" y="341293"/>
                  </a:lnTo>
                  <a:lnTo>
                    <a:pt x="882723" y="308175"/>
                  </a:lnTo>
                  <a:lnTo>
                    <a:pt x="909142" y="228920"/>
                  </a:lnTo>
                  <a:lnTo>
                    <a:pt x="825275" y="218046"/>
                  </a:lnTo>
                  <a:lnTo>
                    <a:pt x="829886" y="132091"/>
                  </a:lnTo>
                  <a:lnTo>
                    <a:pt x="746020" y="143314"/>
                  </a:lnTo>
                  <a:lnTo>
                    <a:pt x="730911" y="59535"/>
                  </a:lnTo>
                  <a:lnTo>
                    <a:pt x="651657" y="90477"/>
                  </a:lnTo>
                  <a:lnTo>
                    <a:pt x="616451" y="15455"/>
                  </a:lnTo>
                  <a:lnTo>
                    <a:pt x="545953" y="64117"/>
                  </a:lnTo>
                  <a:lnTo>
                    <a:pt x="493116" y="0"/>
                  </a:lnTo>
                  <a:close/>
                </a:path>
              </a:pathLst>
            </a:custGeom>
            <a:solidFill>
              <a:srgbClr val="B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44258" y="1571791"/>
              <a:ext cx="977900" cy="977900"/>
            </a:xfrm>
            <a:custGeom>
              <a:avLst/>
              <a:gdLst/>
              <a:ahLst/>
              <a:cxnLst/>
              <a:rect l="l" t="t" r="r" b="b"/>
              <a:pathLst>
                <a:path w="977900" h="977900">
                  <a:moveTo>
                    <a:pt x="488868" y="0"/>
                  </a:moveTo>
                  <a:lnTo>
                    <a:pt x="433595" y="65857"/>
                  </a:lnTo>
                  <a:lnTo>
                    <a:pt x="365621" y="15195"/>
                  </a:lnTo>
                  <a:lnTo>
                    <a:pt x="330445" y="92275"/>
                  </a:lnTo>
                  <a:lnTo>
                    <a:pt x="251170" y="61681"/>
                  </a:lnTo>
                  <a:lnTo>
                    <a:pt x="235619" y="143054"/>
                  </a:lnTo>
                  <a:lnTo>
                    <a:pt x="151825" y="134179"/>
                  </a:lnTo>
                  <a:lnTo>
                    <a:pt x="158520" y="217698"/>
                  </a:lnTo>
                  <a:lnTo>
                    <a:pt x="75013" y="229007"/>
                  </a:lnTo>
                  <a:lnTo>
                    <a:pt x="101431" y="308175"/>
                  </a:lnTo>
                  <a:lnTo>
                    <a:pt x="22172" y="338857"/>
                  </a:lnTo>
                  <a:lnTo>
                    <a:pt x="68317" y="409326"/>
                  </a:lnTo>
                  <a:lnTo>
                    <a:pt x="0" y="460016"/>
                  </a:lnTo>
                  <a:lnTo>
                    <a:pt x="59536" y="517086"/>
                  </a:lnTo>
                  <a:lnTo>
                    <a:pt x="6692" y="583322"/>
                  </a:lnTo>
                  <a:lnTo>
                    <a:pt x="81346" y="622790"/>
                  </a:lnTo>
                  <a:lnTo>
                    <a:pt x="44056" y="699870"/>
                  </a:lnTo>
                  <a:lnTo>
                    <a:pt x="125404" y="719589"/>
                  </a:lnTo>
                  <a:lnTo>
                    <a:pt x="110288" y="803473"/>
                  </a:lnTo>
                  <a:lnTo>
                    <a:pt x="195809" y="803473"/>
                  </a:lnTo>
                  <a:lnTo>
                    <a:pt x="200418" y="886908"/>
                  </a:lnTo>
                  <a:lnTo>
                    <a:pt x="281754" y="865094"/>
                  </a:lnTo>
                  <a:lnTo>
                    <a:pt x="308173" y="946443"/>
                  </a:lnTo>
                  <a:lnTo>
                    <a:pt x="380758" y="904544"/>
                  </a:lnTo>
                  <a:lnTo>
                    <a:pt x="427245" y="977469"/>
                  </a:lnTo>
                  <a:lnTo>
                    <a:pt x="488868" y="920022"/>
                  </a:lnTo>
                  <a:lnTo>
                    <a:pt x="550579" y="977469"/>
                  </a:lnTo>
                  <a:lnTo>
                    <a:pt x="594572" y="904544"/>
                  </a:lnTo>
                  <a:lnTo>
                    <a:pt x="669216" y="946443"/>
                  </a:lnTo>
                  <a:lnTo>
                    <a:pt x="695634" y="865094"/>
                  </a:lnTo>
                  <a:lnTo>
                    <a:pt x="774890" y="886908"/>
                  </a:lnTo>
                  <a:lnTo>
                    <a:pt x="781588" y="803473"/>
                  </a:lnTo>
                  <a:lnTo>
                    <a:pt x="865107" y="803473"/>
                  </a:lnTo>
                  <a:lnTo>
                    <a:pt x="849910" y="719589"/>
                  </a:lnTo>
                  <a:lnTo>
                    <a:pt x="931340" y="699870"/>
                  </a:lnTo>
                  <a:lnTo>
                    <a:pt x="896049" y="622790"/>
                  </a:lnTo>
                  <a:lnTo>
                    <a:pt x="968604" y="583322"/>
                  </a:lnTo>
                  <a:lnTo>
                    <a:pt x="915769" y="517086"/>
                  </a:lnTo>
                  <a:lnTo>
                    <a:pt x="977479" y="460016"/>
                  </a:lnTo>
                  <a:lnTo>
                    <a:pt x="909069" y="409326"/>
                  </a:lnTo>
                  <a:lnTo>
                    <a:pt x="953148" y="338857"/>
                  </a:lnTo>
                  <a:lnTo>
                    <a:pt x="876329" y="308175"/>
                  </a:lnTo>
                  <a:lnTo>
                    <a:pt x="902747" y="229007"/>
                  </a:lnTo>
                  <a:lnTo>
                    <a:pt x="818940" y="217698"/>
                  </a:lnTo>
                  <a:lnTo>
                    <a:pt x="823492" y="134179"/>
                  </a:lnTo>
                  <a:lnTo>
                    <a:pt x="739684" y="143054"/>
                  </a:lnTo>
                  <a:lnTo>
                    <a:pt x="724227" y="61681"/>
                  </a:lnTo>
                  <a:lnTo>
                    <a:pt x="644944" y="92275"/>
                  </a:lnTo>
                  <a:lnTo>
                    <a:pt x="609738" y="15195"/>
                  </a:lnTo>
                  <a:lnTo>
                    <a:pt x="541705" y="65857"/>
                  </a:lnTo>
                  <a:lnTo>
                    <a:pt x="488868" y="0"/>
                  </a:lnTo>
                  <a:close/>
                </a:path>
              </a:pathLst>
            </a:custGeom>
            <a:solidFill>
              <a:srgbClr val="A8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46346" y="1576024"/>
              <a:ext cx="971550" cy="969010"/>
            </a:xfrm>
            <a:custGeom>
              <a:avLst/>
              <a:gdLst/>
              <a:ahLst/>
              <a:cxnLst/>
              <a:rect l="l" t="t" r="r" b="b"/>
              <a:pathLst>
                <a:path w="971550" h="969010">
                  <a:moveTo>
                    <a:pt x="486780" y="0"/>
                  </a:moveTo>
                  <a:lnTo>
                    <a:pt x="431507" y="63799"/>
                  </a:lnTo>
                  <a:lnTo>
                    <a:pt x="365621" y="15486"/>
                  </a:lnTo>
                  <a:lnTo>
                    <a:pt x="328357" y="90218"/>
                  </a:lnTo>
                  <a:lnTo>
                    <a:pt x="251161" y="61624"/>
                  </a:lnTo>
                  <a:lnTo>
                    <a:pt x="235692" y="142996"/>
                  </a:lnTo>
                  <a:lnTo>
                    <a:pt x="154274" y="132121"/>
                  </a:lnTo>
                  <a:lnTo>
                    <a:pt x="158518" y="215901"/>
                  </a:lnTo>
                  <a:lnTo>
                    <a:pt x="75086" y="226862"/>
                  </a:lnTo>
                  <a:lnTo>
                    <a:pt x="101504" y="306118"/>
                  </a:lnTo>
                  <a:lnTo>
                    <a:pt x="24330" y="336769"/>
                  </a:lnTo>
                  <a:lnTo>
                    <a:pt x="68389" y="407181"/>
                  </a:lnTo>
                  <a:lnTo>
                    <a:pt x="0" y="455783"/>
                  </a:lnTo>
                  <a:lnTo>
                    <a:pt x="61694" y="512853"/>
                  </a:lnTo>
                  <a:lnTo>
                    <a:pt x="8854" y="576943"/>
                  </a:lnTo>
                  <a:lnTo>
                    <a:pt x="81777" y="618557"/>
                  </a:lnTo>
                  <a:lnTo>
                    <a:pt x="46503" y="693549"/>
                  </a:lnTo>
                  <a:lnTo>
                    <a:pt x="127924" y="713298"/>
                  </a:lnTo>
                  <a:lnTo>
                    <a:pt x="112375" y="797079"/>
                  </a:lnTo>
                  <a:lnTo>
                    <a:pt x="193721" y="797079"/>
                  </a:lnTo>
                  <a:lnTo>
                    <a:pt x="200417" y="878498"/>
                  </a:lnTo>
                  <a:lnTo>
                    <a:pt x="281842" y="858774"/>
                  </a:lnTo>
                  <a:lnTo>
                    <a:pt x="306085" y="938034"/>
                  </a:lnTo>
                  <a:lnTo>
                    <a:pt x="381107" y="898224"/>
                  </a:lnTo>
                  <a:lnTo>
                    <a:pt x="425157" y="968631"/>
                  </a:lnTo>
                  <a:lnTo>
                    <a:pt x="486780" y="911616"/>
                  </a:lnTo>
                  <a:lnTo>
                    <a:pt x="545969" y="968631"/>
                  </a:lnTo>
                  <a:lnTo>
                    <a:pt x="592484" y="898224"/>
                  </a:lnTo>
                  <a:lnTo>
                    <a:pt x="665039" y="938034"/>
                  </a:lnTo>
                  <a:lnTo>
                    <a:pt x="691457" y="858774"/>
                  </a:lnTo>
                  <a:lnTo>
                    <a:pt x="770713" y="878498"/>
                  </a:lnTo>
                  <a:lnTo>
                    <a:pt x="777412" y="797079"/>
                  </a:lnTo>
                  <a:lnTo>
                    <a:pt x="860844" y="794632"/>
                  </a:lnTo>
                  <a:lnTo>
                    <a:pt x="845357" y="713298"/>
                  </a:lnTo>
                  <a:lnTo>
                    <a:pt x="924642" y="693549"/>
                  </a:lnTo>
                  <a:lnTo>
                    <a:pt x="889436" y="616381"/>
                  </a:lnTo>
                  <a:lnTo>
                    <a:pt x="962341" y="576943"/>
                  </a:lnTo>
                  <a:lnTo>
                    <a:pt x="909504" y="512853"/>
                  </a:lnTo>
                  <a:lnTo>
                    <a:pt x="971128" y="455783"/>
                  </a:lnTo>
                  <a:lnTo>
                    <a:pt x="902806" y="407181"/>
                  </a:lnTo>
                  <a:lnTo>
                    <a:pt x="946797" y="336769"/>
                  </a:lnTo>
                  <a:lnTo>
                    <a:pt x="869717" y="306118"/>
                  </a:lnTo>
                  <a:lnTo>
                    <a:pt x="896136" y="226862"/>
                  </a:lnTo>
                  <a:lnTo>
                    <a:pt x="812617" y="215901"/>
                  </a:lnTo>
                  <a:lnTo>
                    <a:pt x="818939" y="132121"/>
                  </a:lnTo>
                  <a:lnTo>
                    <a:pt x="735507" y="142996"/>
                  </a:lnTo>
                  <a:lnTo>
                    <a:pt x="719965" y="61624"/>
                  </a:lnTo>
                  <a:lnTo>
                    <a:pt x="642856" y="90218"/>
                  </a:lnTo>
                  <a:lnTo>
                    <a:pt x="605504" y="15486"/>
                  </a:lnTo>
                  <a:lnTo>
                    <a:pt x="539617" y="63799"/>
                  </a:lnTo>
                  <a:lnTo>
                    <a:pt x="486780" y="0"/>
                  </a:lnTo>
                  <a:close/>
                </a:path>
              </a:pathLst>
            </a:custGeom>
            <a:solidFill>
              <a:srgbClr val="9E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50951" y="1580635"/>
              <a:ext cx="962025" cy="960119"/>
            </a:xfrm>
            <a:custGeom>
              <a:avLst/>
              <a:gdLst/>
              <a:ahLst/>
              <a:cxnLst/>
              <a:rect l="l" t="t" r="r" b="b"/>
              <a:pathLst>
                <a:path w="962025" h="960119">
                  <a:moveTo>
                    <a:pt x="479739" y="0"/>
                  </a:moveTo>
                  <a:lnTo>
                    <a:pt x="426902" y="63712"/>
                  </a:lnTo>
                  <a:lnTo>
                    <a:pt x="361016" y="15138"/>
                  </a:lnTo>
                  <a:lnTo>
                    <a:pt x="325840" y="90130"/>
                  </a:lnTo>
                  <a:lnTo>
                    <a:pt x="248644" y="59188"/>
                  </a:lnTo>
                  <a:lnTo>
                    <a:pt x="233175" y="140878"/>
                  </a:lnTo>
                  <a:lnTo>
                    <a:pt x="151827" y="129598"/>
                  </a:lnTo>
                  <a:lnTo>
                    <a:pt x="156362" y="213464"/>
                  </a:lnTo>
                  <a:lnTo>
                    <a:pt x="74653" y="224339"/>
                  </a:lnTo>
                  <a:lnTo>
                    <a:pt x="98986" y="301506"/>
                  </a:lnTo>
                  <a:lnTo>
                    <a:pt x="21813" y="332158"/>
                  </a:lnTo>
                  <a:lnTo>
                    <a:pt x="65872" y="402569"/>
                  </a:lnTo>
                  <a:lnTo>
                    <a:pt x="0" y="451172"/>
                  </a:lnTo>
                  <a:lnTo>
                    <a:pt x="59536" y="508242"/>
                  </a:lnTo>
                  <a:lnTo>
                    <a:pt x="8784" y="572331"/>
                  </a:lnTo>
                  <a:lnTo>
                    <a:pt x="79261" y="611770"/>
                  </a:lnTo>
                  <a:lnTo>
                    <a:pt x="46147" y="686850"/>
                  </a:lnTo>
                  <a:lnTo>
                    <a:pt x="125408" y="706598"/>
                  </a:lnTo>
                  <a:lnTo>
                    <a:pt x="109928" y="787933"/>
                  </a:lnTo>
                  <a:lnTo>
                    <a:pt x="191636" y="787933"/>
                  </a:lnTo>
                  <a:lnTo>
                    <a:pt x="197973" y="871730"/>
                  </a:lnTo>
                  <a:lnTo>
                    <a:pt x="277237" y="851645"/>
                  </a:lnTo>
                  <a:lnTo>
                    <a:pt x="303655" y="928815"/>
                  </a:lnTo>
                  <a:lnTo>
                    <a:pt x="376502" y="889367"/>
                  </a:lnTo>
                  <a:lnTo>
                    <a:pt x="420552" y="959772"/>
                  </a:lnTo>
                  <a:lnTo>
                    <a:pt x="479739" y="902397"/>
                  </a:lnTo>
                  <a:lnTo>
                    <a:pt x="541364" y="959772"/>
                  </a:lnTo>
                  <a:lnTo>
                    <a:pt x="585414" y="889367"/>
                  </a:lnTo>
                  <a:lnTo>
                    <a:pt x="658347" y="928815"/>
                  </a:lnTo>
                  <a:lnTo>
                    <a:pt x="684766" y="851645"/>
                  </a:lnTo>
                  <a:lnTo>
                    <a:pt x="764020" y="871730"/>
                  </a:lnTo>
                  <a:lnTo>
                    <a:pt x="768197" y="787933"/>
                  </a:lnTo>
                  <a:lnTo>
                    <a:pt x="852063" y="787933"/>
                  </a:lnTo>
                  <a:lnTo>
                    <a:pt x="836519" y="706598"/>
                  </a:lnTo>
                  <a:lnTo>
                    <a:pt x="915775" y="686850"/>
                  </a:lnTo>
                  <a:lnTo>
                    <a:pt x="880569" y="611770"/>
                  </a:lnTo>
                  <a:lnTo>
                    <a:pt x="953155" y="572331"/>
                  </a:lnTo>
                  <a:lnTo>
                    <a:pt x="900289" y="508242"/>
                  </a:lnTo>
                  <a:lnTo>
                    <a:pt x="961911" y="451172"/>
                  </a:lnTo>
                  <a:lnTo>
                    <a:pt x="893618" y="402569"/>
                  </a:lnTo>
                  <a:lnTo>
                    <a:pt x="937668" y="332158"/>
                  </a:lnTo>
                  <a:lnTo>
                    <a:pt x="862938" y="301506"/>
                  </a:lnTo>
                  <a:lnTo>
                    <a:pt x="887267" y="224339"/>
                  </a:lnTo>
                  <a:lnTo>
                    <a:pt x="805577" y="213464"/>
                  </a:lnTo>
                  <a:lnTo>
                    <a:pt x="810101" y="129598"/>
                  </a:lnTo>
                  <a:lnTo>
                    <a:pt x="728757" y="140878"/>
                  </a:lnTo>
                  <a:lnTo>
                    <a:pt x="713271" y="59188"/>
                  </a:lnTo>
                  <a:lnTo>
                    <a:pt x="636104" y="90130"/>
                  </a:lnTo>
                  <a:lnTo>
                    <a:pt x="600899" y="15138"/>
                  </a:lnTo>
                  <a:lnTo>
                    <a:pt x="532577" y="63712"/>
                  </a:lnTo>
                  <a:lnTo>
                    <a:pt x="479739" y="0"/>
                  </a:lnTo>
                  <a:close/>
                </a:path>
              </a:pathLst>
            </a:custGeom>
            <a:solidFill>
              <a:srgbClr val="94F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55201" y="1584811"/>
              <a:ext cx="953769" cy="951230"/>
            </a:xfrm>
            <a:custGeom>
              <a:avLst/>
              <a:gdLst/>
              <a:ahLst/>
              <a:cxnLst/>
              <a:rect l="l" t="t" r="r" b="b"/>
              <a:pathLst>
                <a:path w="953770" h="951230">
                  <a:moveTo>
                    <a:pt x="475490" y="0"/>
                  </a:moveTo>
                  <a:lnTo>
                    <a:pt x="422653" y="63798"/>
                  </a:lnTo>
                  <a:lnTo>
                    <a:pt x="356767" y="15543"/>
                  </a:lnTo>
                  <a:lnTo>
                    <a:pt x="321590" y="88129"/>
                  </a:lnTo>
                  <a:lnTo>
                    <a:pt x="246569" y="59536"/>
                  </a:lnTo>
                  <a:lnTo>
                    <a:pt x="231373" y="138790"/>
                  </a:lnTo>
                  <a:lnTo>
                    <a:pt x="149664" y="130034"/>
                  </a:lnTo>
                  <a:lnTo>
                    <a:pt x="154273" y="211376"/>
                  </a:lnTo>
                  <a:lnTo>
                    <a:pt x="72923" y="222309"/>
                  </a:lnTo>
                  <a:lnTo>
                    <a:pt x="99345" y="299419"/>
                  </a:lnTo>
                  <a:lnTo>
                    <a:pt x="22171" y="330447"/>
                  </a:lnTo>
                  <a:lnTo>
                    <a:pt x="66231" y="398393"/>
                  </a:lnTo>
                  <a:lnTo>
                    <a:pt x="0" y="446996"/>
                  </a:lnTo>
                  <a:lnTo>
                    <a:pt x="59535" y="504066"/>
                  </a:lnTo>
                  <a:lnTo>
                    <a:pt x="6695" y="568156"/>
                  </a:lnTo>
                  <a:lnTo>
                    <a:pt x="79260" y="607594"/>
                  </a:lnTo>
                  <a:lnTo>
                    <a:pt x="43985" y="680151"/>
                  </a:lnTo>
                  <a:lnTo>
                    <a:pt x="123245" y="702423"/>
                  </a:lnTo>
                  <a:lnTo>
                    <a:pt x="108126" y="781597"/>
                  </a:lnTo>
                  <a:lnTo>
                    <a:pt x="189476" y="781597"/>
                  </a:lnTo>
                  <a:lnTo>
                    <a:pt x="196171" y="863018"/>
                  </a:lnTo>
                  <a:lnTo>
                    <a:pt x="275423" y="843293"/>
                  </a:lnTo>
                  <a:lnTo>
                    <a:pt x="299406" y="922550"/>
                  </a:lnTo>
                  <a:lnTo>
                    <a:pt x="372253" y="882743"/>
                  </a:lnTo>
                  <a:lnTo>
                    <a:pt x="416303" y="951061"/>
                  </a:lnTo>
                  <a:lnTo>
                    <a:pt x="475490" y="896133"/>
                  </a:lnTo>
                  <a:lnTo>
                    <a:pt x="537114" y="951061"/>
                  </a:lnTo>
                  <a:lnTo>
                    <a:pt x="581164" y="882743"/>
                  </a:lnTo>
                  <a:lnTo>
                    <a:pt x="651574" y="920394"/>
                  </a:lnTo>
                  <a:lnTo>
                    <a:pt x="677993" y="843293"/>
                  </a:lnTo>
                  <a:lnTo>
                    <a:pt x="757247" y="863018"/>
                  </a:lnTo>
                  <a:lnTo>
                    <a:pt x="761859" y="781597"/>
                  </a:lnTo>
                  <a:lnTo>
                    <a:pt x="843202" y="781597"/>
                  </a:lnTo>
                  <a:lnTo>
                    <a:pt x="830181" y="702423"/>
                  </a:lnTo>
                  <a:lnTo>
                    <a:pt x="909436" y="680151"/>
                  </a:lnTo>
                  <a:lnTo>
                    <a:pt x="874231" y="605506"/>
                  </a:lnTo>
                  <a:lnTo>
                    <a:pt x="944642" y="565691"/>
                  </a:lnTo>
                  <a:lnTo>
                    <a:pt x="893951" y="504066"/>
                  </a:lnTo>
                  <a:lnTo>
                    <a:pt x="953486" y="446996"/>
                  </a:lnTo>
                  <a:lnTo>
                    <a:pt x="887281" y="398393"/>
                  </a:lnTo>
                  <a:lnTo>
                    <a:pt x="931244" y="330447"/>
                  </a:lnTo>
                  <a:lnTo>
                    <a:pt x="854165" y="299419"/>
                  </a:lnTo>
                  <a:lnTo>
                    <a:pt x="878408" y="222309"/>
                  </a:lnTo>
                  <a:lnTo>
                    <a:pt x="797064" y="211376"/>
                  </a:lnTo>
                  <a:lnTo>
                    <a:pt x="803762" y="130034"/>
                  </a:lnTo>
                  <a:lnTo>
                    <a:pt x="722043" y="138790"/>
                  </a:lnTo>
                  <a:lnTo>
                    <a:pt x="706935" y="59536"/>
                  </a:lnTo>
                  <a:lnTo>
                    <a:pt x="629767" y="88129"/>
                  </a:lnTo>
                  <a:lnTo>
                    <a:pt x="594561" y="15543"/>
                  </a:lnTo>
                  <a:lnTo>
                    <a:pt x="528327" y="63798"/>
                  </a:lnTo>
                  <a:lnTo>
                    <a:pt x="475490" y="0"/>
                  </a:lnTo>
                  <a:close/>
                </a:path>
              </a:pathLst>
            </a:custGeom>
            <a:solidFill>
              <a:srgbClr val="8AF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59736" y="1589422"/>
              <a:ext cx="944880" cy="942340"/>
            </a:xfrm>
            <a:custGeom>
              <a:avLst/>
              <a:gdLst/>
              <a:ahLst/>
              <a:cxnLst/>
              <a:rect l="l" t="t" r="r" b="b"/>
              <a:pathLst>
                <a:path w="944879" h="942339">
                  <a:moveTo>
                    <a:pt x="470955" y="0"/>
                  </a:moveTo>
                  <a:lnTo>
                    <a:pt x="418118" y="61622"/>
                  </a:lnTo>
                  <a:lnTo>
                    <a:pt x="354407" y="15107"/>
                  </a:lnTo>
                  <a:lnTo>
                    <a:pt x="319114" y="88041"/>
                  </a:lnTo>
                  <a:lnTo>
                    <a:pt x="242034" y="57099"/>
                  </a:lnTo>
                  <a:lnTo>
                    <a:pt x="228998" y="138442"/>
                  </a:lnTo>
                  <a:lnTo>
                    <a:pt x="147577" y="127510"/>
                  </a:lnTo>
                  <a:lnTo>
                    <a:pt x="151825" y="208852"/>
                  </a:lnTo>
                  <a:lnTo>
                    <a:pt x="72563" y="220134"/>
                  </a:lnTo>
                  <a:lnTo>
                    <a:pt x="96898" y="296953"/>
                  </a:lnTo>
                  <a:lnTo>
                    <a:pt x="21885" y="325836"/>
                  </a:lnTo>
                  <a:lnTo>
                    <a:pt x="63783" y="396247"/>
                  </a:lnTo>
                  <a:lnTo>
                    <a:pt x="0" y="442385"/>
                  </a:lnTo>
                  <a:lnTo>
                    <a:pt x="57087" y="499455"/>
                  </a:lnTo>
                  <a:lnTo>
                    <a:pt x="6695" y="561079"/>
                  </a:lnTo>
                  <a:lnTo>
                    <a:pt x="77172" y="600895"/>
                  </a:lnTo>
                  <a:lnTo>
                    <a:pt x="44058" y="673451"/>
                  </a:lnTo>
                  <a:lnTo>
                    <a:pt x="121159" y="695637"/>
                  </a:lnTo>
                  <a:lnTo>
                    <a:pt x="107839" y="774898"/>
                  </a:lnTo>
                  <a:lnTo>
                    <a:pt x="187027" y="774898"/>
                  </a:lnTo>
                  <a:lnTo>
                    <a:pt x="193724" y="856246"/>
                  </a:lnTo>
                  <a:lnTo>
                    <a:pt x="272976" y="836521"/>
                  </a:lnTo>
                  <a:lnTo>
                    <a:pt x="297306" y="913335"/>
                  </a:lnTo>
                  <a:lnTo>
                    <a:pt x="367718" y="873884"/>
                  </a:lnTo>
                  <a:lnTo>
                    <a:pt x="411768" y="942201"/>
                  </a:lnTo>
                  <a:lnTo>
                    <a:pt x="470955" y="886913"/>
                  </a:lnTo>
                  <a:lnTo>
                    <a:pt x="530490" y="942201"/>
                  </a:lnTo>
                  <a:lnTo>
                    <a:pt x="574540" y="873884"/>
                  </a:lnTo>
                  <a:lnTo>
                    <a:pt x="644951" y="913335"/>
                  </a:lnTo>
                  <a:lnTo>
                    <a:pt x="671370" y="836521"/>
                  </a:lnTo>
                  <a:lnTo>
                    <a:pt x="750625" y="856246"/>
                  </a:lnTo>
                  <a:lnTo>
                    <a:pt x="755235" y="774898"/>
                  </a:lnTo>
                  <a:lnTo>
                    <a:pt x="836579" y="774898"/>
                  </a:lnTo>
                  <a:lnTo>
                    <a:pt x="821035" y="695637"/>
                  </a:lnTo>
                  <a:lnTo>
                    <a:pt x="900291" y="673451"/>
                  </a:lnTo>
                  <a:lnTo>
                    <a:pt x="865085" y="600895"/>
                  </a:lnTo>
                  <a:lnTo>
                    <a:pt x="935583" y="561079"/>
                  </a:lnTo>
                  <a:lnTo>
                    <a:pt x="884834" y="499455"/>
                  </a:lnTo>
                  <a:lnTo>
                    <a:pt x="944370" y="442385"/>
                  </a:lnTo>
                  <a:lnTo>
                    <a:pt x="878483" y="396247"/>
                  </a:lnTo>
                  <a:lnTo>
                    <a:pt x="922533" y="325836"/>
                  </a:lnTo>
                  <a:lnTo>
                    <a:pt x="845366" y="296953"/>
                  </a:lnTo>
                  <a:lnTo>
                    <a:pt x="871785" y="220134"/>
                  </a:lnTo>
                  <a:lnTo>
                    <a:pt x="790441" y="208852"/>
                  </a:lnTo>
                  <a:lnTo>
                    <a:pt x="794703" y="127510"/>
                  </a:lnTo>
                  <a:lnTo>
                    <a:pt x="715420" y="138442"/>
                  </a:lnTo>
                  <a:lnTo>
                    <a:pt x="699876" y="57099"/>
                  </a:lnTo>
                  <a:lnTo>
                    <a:pt x="623144" y="88041"/>
                  </a:lnTo>
                  <a:lnTo>
                    <a:pt x="590026" y="15107"/>
                  </a:lnTo>
                  <a:lnTo>
                    <a:pt x="523792" y="61622"/>
                  </a:lnTo>
                  <a:lnTo>
                    <a:pt x="470955" y="0"/>
                  </a:lnTo>
                  <a:close/>
                </a:path>
              </a:pathLst>
            </a:custGeom>
            <a:solidFill>
              <a:srgbClr val="81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61896" y="1593686"/>
              <a:ext cx="938530" cy="933450"/>
            </a:xfrm>
            <a:custGeom>
              <a:avLst/>
              <a:gdLst/>
              <a:ahLst/>
              <a:cxnLst/>
              <a:rect l="l" t="t" r="r" b="b"/>
              <a:pathLst>
                <a:path w="938529" h="933450">
                  <a:moveTo>
                    <a:pt x="468795" y="0"/>
                  </a:moveTo>
                  <a:lnTo>
                    <a:pt x="418393" y="61622"/>
                  </a:lnTo>
                  <a:lnTo>
                    <a:pt x="352247" y="13368"/>
                  </a:lnTo>
                  <a:lnTo>
                    <a:pt x="316953" y="85865"/>
                  </a:lnTo>
                  <a:lnTo>
                    <a:pt x="242309" y="57359"/>
                  </a:lnTo>
                  <a:lnTo>
                    <a:pt x="226838" y="136615"/>
                  </a:lnTo>
                  <a:lnTo>
                    <a:pt x="147577" y="127828"/>
                  </a:lnTo>
                  <a:lnTo>
                    <a:pt x="151825" y="207112"/>
                  </a:lnTo>
                  <a:lnTo>
                    <a:pt x="72565" y="217958"/>
                  </a:lnTo>
                  <a:lnTo>
                    <a:pt x="96826" y="292690"/>
                  </a:lnTo>
                  <a:lnTo>
                    <a:pt x="22172" y="323662"/>
                  </a:lnTo>
                  <a:lnTo>
                    <a:pt x="66227" y="391984"/>
                  </a:lnTo>
                  <a:lnTo>
                    <a:pt x="0" y="440268"/>
                  </a:lnTo>
                  <a:lnTo>
                    <a:pt x="59536" y="495192"/>
                  </a:lnTo>
                  <a:lnTo>
                    <a:pt x="8780" y="556816"/>
                  </a:lnTo>
                  <a:lnTo>
                    <a:pt x="79260" y="596632"/>
                  </a:lnTo>
                  <a:lnTo>
                    <a:pt x="43986" y="669188"/>
                  </a:lnTo>
                  <a:lnTo>
                    <a:pt x="123244" y="688936"/>
                  </a:lnTo>
                  <a:lnTo>
                    <a:pt x="107767" y="768187"/>
                  </a:lnTo>
                  <a:lnTo>
                    <a:pt x="187029" y="768187"/>
                  </a:lnTo>
                  <a:lnTo>
                    <a:pt x="193721" y="847448"/>
                  </a:lnTo>
                  <a:lnTo>
                    <a:pt x="270816" y="827722"/>
                  </a:lnTo>
                  <a:lnTo>
                    <a:pt x="297234" y="904822"/>
                  </a:lnTo>
                  <a:lnTo>
                    <a:pt x="367732" y="865013"/>
                  </a:lnTo>
                  <a:lnTo>
                    <a:pt x="409608" y="933401"/>
                  </a:lnTo>
                  <a:lnTo>
                    <a:pt x="468795" y="878401"/>
                  </a:lnTo>
                  <a:lnTo>
                    <a:pt x="528330" y="933401"/>
                  </a:lnTo>
                  <a:lnTo>
                    <a:pt x="570235" y="865013"/>
                  </a:lnTo>
                  <a:lnTo>
                    <a:pt x="640703" y="904822"/>
                  </a:lnTo>
                  <a:lnTo>
                    <a:pt x="667122" y="827722"/>
                  </a:lnTo>
                  <a:lnTo>
                    <a:pt x="744231" y="847448"/>
                  </a:lnTo>
                  <a:lnTo>
                    <a:pt x="750552" y="768187"/>
                  </a:lnTo>
                  <a:lnTo>
                    <a:pt x="829807" y="768187"/>
                  </a:lnTo>
                  <a:lnTo>
                    <a:pt x="814699" y="688936"/>
                  </a:lnTo>
                  <a:lnTo>
                    <a:pt x="893954" y="669188"/>
                  </a:lnTo>
                  <a:lnTo>
                    <a:pt x="858691" y="594544"/>
                  </a:lnTo>
                  <a:lnTo>
                    <a:pt x="929159" y="556816"/>
                  </a:lnTo>
                  <a:lnTo>
                    <a:pt x="878412" y="495192"/>
                  </a:lnTo>
                  <a:lnTo>
                    <a:pt x="937947" y="438122"/>
                  </a:lnTo>
                  <a:lnTo>
                    <a:pt x="871712" y="391984"/>
                  </a:lnTo>
                  <a:lnTo>
                    <a:pt x="915791" y="323662"/>
                  </a:lnTo>
                  <a:lnTo>
                    <a:pt x="841118" y="292690"/>
                  </a:lnTo>
                  <a:lnTo>
                    <a:pt x="865013" y="217958"/>
                  </a:lnTo>
                  <a:lnTo>
                    <a:pt x="785845" y="207112"/>
                  </a:lnTo>
                  <a:lnTo>
                    <a:pt x="790369" y="125335"/>
                  </a:lnTo>
                  <a:lnTo>
                    <a:pt x="711113" y="136615"/>
                  </a:lnTo>
                  <a:lnTo>
                    <a:pt x="695628" y="57359"/>
                  </a:lnTo>
                  <a:lnTo>
                    <a:pt x="620984" y="85865"/>
                  </a:lnTo>
                  <a:lnTo>
                    <a:pt x="585690" y="13368"/>
                  </a:lnTo>
                  <a:lnTo>
                    <a:pt x="519544" y="61622"/>
                  </a:lnTo>
                  <a:lnTo>
                    <a:pt x="468795" y="0"/>
                  </a:lnTo>
                  <a:close/>
                </a:path>
              </a:pathLst>
            </a:custGeom>
            <a:solidFill>
              <a:srgbClr val="7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66431" y="1598209"/>
              <a:ext cx="929005" cy="925194"/>
            </a:xfrm>
            <a:custGeom>
              <a:avLst/>
              <a:gdLst/>
              <a:ahLst/>
              <a:cxnLst/>
              <a:rect l="l" t="t" r="r" b="b"/>
              <a:pathLst>
                <a:path w="929004" h="925194">
                  <a:moveTo>
                    <a:pt x="464259" y="0"/>
                  </a:moveTo>
                  <a:lnTo>
                    <a:pt x="413858" y="59187"/>
                  </a:lnTo>
                  <a:lnTo>
                    <a:pt x="347712" y="13020"/>
                  </a:lnTo>
                  <a:lnTo>
                    <a:pt x="314594" y="85605"/>
                  </a:lnTo>
                  <a:lnTo>
                    <a:pt x="239863" y="57099"/>
                  </a:lnTo>
                  <a:lnTo>
                    <a:pt x="224392" y="134179"/>
                  </a:lnTo>
                  <a:lnTo>
                    <a:pt x="145130" y="125392"/>
                  </a:lnTo>
                  <a:lnTo>
                    <a:pt x="149738" y="204677"/>
                  </a:lnTo>
                  <a:lnTo>
                    <a:pt x="70477" y="215610"/>
                  </a:lnTo>
                  <a:lnTo>
                    <a:pt x="96895" y="290631"/>
                  </a:lnTo>
                  <a:lnTo>
                    <a:pt x="21883" y="321226"/>
                  </a:lnTo>
                  <a:lnTo>
                    <a:pt x="63781" y="387460"/>
                  </a:lnTo>
                  <a:lnTo>
                    <a:pt x="0" y="435744"/>
                  </a:lnTo>
                  <a:lnTo>
                    <a:pt x="57087" y="488580"/>
                  </a:lnTo>
                  <a:lnTo>
                    <a:pt x="6333" y="550204"/>
                  </a:lnTo>
                  <a:lnTo>
                    <a:pt x="76810" y="590020"/>
                  </a:lnTo>
                  <a:lnTo>
                    <a:pt x="44056" y="662576"/>
                  </a:lnTo>
                  <a:lnTo>
                    <a:pt x="120869" y="682325"/>
                  </a:lnTo>
                  <a:lnTo>
                    <a:pt x="105679" y="761502"/>
                  </a:lnTo>
                  <a:lnTo>
                    <a:pt x="184941" y="761502"/>
                  </a:lnTo>
                  <a:lnTo>
                    <a:pt x="191274" y="840764"/>
                  </a:lnTo>
                  <a:lnTo>
                    <a:pt x="268456" y="821038"/>
                  </a:lnTo>
                  <a:lnTo>
                    <a:pt x="292699" y="895764"/>
                  </a:lnTo>
                  <a:lnTo>
                    <a:pt x="363197" y="858401"/>
                  </a:lnTo>
                  <a:lnTo>
                    <a:pt x="405072" y="924632"/>
                  </a:lnTo>
                  <a:lnTo>
                    <a:pt x="464259" y="871792"/>
                  </a:lnTo>
                  <a:lnTo>
                    <a:pt x="521708" y="924632"/>
                  </a:lnTo>
                  <a:lnTo>
                    <a:pt x="565699" y="858401"/>
                  </a:lnTo>
                  <a:lnTo>
                    <a:pt x="636168" y="895764"/>
                  </a:lnTo>
                  <a:lnTo>
                    <a:pt x="660440" y="821038"/>
                  </a:lnTo>
                  <a:lnTo>
                    <a:pt x="737231" y="840764"/>
                  </a:lnTo>
                  <a:lnTo>
                    <a:pt x="741841" y="761502"/>
                  </a:lnTo>
                  <a:lnTo>
                    <a:pt x="823184" y="759418"/>
                  </a:lnTo>
                  <a:lnTo>
                    <a:pt x="807728" y="682325"/>
                  </a:lnTo>
                  <a:lnTo>
                    <a:pt x="884808" y="662576"/>
                  </a:lnTo>
                  <a:lnTo>
                    <a:pt x="851720" y="590020"/>
                  </a:lnTo>
                  <a:lnTo>
                    <a:pt x="920013" y="550204"/>
                  </a:lnTo>
                  <a:lnTo>
                    <a:pt x="869351" y="488580"/>
                  </a:lnTo>
                  <a:lnTo>
                    <a:pt x="928888" y="435744"/>
                  </a:lnTo>
                  <a:lnTo>
                    <a:pt x="863000" y="387460"/>
                  </a:lnTo>
                  <a:lnTo>
                    <a:pt x="906993" y="321226"/>
                  </a:lnTo>
                  <a:lnTo>
                    <a:pt x="831971" y="290631"/>
                  </a:lnTo>
                  <a:lnTo>
                    <a:pt x="856302" y="215610"/>
                  </a:lnTo>
                  <a:lnTo>
                    <a:pt x="777046" y="204677"/>
                  </a:lnTo>
                  <a:lnTo>
                    <a:pt x="781310" y="125392"/>
                  </a:lnTo>
                  <a:lnTo>
                    <a:pt x="704490" y="134179"/>
                  </a:lnTo>
                  <a:lnTo>
                    <a:pt x="689005" y="57099"/>
                  </a:lnTo>
                  <a:lnTo>
                    <a:pt x="613925" y="85605"/>
                  </a:lnTo>
                  <a:lnTo>
                    <a:pt x="578721" y="13020"/>
                  </a:lnTo>
                  <a:lnTo>
                    <a:pt x="515009" y="59187"/>
                  </a:lnTo>
                  <a:lnTo>
                    <a:pt x="464259" y="0"/>
                  </a:lnTo>
                  <a:close/>
                </a:path>
              </a:pathLst>
            </a:custGeom>
            <a:solidFill>
              <a:srgbClr val="6D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70677" y="1600354"/>
              <a:ext cx="920750" cy="920115"/>
            </a:xfrm>
            <a:custGeom>
              <a:avLst/>
              <a:gdLst/>
              <a:ahLst/>
              <a:cxnLst/>
              <a:rect l="l" t="t" r="r" b="b"/>
              <a:pathLst>
                <a:path w="920750" h="920114">
                  <a:moveTo>
                    <a:pt x="460014" y="0"/>
                  </a:moveTo>
                  <a:lnTo>
                    <a:pt x="409613" y="61624"/>
                  </a:lnTo>
                  <a:lnTo>
                    <a:pt x="345554" y="15486"/>
                  </a:lnTo>
                  <a:lnTo>
                    <a:pt x="310348" y="85896"/>
                  </a:lnTo>
                  <a:lnTo>
                    <a:pt x="237792" y="57042"/>
                  </a:lnTo>
                  <a:lnTo>
                    <a:pt x="222233" y="136297"/>
                  </a:lnTo>
                  <a:lnTo>
                    <a:pt x="143045" y="125336"/>
                  </a:lnTo>
                  <a:lnTo>
                    <a:pt x="147581" y="204619"/>
                  </a:lnTo>
                  <a:lnTo>
                    <a:pt x="70479" y="215553"/>
                  </a:lnTo>
                  <a:lnTo>
                    <a:pt x="94738" y="290574"/>
                  </a:lnTo>
                  <a:lnTo>
                    <a:pt x="22172" y="319081"/>
                  </a:lnTo>
                  <a:lnTo>
                    <a:pt x="63784" y="387460"/>
                  </a:lnTo>
                  <a:lnTo>
                    <a:pt x="0" y="433599"/>
                  </a:lnTo>
                  <a:lnTo>
                    <a:pt x="57447" y="486435"/>
                  </a:lnTo>
                  <a:lnTo>
                    <a:pt x="6695" y="548059"/>
                  </a:lnTo>
                  <a:lnTo>
                    <a:pt x="75012" y="585353"/>
                  </a:lnTo>
                  <a:lnTo>
                    <a:pt x="41898" y="658286"/>
                  </a:lnTo>
                  <a:lnTo>
                    <a:pt x="119071" y="678006"/>
                  </a:lnTo>
                  <a:lnTo>
                    <a:pt x="103593" y="755185"/>
                  </a:lnTo>
                  <a:lnTo>
                    <a:pt x="182783" y="755185"/>
                  </a:lnTo>
                  <a:lnTo>
                    <a:pt x="189476" y="834443"/>
                  </a:lnTo>
                  <a:lnTo>
                    <a:pt x="264210" y="814358"/>
                  </a:lnTo>
                  <a:lnTo>
                    <a:pt x="290629" y="891458"/>
                  </a:lnTo>
                  <a:lnTo>
                    <a:pt x="358951" y="852011"/>
                  </a:lnTo>
                  <a:lnTo>
                    <a:pt x="400827" y="920040"/>
                  </a:lnTo>
                  <a:lnTo>
                    <a:pt x="460014" y="865040"/>
                  </a:lnTo>
                  <a:lnTo>
                    <a:pt x="517462" y="920040"/>
                  </a:lnTo>
                  <a:lnTo>
                    <a:pt x="559366" y="852011"/>
                  </a:lnTo>
                  <a:lnTo>
                    <a:pt x="629776" y="891458"/>
                  </a:lnTo>
                  <a:lnTo>
                    <a:pt x="653729" y="814358"/>
                  </a:lnTo>
                  <a:lnTo>
                    <a:pt x="730897" y="834443"/>
                  </a:lnTo>
                  <a:lnTo>
                    <a:pt x="735450" y="755185"/>
                  </a:lnTo>
                  <a:lnTo>
                    <a:pt x="814704" y="755185"/>
                  </a:lnTo>
                  <a:lnTo>
                    <a:pt x="799219" y="678006"/>
                  </a:lnTo>
                  <a:lnTo>
                    <a:pt x="876329" y="658286"/>
                  </a:lnTo>
                  <a:lnTo>
                    <a:pt x="843212" y="585353"/>
                  </a:lnTo>
                  <a:lnTo>
                    <a:pt x="911592" y="548059"/>
                  </a:lnTo>
                  <a:lnTo>
                    <a:pt x="862931" y="486435"/>
                  </a:lnTo>
                  <a:lnTo>
                    <a:pt x="920379" y="433599"/>
                  </a:lnTo>
                  <a:lnTo>
                    <a:pt x="856232" y="385315"/>
                  </a:lnTo>
                  <a:lnTo>
                    <a:pt x="898224" y="319081"/>
                  </a:lnTo>
                  <a:lnTo>
                    <a:pt x="825638" y="290574"/>
                  </a:lnTo>
                  <a:lnTo>
                    <a:pt x="849910" y="215553"/>
                  </a:lnTo>
                  <a:lnTo>
                    <a:pt x="770655" y="204619"/>
                  </a:lnTo>
                  <a:lnTo>
                    <a:pt x="774889" y="125336"/>
                  </a:lnTo>
                  <a:lnTo>
                    <a:pt x="695634" y="136297"/>
                  </a:lnTo>
                  <a:lnTo>
                    <a:pt x="682613" y="57042"/>
                  </a:lnTo>
                  <a:lnTo>
                    <a:pt x="607592" y="85896"/>
                  </a:lnTo>
                  <a:lnTo>
                    <a:pt x="574475" y="15486"/>
                  </a:lnTo>
                  <a:lnTo>
                    <a:pt x="510763" y="61624"/>
                  </a:lnTo>
                  <a:lnTo>
                    <a:pt x="460014" y="0"/>
                  </a:lnTo>
                  <a:close/>
                </a:path>
              </a:pathLst>
            </a:custGeom>
            <a:solidFill>
              <a:srgbClr val="64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72765" y="1604530"/>
              <a:ext cx="913765" cy="911860"/>
            </a:xfrm>
            <a:custGeom>
              <a:avLst/>
              <a:gdLst/>
              <a:ahLst/>
              <a:cxnLst/>
              <a:rect l="l" t="t" r="r" b="b"/>
              <a:pathLst>
                <a:path w="913765" h="911860">
                  <a:moveTo>
                    <a:pt x="457926" y="0"/>
                  </a:moveTo>
                  <a:lnTo>
                    <a:pt x="407525" y="61711"/>
                  </a:lnTo>
                  <a:lnTo>
                    <a:pt x="343466" y="15572"/>
                  </a:lnTo>
                  <a:lnTo>
                    <a:pt x="310696" y="85984"/>
                  </a:lnTo>
                  <a:lnTo>
                    <a:pt x="237792" y="57448"/>
                  </a:lnTo>
                  <a:lnTo>
                    <a:pt x="222664" y="134557"/>
                  </a:lnTo>
                  <a:lnTo>
                    <a:pt x="143404" y="125770"/>
                  </a:lnTo>
                  <a:lnTo>
                    <a:pt x="149738" y="202590"/>
                  </a:lnTo>
                  <a:lnTo>
                    <a:pt x="70477" y="213813"/>
                  </a:lnTo>
                  <a:lnTo>
                    <a:pt x="94810" y="288543"/>
                  </a:lnTo>
                  <a:lnTo>
                    <a:pt x="22245" y="317050"/>
                  </a:lnTo>
                  <a:lnTo>
                    <a:pt x="64143" y="383284"/>
                  </a:lnTo>
                  <a:lnTo>
                    <a:pt x="0" y="429423"/>
                  </a:lnTo>
                  <a:lnTo>
                    <a:pt x="57448" y="482259"/>
                  </a:lnTo>
                  <a:lnTo>
                    <a:pt x="8856" y="543883"/>
                  </a:lnTo>
                  <a:lnTo>
                    <a:pt x="77172" y="581177"/>
                  </a:lnTo>
                  <a:lnTo>
                    <a:pt x="44058" y="651675"/>
                  </a:lnTo>
                  <a:lnTo>
                    <a:pt x="119071" y="671742"/>
                  </a:lnTo>
                  <a:lnTo>
                    <a:pt x="105681" y="748560"/>
                  </a:lnTo>
                  <a:lnTo>
                    <a:pt x="182853" y="748560"/>
                  </a:lnTo>
                  <a:lnTo>
                    <a:pt x="189548" y="827750"/>
                  </a:lnTo>
                  <a:lnTo>
                    <a:pt x="264210" y="808024"/>
                  </a:lnTo>
                  <a:lnTo>
                    <a:pt x="288541" y="883109"/>
                  </a:lnTo>
                  <a:lnTo>
                    <a:pt x="356863" y="845388"/>
                  </a:lnTo>
                  <a:lnTo>
                    <a:pt x="400825" y="911616"/>
                  </a:lnTo>
                  <a:lnTo>
                    <a:pt x="457926" y="856688"/>
                  </a:lnTo>
                  <a:lnTo>
                    <a:pt x="515374" y="911616"/>
                  </a:lnTo>
                  <a:lnTo>
                    <a:pt x="557278" y="845388"/>
                  </a:lnTo>
                  <a:lnTo>
                    <a:pt x="625223" y="883109"/>
                  </a:lnTo>
                  <a:lnTo>
                    <a:pt x="649554" y="808024"/>
                  </a:lnTo>
                  <a:lnTo>
                    <a:pt x="726663" y="827750"/>
                  </a:lnTo>
                  <a:lnTo>
                    <a:pt x="730897" y="748560"/>
                  </a:lnTo>
                  <a:lnTo>
                    <a:pt x="810182" y="748560"/>
                  </a:lnTo>
                  <a:lnTo>
                    <a:pt x="794985" y="671742"/>
                  </a:lnTo>
                  <a:lnTo>
                    <a:pt x="869717" y="651675"/>
                  </a:lnTo>
                  <a:lnTo>
                    <a:pt x="836601" y="581177"/>
                  </a:lnTo>
                  <a:lnTo>
                    <a:pt x="904923" y="543883"/>
                  </a:lnTo>
                  <a:lnTo>
                    <a:pt x="856667" y="482259"/>
                  </a:lnTo>
                  <a:lnTo>
                    <a:pt x="913679" y="429423"/>
                  </a:lnTo>
                  <a:lnTo>
                    <a:pt x="849969" y="383284"/>
                  </a:lnTo>
                  <a:lnTo>
                    <a:pt x="891872" y="317050"/>
                  </a:lnTo>
                  <a:lnTo>
                    <a:pt x="818939" y="286398"/>
                  </a:lnTo>
                  <a:lnTo>
                    <a:pt x="843299" y="213813"/>
                  </a:lnTo>
                  <a:lnTo>
                    <a:pt x="766102" y="202590"/>
                  </a:lnTo>
                  <a:lnTo>
                    <a:pt x="770713" y="123334"/>
                  </a:lnTo>
                  <a:lnTo>
                    <a:pt x="691457" y="134557"/>
                  </a:lnTo>
                  <a:lnTo>
                    <a:pt x="678060" y="57448"/>
                  </a:lnTo>
                  <a:lnTo>
                    <a:pt x="603416" y="85984"/>
                  </a:lnTo>
                  <a:lnTo>
                    <a:pt x="570298" y="15572"/>
                  </a:lnTo>
                  <a:lnTo>
                    <a:pt x="506529" y="61711"/>
                  </a:lnTo>
                  <a:lnTo>
                    <a:pt x="457926" y="0"/>
                  </a:lnTo>
                  <a:close/>
                </a:path>
              </a:pathLst>
            </a:custGeom>
            <a:solidFill>
              <a:srgbClr val="5A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77372" y="1609142"/>
              <a:ext cx="905510" cy="902969"/>
            </a:xfrm>
            <a:custGeom>
              <a:avLst/>
              <a:gdLst/>
              <a:ahLst/>
              <a:cxnLst/>
              <a:rect l="l" t="t" r="r" b="b"/>
              <a:pathLst>
                <a:path w="905509" h="902969">
                  <a:moveTo>
                    <a:pt x="451231" y="0"/>
                  </a:moveTo>
                  <a:lnTo>
                    <a:pt x="402917" y="59536"/>
                  </a:lnTo>
                  <a:lnTo>
                    <a:pt x="338858" y="15486"/>
                  </a:lnTo>
                  <a:lnTo>
                    <a:pt x="306089" y="83517"/>
                  </a:lnTo>
                  <a:lnTo>
                    <a:pt x="233184" y="57100"/>
                  </a:lnTo>
                  <a:lnTo>
                    <a:pt x="220135" y="132121"/>
                  </a:lnTo>
                  <a:lnTo>
                    <a:pt x="142970" y="123247"/>
                  </a:lnTo>
                  <a:lnTo>
                    <a:pt x="147577" y="200414"/>
                  </a:lnTo>
                  <a:lnTo>
                    <a:pt x="70478" y="211376"/>
                  </a:lnTo>
                  <a:lnTo>
                    <a:pt x="94738" y="283932"/>
                  </a:lnTo>
                  <a:lnTo>
                    <a:pt x="21813" y="312439"/>
                  </a:lnTo>
                  <a:lnTo>
                    <a:pt x="63784" y="378673"/>
                  </a:lnTo>
                  <a:lnTo>
                    <a:pt x="0" y="424812"/>
                  </a:lnTo>
                  <a:lnTo>
                    <a:pt x="57089" y="477648"/>
                  </a:lnTo>
                  <a:lnTo>
                    <a:pt x="6696" y="537126"/>
                  </a:lnTo>
                  <a:lnTo>
                    <a:pt x="74654" y="574478"/>
                  </a:lnTo>
                  <a:lnTo>
                    <a:pt x="41899" y="644975"/>
                  </a:lnTo>
                  <a:lnTo>
                    <a:pt x="116624" y="664695"/>
                  </a:lnTo>
                  <a:lnTo>
                    <a:pt x="103522" y="741789"/>
                  </a:lnTo>
                  <a:lnTo>
                    <a:pt x="180333" y="741789"/>
                  </a:lnTo>
                  <a:lnTo>
                    <a:pt x="187029" y="818963"/>
                  </a:lnTo>
                  <a:lnTo>
                    <a:pt x="262039" y="801325"/>
                  </a:lnTo>
                  <a:lnTo>
                    <a:pt x="286021" y="873890"/>
                  </a:lnTo>
                  <a:lnTo>
                    <a:pt x="354343" y="836527"/>
                  </a:lnTo>
                  <a:lnTo>
                    <a:pt x="396218" y="902397"/>
                  </a:lnTo>
                  <a:lnTo>
                    <a:pt x="451231" y="849557"/>
                  </a:lnTo>
                  <a:lnTo>
                    <a:pt x="508591" y="902397"/>
                  </a:lnTo>
                  <a:lnTo>
                    <a:pt x="550205" y="836527"/>
                  </a:lnTo>
                  <a:lnTo>
                    <a:pt x="618528" y="873890"/>
                  </a:lnTo>
                  <a:lnTo>
                    <a:pt x="642800" y="801325"/>
                  </a:lnTo>
                  <a:lnTo>
                    <a:pt x="717532" y="818963"/>
                  </a:lnTo>
                  <a:lnTo>
                    <a:pt x="724202" y="741789"/>
                  </a:lnTo>
                  <a:lnTo>
                    <a:pt x="801311" y="741789"/>
                  </a:lnTo>
                  <a:lnTo>
                    <a:pt x="785826" y="664695"/>
                  </a:lnTo>
                  <a:lnTo>
                    <a:pt x="862935" y="644975"/>
                  </a:lnTo>
                  <a:lnTo>
                    <a:pt x="829818" y="574478"/>
                  </a:lnTo>
                  <a:lnTo>
                    <a:pt x="896052" y="537126"/>
                  </a:lnTo>
                  <a:lnTo>
                    <a:pt x="847449" y="477648"/>
                  </a:lnTo>
                  <a:lnTo>
                    <a:pt x="904896" y="424812"/>
                  </a:lnTo>
                  <a:lnTo>
                    <a:pt x="840779" y="378673"/>
                  </a:lnTo>
                  <a:lnTo>
                    <a:pt x="882655" y="312439"/>
                  </a:lnTo>
                  <a:lnTo>
                    <a:pt x="810098" y="283932"/>
                  </a:lnTo>
                  <a:lnTo>
                    <a:pt x="834428" y="211376"/>
                  </a:lnTo>
                  <a:lnTo>
                    <a:pt x="757318" y="200414"/>
                  </a:lnTo>
                  <a:lnTo>
                    <a:pt x="761494" y="123247"/>
                  </a:lnTo>
                  <a:lnTo>
                    <a:pt x="684763" y="132121"/>
                  </a:lnTo>
                  <a:lnTo>
                    <a:pt x="671365" y="57100"/>
                  </a:lnTo>
                  <a:lnTo>
                    <a:pt x="598808" y="83517"/>
                  </a:lnTo>
                  <a:lnTo>
                    <a:pt x="565691" y="15486"/>
                  </a:lnTo>
                  <a:lnTo>
                    <a:pt x="501921" y="59536"/>
                  </a:lnTo>
                  <a:lnTo>
                    <a:pt x="451231" y="0"/>
                  </a:lnTo>
                  <a:close/>
                </a:path>
              </a:pathLst>
            </a:custGeom>
            <a:solidFill>
              <a:srgbClr val="50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81622" y="1613405"/>
              <a:ext cx="896619" cy="894080"/>
            </a:xfrm>
            <a:custGeom>
              <a:avLst/>
              <a:gdLst/>
              <a:ahLst/>
              <a:cxnLst/>
              <a:rect l="l" t="t" r="r" b="b"/>
              <a:pathLst>
                <a:path w="896620" h="894080">
                  <a:moveTo>
                    <a:pt x="446981" y="0"/>
                  </a:moveTo>
                  <a:lnTo>
                    <a:pt x="398668" y="59535"/>
                  </a:lnTo>
                  <a:lnTo>
                    <a:pt x="337045" y="13397"/>
                  </a:lnTo>
                  <a:lnTo>
                    <a:pt x="303927" y="83779"/>
                  </a:lnTo>
                  <a:lnTo>
                    <a:pt x="231371" y="55272"/>
                  </a:lnTo>
                  <a:lnTo>
                    <a:pt x="215886" y="132034"/>
                  </a:lnTo>
                  <a:lnTo>
                    <a:pt x="140881" y="121159"/>
                  </a:lnTo>
                  <a:lnTo>
                    <a:pt x="145417" y="198239"/>
                  </a:lnTo>
                  <a:lnTo>
                    <a:pt x="68315" y="209200"/>
                  </a:lnTo>
                  <a:lnTo>
                    <a:pt x="92649" y="281757"/>
                  </a:lnTo>
                  <a:lnTo>
                    <a:pt x="20083" y="310640"/>
                  </a:lnTo>
                  <a:lnTo>
                    <a:pt x="61620" y="374409"/>
                  </a:lnTo>
                  <a:lnTo>
                    <a:pt x="0" y="420549"/>
                  </a:lnTo>
                  <a:lnTo>
                    <a:pt x="55286" y="473384"/>
                  </a:lnTo>
                  <a:lnTo>
                    <a:pt x="6692" y="532862"/>
                  </a:lnTo>
                  <a:lnTo>
                    <a:pt x="75012" y="570214"/>
                  </a:lnTo>
                  <a:lnTo>
                    <a:pt x="41897" y="640712"/>
                  </a:lnTo>
                  <a:lnTo>
                    <a:pt x="116911" y="658256"/>
                  </a:lnTo>
                  <a:lnTo>
                    <a:pt x="101431" y="735437"/>
                  </a:lnTo>
                  <a:lnTo>
                    <a:pt x="178531" y="735437"/>
                  </a:lnTo>
                  <a:lnTo>
                    <a:pt x="182779" y="812538"/>
                  </a:lnTo>
                  <a:lnTo>
                    <a:pt x="257789" y="792453"/>
                  </a:lnTo>
                  <a:lnTo>
                    <a:pt x="281772" y="865377"/>
                  </a:lnTo>
                  <a:lnTo>
                    <a:pt x="350094" y="830176"/>
                  </a:lnTo>
                  <a:lnTo>
                    <a:pt x="391968" y="893956"/>
                  </a:lnTo>
                  <a:lnTo>
                    <a:pt x="446981" y="841117"/>
                  </a:lnTo>
                  <a:lnTo>
                    <a:pt x="504342" y="893956"/>
                  </a:lnTo>
                  <a:lnTo>
                    <a:pt x="545956" y="830176"/>
                  </a:lnTo>
                  <a:lnTo>
                    <a:pt x="612132" y="865377"/>
                  </a:lnTo>
                  <a:lnTo>
                    <a:pt x="636464" y="792453"/>
                  </a:lnTo>
                  <a:lnTo>
                    <a:pt x="711108" y="812538"/>
                  </a:lnTo>
                  <a:lnTo>
                    <a:pt x="715718" y="735437"/>
                  </a:lnTo>
                  <a:lnTo>
                    <a:pt x="792538" y="735437"/>
                  </a:lnTo>
                  <a:lnTo>
                    <a:pt x="779430" y="658256"/>
                  </a:lnTo>
                  <a:lnTo>
                    <a:pt x="854161" y="640712"/>
                  </a:lnTo>
                  <a:lnTo>
                    <a:pt x="821392" y="570214"/>
                  </a:lnTo>
                  <a:lnTo>
                    <a:pt x="889367" y="532862"/>
                  </a:lnTo>
                  <a:lnTo>
                    <a:pt x="838965" y="473384"/>
                  </a:lnTo>
                  <a:lnTo>
                    <a:pt x="896066" y="420549"/>
                  </a:lnTo>
                  <a:lnTo>
                    <a:pt x="832267" y="374409"/>
                  </a:lnTo>
                  <a:lnTo>
                    <a:pt x="874228" y="310640"/>
                  </a:lnTo>
                  <a:lnTo>
                    <a:pt x="803760" y="281757"/>
                  </a:lnTo>
                  <a:lnTo>
                    <a:pt x="825568" y="209200"/>
                  </a:lnTo>
                  <a:lnTo>
                    <a:pt x="750924" y="198239"/>
                  </a:lnTo>
                  <a:lnTo>
                    <a:pt x="755158" y="121159"/>
                  </a:lnTo>
                  <a:lnTo>
                    <a:pt x="677990" y="129946"/>
                  </a:lnTo>
                  <a:lnTo>
                    <a:pt x="662881" y="55272"/>
                  </a:lnTo>
                  <a:lnTo>
                    <a:pt x="592414" y="83779"/>
                  </a:lnTo>
                  <a:lnTo>
                    <a:pt x="559296" y="13397"/>
                  </a:lnTo>
                  <a:lnTo>
                    <a:pt x="497672" y="59535"/>
                  </a:lnTo>
                  <a:lnTo>
                    <a:pt x="446981" y="0"/>
                  </a:lnTo>
                  <a:close/>
                </a:path>
              </a:pathLst>
            </a:custGeom>
            <a:solidFill>
              <a:srgbClr val="46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86157" y="1617929"/>
              <a:ext cx="887730" cy="885190"/>
            </a:xfrm>
            <a:custGeom>
              <a:avLst/>
              <a:gdLst/>
              <a:ahLst/>
              <a:cxnLst/>
              <a:rect l="l" t="t" r="r" b="b"/>
              <a:pathLst>
                <a:path w="887729" h="885189">
                  <a:moveTo>
                    <a:pt x="442446" y="0"/>
                  </a:moveTo>
                  <a:lnTo>
                    <a:pt x="394133" y="57099"/>
                  </a:lnTo>
                  <a:lnTo>
                    <a:pt x="332510" y="13049"/>
                  </a:lnTo>
                  <a:lnTo>
                    <a:pt x="299392" y="81343"/>
                  </a:lnTo>
                  <a:lnTo>
                    <a:pt x="229011" y="55011"/>
                  </a:lnTo>
                  <a:lnTo>
                    <a:pt x="213438" y="130003"/>
                  </a:lnTo>
                  <a:lnTo>
                    <a:pt x="138793" y="121159"/>
                  </a:lnTo>
                  <a:lnTo>
                    <a:pt x="143042" y="195891"/>
                  </a:lnTo>
                  <a:lnTo>
                    <a:pt x="68389" y="206764"/>
                  </a:lnTo>
                  <a:lnTo>
                    <a:pt x="90203" y="279698"/>
                  </a:lnTo>
                  <a:lnTo>
                    <a:pt x="19725" y="306116"/>
                  </a:lnTo>
                  <a:lnTo>
                    <a:pt x="61694" y="371975"/>
                  </a:lnTo>
                  <a:lnTo>
                    <a:pt x="0" y="416025"/>
                  </a:lnTo>
                  <a:lnTo>
                    <a:pt x="54999" y="468861"/>
                  </a:lnTo>
                  <a:lnTo>
                    <a:pt x="6692" y="528339"/>
                  </a:lnTo>
                  <a:lnTo>
                    <a:pt x="72565" y="563603"/>
                  </a:lnTo>
                  <a:lnTo>
                    <a:pt x="39447" y="634013"/>
                  </a:lnTo>
                  <a:lnTo>
                    <a:pt x="114463" y="653732"/>
                  </a:lnTo>
                  <a:lnTo>
                    <a:pt x="101144" y="728753"/>
                  </a:lnTo>
                  <a:lnTo>
                    <a:pt x="176156" y="728753"/>
                  </a:lnTo>
                  <a:lnTo>
                    <a:pt x="180332" y="803479"/>
                  </a:lnTo>
                  <a:lnTo>
                    <a:pt x="255428" y="785841"/>
                  </a:lnTo>
                  <a:lnTo>
                    <a:pt x="279673" y="858406"/>
                  </a:lnTo>
                  <a:lnTo>
                    <a:pt x="345559" y="821044"/>
                  </a:lnTo>
                  <a:lnTo>
                    <a:pt x="387433" y="884829"/>
                  </a:lnTo>
                  <a:lnTo>
                    <a:pt x="442446" y="834436"/>
                  </a:lnTo>
                  <a:lnTo>
                    <a:pt x="497371" y="884829"/>
                  </a:lnTo>
                  <a:lnTo>
                    <a:pt x="539275" y="821044"/>
                  </a:lnTo>
                  <a:lnTo>
                    <a:pt x="607597" y="858406"/>
                  </a:lnTo>
                  <a:lnTo>
                    <a:pt x="629464" y="785841"/>
                  </a:lnTo>
                  <a:lnTo>
                    <a:pt x="704484" y="803479"/>
                  </a:lnTo>
                  <a:lnTo>
                    <a:pt x="708747" y="728753"/>
                  </a:lnTo>
                  <a:lnTo>
                    <a:pt x="785827" y="728753"/>
                  </a:lnTo>
                  <a:lnTo>
                    <a:pt x="770371" y="651644"/>
                  </a:lnTo>
                  <a:lnTo>
                    <a:pt x="845364" y="634013"/>
                  </a:lnTo>
                  <a:lnTo>
                    <a:pt x="812246" y="563603"/>
                  </a:lnTo>
                  <a:lnTo>
                    <a:pt x="880569" y="528339"/>
                  </a:lnTo>
                  <a:lnTo>
                    <a:pt x="831994" y="468861"/>
                  </a:lnTo>
                  <a:lnTo>
                    <a:pt x="887267" y="416025"/>
                  </a:lnTo>
                  <a:lnTo>
                    <a:pt x="825643" y="371975"/>
                  </a:lnTo>
                  <a:lnTo>
                    <a:pt x="865083" y="306116"/>
                  </a:lnTo>
                  <a:lnTo>
                    <a:pt x="794614" y="279698"/>
                  </a:lnTo>
                  <a:lnTo>
                    <a:pt x="818945" y="206764"/>
                  </a:lnTo>
                  <a:lnTo>
                    <a:pt x="741836" y="195891"/>
                  </a:lnTo>
                  <a:lnTo>
                    <a:pt x="746389" y="121159"/>
                  </a:lnTo>
                  <a:lnTo>
                    <a:pt x="671367" y="130003"/>
                  </a:lnTo>
                  <a:lnTo>
                    <a:pt x="655881" y="55011"/>
                  </a:lnTo>
                  <a:lnTo>
                    <a:pt x="585414" y="81343"/>
                  </a:lnTo>
                  <a:lnTo>
                    <a:pt x="552673" y="13049"/>
                  </a:lnTo>
                  <a:lnTo>
                    <a:pt x="491049" y="57099"/>
                  </a:lnTo>
                  <a:lnTo>
                    <a:pt x="442446" y="0"/>
                  </a:lnTo>
                  <a:close/>
                </a:path>
              </a:pathLst>
            </a:custGeom>
            <a:solidFill>
              <a:srgbClr val="3D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88315" y="1622192"/>
              <a:ext cx="880744" cy="876935"/>
            </a:xfrm>
            <a:custGeom>
              <a:avLst/>
              <a:gdLst/>
              <a:ahLst/>
              <a:cxnLst/>
              <a:rect l="l" t="t" r="r" b="b"/>
              <a:pathLst>
                <a:path w="880745" h="876935">
                  <a:moveTo>
                    <a:pt x="440288" y="0"/>
                  </a:moveTo>
                  <a:lnTo>
                    <a:pt x="391975" y="57359"/>
                  </a:lnTo>
                  <a:lnTo>
                    <a:pt x="330352" y="13368"/>
                  </a:lnTo>
                  <a:lnTo>
                    <a:pt x="297234" y="81690"/>
                  </a:lnTo>
                  <a:lnTo>
                    <a:pt x="228941" y="52835"/>
                  </a:lnTo>
                  <a:lnTo>
                    <a:pt x="213455" y="127828"/>
                  </a:lnTo>
                  <a:lnTo>
                    <a:pt x="138724" y="119071"/>
                  </a:lnTo>
                  <a:lnTo>
                    <a:pt x="142972" y="193715"/>
                  </a:lnTo>
                  <a:lnTo>
                    <a:pt x="68319" y="205024"/>
                  </a:lnTo>
                  <a:lnTo>
                    <a:pt x="92580" y="275435"/>
                  </a:lnTo>
                  <a:lnTo>
                    <a:pt x="22172" y="303941"/>
                  </a:lnTo>
                  <a:lnTo>
                    <a:pt x="61622" y="367711"/>
                  </a:lnTo>
                  <a:lnTo>
                    <a:pt x="0" y="411761"/>
                  </a:lnTo>
                  <a:lnTo>
                    <a:pt x="54927" y="464597"/>
                  </a:lnTo>
                  <a:lnTo>
                    <a:pt x="6695" y="521987"/>
                  </a:lnTo>
                  <a:lnTo>
                    <a:pt x="72565" y="559339"/>
                  </a:lnTo>
                  <a:lnTo>
                    <a:pt x="41898" y="627661"/>
                  </a:lnTo>
                  <a:lnTo>
                    <a:pt x="114463" y="647381"/>
                  </a:lnTo>
                  <a:lnTo>
                    <a:pt x="101433" y="719955"/>
                  </a:lnTo>
                  <a:lnTo>
                    <a:pt x="176086" y="719955"/>
                  </a:lnTo>
                  <a:lnTo>
                    <a:pt x="180695" y="797055"/>
                  </a:lnTo>
                  <a:lnTo>
                    <a:pt x="255360" y="777330"/>
                  </a:lnTo>
                  <a:lnTo>
                    <a:pt x="277515" y="849895"/>
                  </a:lnTo>
                  <a:lnTo>
                    <a:pt x="343401" y="812605"/>
                  </a:lnTo>
                  <a:lnTo>
                    <a:pt x="385276" y="876316"/>
                  </a:lnTo>
                  <a:lnTo>
                    <a:pt x="440288" y="825637"/>
                  </a:lnTo>
                  <a:lnTo>
                    <a:pt x="495213" y="876316"/>
                  </a:lnTo>
                  <a:lnTo>
                    <a:pt x="537117" y="812605"/>
                  </a:lnTo>
                  <a:lnTo>
                    <a:pt x="603352" y="849895"/>
                  </a:lnTo>
                  <a:lnTo>
                    <a:pt x="625160" y="777330"/>
                  </a:lnTo>
                  <a:lnTo>
                    <a:pt x="700238" y="797055"/>
                  </a:lnTo>
                  <a:lnTo>
                    <a:pt x="704415" y="719955"/>
                  </a:lnTo>
                  <a:lnTo>
                    <a:pt x="779435" y="719955"/>
                  </a:lnTo>
                  <a:lnTo>
                    <a:pt x="766124" y="647381"/>
                  </a:lnTo>
                  <a:lnTo>
                    <a:pt x="838594" y="627661"/>
                  </a:lnTo>
                  <a:lnTo>
                    <a:pt x="808000" y="559339"/>
                  </a:lnTo>
                  <a:lnTo>
                    <a:pt x="873886" y="521987"/>
                  </a:lnTo>
                  <a:lnTo>
                    <a:pt x="825574" y="464597"/>
                  </a:lnTo>
                  <a:lnTo>
                    <a:pt x="880586" y="411761"/>
                  </a:lnTo>
                  <a:lnTo>
                    <a:pt x="818875" y="367711"/>
                  </a:lnTo>
                  <a:lnTo>
                    <a:pt x="858691" y="303941"/>
                  </a:lnTo>
                  <a:lnTo>
                    <a:pt x="788281" y="275435"/>
                  </a:lnTo>
                  <a:lnTo>
                    <a:pt x="812176" y="205024"/>
                  </a:lnTo>
                  <a:lnTo>
                    <a:pt x="737532" y="193715"/>
                  </a:lnTo>
                  <a:lnTo>
                    <a:pt x="741766" y="119071"/>
                  </a:lnTo>
                  <a:lnTo>
                    <a:pt x="667122" y="127828"/>
                  </a:lnTo>
                  <a:lnTo>
                    <a:pt x="651578" y="52835"/>
                  </a:lnTo>
                  <a:lnTo>
                    <a:pt x="581167" y="81690"/>
                  </a:lnTo>
                  <a:lnTo>
                    <a:pt x="550515" y="13368"/>
                  </a:lnTo>
                  <a:lnTo>
                    <a:pt x="488891" y="57359"/>
                  </a:lnTo>
                  <a:lnTo>
                    <a:pt x="440288" y="0"/>
                  </a:lnTo>
                  <a:close/>
                </a:path>
              </a:pathLst>
            </a:custGeom>
            <a:solidFill>
              <a:srgbClr val="19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77791" y="1807121"/>
              <a:ext cx="493395" cy="8890"/>
            </a:xfrm>
            <a:custGeom>
              <a:avLst/>
              <a:gdLst/>
              <a:ahLst/>
              <a:cxnLst/>
              <a:rect l="l" t="t" r="r" b="b"/>
              <a:pathLst>
                <a:path w="493395" h="8889">
                  <a:moveTo>
                    <a:pt x="493130" y="0"/>
                  </a:moveTo>
                  <a:lnTo>
                    <a:pt x="0" y="0"/>
                  </a:lnTo>
                  <a:lnTo>
                    <a:pt x="0" y="8787"/>
                  </a:lnTo>
                  <a:lnTo>
                    <a:pt x="493130" y="8787"/>
                  </a:lnTo>
                  <a:lnTo>
                    <a:pt x="493130" y="0"/>
                  </a:lnTo>
                  <a:close/>
                </a:path>
              </a:pathLst>
            </a:custGeom>
            <a:solidFill>
              <a:srgbClr val="B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77791" y="1815908"/>
              <a:ext cx="493395" cy="15875"/>
            </a:xfrm>
            <a:custGeom>
              <a:avLst/>
              <a:gdLst/>
              <a:ahLst/>
              <a:cxnLst/>
              <a:rect l="l" t="t" r="r" b="b"/>
              <a:pathLst>
                <a:path w="493395" h="15875">
                  <a:moveTo>
                    <a:pt x="493130" y="0"/>
                  </a:moveTo>
                  <a:lnTo>
                    <a:pt x="0" y="0"/>
                  </a:lnTo>
                  <a:lnTo>
                    <a:pt x="0" y="15485"/>
                  </a:lnTo>
                  <a:lnTo>
                    <a:pt x="490694" y="15485"/>
                  </a:lnTo>
                  <a:lnTo>
                    <a:pt x="493130" y="0"/>
                  </a:lnTo>
                  <a:close/>
                </a:path>
              </a:pathLst>
            </a:custGeom>
            <a:solidFill>
              <a:srgbClr val="B9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77791" y="1831393"/>
              <a:ext cx="490855" cy="17780"/>
            </a:xfrm>
            <a:custGeom>
              <a:avLst/>
              <a:gdLst/>
              <a:ahLst/>
              <a:cxnLst/>
              <a:rect l="l" t="t" r="r" b="b"/>
              <a:pathLst>
                <a:path w="490854" h="17780">
                  <a:moveTo>
                    <a:pt x="490694" y="0"/>
                  </a:moveTo>
                  <a:lnTo>
                    <a:pt x="0" y="0"/>
                  </a:lnTo>
                  <a:lnTo>
                    <a:pt x="2086" y="17631"/>
                  </a:lnTo>
                  <a:lnTo>
                    <a:pt x="490694" y="17631"/>
                  </a:lnTo>
                  <a:lnTo>
                    <a:pt x="490694" y="0"/>
                  </a:lnTo>
                  <a:close/>
                </a:path>
              </a:pathLst>
            </a:custGeom>
            <a:solidFill>
              <a:srgbClr val="B2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51370" y="1849119"/>
              <a:ext cx="544830" cy="17780"/>
            </a:xfrm>
            <a:custGeom>
              <a:avLst/>
              <a:gdLst/>
              <a:ahLst/>
              <a:cxnLst/>
              <a:rect l="l" t="t" r="r" b="b"/>
              <a:pathLst>
                <a:path w="544829" h="17780">
                  <a:moveTo>
                    <a:pt x="544652" y="11430"/>
                  </a:moveTo>
                  <a:lnTo>
                    <a:pt x="515950" y="11430"/>
                  </a:lnTo>
                  <a:lnTo>
                    <a:pt x="515950" y="0"/>
                  </a:lnTo>
                  <a:lnTo>
                    <a:pt x="28498" y="0"/>
                  </a:lnTo>
                  <a:lnTo>
                    <a:pt x="28498" y="1143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44652" y="17780"/>
                  </a:lnTo>
                  <a:lnTo>
                    <a:pt x="544652" y="11430"/>
                  </a:lnTo>
                  <a:close/>
                </a:path>
              </a:pathLst>
            </a:custGeom>
            <a:solidFill>
              <a:srgbClr val="AB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918258" y="1866656"/>
              <a:ext cx="610235" cy="17780"/>
            </a:xfrm>
            <a:custGeom>
              <a:avLst/>
              <a:gdLst/>
              <a:ahLst/>
              <a:cxnLst/>
              <a:rect l="l" t="t" r="r" b="b"/>
              <a:pathLst>
                <a:path w="610234" h="17780">
                  <a:moveTo>
                    <a:pt x="600890" y="0"/>
                  </a:moveTo>
                  <a:lnTo>
                    <a:pt x="10941" y="0"/>
                  </a:lnTo>
                  <a:lnTo>
                    <a:pt x="0" y="2087"/>
                  </a:lnTo>
                  <a:lnTo>
                    <a:pt x="6691" y="17574"/>
                  </a:lnTo>
                  <a:lnTo>
                    <a:pt x="605500" y="17574"/>
                  </a:lnTo>
                  <a:lnTo>
                    <a:pt x="609734" y="2087"/>
                  </a:lnTo>
                  <a:lnTo>
                    <a:pt x="600890" y="0"/>
                  </a:lnTo>
                  <a:close/>
                </a:path>
              </a:pathLst>
            </a:custGeom>
            <a:solidFill>
              <a:srgbClr val="A5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924950" y="1884230"/>
              <a:ext cx="598805" cy="17780"/>
            </a:xfrm>
            <a:custGeom>
              <a:avLst/>
              <a:gdLst/>
              <a:ahLst/>
              <a:cxnLst/>
              <a:rect l="l" t="t" r="r" b="b"/>
              <a:pathLst>
                <a:path w="598804" h="17780">
                  <a:moveTo>
                    <a:pt x="598808" y="0"/>
                  </a:moveTo>
                  <a:lnTo>
                    <a:pt x="0" y="0"/>
                  </a:lnTo>
                  <a:lnTo>
                    <a:pt x="4249" y="17631"/>
                  </a:lnTo>
                  <a:lnTo>
                    <a:pt x="592109" y="17631"/>
                  </a:lnTo>
                  <a:lnTo>
                    <a:pt x="598808" y="0"/>
                  </a:lnTo>
                  <a:close/>
                </a:path>
              </a:pathLst>
            </a:custGeom>
            <a:solidFill>
              <a:srgbClr val="9E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29199" y="1901861"/>
              <a:ext cx="588010" cy="17780"/>
            </a:xfrm>
            <a:custGeom>
              <a:avLst/>
              <a:gdLst/>
              <a:ahLst/>
              <a:cxnLst/>
              <a:rect l="l" t="t" r="r" b="b"/>
              <a:pathLst>
                <a:path w="588009" h="17780">
                  <a:moveTo>
                    <a:pt x="587860" y="0"/>
                  </a:moveTo>
                  <a:lnTo>
                    <a:pt x="0" y="0"/>
                  </a:lnTo>
                  <a:lnTo>
                    <a:pt x="6695" y="17574"/>
                  </a:lnTo>
                  <a:lnTo>
                    <a:pt x="583248" y="17574"/>
                  </a:lnTo>
                  <a:lnTo>
                    <a:pt x="587860" y="0"/>
                  </a:lnTo>
                  <a:close/>
                </a:path>
              </a:pathLst>
            </a:custGeom>
            <a:solidFill>
              <a:srgbClr val="97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913722" y="1919436"/>
              <a:ext cx="621030" cy="17780"/>
            </a:xfrm>
            <a:custGeom>
              <a:avLst/>
              <a:gdLst/>
              <a:ahLst/>
              <a:cxnLst/>
              <a:rect l="l" t="t" r="r" b="b"/>
              <a:pathLst>
                <a:path w="621029" h="17780">
                  <a:moveTo>
                    <a:pt x="598726" y="0"/>
                  </a:moveTo>
                  <a:lnTo>
                    <a:pt x="22172" y="0"/>
                  </a:lnTo>
                  <a:lnTo>
                    <a:pt x="24258" y="8844"/>
                  </a:lnTo>
                  <a:lnTo>
                    <a:pt x="0" y="17631"/>
                  </a:lnTo>
                  <a:lnTo>
                    <a:pt x="620969" y="17631"/>
                  </a:lnTo>
                  <a:lnTo>
                    <a:pt x="596639" y="8844"/>
                  </a:lnTo>
                  <a:lnTo>
                    <a:pt x="598726" y="0"/>
                  </a:lnTo>
                  <a:close/>
                </a:path>
              </a:pathLst>
            </a:custGeom>
            <a:solidFill>
              <a:srgbClr val="91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80895" y="1937067"/>
              <a:ext cx="687070" cy="17780"/>
            </a:xfrm>
            <a:custGeom>
              <a:avLst/>
              <a:gdLst/>
              <a:ahLst/>
              <a:cxnLst/>
              <a:rect l="l" t="t" r="r" b="b"/>
              <a:pathLst>
                <a:path w="687070" h="17780">
                  <a:moveTo>
                    <a:pt x="653795" y="0"/>
                  </a:moveTo>
                  <a:lnTo>
                    <a:pt x="32826" y="0"/>
                  </a:lnTo>
                  <a:lnTo>
                    <a:pt x="0" y="13397"/>
                  </a:lnTo>
                  <a:lnTo>
                    <a:pt x="2157" y="17631"/>
                  </a:lnTo>
                  <a:lnTo>
                    <a:pt x="684390" y="17631"/>
                  </a:lnTo>
                  <a:lnTo>
                    <a:pt x="686855" y="13397"/>
                  </a:lnTo>
                  <a:lnTo>
                    <a:pt x="653795" y="0"/>
                  </a:lnTo>
                  <a:close/>
                </a:path>
              </a:pathLst>
            </a:custGeom>
            <a:solidFill>
              <a:srgbClr val="8A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83053" y="1954698"/>
              <a:ext cx="682625" cy="17780"/>
            </a:xfrm>
            <a:custGeom>
              <a:avLst/>
              <a:gdLst/>
              <a:ahLst/>
              <a:cxnLst/>
              <a:rect l="l" t="t" r="r" b="b"/>
              <a:pathLst>
                <a:path w="682625" h="17780">
                  <a:moveTo>
                    <a:pt x="682232" y="0"/>
                  </a:moveTo>
                  <a:lnTo>
                    <a:pt x="0" y="0"/>
                  </a:lnTo>
                  <a:lnTo>
                    <a:pt x="10943" y="17572"/>
                  </a:lnTo>
                  <a:lnTo>
                    <a:pt x="671386" y="17572"/>
                  </a:lnTo>
                  <a:lnTo>
                    <a:pt x="682232" y="0"/>
                  </a:lnTo>
                  <a:close/>
                </a:path>
              </a:pathLst>
            </a:custGeom>
            <a:solidFill>
              <a:srgbClr val="83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93996" y="1972271"/>
              <a:ext cx="661035" cy="17780"/>
            </a:xfrm>
            <a:custGeom>
              <a:avLst/>
              <a:gdLst/>
              <a:ahLst/>
              <a:cxnLst/>
              <a:rect l="l" t="t" r="r" b="b"/>
              <a:pathLst>
                <a:path w="661034" h="17780">
                  <a:moveTo>
                    <a:pt x="660443" y="0"/>
                  </a:moveTo>
                  <a:lnTo>
                    <a:pt x="0" y="0"/>
                  </a:lnTo>
                  <a:lnTo>
                    <a:pt x="10868" y="17632"/>
                  </a:lnTo>
                  <a:lnTo>
                    <a:pt x="649481" y="17632"/>
                  </a:lnTo>
                  <a:lnTo>
                    <a:pt x="660443" y="0"/>
                  </a:lnTo>
                  <a:close/>
                </a:path>
              </a:pathLst>
            </a:custGeom>
            <a:solidFill>
              <a:srgbClr val="7C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04865" y="1989904"/>
              <a:ext cx="638810" cy="17780"/>
            </a:xfrm>
            <a:custGeom>
              <a:avLst/>
              <a:gdLst/>
              <a:ahLst/>
              <a:cxnLst/>
              <a:rect l="l" t="t" r="r" b="b"/>
              <a:pathLst>
                <a:path w="638809" h="17780">
                  <a:moveTo>
                    <a:pt x="638613" y="0"/>
                  </a:moveTo>
                  <a:lnTo>
                    <a:pt x="0" y="0"/>
                  </a:lnTo>
                  <a:lnTo>
                    <a:pt x="8856" y="13397"/>
                  </a:lnTo>
                  <a:lnTo>
                    <a:pt x="2448" y="17631"/>
                  </a:lnTo>
                  <a:lnTo>
                    <a:pt x="634001" y="17631"/>
                  </a:lnTo>
                  <a:lnTo>
                    <a:pt x="629826" y="13397"/>
                  </a:lnTo>
                  <a:lnTo>
                    <a:pt x="638613" y="0"/>
                  </a:lnTo>
                  <a:close/>
                </a:path>
              </a:pathLst>
            </a:custGeom>
            <a:solidFill>
              <a:srgbClr val="76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85141" y="2007535"/>
              <a:ext cx="678180" cy="15875"/>
            </a:xfrm>
            <a:custGeom>
              <a:avLst/>
              <a:gdLst/>
              <a:ahLst/>
              <a:cxnLst/>
              <a:rect l="l" t="t" r="r" b="b"/>
              <a:pathLst>
                <a:path w="678179" h="15875">
                  <a:moveTo>
                    <a:pt x="653726" y="0"/>
                  </a:moveTo>
                  <a:lnTo>
                    <a:pt x="22172" y="0"/>
                  </a:lnTo>
                  <a:lnTo>
                    <a:pt x="0" y="15485"/>
                  </a:lnTo>
                  <a:lnTo>
                    <a:pt x="678058" y="15485"/>
                  </a:lnTo>
                  <a:lnTo>
                    <a:pt x="653726" y="0"/>
                  </a:lnTo>
                  <a:close/>
                </a:path>
              </a:pathLst>
            </a:custGeom>
            <a:solidFill>
              <a:srgbClr val="6F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63327" y="2023021"/>
              <a:ext cx="722630" cy="17780"/>
            </a:xfrm>
            <a:custGeom>
              <a:avLst/>
              <a:gdLst/>
              <a:ahLst/>
              <a:cxnLst/>
              <a:rect l="l" t="t" r="r" b="b"/>
              <a:pathLst>
                <a:path w="722629" h="17780">
                  <a:moveTo>
                    <a:pt x="699871" y="0"/>
                  </a:moveTo>
                  <a:lnTo>
                    <a:pt x="21813" y="0"/>
                  </a:lnTo>
                  <a:lnTo>
                    <a:pt x="0" y="15486"/>
                  </a:lnTo>
                  <a:lnTo>
                    <a:pt x="2087" y="17631"/>
                  </a:lnTo>
                  <a:lnTo>
                    <a:pt x="717444" y="17631"/>
                  </a:lnTo>
                  <a:lnTo>
                    <a:pt x="722054" y="15486"/>
                  </a:lnTo>
                  <a:lnTo>
                    <a:pt x="699871" y="0"/>
                  </a:lnTo>
                  <a:close/>
                </a:path>
              </a:pathLst>
            </a:custGeom>
            <a:solidFill>
              <a:srgbClr val="68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65415" y="2040652"/>
              <a:ext cx="715645" cy="17780"/>
            </a:xfrm>
            <a:custGeom>
              <a:avLst/>
              <a:gdLst/>
              <a:ahLst/>
              <a:cxnLst/>
              <a:rect l="l" t="t" r="r" b="b"/>
              <a:pathLst>
                <a:path w="715645" h="17780">
                  <a:moveTo>
                    <a:pt x="715356" y="0"/>
                  </a:moveTo>
                  <a:lnTo>
                    <a:pt x="0" y="0"/>
                  </a:lnTo>
                  <a:lnTo>
                    <a:pt x="19725" y="17574"/>
                  </a:lnTo>
                  <a:lnTo>
                    <a:pt x="697783" y="17574"/>
                  </a:lnTo>
                  <a:lnTo>
                    <a:pt x="715356" y="0"/>
                  </a:lnTo>
                  <a:close/>
                </a:path>
              </a:pathLst>
            </a:custGeom>
            <a:solidFill>
              <a:srgbClr val="62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85141" y="2058226"/>
              <a:ext cx="678180" cy="17780"/>
            </a:xfrm>
            <a:custGeom>
              <a:avLst/>
              <a:gdLst/>
              <a:ahLst/>
              <a:cxnLst/>
              <a:rect l="l" t="t" r="r" b="b"/>
              <a:pathLst>
                <a:path w="678179" h="17780">
                  <a:moveTo>
                    <a:pt x="678058" y="0"/>
                  </a:moveTo>
                  <a:lnTo>
                    <a:pt x="0" y="0"/>
                  </a:lnTo>
                  <a:lnTo>
                    <a:pt x="17637" y="17631"/>
                  </a:lnTo>
                  <a:lnTo>
                    <a:pt x="660425" y="17631"/>
                  </a:lnTo>
                  <a:lnTo>
                    <a:pt x="678058" y="0"/>
                  </a:lnTo>
                  <a:close/>
                </a:path>
              </a:pathLst>
            </a:custGeom>
            <a:solidFill>
              <a:srgbClr val="5B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98533" y="2075858"/>
              <a:ext cx="652145" cy="17780"/>
            </a:xfrm>
            <a:custGeom>
              <a:avLst/>
              <a:gdLst/>
              <a:ahLst/>
              <a:cxnLst/>
              <a:rect l="l" t="t" r="r" b="b"/>
              <a:pathLst>
                <a:path w="652145" h="17780">
                  <a:moveTo>
                    <a:pt x="647033" y="0"/>
                  </a:moveTo>
                  <a:lnTo>
                    <a:pt x="4245" y="0"/>
                  </a:lnTo>
                  <a:lnTo>
                    <a:pt x="10941" y="6699"/>
                  </a:lnTo>
                  <a:lnTo>
                    <a:pt x="0" y="17631"/>
                  </a:lnTo>
                  <a:lnTo>
                    <a:pt x="651644" y="17631"/>
                  </a:lnTo>
                  <a:lnTo>
                    <a:pt x="640333" y="6699"/>
                  </a:lnTo>
                  <a:lnTo>
                    <a:pt x="647033" y="0"/>
                  </a:lnTo>
                  <a:close/>
                </a:path>
              </a:pathLst>
            </a:custGeom>
            <a:solidFill>
              <a:srgbClr val="54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85141" y="2093489"/>
              <a:ext cx="678180" cy="17780"/>
            </a:xfrm>
            <a:custGeom>
              <a:avLst/>
              <a:gdLst/>
              <a:ahLst/>
              <a:cxnLst/>
              <a:rect l="l" t="t" r="r" b="b"/>
              <a:pathLst>
                <a:path w="678179" h="17780">
                  <a:moveTo>
                    <a:pt x="665036" y="0"/>
                  </a:moveTo>
                  <a:lnTo>
                    <a:pt x="13392" y="0"/>
                  </a:lnTo>
                  <a:lnTo>
                    <a:pt x="0" y="17574"/>
                  </a:lnTo>
                  <a:lnTo>
                    <a:pt x="678058" y="17574"/>
                  </a:lnTo>
                  <a:lnTo>
                    <a:pt x="665036" y="0"/>
                  </a:lnTo>
                  <a:close/>
                </a:path>
              </a:pathLst>
            </a:custGeom>
            <a:solidFill>
              <a:srgbClr val="4E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69663" y="2111063"/>
              <a:ext cx="709295" cy="17780"/>
            </a:xfrm>
            <a:custGeom>
              <a:avLst/>
              <a:gdLst/>
              <a:ahLst/>
              <a:cxnLst/>
              <a:rect l="l" t="t" r="r" b="b"/>
              <a:pathLst>
                <a:path w="709295" h="17780">
                  <a:moveTo>
                    <a:pt x="693535" y="0"/>
                  </a:moveTo>
                  <a:lnTo>
                    <a:pt x="15477" y="0"/>
                  </a:lnTo>
                  <a:lnTo>
                    <a:pt x="0" y="17631"/>
                  </a:lnTo>
                  <a:lnTo>
                    <a:pt x="709020" y="17631"/>
                  </a:lnTo>
                  <a:lnTo>
                    <a:pt x="693535" y="0"/>
                  </a:lnTo>
                  <a:close/>
                </a:path>
              </a:pathLst>
            </a:custGeom>
            <a:solidFill>
              <a:srgbClr val="47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69663" y="2128695"/>
              <a:ext cx="709295" cy="17780"/>
            </a:xfrm>
            <a:custGeom>
              <a:avLst/>
              <a:gdLst/>
              <a:ahLst/>
              <a:cxnLst/>
              <a:rect l="l" t="t" r="r" b="b"/>
              <a:pathLst>
                <a:path w="709295" h="17780">
                  <a:moveTo>
                    <a:pt x="709020" y="0"/>
                  </a:moveTo>
                  <a:lnTo>
                    <a:pt x="0" y="0"/>
                  </a:lnTo>
                  <a:lnTo>
                    <a:pt x="28869" y="17572"/>
                  </a:lnTo>
                  <a:lnTo>
                    <a:pt x="678078" y="17572"/>
                  </a:lnTo>
                  <a:lnTo>
                    <a:pt x="709020" y="0"/>
                  </a:lnTo>
                  <a:close/>
                </a:path>
              </a:pathLst>
            </a:custGeom>
            <a:solidFill>
              <a:srgbClr val="40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898533" y="2146268"/>
              <a:ext cx="649605" cy="17780"/>
            </a:xfrm>
            <a:custGeom>
              <a:avLst/>
              <a:gdLst/>
              <a:ahLst/>
              <a:cxnLst/>
              <a:rect l="l" t="t" r="r" b="b"/>
              <a:pathLst>
                <a:path w="649604" h="17780">
                  <a:moveTo>
                    <a:pt x="649208" y="0"/>
                  </a:moveTo>
                  <a:lnTo>
                    <a:pt x="0" y="0"/>
                  </a:lnTo>
                  <a:lnTo>
                    <a:pt x="23969" y="13021"/>
                  </a:lnTo>
                  <a:lnTo>
                    <a:pt x="23969" y="17631"/>
                  </a:lnTo>
                  <a:lnTo>
                    <a:pt x="627313" y="17631"/>
                  </a:lnTo>
                  <a:lnTo>
                    <a:pt x="625226" y="13021"/>
                  </a:lnTo>
                  <a:lnTo>
                    <a:pt x="649208" y="0"/>
                  </a:lnTo>
                  <a:close/>
                </a:path>
              </a:pathLst>
            </a:custGeom>
            <a:solidFill>
              <a:srgbClr val="3A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909474" y="2163899"/>
              <a:ext cx="629920" cy="24765"/>
            </a:xfrm>
            <a:custGeom>
              <a:avLst/>
              <a:gdLst/>
              <a:ahLst/>
              <a:cxnLst/>
              <a:rect l="l" t="t" r="r" b="b"/>
              <a:pathLst>
                <a:path w="629920" h="24764">
                  <a:moveTo>
                    <a:pt x="616372" y="0"/>
                  </a:moveTo>
                  <a:lnTo>
                    <a:pt x="13028" y="0"/>
                  </a:lnTo>
                  <a:lnTo>
                    <a:pt x="0" y="24330"/>
                  </a:lnTo>
                  <a:lnTo>
                    <a:pt x="629392" y="24330"/>
                  </a:lnTo>
                  <a:lnTo>
                    <a:pt x="616372" y="0"/>
                  </a:lnTo>
                  <a:close/>
                </a:path>
              </a:pathLst>
            </a:custGeom>
            <a:solidFill>
              <a:srgbClr val="33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75335" y="1701456"/>
              <a:ext cx="495934" cy="106045"/>
            </a:xfrm>
            <a:custGeom>
              <a:avLst/>
              <a:gdLst/>
              <a:ahLst/>
              <a:cxnLst/>
              <a:rect l="l" t="t" r="r" b="b"/>
              <a:pathLst>
                <a:path w="495934" h="106044">
                  <a:moveTo>
                    <a:pt x="61633" y="105664"/>
                  </a:moveTo>
                  <a:lnTo>
                    <a:pt x="0" y="96824"/>
                  </a:lnTo>
                  <a:lnTo>
                    <a:pt x="2451" y="105664"/>
                  </a:lnTo>
                  <a:lnTo>
                    <a:pt x="61633" y="105664"/>
                  </a:lnTo>
                  <a:close/>
                </a:path>
                <a:path w="495934" h="106044">
                  <a:moveTo>
                    <a:pt x="433959" y="105664"/>
                  </a:moveTo>
                  <a:lnTo>
                    <a:pt x="422643" y="43992"/>
                  </a:lnTo>
                  <a:lnTo>
                    <a:pt x="365582" y="66230"/>
                  </a:lnTo>
                  <a:lnTo>
                    <a:pt x="339217" y="11214"/>
                  </a:lnTo>
                  <a:lnTo>
                    <a:pt x="288467" y="46482"/>
                  </a:lnTo>
                  <a:lnTo>
                    <a:pt x="249034" y="0"/>
                  </a:lnTo>
                  <a:lnTo>
                    <a:pt x="209207" y="46482"/>
                  </a:lnTo>
                  <a:lnTo>
                    <a:pt x="158521" y="11214"/>
                  </a:lnTo>
                  <a:lnTo>
                    <a:pt x="132105" y="66230"/>
                  </a:lnTo>
                  <a:lnTo>
                    <a:pt x="75006" y="43992"/>
                  </a:lnTo>
                  <a:lnTo>
                    <a:pt x="61633" y="105664"/>
                  </a:lnTo>
                  <a:lnTo>
                    <a:pt x="433959" y="105664"/>
                  </a:lnTo>
                  <a:close/>
                </a:path>
                <a:path w="495934" h="106044">
                  <a:moveTo>
                    <a:pt x="495579" y="96824"/>
                  </a:moveTo>
                  <a:lnTo>
                    <a:pt x="433959" y="105664"/>
                  </a:lnTo>
                  <a:lnTo>
                    <a:pt x="495579" y="105664"/>
                  </a:lnTo>
                  <a:lnTo>
                    <a:pt x="495579" y="96824"/>
                  </a:lnTo>
                  <a:close/>
                </a:path>
              </a:pathLst>
            </a:custGeom>
            <a:solidFill>
              <a:srgbClr val="B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96084" y="2188230"/>
              <a:ext cx="654685" cy="231140"/>
            </a:xfrm>
            <a:custGeom>
              <a:avLst/>
              <a:gdLst/>
              <a:ahLst/>
              <a:cxnLst/>
              <a:rect l="l" t="t" r="r" b="b"/>
              <a:pathLst>
                <a:path w="654684" h="231139">
                  <a:moveTo>
                    <a:pt x="642782" y="0"/>
                  </a:moveTo>
                  <a:lnTo>
                    <a:pt x="13389" y="0"/>
                  </a:lnTo>
                  <a:lnTo>
                    <a:pt x="0" y="28506"/>
                  </a:lnTo>
                  <a:lnTo>
                    <a:pt x="61621" y="43992"/>
                  </a:lnTo>
                  <a:lnTo>
                    <a:pt x="48592" y="103150"/>
                  </a:lnTo>
                  <a:lnTo>
                    <a:pt x="112384" y="103150"/>
                  </a:lnTo>
                  <a:lnTo>
                    <a:pt x="114472" y="164861"/>
                  </a:lnTo>
                  <a:lnTo>
                    <a:pt x="176095" y="149672"/>
                  </a:lnTo>
                  <a:lnTo>
                    <a:pt x="193728" y="208845"/>
                  </a:lnTo>
                  <a:lnTo>
                    <a:pt x="249001" y="180338"/>
                  </a:lnTo>
                  <a:lnTo>
                    <a:pt x="281769" y="231018"/>
                  </a:lnTo>
                  <a:lnTo>
                    <a:pt x="328284" y="189119"/>
                  </a:lnTo>
                  <a:lnTo>
                    <a:pt x="372334" y="231018"/>
                  </a:lnTo>
                  <a:lnTo>
                    <a:pt x="407540" y="180338"/>
                  </a:lnTo>
                  <a:lnTo>
                    <a:pt x="460377" y="208845"/>
                  </a:lnTo>
                  <a:lnTo>
                    <a:pt x="480096" y="149672"/>
                  </a:lnTo>
                  <a:lnTo>
                    <a:pt x="539633" y="164861"/>
                  </a:lnTo>
                  <a:lnTo>
                    <a:pt x="543808" y="103150"/>
                  </a:lnTo>
                  <a:lnTo>
                    <a:pt x="605490" y="103150"/>
                  </a:lnTo>
                  <a:lnTo>
                    <a:pt x="594556" y="43992"/>
                  </a:lnTo>
                  <a:lnTo>
                    <a:pt x="654093" y="26418"/>
                  </a:lnTo>
                  <a:lnTo>
                    <a:pt x="642782" y="0"/>
                  </a:lnTo>
                  <a:close/>
                </a:path>
              </a:pathLst>
            </a:custGeom>
            <a:solidFill>
              <a:srgbClr val="33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940068" y="1778556"/>
              <a:ext cx="566420" cy="563880"/>
            </a:xfrm>
            <a:custGeom>
              <a:avLst/>
              <a:gdLst/>
              <a:ahLst/>
              <a:cxnLst/>
              <a:rect l="l" t="t" r="r" b="b"/>
              <a:pathLst>
                <a:path w="566420" h="563880">
                  <a:moveTo>
                    <a:pt x="284300" y="0"/>
                  </a:moveTo>
                  <a:lnTo>
                    <a:pt x="253272" y="37351"/>
                  </a:lnTo>
                  <a:lnTo>
                    <a:pt x="213804" y="8845"/>
                  </a:lnTo>
                  <a:lnTo>
                    <a:pt x="191648" y="52837"/>
                  </a:lnTo>
                  <a:lnTo>
                    <a:pt x="147656" y="35264"/>
                  </a:lnTo>
                  <a:lnTo>
                    <a:pt x="138781" y="83866"/>
                  </a:lnTo>
                  <a:lnTo>
                    <a:pt x="90556" y="77167"/>
                  </a:lnTo>
                  <a:lnTo>
                    <a:pt x="92643" y="125393"/>
                  </a:lnTo>
                  <a:lnTo>
                    <a:pt x="44058" y="132092"/>
                  </a:lnTo>
                  <a:lnTo>
                    <a:pt x="59527" y="178230"/>
                  </a:lnTo>
                  <a:lnTo>
                    <a:pt x="15549" y="195861"/>
                  </a:lnTo>
                  <a:lnTo>
                    <a:pt x="39809" y="235677"/>
                  </a:lnTo>
                  <a:lnTo>
                    <a:pt x="0" y="264184"/>
                  </a:lnTo>
                  <a:lnTo>
                    <a:pt x="37722" y="299389"/>
                  </a:lnTo>
                  <a:lnTo>
                    <a:pt x="6695" y="336740"/>
                  </a:lnTo>
                  <a:lnTo>
                    <a:pt x="48666" y="358926"/>
                  </a:lnTo>
                  <a:lnTo>
                    <a:pt x="26421" y="402976"/>
                  </a:lnTo>
                  <a:lnTo>
                    <a:pt x="75100" y="416025"/>
                  </a:lnTo>
                  <a:lnTo>
                    <a:pt x="66226" y="462511"/>
                  </a:lnTo>
                  <a:lnTo>
                    <a:pt x="114538" y="464599"/>
                  </a:lnTo>
                  <a:lnTo>
                    <a:pt x="116974" y="512824"/>
                  </a:lnTo>
                  <a:lnTo>
                    <a:pt x="165229" y="499804"/>
                  </a:lnTo>
                  <a:lnTo>
                    <a:pt x="180686" y="545953"/>
                  </a:lnTo>
                  <a:lnTo>
                    <a:pt x="222677" y="521699"/>
                  </a:lnTo>
                  <a:lnTo>
                    <a:pt x="249095" y="563591"/>
                  </a:lnTo>
                  <a:lnTo>
                    <a:pt x="284300" y="530477"/>
                  </a:lnTo>
                  <a:lnTo>
                    <a:pt x="319477" y="563591"/>
                  </a:lnTo>
                  <a:lnTo>
                    <a:pt x="345895" y="521699"/>
                  </a:lnTo>
                  <a:lnTo>
                    <a:pt x="387510" y="545953"/>
                  </a:lnTo>
                  <a:lnTo>
                    <a:pt x="402995" y="499804"/>
                  </a:lnTo>
                  <a:lnTo>
                    <a:pt x="449134" y="512824"/>
                  </a:lnTo>
                  <a:lnTo>
                    <a:pt x="453685" y="464599"/>
                  </a:lnTo>
                  <a:lnTo>
                    <a:pt x="501970" y="462511"/>
                  </a:lnTo>
                  <a:lnTo>
                    <a:pt x="493125" y="416025"/>
                  </a:lnTo>
                  <a:lnTo>
                    <a:pt x="539640" y="402976"/>
                  </a:lnTo>
                  <a:lnTo>
                    <a:pt x="519544" y="358926"/>
                  </a:lnTo>
                  <a:lnTo>
                    <a:pt x="561506" y="336740"/>
                  </a:lnTo>
                  <a:lnTo>
                    <a:pt x="530853" y="299389"/>
                  </a:lnTo>
                  <a:lnTo>
                    <a:pt x="566059" y="264184"/>
                  </a:lnTo>
                  <a:lnTo>
                    <a:pt x="526243" y="235677"/>
                  </a:lnTo>
                  <a:lnTo>
                    <a:pt x="552662" y="195861"/>
                  </a:lnTo>
                  <a:lnTo>
                    <a:pt x="508669" y="178230"/>
                  </a:lnTo>
                  <a:lnTo>
                    <a:pt x="522067" y="132092"/>
                  </a:lnTo>
                  <a:lnTo>
                    <a:pt x="473406" y="125393"/>
                  </a:lnTo>
                  <a:lnTo>
                    <a:pt x="478017" y="77167"/>
                  </a:lnTo>
                  <a:lnTo>
                    <a:pt x="429413" y="81401"/>
                  </a:lnTo>
                  <a:lnTo>
                    <a:pt x="420569" y="35264"/>
                  </a:lnTo>
                  <a:lnTo>
                    <a:pt x="374489" y="52837"/>
                  </a:lnTo>
                  <a:lnTo>
                    <a:pt x="354769" y="8845"/>
                  </a:lnTo>
                  <a:lnTo>
                    <a:pt x="314953" y="37351"/>
                  </a:lnTo>
                  <a:lnTo>
                    <a:pt x="284300" y="0"/>
                  </a:lnTo>
                  <a:close/>
                </a:path>
              </a:pathLst>
            </a:custGeom>
            <a:solidFill>
              <a:srgbClr val="00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944677" y="1780702"/>
              <a:ext cx="559435" cy="559435"/>
            </a:xfrm>
            <a:custGeom>
              <a:avLst/>
              <a:gdLst/>
              <a:ahLst/>
              <a:cxnLst/>
              <a:rect l="l" t="t" r="r" b="b"/>
              <a:pathLst>
                <a:path w="559434" h="559435">
                  <a:moveTo>
                    <a:pt x="279692" y="0"/>
                  </a:moveTo>
                  <a:lnTo>
                    <a:pt x="248663" y="37641"/>
                  </a:lnTo>
                  <a:lnTo>
                    <a:pt x="209195" y="8787"/>
                  </a:lnTo>
                  <a:lnTo>
                    <a:pt x="189185" y="52837"/>
                  </a:lnTo>
                  <a:lnTo>
                    <a:pt x="145135" y="35205"/>
                  </a:lnTo>
                  <a:lnTo>
                    <a:pt x="134172" y="83808"/>
                  </a:lnTo>
                  <a:lnTo>
                    <a:pt x="88035" y="77109"/>
                  </a:lnTo>
                  <a:lnTo>
                    <a:pt x="90210" y="125683"/>
                  </a:lnTo>
                  <a:lnTo>
                    <a:pt x="41897" y="129946"/>
                  </a:lnTo>
                  <a:lnTo>
                    <a:pt x="57092" y="176084"/>
                  </a:lnTo>
                  <a:lnTo>
                    <a:pt x="13028" y="193715"/>
                  </a:lnTo>
                  <a:lnTo>
                    <a:pt x="39450" y="235619"/>
                  </a:lnTo>
                  <a:lnTo>
                    <a:pt x="0" y="264125"/>
                  </a:lnTo>
                  <a:lnTo>
                    <a:pt x="35200" y="297243"/>
                  </a:lnTo>
                  <a:lnTo>
                    <a:pt x="4248" y="332506"/>
                  </a:lnTo>
                  <a:lnTo>
                    <a:pt x="46146" y="356779"/>
                  </a:lnTo>
                  <a:lnTo>
                    <a:pt x="26419" y="400829"/>
                  </a:lnTo>
                  <a:lnTo>
                    <a:pt x="72579" y="411703"/>
                  </a:lnTo>
                  <a:lnTo>
                    <a:pt x="63792" y="460364"/>
                  </a:lnTo>
                  <a:lnTo>
                    <a:pt x="112365" y="460364"/>
                  </a:lnTo>
                  <a:lnTo>
                    <a:pt x="114453" y="506531"/>
                  </a:lnTo>
                  <a:lnTo>
                    <a:pt x="160620" y="495570"/>
                  </a:lnTo>
                  <a:lnTo>
                    <a:pt x="176077" y="541719"/>
                  </a:lnTo>
                  <a:lnTo>
                    <a:pt x="218069" y="517377"/>
                  </a:lnTo>
                  <a:lnTo>
                    <a:pt x="244486" y="559287"/>
                  </a:lnTo>
                  <a:lnTo>
                    <a:pt x="279692" y="526242"/>
                  </a:lnTo>
                  <a:lnTo>
                    <a:pt x="314868" y="559287"/>
                  </a:lnTo>
                  <a:lnTo>
                    <a:pt x="338851" y="517377"/>
                  </a:lnTo>
                  <a:lnTo>
                    <a:pt x="382901" y="541719"/>
                  </a:lnTo>
                  <a:lnTo>
                    <a:pt x="396241" y="495570"/>
                  </a:lnTo>
                  <a:lnTo>
                    <a:pt x="444525" y="506531"/>
                  </a:lnTo>
                  <a:lnTo>
                    <a:pt x="446990" y="460364"/>
                  </a:lnTo>
                  <a:lnTo>
                    <a:pt x="495216" y="460364"/>
                  </a:lnTo>
                  <a:lnTo>
                    <a:pt x="486429" y="411703"/>
                  </a:lnTo>
                  <a:lnTo>
                    <a:pt x="532566" y="400829"/>
                  </a:lnTo>
                  <a:lnTo>
                    <a:pt x="512847" y="356779"/>
                  </a:lnTo>
                  <a:lnTo>
                    <a:pt x="554751" y="332506"/>
                  </a:lnTo>
                  <a:lnTo>
                    <a:pt x="523808" y="295155"/>
                  </a:lnTo>
                  <a:lnTo>
                    <a:pt x="558985" y="264125"/>
                  </a:lnTo>
                  <a:lnTo>
                    <a:pt x="519545" y="235619"/>
                  </a:lnTo>
                  <a:lnTo>
                    <a:pt x="545964" y="193715"/>
                  </a:lnTo>
                  <a:lnTo>
                    <a:pt x="499826" y="176084"/>
                  </a:lnTo>
                  <a:lnTo>
                    <a:pt x="514935" y="129946"/>
                  </a:lnTo>
                  <a:lnTo>
                    <a:pt x="468797" y="125683"/>
                  </a:lnTo>
                  <a:lnTo>
                    <a:pt x="470943" y="77109"/>
                  </a:lnTo>
                  <a:lnTo>
                    <a:pt x="422659" y="83808"/>
                  </a:lnTo>
                  <a:lnTo>
                    <a:pt x="413872" y="35205"/>
                  </a:lnTo>
                  <a:lnTo>
                    <a:pt x="369881" y="52837"/>
                  </a:lnTo>
                  <a:lnTo>
                    <a:pt x="347638" y="8787"/>
                  </a:lnTo>
                  <a:lnTo>
                    <a:pt x="310344" y="37641"/>
                  </a:lnTo>
                  <a:lnTo>
                    <a:pt x="279692" y="0"/>
                  </a:lnTo>
                  <a:close/>
                </a:path>
              </a:pathLst>
            </a:custGeom>
            <a:solidFill>
              <a:srgbClr val="0C8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946764" y="1785226"/>
              <a:ext cx="553085" cy="550545"/>
            </a:xfrm>
            <a:custGeom>
              <a:avLst/>
              <a:gdLst/>
              <a:ahLst/>
              <a:cxnLst/>
              <a:rect l="l" t="t" r="r" b="b"/>
              <a:pathLst>
                <a:path w="553084" h="550544">
                  <a:moveTo>
                    <a:pt x="277605" y="0"/>
                  </a:moveTo>
                  <a:lnTo>
                    <a:pt x="246576" y="35292"/>
                  </a:lnTo>
                  <a:lnTo>
                    <a:pt x="209283" y="8873"/>
                  </a:lnTo>
                  <a:lnTo>
                    <a:pt x="187098" y="50778"/>
                  </a:lnTo>
                  <a:lnTo>
                    <a:pt x="143048" y="33117"/>
                  </a:lnTo>
                  <a:lnTo>
                    <a:pt x="134261" y="81429"/>
                  </a:lnTo>
                  <a:lnTo>
                    <a:pt x="88124" y="74731"/>
                  </a:lnTo>
                  <a:lnTo>
                    <a:pt x="90211" y="121159"/>
                  </a:lnTo>
                  <a:lnTo>
                    <a:pt x="44060" y="127567"/>
                  </a:lnTo>
                  <a:lnTo>
                    <a:pt x="57442" y="173996"/>
                  </a:lnTo>
                  <a:lnTo>
                    <a:pt x="13389" y="191656"/>
                  </a:lnTo>
                  <a:lnTo>
                    <a:pt x="39810" y="231095"/>
                  </a:lnTo>
                  <a:lnTo>
                    <a:pt x="0" y="259601"/>
                  </a:lnTo>
                  <a:lnTo>
                    <a:pt x="35275" y="290631"/>
                  </a:lnTo>
                  <a:lnTo>
                    <a:pt x="4608" y="327982"/>
                  </a:lnTo>
                  <a:lnTo>
                    <a:pt x="46146" y="350166"/>
                  </a:lnTo>
                  <a:lnTo>
                    <a:pt x="26422" y="394159"/>
                  </a:lnTo>
                  <a:lnTo>
                    <a:pt x="72580" y="405091"/>
                  </a:lnTo>
                  <a:lnTo>
                    <a:pt x="63793" y="453318"/>
                  </a:lnTo>
                  <a:lnTo>
                    <a:pt x="112367" y="453318"/>
                  </a:lnTo>
                  <a:lnTo>
                    <a:pt x="114542" y="499833"/>
                  </a:lnTo>
                  <a:lnTo>
                    <a:pt x="160680" y="488610"/>
                  </a:lnTo>
                  <a:lnTo>
                    <a:pt x="176166" y="532591"/>
                  </a:lnTo>
                  <a:lnTo>
                    <a:pt x="215982" y="510766"/>
                  </a:lnTo>
                  <a:lnTo>
                    <a:pt x="242399" y="550228"/>
                  </a:lnTo>
                  <a:lnTo>
                    <a:pt x="277605" y="517470"/>
                  </a:lnTo>
                  <a:lnTo>
                    <a:pt x="312781" y="550228"/>
                  </a:lnTo>
                  <a:lnTo>
                    <a:pt x="336764" y="510766"/>
                  </a:lnTo>
                  <a:lnTo>
                    <a:pt x="378668" y="532591"/>
                  </a:lnTo>
                  <a:lnTo>
                    <a:pt x="394154" y="488610"/>
                  </a:lnTo>
                  <a:lnTo>
                    <a:pt x="440292" y="499833"/>
                  </a:lnTo>
                  <a:lnTo>
                    <a:pt x="442438" y="453318"/>
                  </a:lnTo>
                  <a:lnTo>
                    <a:pt x="491040" y="453318"/>
                  </a:lnTo>
                  <a:lnTo>
                    <a:pt x="482254" y="405091"/>
                  </a:lnTo>
                  <a:lnTo>
                    <a:pt x="528392" y="394159"/>
                  </a:lnTo>
                  <a:lnTo>
                    <a:pt x="506526" y="350166"/>
                  </a:lnTo>
                  <a:lnTo>
                    <a:pt x="548140" y="327982"/>
                  </a:lnTo>
                  <a:lnTo>
                    <a:pt x="519548" y="290631"/>
                  </a:lnTo>
                  <a:lnTo>
                    <a:pt x="552664" y="259601"/>
                  </a:lnTo>
                  <a:lnTo>
                    <a:pt x="515372" y="231095"/>
                  </a:lnTo>
                  <a:lnTo>
                    <a:pt x="539267" y="191656"/>
                  </a:lnTo>
                  <a:lnTo>
                    <a:pt x="495274" y="173996"/>
                  </a:lnTo>
                  <a:lnTo>
                    <a:pt x="510760" y="127567"/>
                  </a:lnTo>
                  <a:lnTo>
                    <a:pt x="464621" y="121159"/>
                  </a:lnTo>
                  <a:lnTo>
                    <a:pt x="466711" y="74731"/>
                  </a:lnTo>
                  <a:lnTo>
                    <a:pt x="418485" y="81429"/>
                  </a:lnTo>
                  <a:lnTo>
                    <a:pt x="409698" y="33117"/>
                  </a:lnTo>
                  <a:lnTo>
                    <a:pt x="365648" y="50778"/>
                  </a:lnTo>
                  <a:lnTo>
                    <a:pt x="345551" y="8873"/>
                  </a:lnTo>
                  <a:lnTo>
                    <a:pt x="308258" y="35292"/>
                  </a:lnTo>
                  <a:lnTo>
                    <a:pt x="277605" y="0"/>
                  </a:lnTo>
                  <a:close/>
                </a:path>
              </a:pathLst>
            </a:custGeom>
            <a:solidFill>
              <a:srgbClr val="178A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951372" y="1787401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546100" h="546100">
                  <a:moveTo>
                    <a:pt x="272996" y="0"/>
                  </a:moveTo>
                  <a:lnTo>
                    <a:pt x="241968" y="37292"/>
                  </a:lnTo>
                  <a:lnTo>
                    <a:pt x="204674" y="8785"/>
                  </a:lnTo>
                  <a:lnTo>
                    <a:pt x="184925" y="50690"/>
                  </a:lnTo>
                  <a:lnTo>
                    <a:pt x="140876" y="35204"/>
                  </a:lnTo>
                  <a:lnTo>
                    <a:pt x="132088" y="81342"/>
                  </a:lnTo>
                  <a:lnTo>
                    <a:pt x="85603" y="75021"/>
                  </a:lnTo>
                  <a:lnTo>
                    <a:pt x="88038" y="121159"/>
                  </a:lnTo>
                  <a:lnTo>
                    <a:pt x="41537" y="127857"/>
                  </a:lnTo>
                  <a:lnTo>
                    <a:pt x="54922" y="171820"/>
                  </a:lnTo>
                  <a:lnTo>
                    <a:pt x="13028" y="189481"/>
                  </a:lnTo>
                  <a:lnTo>
                    <a:pt x="37362" y="228920"/>
                  </a:lnTo>
                  <a:lnTo>
                    <a:pt x="0" y="257426"/>
                  </a:lnTo>
                  <a:lnTo>
                    <a:pt x="32754" y="288456"/>
                  </a:lnTo>
                  <a:lnTo>
                    <a:pt x="4245" y="325807"/>
                  </a:lnTo>
                  <a:lnTo>
                    <a:pt x="44056" y="347991"/>
                  </a:lnTo>
                  <a:lnTo>
                    <a:pt x="23969" y="389519"/>
                  </a:lnTo>
                  <a:lnTo>
                    <a:pt x="70464" y="402916"/>
                  </a:lnTo>
                  <a:lnTo>
                    <a:pt x="61620" y="449054"/>
                  </a:lnTo>
                  <a:lnTo>
                    <a:pt x="107758" y="449054"/>
                  </a:lnTo>
                  <a:lnTo>
                    <a:pt x="112021" y="495221"/>
                  </a:lnTo>
                  <a:lnTo>
                    <a:pt x="156071" y="484259"/>
                  </a:lnTo>
                  <a:lnTo>
                    <a:pt x="171557" y="528327"/>
                  </a:lnTo>
                  <a:lnTo>
                    <a:pt x="213461" y="506502"/>
                  </a:lnTo>
                  <a:lnTo>
                    <a:pt x="237790" y="545965"/>
                  </a:lnTo>
                  <a:lnTo>
                    <a:pt x="272996" y="512853"/>
                  </a:lnTo>
                  <a:lnTo>
                    <a:pt x="305737" y="545965"/>
                  </a:lnTo>
                  <a:lnTo>
                    <a:pt x="332155" y="506502"/>
                  </a:lnTo>
                  <a:lnTo>
                    <a:pt x="374059" y="528327"/>
                  </a:lnTo>
                  <a:lnTo>
                    <a:pt x="387457" y="484259"/>
                  </a:lnTo>
                  <a:lnTo>
                    <a:pt x="433595" y="495221"/>
                  </a:lnTo>
                  <a:lnTo>
                    <a:pt x="435683" y="449054"/>
                  </a:lnTo>
                  <a:lnTo>
                    <a:pt x="484344" y="449054"/>
                  </a:lnTo>
                  <a:lnTo>
                    <a:pt x="475499" y="402916"/>
                  </a:lnTo>
                  <a:lnTo>
                    <a:pt x="519549" y="389519"/>
                  </a:lnTo>
                  <a:lnTo>
                    <a:pt x="499452" y="347991"/>
                  </a:lnTo>
                  <a:lnTo>
                    <a:pt x="541357" y="325807"/>
                  </a:lnTo>
                  <a:lnTo>
                    <a:pt x="510763" y="288456"/>
                  </a:lnTo>
                  <a:lnTo>
                    <a:pt x="545967" y="257426"/>
                  </a:lnTo>
                  <a:lnTo>
                    <a:pt x="508240" y="228920"/>
                  </a:lnTo>
                  <a:lnTo>
                    <a:pt x="532570" y="189481"/>
                  </a:lnTo>
                  <a:lnTo>
                    <a:pt x="488520" y="171820"/>
                  </a:lnTo>
                  <a:lnTo>
                    <a:pt x="504064" y="127857"/>
                  </a:lnTo>
                  <a:lnTo>
                    <a:pt x="457926" y="121159"/>
                  </a:lnTo>
                  <a:lnTo>
                    <a:pt x="460013" y="75021"/>
                  </a:lnTo>
                  <a:lnTo>
                    <a:pt x="413876" y="81342"/>
                  </a:lnTo>
                  <a:lnTo>
                    <a:pt x="405089" y="35204"/>
                  </a:lnTo>
                  <a:lnTo>
                    <a:pt x="361039" y="50690"/>
                  </a:lnTo>
                  <a:lnTo>
                    <a:pt x="340942" y="8785"/>
                  </a:lnTo>
                  <a:lnTo>
                    <a:pt x="301503" y="37292"/>
                  </a:lnTo>
                  <a:lnTo>
                    <a:pt x="272996" y="0"/>
                  </a:lnTo>
                  <a:close/>
                </a:path>
              </a:pathLst>
            </a:custGeom>
            <a:solidFill>
              <a:srgbClr val="2390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53460" y="1791925"/>
              <a:ext cx="539750" cy="537210"/>
            </a:xfrm>
            <a:custGeom>
              <a:avLst/>
              <a:gdLst/>
              <a:ahLst/>
              <a:cxnLst/>
              <a:rect l="l" t="t" r="r" b="b"/>
              <a:pathLst>
                <a:path w="539750" h="537210">
                  <a:moveTo>
                    <a:pt x="270908" y="0"/>
                  </a:moveTo>
                  <a:lnTo>
                    <a:pt x="239880" y="35292"/>
                  </a:lnTo>
                  <a:lnTo>
                    <a:pt x="202586" y="8873"/>
                  </a:lnTo>
                  <a:lnTo>
                    <a:pt x="182838" y="50401"/>
                  </a:lnTo>
                  <a:lnTo>
                    <a:pt x="140962" y="32768"/>
                  </a:lnTo>
                  <a:lnTo>
                    <a:pt x="132088" y="79254"/>
                  </a:lnTo>
                  <a:lnTo>
                    <a:pt x="85951" y="72585"/>
                  </a:lnTo>
                  <a:lnTo>
                    <a:pt x="88125" y="118723"/>
                  </a:lnTo>
                  <a:lnTo>
                    <a:pt x="41968" y="125422"/>
                  </a:lnTo>
                  <a:lnTo>
                    <a:pt x="57096" y="169472"/>
                  </a:lnTo>
                  <a:lnTo>
                    <a:pt x="13028" y="187045"/>
                  </a:lnTo>
                  <a:lnTo>
                    <a:pt x="37363" y="224396"/>
                  </a:lnTo>
                  <a:lnTo>
                    <a:pt x="0" y="252902"/>
                  </a:lnTo>
                  <a:lnTo>
                    <a:pt x="35274" y="283932"/>
                  </a:lnTo>
                  <a:lnTo>
                    <a:pt x="4245" y="321283"/>
                  </a:lnTo>
                  <a:lnTo>
                    <a:pt x="46135" y="343467"/>
                  </a:lnTo>
                  <a:lnTo>
                    <a:pt x="26417" y="384995"/>
                  </a:lnTo>
                  <a:lnTo>
                    <a:pt x="70465" y="396304"/>
                  </a:lnTo>
                  <a:lnTo>
                    <a:pt x="61708" y="442442"/>
                  </a:lnTo>
                  <a:lnTo>
                    <a:pt x="107845" y="442442"/>
                  </a:lnTo>
                  <a:lnTo>
                    <a:pt x="112369" y="488609"/>
                  </a:lnTo>
                  <a:lnTo>
                    <a:pt x="156419" y="477648"/>
                  </a:lnTo>
                  <a:lnTo>
                    <a:pt x="171556" y="521715"/>
                  </a:lnTo>
                  <a:lnTo>
                    <a:pt x="211373" y="499455"/>
                  </a:lnTo>
                  <a:lnTo>
                    <a:pt x="235703" y="537192"/>
                  </a:lnTo>
                  <a:lnTo>
                    <a:pt x="270908" y="506154"/>
                  </a:lnTo>
                  <a:lnTo>
                    <a:pt x="303649" y="537192"/>
                  </a:lnTo>
                  <a:lnTo>
                    <a:pt x="330067" y="497396"/>
                  </a:lnTo>
                  <a:lnTo>
                    <a:pt x="369883" y="521715"/>
                  </a:lnTo>
                  <a:lnTo>
                    <a:pt x="385370" y="477648"/>
                  </a:lnTo>
                  <a:lnTo>
                    <a:pt x="429420" y="488609"/>
                  </a:lnTo>
                  <a:lnTo>
                    <a:pt x="431507" y="442442"/>
                  </a:lnTo>
                  <a:lnTo>
                    <a:pt x="477645" y="442442"/>
                  </a:lnTo>
                  <a:lnTo>
                    <a:pt x="468858" y="396304"/>
                  </a:lnTo>
                  <a:lnTo>
                    <a:pt x="515025" y="384995"/>
                  </a:lnTo>
                  <a:lnTo>
                    <a:pt x="495277" y="343467"/>
                  </a:lnTo>
                  <a:lnTo>
                    <a:pt x="535092" y="319138"/>
                  </a:lnTo>
                  <a:lnTo>
                    <a:pt x="506152" y="283932"/>
                  </a:lnTo>
                  <a:lnTo>
                    <a:pt x="539269" y="252902"/>
                  </a:lnTo>
                  <a:lnTo>
                    <a:pt x="501976" y="224396"/>
                  </a:lnTo>
                  <a:lnTo>
                    <a:pt x="528393" y="187045"/>
                  </a:lnTo>
                  <a:lnTo>
                    <a:pt x="484343" y="169472"/>
                  </a:lnTo>
                  <a:lnTo>
                    <a:pt x="497365" y="125422"/>
                  </a:lnTo>
                  <a:lnTo>
                    <a:pt x="453315" y="118723"/>
                  </a:lnTo>
                  <a:lnTo>
                    <a:pt x="455838" y="72585"/>
                  </a:lnTo>
                  <a:lnTo>
                    <a:pt x="409323" y="79254"/>
                  </a:lnTo>
                  <a:lnTo>
                    <a:pt x="400536" y="32768"/>
                  </a:lnTo>
                  <a:lnTo>
                    <a:pt x="356486" y="50401"/>
                  </a:lnTo>
                  <a:lnTo>
                    <a:pt x="336765" y="8873"/>
                  </a:lnTo>
                  <a:lnTo>
                    <a:pt x="299415" y="35292"/>
                  </a:lnTo>
                  <a:lnTo>
                    <a:pt x="270908" y="0"/>
                  </a:lnTo>
                  <a:close/>
                </a:path>
              </a:pathLst>
            </a:custGeom>
            <a:solidFill>
              <a:srgbClr val="2E95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957706" y="1794099"/>
              <a:ext cx="533400" cy="532765"/>
            </a:xfrm>
            <a:custGeom>
              <a:avLst/>
              <a:gdLst/>
              <a:ahLst/>
              <a:cxnLst/>
              <a:rect l="l" t="t" r="r" b="b"/>
              <a:pathLst>
                <a:path w="533400" h="532764">
                  <a:moveTo>
                    <a:pt x="266663" y="0"/>
                  </a:moveTo>
                  <a:lnTo>
                    <a:pt x="235634" y="35205"/>
                  </a:lnTo>
                  <a:lnTo>
                    <a:pt x="200428" y="8787"/>
                  </a:lnTo>
                  <a:lnTo>
                    <a:pt x="180680" y="50662"/>
                  </a:lnTo>
                  <a:lnTo>
                    <a:pt x="136716" y="33117"/>
                  </a:lnTo>
                  <a:lnTo>
                    <a:pt x="127843" y="79255"/>
                  </a:lnTo>
                  <a:lnTo>
                    <a:pt x="83879" y="72556"/>
                  </a:lnTo>
                  <a:lnTo>
                    <a:pt x="85968" y="118694"/>
                  </a:lnTo>
                  <a:lnTo>
                    <a:pt x="39801" y="125336"/>
                  </a:lnTo>
                  <a:lnTo>
                    <a:pt x="55286" y="167298"/>
                  </a:lnTo>
                  <a:lnTo>
                    <a:pt x="11304" y="184871"/>
                  </a:lnTo>
                  <a:lnTo>
                    <a:pt x="37722" y="224311"/>
                  </a:lnTo>
                  <a:lnTo>
                    <a:pt x="0" y="250728"/>
                  </a:lnTo>
                  <a:lnTo>
                    <a:pt x="33117" y="281758"/>
                  </a:lnTo>
                  <a:lnTo>
                    <a:pt x="4607" y="316964"/>
                  </a:lnTo>
                  <a:lnTo>
                    <a:pt x="44063" y="338857"/>
                  </a:lnTo>
                  <a:lnTo>
                    <a:pt x="24333" y="380733"/>
                  </a:lnTo>
                  <a:lnTo>
                    <a:pt x="68306" y="391608"/>
                  </a:lnTo>
                  <a:lnTo>
                    <a:pt x="59550" y="438123"/>
                  </a:lnTo>
                  <a:lnTo>
                    <a:pt x="105688" y="438123"/>
                  </a:lnTo>
                  <a:lnTo>
                    <a:pt x="110298" y="484261"/>
                  </a:lnTo>
                  <a:lnTo>
                    <a:pt x="154261" y="470862"/>
                  </a:lnTo>
                  <a:lnTo>
                    <a:pt x="167311" y="514934"/>
                  </a:lnTo>
                  <a:lnTo>
                    <a:pt x="207128" y="493134"/>
                  </a:lnTo>
                  <a:lnTo>
                    <a:pt x="233546" y="532570"/>
                  </a:lnTo>
                  <a:lnTo>
                    <a:pt x="266663" y="501892"/>
                  </a:lnTo>
                  <a:lnTo>
                    <a:pt x="299403" y="532570"/>
                  </a:lnTo>
                  <a:lnTo>
                    <a:pt x="323734" y="493134"/>
                  </a:lnTo>
                  <a:lnTo>
                    <a:pt x="363462" y="514934"/>
                  </a:lnTo>
                  <a:lnTo>
                    <a:pt x="378659" y="470862"/>
                  </a:lnTo>
                  <a:lnTo>
                    <a:pt x="422650" y="484261"/>
                  </a:lnTo>
                  <a:lnTo>
                    <a:pt x="425174" y="438123"/>
                  </a:lnTo>
                  <a:lnTo>
                    <a:pt x="471312" y="438123"/>
                  </a:lnTo>
                  <a:lnTo>
                    <a:pt x="462466" y="391608"/>
                  </a:lnTo>
                  <a:lnTo>
                    <a:pt x="508605" y="380733"/>
                  </a:lnTo>
                  <a:lnTo>
                    <a:pt x="488885" y="338857"/>
                  </a:lnTo>
                  <a:lnTo>
                    <a:pt x="528325" y="316964"/>
                  </a:lnTo>
                  <a:lnTo>
                    <a:pt x="499818" y="281758"/>
                  </a:lnTo>
                  <a:lnTo>
                    <a:pt x="532935" y="250728"/>
                  </a:lnTo>
                  <a:lnTo>
                    <a:pt x="495584" y="224311"/>
                  </a:lnTo>
                  <a:lnTo>
                    <a:pt x="519537" y="184871"/>
                  </a:lnTo>
                  <a:lnTo>
                    <a:pt x="478011" y="167298"/>
                  </a:lnTo>
                  <a:lnTo>
                    <a:pt x="491031" y="123248"/>
                  </a:lnTo>
                  <a:lnTo>
                    <a:pt x="446981" y="118694"/>
                  </a:lnTo>
                  <a:lnTo>
                    <a:pt x="449069" y="72556"/>
                  </a:lnTo>
                  <a:lnTo>
                    <a:pt x="402931" y="79255"/>
                  </a:lnTo>
                  <a:lnTo>
                    <a:pt x="394144" y="33117"/>
                  </a:lnTo>
                  <a:lnTo>
                    <a:pt x="352240" y="50662"/>
                  </a:lnTo>
                  <a:lnTo>
                    <a:pt x="332520" y="8787"/>
                  </a:lnTo>
                  <a:lnTo>
                    <a:pt x="295169" y="35205"/>
                  </a:lnTo>
                  <a:lnTo>
                    <a:pt x="266663" y="0"/>
                  </a:lnTo>
                  <a:close/>
                </a:path>
              </a:pathLst>
            </a:custGeom>
            <a:solidFill>
              <a:srgbClr val="3A9B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960153" y="1798275"/>
              <a:ext cx="526415" cy="524510"/>
            </a:xfrm>
            <a:custGeom>
              <a:avLst/>
              <a:gdLst/>
              <a:ahLst/>
              <a:cxnLst/>
              <a:rect l="l" t="t" r="r" b="b"/>
              <a:pathLst>
                <a:path w="526415" h="524510">
                  <a:moveTo>
                    <a:pt x="264215" y="0"/>
                  </a:moveTo>
                  <a:lnTo>
                    <a:pt x="235332" y="33117"/>
                  </a:lnTo>
                  <a:lnTo>
                    <a:pt x="197981" y="6699"/>
                  </a:lnTo>
                  <a:lnTo>
                    <a:pt x="178233" y="48661"/>
                  </a:lnTo>
                  <a:lnTo>
                    <a:pt x="136358" y="31029"/>
                  </a:lnTo>
                  <a:lnTo>
                    <a:pt x="127571" y="77167"/>
                  </a:lnTo>
                  <a:lnTo>
                    <a:pt x="83521" y="70468"/>
                  </a:lnTo>
                  <a:lnTo>
                    <a:pt x="85609" y="116983"/>
                  </a:lnTo>
                  <a:lnTo>
                    <a:pt x="41616" y="121160"/>
                  </a:lnTo>
                  <a:lnTo>
                    <a:pt x="55015" y="165210"/>
                  </a:lnTo>
                  <a:lnTo>
                    <a:pt x="13032" y="180695"/>
                  </a:lnTo>
                  <a:lnTo>
                    <a:pt x="37354" y="220135"/>
                  </a:lnTo>
                  <a:lnTo>
                    <a:pt x="0" y="246552"/>
                  </a:lnTo>
                  <a:lnTo>
                    <a:pt x="32757" y="277582"/>
                  </a:lnTo>
                  <a:lnTo>
                    <a:pt x="4248" y="312788"/>
                  </a:lnTo>
                  <a:lnTo>
                    <a:pt x="44052" y="334681"/>
                  </a:lnTo>
                  <a:lnTo>
                    <a:pt x="23973" y="376557"/>
                  </a:lnTo>
                  <a:lnTo>
                    <a:pt x="68035" y="387432"/>
                  </a:lnTo>
                  <a:lnTo>
                    <a:pt x="61683" y="431511"/>
                  </a:lnTo>
                  <a:lnTo>
                    <a:pt x="105676" y="431511"/>
                  </a:lnTo>
                  <a:lnTo>
                    <a:pt x="107850" y="475561"/>
                  </a:lnTo>
                  <a:lnTo>
                    <a:pt x="151814" y="464599"/>
                  </a:lnTo>
                  <a:lnTo>
                    <a:pt x="167300" y="508669"/>
                  </a:lnTo>
                  <a:lnTo>
                    <a:pt x="206768" y="486784"/>
                  </a:lnTo>
                  <a:lnTo>
                    <a:pt x="231099" y="524146"/>
                  </a:lnTo>
                  <a:lnTo>
                    <a:pt x="264215" y="493105"/>
                  </a:lnTo>
                  <a:lnTo>
                    <a:pt x="296956" y="524146"/>
                  </a:lnTo>
                  <a:lnTo>
                    <a:pt x="321287" y="486784"/>
                  </a:lnTo>
                  <a:lnTo>
                    <a:pt x="361015" y="508669"/>
                  </a:lnTo>
                  <a:lnTo>
                    <a:pt x="374122" y="464599"/>
                  </a:lnTo>
                  <a:lnTo>
                    <a:pt x="418115" y="475561"/>
                  </a:lnTo>
                  <a:lnTo>
                    <a:pt x="422727" y="431511"/>
                  </a:lnTo>
                  <a:lnTo>
                    <a:pt x="466718" y="431511"/>
                  </a:lnTo>
                  <a:lnTo>
                    <a:pt x="457932" y="387432"/>
                  </a:lnTo>
                  <a:lnTo>
                    <a:pt x="501982" y="374411"/>
                  </a:lnTo>
                  <a:lnTo>
                    <a:pt x="484350" y="334681"/>
                  </a:lnTo>
                  <a:lnTo>
                    <a:pt x="523789" y="312788"/>
                  </a:lnTo>
                  <a:lnTo>
                    <a:pt x="493137" y="277582"/>
                  </a:lnTo>
                  <a:lnTo>
                    <a:pt x="525877" y="246552"/>
                  </a:lnTo>
                  <a:lnTo>
                    <a:pt x="490672" y="220135"/>
                  </a:lnTo>
                  <a:lnTo>
                    <a:pt x="515002" y="180695"/>
                  </a:lnTo>
                  <a:lnTo>
                    <a:pt x="473040" y="165210"/>
                  </a:lnTo>
                  <a:lnTo>
                    <a:pt x="486437" y="121160"/>
                  </a:lnTo>
                  <a:lnTo>
                    <a:pt x="442446" y="116983"/>
                  </a:lnTo>
                  <a:lnTo>
                    <a:pt x="444534" y="70468"/>
                  </a:lnTo>
                  <a:lnTo>
                    <a:pt x="398396" y="77167"/>
                  </a:lnTo>
                  <a:lnTo>
                    <a:pt x="391697" y="31029"/>
                  </a:lnTo>
                  <a:lnTo>
                    <a:pt x="347705" y="48661"/>
                  </a:lnTo>
                  <a:lnTo>
                    <a:pt x="330073" y="6699"/>
                  </a:lnTo>
                  <a:lnTo>
                    <a:pt x="292722" y="33117"/>
                  </a:lnTo>
                  <a:lnTo>
                    <a:pt x="264215" y="0"/>
                  </a:lnTo>
                  <a:close/>
                </a:path>
              </a:pathLst>
            </a:custGeom>
            <a:solidFill>
              <a:srgbClr val="45A0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964401" y="1800798"/>
              <a:ext cx="520065" cy="520065"/>
            </a:xfrm>
            <a:custGeom>
              <a:avLst/>
              <a:gdLst/>
              <a:ahLst/>
              <a:cxnLst/>
              <a:rect l="l" t="t" r="r" b="b"/>
              <a:pathLst>
                <a:path w="520065" h="520064">
                  <a:moveTo>
                    <a:pt x="259967" y="0"/>
                  </a:moveTo>
                  <a:lnTo>
                    <a:pt x="231084" y="35205"/>
                  </a:lnTo>
                  <a:lnTo>
                    <a:pt x="193733" y="8757"/>
                  </a:lnTo>
                  <a:lnTo>
                    <a:pt x="176072" y="48225"/>
                  </a:lnTo>
                  <a:lnTo>
                    <a:pt x="134197" y="32740"/>
                  </a:lnTo>
                  <a:lnTo>
                    <a:pt x="125411" y="76732"/>
                  </a:lnTo>
                  <a:lnTo>
                    <a:pt x="81361" y="70380"/>
                  </a:lnTo>
                  <a:lnTo>
                    <a:pt x="83854" y="114460"/>
                  </a:lnTo>
                  <a:lnTo>
                    <a:pt x="39804" y="120782"/>
                  </a:lnTo>
                  <a:lnTo>
                    <a:pt x="52854" y="162687"/>
                  </a:lnTo>
                  <a:lnTo>
                    <a:pt x="10941" y="180318"/>
                  </a:lnTo>
                  <a:lnTo>
                    <a:pt x="35194" y="217611"/>
                  </a:lnTo>
                  <a:lnTo>
                    <a:pt x="0" y="244029"/>
                  </a:lnTo>
                  <a:lnTo>
                    <a:pt x="31027" y="275059"/>
                  </a:lnTo>
                  <a:lnTo>
                    <a:pt x="4608" y="310264"/>
                  </a:lnTo>
                  <a:lnTo>
                    <a:pt x="41893" y="329984"/>
                  </a:lnTo>
                  <a:lnTo>
                    <a:pt x="24333" y="371887"/>
                  </a:lnTo>
                  <a:lnTo>
                    <a:pt x="66222" y="382821"/>
                  </a:lnTo>
                  <a:lnTo>
                    <a:pt x="59524" y="426900"/>
                  </a:lnTo>
                  <a:lnTo>
                    <a:pt x="103602" y="426900"/>
                  </a:lnTo>
                  <a:lnTo>
                    <a:pt x="105691" y="470862"/>
                  </a:lnTo>
                  <a:lnTo>
                    <a:pt x="149741" y="459987"/>
                  </a:lnTo>
                  <a:lnTo>
                    <a:pt x="163052" y="503985"/>
                  </a:lnTo>
                  <a:lnTo>
                    <a:pt x="202520" y="481824"/>
                  </a:lnTo>
                  <a:lnTo>
                    <a:pt x="226851" y="519465"/>
                  </a:lnTo>
                  <a:lnTo>
                    <a:pt x="259967" y="488523"/>
                  </a:lnTo>
                  <a:lnTo>
                    <a:pt x="292708" y="519465"/>
                  </a:lnTo>
                  <a:lnTo>
                    <a:pt x="317038" y="481824"/>
                  </a:lnTo>
                  <a:lnTo>
                    <a:pt x="354332" y="503985"/>
                  </a:lnTo>
                  <a:lnTo>
                    <a:pt x="369874" y="459987"/>
                  </a:lnTo>
                  <a:lnTo>
                    <a:pt x="411779" y="470862"/>
                  </a:lnTo>
                  <a:lnTo>
                    <a:pt x="415955" y="426900"/>
                  </a:lnTo>
                  <a:lnTo>
                    <a:pt x="460005" y="426900"/>
                  </a:lnTo>
                  <a:lnTo>
                    <a:pt x="451219" y="382821"/>
                  </a:lnTo>
                  <a:lnTo>
                    <a:pt x="495211" y="371887"/>
                  </a:lnTo>
                  <a:lnTo>
                    <a:pt x="475491" y="329984"/>
                  </a:lnTo>
                  <a:lnTo>
                    <a:pt x="515307" y="310264"/>
                  </a:lnTo>
                  <a:lnTo>
                    <a:pt x="486423" y="275059"/>
                  </a:lnTo>
                  <a:lnTo>
                    <a:pt x="519541" y="244029"/>
                  </a:lnTo>
                  <a:lnTo>
                    <a:pt x="484336" y="217611"/>
                  </a:lnTo>
                  <a:lnTo>
                    <a:pt x="506520" y="180318"/>
                  </a:lnTo>
                  <a:lnTo>
                    <a:pt x="466704" y="162687"/>
                  </a:lnTo>
                  <a:lnTo>
                    <a:pt x="480101" y="120782"/>
                  </a:lnTo>
                  <a:lnTo>
                    <a:pt x="436051" y="114460"/>
                  </a:lnTo>
                  <a:lnTo>
                    <a:pt x="438198" y="70380"/>
                  </a:lnTo>
                  <a:lnTo>
                    <a:pt x="394148" y="76732"/>
                  </a:lnTo>
                  <a:lnTo>
                    <a:pt x="385361" y="32740"/>
                  </a:lnTo>
                  <a:lnTo>
                    <a:pt x="343457" y="48225"/>
                  </a:lnTo>
                  <a:lnTo>
                    <a:pt x="323738" y="8757"/>
                  </a:lnTo>
                  <a:lnTo>
                    <a:pt x="288474" y="35205"/>
                  </a:lnTo>
                  <a:lnTo>
                    <a:pt x="259967" y="0"/>
                  </a:lnTo>
                  <a:close/>
                </a:path>
              </a:pathLst>
            </a:custGeom>
            <a:solidFill>
              <a:srgbClr val="51A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966489" y="1804974"/>
              <a:ext cx="513715" cy="511175"/>
            </a:xfrm>
            <a:custGeom>
              <a:avLst/>
              <a:gdLst/>
              <a:ahLst/>
              <a:cxnLst/>
              <a:rect l="l" t="t" r="r" b="b"/>
              <a:pathLst>
                <a:path w="513715" h="511175">
                  <a:moveTo>
                    <a:pt x="257879" y="0"/>
                  </a:moveTo>
                  <a:lnTo>
                    <a:pt x="228996" y="33117"/>
                  </a:lnTo>
                  <a:lnTo>
                    <a:pt x="193733" y="6670"/>
                  </a:lnTo>
                  <a:lnTo>
                    <a:pt x="173984" y="46137"/>
                  </a:lnTo>
                  <a:lnTo>
                    <a:pt x="132109" y="31029"/>
                  </a:lnTo>
                  <a:lnTo>
                    <a:pt x="125759" y="74992"/>
                  </a:lnTo>
                  <a:lnTo>
                    <a:pt x="81766" y="68380"/>
                  </a:lnTo>
                  <a:lnTo>
                    <a:pt x="83855" y="112373"/>
                  </a:lnTo>
                  <a:lnTo>
                    <a:pt x="39805" y="119071"/>
                  </a:lnTo>
                  <a:lnTo>
                    <a:pt x="52854" y="160599"/>
                  </a:lnTo>
                  <a:lnTo>
                    <a:pt x="13388" y="176142"/>
                  </a:lnTo>
                  <a:lnTo>
                    <a:pt x="35280" y="213436"/>
                  </a:lnTo>
                  <a:lnTo>
                    <a:pt x="0" y="239853"/>
                  </a:lnTo>
                  <a:lnTo>
                    <a:pt x="33106" y="270883"/>
                  </a:lnTo>
                  <a:lnTo>
                    <a:pt x="4607" y="304001"/>
                  </a:lnTo>
                  <a:lnTo>
                    <a:pt x="44067" y="325808"/>
                  </a:lnTo>
                  <a:lnTo>
                    <a:pt x="24334" y="365624"/>
                  </a:lnTo>
                  <a:lnTo>
                    <a:pt x="66222" y="376557"/>
                  </a:lnTo>
                  <a:lnTo>
                    <a:pt x="59523" y="420549"/>
                  </a:lnTo>
                  <a:lnTo>
                    <a:pt x="103604" y="420549"/>
                  </a:lnTo>
                  <a:lnTo>
                    <a:pt x="105690" y="464599"/>
                  </a:lnTo>
                  <a:lnTo>
                    <a:pt x="149741" y="453666"/>
                  </a:lnTo>
                  <a:lnTo>
                    <a:pt x="163139" y="495280"/>
                  </a:lnTo>
                  <a:lnTo>
                    <a:pt x="200432" y="475560"/>
                  </a:lnTo>
                  <a:lnTo>
                    <a:pt x="224763" y="510754"/>
                  </a:lnTo>
                  <a:lnTo>
                    <a:pt x="257879" y="482259"/>
                  </a:lnTo>
                  <a:lnTo>
                    <a:pt x="288532" y="510754"/>
                  </a:lnTo>
                  <a:lnTo>
                    <a:pt x="312804" y="475560"/>
                  </a:lnTo>
                  <a:lnTo>
                    <a:pt x="352244" y="495280"/>
                  </a:lnTo>
                  <a:lnTo>
                    <a:pt x="365641" y="453666"/>
                  </a:lnTo>
                  <a:lnTo>
                    <a:pt x="409691" y="464599"/>
                  </a:lnTo>
                  <a:lnTo>
                    <a:pt x="411779" y="420549"/>
                  </a:lnTo>
                  <a:lnTo>
                    <a:pt x="455829" y="420549"/>
                  </a:lnTo>
                  <a:lnTo>
                    <a:pt x="446985" y="376557"/>
                  </a:lnTo>
                  <a:lnTo>
                    <a:pt x="491035" y="365624"/>
                  </a:lnTo>
                  <a:lnTo>
                    <a:pt x="471314" y="325808"/>
                  </a:lnTo>
                  <a:lnTo>
                    <a:pt x="510754" y="304001"/>
                  </a:lnTo>
                  <a:lnTo>
                    <a:pt x="482248" y="270883"/>
                  </a:lnTo>
                  <a:lnTo>
                    <a:pt x="513219" y="239853"/>
                  </a:lnTo>
                  <a:lnTo>
                    <a:pt x="478014" y="213436"/>
                  </a:lnTo>
                  <a:lnTo>
                    <a:pt x="501996" y="176142"/>
                  </a:lnTo>
                  <a:lnTo>
                    <a:pt x="460382" y="160599"/>
                  </a:lnTo>
                  <a:lnTo>
                    <a:pt x="475548" y="119071"/>
                  </a:lnTo>
                  <a:lnTo>
                    <a:pt x="431499" y="112373"/>
                  </a:lnTo>
                  <a:lnTo>
                    <a:pt x="433964" y="68380"/>
                  </a:lnTo>
                  <a:lnTo>
                    <a:pt x="389972" y="74992"/>
                  </a:lnTo>
                  <a:lnTo>
                    <a:pt x="381097" y="31029"/>
                  </a:lnTo>
                  <a:lnTo>
                    <a:pt x="339223" y="46137"/>
                  </a:lnTo>
                  <a:lnTo>
                    <a:pt x="321650" y="6670"/>
                  </a:lnTo>
                  <a:lnTo>
                    <a:pt x="286386" y="33117"/>
                  </a:lnTo>
                  <a:lnTo>
                    <a:pt x="257879" y="0"/>
                  </a:lnTo>
                  <a:close/>
                </a:path>
              </a:pathLst>
            </a:custGeom>
            <a:solidFill>
              <a:srgbClr val="5DAB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971097" y="1807121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29" h="506730">
                  <a:moveTo>
                    <a:pt x="253272" y="0"/>
                  </a:moveTo>
                  <a:lnTo>
                    <a:pt x="224388" y="33116"/>
                  </a:lnTo>
                  <a:lnTo>
                    <a:pt x="189125" y="8787"/>
                  </a:lnTo>
                  <a:lnTo>
                    <a:pt x="171551" y="48602"/>
                  </a:lnTo>
                  <a:lnTo>
                    <a:pt x="129938" y="30971"/>
                  </a:lnTo>
                  <a:lnTo>
                    <a:pt x="121151" y="75021"/>
                  </a:lnTo>
                  <a:lnTo>
                    <a:pt x="79248" y="68322"/>
                  </a:lnTo>
                  <a:lnTo>
                    <a:pt x="81334" y="112314"/>
                  </a:lnTo>
                  <a:lnTo>
                    <a:pt x="37372" y="119012"/>
                  </a:lnTo>
                  <a:lnTo>
                    <a:pt x="50740" y="158452"/>
                  </a:lnTo>
                  <a:lnTo>
                    <a:pt x="10942" y="176084"/>
                  </a:lnTo>
                  <a:lnTo>
                    <a:pt x="35198" y="213812"/>
                  </a:lnTo>
                  <a:lnTo>
                    <a:pt x="0" y="237707"/>
                  </a:lnTo>
                  <a:lnTo>
                    <a:pt x="30673" y="268737"/>
                  </a:lnTo>
                  <a:lnTo>
                    <a:pt x="2089" y="301854"/>
                  </a:lnTo>
                  <a:lnTo>
                    <a:pt x="41896" y="323662"/>
                  </a:lnTo>
                  <a:lnTo>
                    <a:pt x="21813" y="363477"/>
                  </a:lnTo>
                  <a:lnTo>
                    <a:pt x="65878" y="374411"/>
                  </a:lnTo>
                  <a:lnTo>
                    <a:pt x="57091" y="416314"/>
                  </a:lnTo>
                  <a:lnTo>
                    <a:pt x="101083" y="416314"/>
                  </a:lnTo>
                  <a:lnTo>
                    <a:pt x="103606" y="460364"/>
                  </a:lnTo>
                  <a:lnTo>
                    <a:pt x="145134" y="449084"/>
                  </a:lnTo>
                  <a:lnTo>
                    <a:pt x="158531" y="490959"/>
                  </a:lnTo>
                  <a:lnTo>
                    <a:pt x="197970" y="469151"/>
                  </a:lnTo>
                  <a:lnTo>
                    <a:pt x="220155" y="506520"/>
                  </a:lnTo>
                  <a:lnTo>
                    <a:pt x="253272" y="475501"/>
                  </a:lnTo>
                  <a:lnTo>
                    <a:pt x="283925" y="506520"/>
                  </a:lnTo>
                  <a:lnTo>
                    <a:pt x="308197" y="469151"/>
                  </a:lnTo>
                  <a:lnTo>
                    <a:pt x="345547" y="490959"/>
                  </a:lnTo>
                  <a:lnTo>
                    <a:pt x="358946" y="449084"/>
                  </a:lnTo>
                  <a:lnTo>
                    <a:pt x="402939" y="460364"/>
                  </a:lnTo>
                  <a:lnTo>
                    <a:pt x="405084" y="416314"/>
                  </a:lnTo>
                  <a:lnTo>
                    <a:pt x="449075" y="416314"/>
                  </a:lnTo>
                  <a:lnTo>
                    <a:pt x="440288" y="374411"/>
                  </a:lnTo>
                  <a:lnTo>
                    <a:pt x="482193" y="363477"/>
                  </a:lnTo>
                  <a:lnTo>
                    <a:pt x="464620" y="323662"/>
                  </a:lnTo>
                  <a:lnTo>
                    <a:pt x="501912" y="301854"/>
                  </a:lnTo>
                  <a:lnTo>
                    <a:pt x="475494" y="268737"/>
                  </a:lnTo>
                  <a:lnTo>
                    <a:pt x="506147" y="237707"/>
                  </a:lnTo>
                  <a:lnTo>
                    <a:pt x="470941" y="213812"/>
                  </a:lnTo>
                  <a:lnTo>
                    <a:pt x="495214" y="176084"/>
                  </a:lnTo>
                  <a:lnTo>
                    <a:pt x="453309" y="158452"/>
                  </a:lnTo>
                  <a:lnTo>
                    <a:pt x="466707" y="119012"/>
                  </a:lnTo>
                  <a:lnTo>
                    <a:pt x="424803" y="112314"/>
                  </a:lnTo>
                  <a:lnTo>
                    <a:pt x="426891" y="68322"/>
                  </a:lnTo>
                  <a:lnTo>
                    <a:pt x="382899" y="75021"/>
                  </a:lnTo>
                  <a:lnTo>
                    <a:pt x="374055" y="30971"/>
                  </a:lnTo>
                  <a:lnTo>
                    <a:pt x="334615" y="48602"/>
                  </a:lnTo>
                  <a:lnTo>
                    <a:pt x="317042" y="8787"/>
                  </a:lnTo>
                  <a:lnTo>
                    <a:pt x="279690" y="33116"/>
                  </a:lnTo>
                  <a:lnTo>
                    <a:pt x="253272" y="0"/>
                  </a:lnTo>
                  <a:close/>
                </a:path>
              </a:pathLst>
            </a:custGeom>
            <a:solidFill>
              <a:srgbClr val="68B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73186" y="1809556"/>
              <a:ext cx="502284" cy="502284"/>
            </a:xfrm>
            <a:custGeom>
              <a:avLst/>
              <a:gdLst/>
              <a:ahLst/>
              <a:cxnLst/>
              <a:rect l="l" t="t" r="r" b="b"/>
              <a:pathLst>
                <a:path w="502284" h="502285">
                  <a:moveTo>
                    <a:pt x="251183" y="0"/>
                  </a:moveTo>
                  <a:lnTo>
                    <a:pt x="222299" y="35205"/>
                  </a:lnTo>
                  <a:lnTo>
                    <a:pt x="187036" y="8787"/>
                  </a:lnTo>
                  <a:lnTo>
                    <a:pt x="169462" y="48254"/>
                  </a:lnTo>
                  <a:lnTo>
                    <a:pt x="130023" y="32769"/>
                  </a:lnTo>
                  <a:lnTo>
                    <a:pt x="121236" y="74673"/>
                  </a:lnTo>
                  <a:lnTo>
                    <a:pt x="79245" y="67974"/>
                  </a:lnTo>
                  <a:lnTo>
                    <a:pt x="81420" y="112024"/>
                  </a:lnTo>
                  <a:lnTo>
                    <a:pt x="39806" y="116577"/>
                  </a:lnTo>
                  <a:lnTo>
                    <a:pt x="52826" y="158539"/>
                  </a:lnTo>
                  <a:lnTo>
                    <a:pt x="10941" y="173648"/>
                  </a:lnTo>
                  <a:lnTo>
                    <a:pt x="35283" y="211376"/>
                  </a:lnTo>
                  <a:lnTo>
                    <a:pt x="0" y="235271"/>
                  </a:lnTo>
                  <a:lnTo>
                    <a:pt x="31019" y="266301"/>
                  </a:lnTo>
                  <a:lnTo>
                    <a:pt x="4605" y="299419"/>
                  </a:lnTo>
                  <a:lnTo>
                    <a:pt x="41982" y="319138"/>
                  </a:lnTo>
                  <a:lnTo>
                    <a:pt x="24321" y="358606"/>
                  </a:lnTo>
                  <a:lnTo>
                    <a:pt x="66225" y="369829"/>
                  </a:lnTo>
                  <a:lnTo>
                    <a:pt x="57438" y="411443"/>
                  </a:lnTo>
                  <a:lnTo>
                    <a:pt x="101517" y="411443"/>
                  </a:lnTo>
                  <a:lnTo>
                    <a:pt x="103605" y="455405"/>
                  </a:lnTo>
                  <a:lnTo>
                    <a:pt x="145481" y="444560"/>
                  </a:lnTo>
                  <a:lnTo>
                    <a:pt x="158530" y="484347"/>
                  </a:lnTo>
                  <a:lnTo>
                    <a:pt x="195880" y="464280"/>
                  </a:lnTo>
                  <a:lnTo>
                    <a:pt x="220154" y="501924"/>
                  </a:lnTo>
                  <a:lnTo>
                    <a:pt x="251183" y="470978"/>
                  </a:lnTo>
                  <a:lnTo>
                    <a:pt x="281835" y="501924"/>
                  </a:lnTo>
                  <a:lnTo>
                    <a:pt x="306108" y="464280"/>
                  </a:lnTo>
                  <a:lnTo>
                    <a:pt x="343458" y="484347"/>
                  </a:lnTo>
                  <a:lnTo>
                    <a:pt x="356857" y="444560"/>
                  </a:lnTo>
                  <a:lnTo>
                    <a:pt x="398385" y="455405"/>
                  </a:lnTo>
                  <a:lnTo>
                    <a:pt x="400850" y="411443"/>
                  </a:lnTo>
                  <a:lnTo>
                    <a:pt x="444900" y="411443"/>
                  </a:lnTo>
                  <a:lnTo>
                    <a:pt x="436112" y="369829"/>
                  </a:lnTo>
                  <a:lnTo>
                    <a:pt x="477639" y="358606"/>
                  </a:lnTo>
                  <a:lnTo>
                    <a:pt x="460007" y="319138"/>
                  </a:lnTo>
                  <a:lnTo>
                    <a:pt x="497735" y="299419"/>
                  </a:lnTo>
                  <a:lnTo>
                    <a:pt x="468852" y="266301"/>
                  </a:lnTo>
                  <a:lnTo>
                    <a:pt x="501970" y="235271"/>
                  </a:lnTo>
                  <a:lnTo>
                    <a:pt x="466707" y="211376"/>
                  </a:lnTo>
                  <a:lnTo>
                    <a:pt x="488950" y="173648"/>
                  </a:lnTo>
                  <a:lnTo>
                    <a:pt x="449132" y="158539"/>
                  </a:lnTo>
                  <a:lnTo>
                    <a:pt x="462531" y="116577"/>
                  </a:lnTo>
                  <a:lnTo>
                    <a:pt x="420568" y="112024"/>
                  </a:lnTo>
                  <a:lnTo>
                    <a:pt x="422714" y="67974"/>
                  </a:lnTo>
                  <a:lnTo>
                    <a:pt x="378664" y="74673"/>
                  </a:lnTo>
                  <a:lnTo>
                    <a:pt x="371966" y="32769"/>
                  </a:lnTo>
                  <a:lnTo>
                    <a:pt x="332526" y="48254"/>
                  </a:lnTo>
                  <a:lnTo>
                    <a:pt x="312778" y="8787"/>
                  </a:lnTo>
                  <a:lnTo>
                    <a:pt x="277601" y="35205"/>
                  </a:lnTo>
                  <a:lnTo>
                    <a:pt x="251183" y="0"/>
                  </a:lnTo>
                  <a:close/>
                </a:path>
              </a:pathLst>
            </a:custGeom>
            <a:solidFill>
              <a:srgbClr val="74B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977791" y="1813820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5" h="493394">
                  <a:moveTo>
                    <a:pt x="246578" y="0"/>
                  </a:moveTo>
                  <a:lnTo>
                    <a:pt x="217694" y="33116"/>
                  </a:lnTo>
                  <a:lnTo>
                    <a:pt x="184955" y="6697"/>
                  </a:lnTo>
                  <a:lnTo>
                    <a:pt x="167294" y="46137"/>
                  </a:lnTo>
                  <a:lnTo>
                    <a:pt x="127506" y="30942"/>
                  </a:lnTo>
                  <a:lnTo>
                    <a:pt x="118720" y="72556"/>
                  </a:lnTo>
                  <a:lnTo>
                    <a:pt x="76815" y="66146"/>
                  </a:lnTo>
                  <a:lnTo>
                    <a:pt x="79251" y="110225"/>
                  </a:lnTo>
                  <a:lnTo>
                    <a:pt x="37377" y="114460"/>
                  </a:lnTo>
                  <a:lnTo>
                    <a:pt x="50397" y="156363"/>
                  </a:lnTo>
                  <a:lnTo>
                    <a:pt x="10943" y="171850"/>
                  </a:lnTo>
                  <a:lnTo>
                    <a:pt x="32765" y="207112"/>
                  </a:lnTo>
                  <a:lnTo>
                    <a:pt x="0" y="231007"/>
                  </a:lnTo>
                  <a:lnTo>
                    <a:pt x="30678" y="262037"/>
                  </a:lnTo>
                  <a:lnTo>
                    <a:pt x="2086" y="295155"/>
                  </a:lnTo>
                  <a:lnTo>
                    <a:pt x="39465" y="314874"/>
                  </a:lnTo>
                  <a:lnTo>
                    <a:pt x="21804" y="352168"/>
                  </a:lnTo>
                  <a:lnTo>
                    <a:pt x="63794" y="363100"/>
                  </a:lnTo>
                  <a:lnTo>
                    <a:pt x="54921" y="405004"/>
                  </a:lnTo>
                  <a:lnTo>
                    <a:pt x="96912" y="405004"/>
                  </a:lnTo>
                  <a:lnTo>
                    <a:pt x="101058" y="446966"/>
                  </a:lnTo>
                  <a:lnTo>
                    <a:pt x="140876" y="438122"/>
                  </a:lnTo>
                  <a:lnTo>
                    <a:pt x="153925" y="477560"/>
                  </a:lnTo>
                  <a:lnTo>
                    <a:pt x="191275" y="457841"/>
                  </a:lnTo>
                  <a:lnTo>
                    <a:pt x="215549" y="493124"/>
                  </a:lnTo>
                  <a:lnTo>
                    <a:pt x="246578" y="464540"/>
                  </a:lnTo>
                  <a:lnTo>
                    <a:pt x="277230" y="493124"/>
                  </a:lnTo>
                  <a:lnTo>
                    <a:pt x="299415" y="457841"/>
                  </a:lnTo>
                  <a:lnTo>
                    <a:pt x="336767" y="477560"/>
                  </a:lnTo>
                  <a:lnTo>
                    <a:pt x="349787" y="438122"/>
                  </a:lnTo>
                  <a:lnTo>
                    <a:pt x="391690" y="446966"/>
                  </a:lnTo>
                  <a:lnTo>
                    <a:pt x="393780" y="405004"/>
                  </a:lnTo>
                  <a:lnTo>
                    <a:pt x="437829" y="405004"/>
                  </a:lnTo>
                  <a:lnTo>
                    <a:pt x="428984" y="363100"/>
                  </a:lnTo>
                  <a:lnTo>
                    <a:pt x="470946" y="352168"/>
                  </a:lnTo>
                  <a:lnTo>
                    <a:pt x="451227" y="314874"/>
                  </a:lnTo>
                  <a:lnTo>
                    <a:pt x="488520" y="295155"/>
                  </a:lnTo>
                  <a:lnTo>
                    <a:pt x="462102" y="262037"/>
                  </a:lnTo>
                  <a:lnTo>
                    <a:pt x="493130" y="231007"/>
                  </a:lnTo>
                  <a:lnTo>
                    <a:pt x="460013" y="207112"/>
                  </a:lnTo>
                  <a:lnTo>
                    <a:pt x="481821" y="171850"/>
                  </a:lnTo>
                  <a:lnTo>
                    <a:pt x="442381" y="156363"/>
                  </a:lnTo>
                  <a:lnTo>
                    <a:pt x="455402" y="114460"/>
                  </a:lnTo>
                  <a:lnTo>
                    <a:pt x="413876" y="110225"/>
                  </a:lnTo>
                  <a:lnTo>
                    <a:pt x="415963" y="66146"/>
                  </a:lnTo>
                  <a:lnTo>
                    <a:pt x="374059" y="72556"/>
                  </a:lnTo>
                  <a:lnTo>
                    <a:pt x="365272" y="30942"/>
                  </a:lnTo>
                  <a:lnTo>
                    <a:pt x="325833" y="46137"/>
                  </a:lnTo>
                  <a:lnTo>
                    <a:pt x="308173" y="6697"/>
                  </a:lnTo>
                  <a:lnTo>
                    <a:pt x="272996" y="33116"/>
                  </a:lnTo>
                  <a:lnTo>
                    <a:pt x="246578" y="0"/>
                  </a:lnTo>
                  <a:close/>
                </a:path>
              </a:pathLst>
            </a:custGeom>
            <a:solidFill>
              <a:srgbClr val="7FB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979878" y="1815908"/>
              <a:ext cx="488950" cy="488950"/>
            </a:xfrm>
            <a:custGeom>
              <a:avLst/>
              <a:gdLst/>
              <a:ahLst/>
              <a:cxnLst/>
              <a:rect l="l" t="t" r="r" b="b"/>
              <a:pathLst>
                <a:path w="488950" h="488950">
                  <a:moveTo>
                    <a:pt x="244491" y="0"/>
                  </a:moveTo>
                  <a:lnTo>
                    <a:pt x="218045" y="33116"/>
                  </a:lnTo>
                  <a:lnTo>
                    <a:pt x="182868" y="8785"/>
                  </a:lnTo>
                  <a:lnTo>
                    <a:pt x="165207" y="46515"/>
                  </a:lnTo>
                  <a:lnTo>
                    <a:pt x="125420" y="31028"/>
                  </a:lnTo>
                  <a:lnTo>
                    <a:pt x="118720" y="72933"/>
                  </a:lnTo>
                  <a:lnTo>
                    <a:pt x="77165" y="68322"/>
                  </a:lnTo>
                  <a:lnTo>
                    <a:pt x="79253" y="110225"/>
                  </a:lnTo>
                  <a:lnTo>
                    <a:pt x="37378" y="114460"/>
                  </a:lnTo>
                  <a:lnTo>
                    <a:pt x="50746" y="154275"/>
                  </a:lnTo>
                  <a:lnTo>
                    <a:pt x="10946" y="169762"/>
                  </a:lnTo>
                  <a:lnTo>
                    <a:pt x="33115" y="205024"/>
                  </a:lnTo>
                  <a:lnTo>
                    <a:pt x="0" y="228920"/>
                  </a:lnTo>
                  <a:lnTo>
                    <a:pt x="30679" y="259949"/>
                  </a:lnTo>
                  <a:lnTo>
                    <a:pt x="4249" y="290631"/>
                  </a:lnTo>
                  <a:lnTo>
                    <a:pt x="39466" y="310640"/>
                  </a:lnTo>
                  <a:lnTo>
                    <a:pt x="21892" y="350080"/>
                  </a:lnTo>
                  <a:lnTo>
                    <a:pt x="63797" y="361012"/>
                  </a:lnTo>
                  <a:lnTo>
                    <a:pt x="55010" y="400828"/>
                  </a:lnTo>
                  <a:lnTo>
                    <a:pt x="96913" y="400828"/>
                  </a:lnTo>
                  <a:lnTo>
                    <a:pt x="101147" y="442733"/>
                  </a:lnTo>
                  <a:lnTo>
                    <a:pt x="140877" y="433946"/>
                  </a:lnTo>
                  <a:lnTo>
                    <a:pt x="153984" y="473414"/>
                  </a:lnTo>
                  <a:lnTo>
                    <a:pt x="191626" y="453665"/>
                  </a:lnTo>
                  <a:lnTo>
                    <a:pt x="213462" y="488876"/>
                  </a:lnTo>
                  <a:lnTo>
                    <a:pt x="244491" y="460364"/>
                  </a:lnTo>
                  <a:lnTo>
                    <a:pt x="275144" y="488876"/>
                  </a:lnTo>
                  <a:lnTo>
                    <a:pt x="297328" y="453665"/>
                  </a:lnTo>
                  <a:lnTo>
                    <a:pt x="334680" y="473414"/>
                  </a:lnTo>
                  <a:lnTo>
                    <a:pt x="347700" y="433946"/>
                  </a:lnTo>
                  <a:lnTo>
                    <a:pt x="387459" y="442733"/>
                  </a:lnTo>
                  <a:lnTo>
                    <a:pt x="389604" y="400828"/>
                  </a:lnTo>
                  <a:lnTo>
                    <a:pt x="431507" y="400828"/>
                  </a:lnTo>
                  <a:lnTo>
                    <a:pt x="424809" y="358924"/>
                  </a:lnTo>
                  <a:lnTo>
                    <a:pt x="464625" y="350080"/>
                  </a:lnTo>
                  <a:lnTo>
                    <a:pt x="446994" y="310640"/>
                  </a:lnTo>
                  <a:lnTo>
                    <a:pt x="484344" y="290631"/>
                  </a:lnTo>
                  <a:lnTo>
                    <a:pt x="457926" y="259949"/>
                  </a:lnTo>
                  <a:lnTo>
                    <a:pt x="488608" y="228920"/>
                  </a:lnTo>
                  <a:lnTo>
                    <a:pt x="453316" y="205024"/>
                  </a:lnTo>
                  <a:lnTo>
                    <a:pt x="475559" y="169762"/>
                  </a:lnTo>
                  <a:lnTo>
                    <a:pt x="438208" y="154275"/>
                  </a:lnTo>
                  <a:lnTo>
                    <a:pt x="451228" y="114460"/>
                  </a:lnTo>
                  <a:lnTo>
                    <a:pt x="409324" y="108137"/>
                  </a:lnTo>
                  <a:lnTo>
                    <a:pt x="411789" y="66234"/>
                  </a:lnTo>
                  <a:lnTo>
                    <a:pt x="369884" y="72933"/>
                  </a:lnTo>
                  <a:lnTo>
                    <a:pt x="361040" y="31028"/>
                  </a:lnTo>
                  <a:lnTo>
                    <a:pt x="323747" y="46515"/>
                  </a:lnTo>
                  <a:lnTo>
                    <a:pt x="303650" y="8785"/>
                  </a:lnTo>
                  <a:lnTo>
                    <a:pt x="270910" y="33116"/>
                  </a:lnTo>
                  <a:lnTo>
                    <a:pt x="244491" y="0"/>
                  </a:lnTo>
                  <a:close/>
                </a:path>
              </a:pathLst>
            </a:custGeom>
            <a:solidFill>
              <a:srgbClr val="8BC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982039" y="1820518"/>
              <a:ext cx="482600" cy="480059"/>
            </a:xfrm>
            <a:custGeom>
              <a:avLst/>
              <a:gdLst/>
              <a:ahLst/>
              <a:cxnLst/>
              <a:rect l="l" t="t" r="r" b="b"/>
              <a:pathLst>
                <a:path w="482600" h="480060">
                  <a:moveTo>
                    <a:pt x="242329" y="0"/>
                  </a:moveTo>
                  <a:lnTo>
                    <a:pt x="215883" y="30594"/>
                  </a:lnTo>
                  <a:lnTo>
                    <a:pt x="182794" y="6699"/>
                  </a:lnTo>
                  <a:lnTo>
                    <a:pt x="163046" y="43992"/>
                  </a:lnTo>
                  <a:lnTo>
                    <a:pt x="125404" y="28506"/>
                  </a:lnTo>
                  <a:lnTo>
                    <a:pt x="116559" y="70411"/>
                  </a:lnTo>
                  <a:lnTo>
                    <a:pt x="77091" y="65858"/>
                  </a:lnTo>
                  <a:lnTo>
                    <a:pt x="79267" y="105615"/>
                  </a:lnTo>
                  <a:lnTo>
                    <a:pt x="37304" y="112285"/>
                  </a:lnTo>
                  <a:lnTo>
                    <a:pt x="50673" y="151753"/>
                  </a:lnTo>
                  <a:lnTo>
                    <a:pt x="13389" y="167297"/>
                  </a:lnTo>
                  <a:lnTo>
                    <a:pt x="35217" y="200414"/>
                  </a:lnTo>
                  <a:lnTo>
                    <a:pt x="0" y="226833"/>
                  </a:lnTo>
                  <a:lnTo>
                    <a:pt x="30953" y="253251"/>
                  </a:lnTo>
                  <a:lnTo>
                    <a:pt x="4535" y="286021"/>
                  </a:lnTo>
                  <a:lnTo>
                    <a:pt x="41887" y="306030"/>
                  </a:lnTo>
                  <a:lnTo>
                    <a:pt x="24255" y="343381"/>
                  </a:lnTo>
                  <a:lnTo>
                    <a:pt x="63723" y="354314"/>
                  </a:lnTo>
                  <a:lnTo>
                    <a:pt x="54936" y="394130"/>
                  </a:lnTo>
                  <a:lnTo>
                    <a:pt x="96810" y="394130"/>
                  </a:lnTo>
                  <a:lnTo>
                    <a:pt x="98986" y="435687"/>
                  </a:lnTo>
                  <a:lnTo>
                    <a:pt x="140891" y="424724"/>
                  </a:lnTo>
                  <a:lnTo>
                    <a:pt x="151823" y="464541"/>
                  </a:lnTo>
                  <a:lnTo>
                    <a:pt x="189464" y="444444"/>
                  </a:lnTo>
                  <a:lnTo>
                    <a:pt x="211301" y="479737"/>
                  </a:lnTo>
                  <a:lnTo>
                    <a:pt x="242329" y="451143"/>
                  </a:lnTo>
                  <a:lnTo>
                    <a:pt x="272982" y="479737"/>
                  </a:lnTo>
                  <a:lnTo>
                    <a:pt x="295167" y="444444"/>
                  </a:lnTo>
                  <a:lnTo>
                    <a:pt x="330372" y="464541"/>
                  </a:lnTo>
                  <a:lnTo>
                    <a:pt x="343392" y="424724"/>
                  </a:lnTo>
                  <a:lnTo>
                    <a:pt x="383209" y="435687"/>
                  </a:lnTo>
                  <a:lnTo>
                    <a:pt x="385297" y="394130"/>
                  </a:lnTo>
                  <a:lnTo>
                    <a:pt x="427259" y="394130"/>
                  </a:lnTo>
                  <a:lnTo>
                    <a:pt x="420560" y="354314"/>
                  </a:lnTo>
                  <a:lnTo>
                    <a:pt x="459999" y="343381"/>
                  </a:lnTo>
                  <a:lnTo>
                    <a:pt x="442367" y="306030"/>
                  </a:lnTo>
                  <a:lnTo>
                    <a:pt x="477573" y="286021"/>
                  </a:lnTo>
                  <a:lnTo>
                    <a:pt x="453678" y="253251"/>
                  </a:lnTo>
                  <a:lnTo>
                    <a:pt x="482183" y="226833"/>
                  </a:lnTo>
                  <a:lnTo>
                    <a:pt x="449066" y="200414"/>
                  </a:lnTo>
                  <a:lnTo>
                    <a:pt x="471251" y="167297"/>
                  </a:lnTo>
                  <a:lnTo>
                    <a:pt x="433581" y="151753"/>
                  </a:lnTo>
                  <a:lnTo>
                    <a:pt x="444832" y="112285"/>
                  </a:lnTo>
                  <a:lnTo>
                    <a:pt x="405016" y="105615"/>
                  </a:lnTo>
                  <a:lnTo>
                    <a:pt x="407163" y="65858"/>
                  </a:lnTo>
                  <a:lnTo>
                    <a:pt x="365547" y="70411"/>
                  </a:lnTo>
                  <a:lnTo>
                    <a:pt x="358879" y="28506"/>
                  </a:lnTo>
                  <a:lnTo>
                    <a:pt x="319120" y="43992"/>
                  </a:lnTo>
                  <a:lnTo>
                    <a:pt x="301489" y="6699"/>
                  </a:lnTo>
                  <a:lnTo>
                    <a:pt x="268748" y="30594"/>
                  </a:lnTo>
                  <a:lnTo>
                    <a:pt x="242329" y="0"/>
                  </a:lnTo>
                  <a:close/>
                </a:path>
              </a:pathLst>
            </a:custGeom>
            <a:solidFill>
              <a:srgbClr val="96C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986574" y="1822606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94" y="0"/>
                  </a:moveTo>
                  <a:lnTo>
                    <a:pt x="211348" y="33117"/>
                  </a:lnTo>
                  <a:lnTo>
                    <a:pt x="178259" y="8787"/>
                  </a:lnTo>
                  <a:lnTo>
                    <a:pt x="160599" y="44049"/>
                  </a:lnTo>
                  <a:lnTo>
                    <a:pt x="123305" y="31029"/>
                  </a:lnTo>
                  <a:lnTo>
                    <a:pt x="114461" y="70468"/>
                  </a:lnTo>
                  <a:lnTo>
                    <a:pt x="74731" y="66235"/>
                  </a:lnTo>
                  <a:lnTo>
                    <a:pt x="76819" y="105674"/>
                  </a:lnTo>
                  <a:lnTo>
                    <a:pt x="35262" y="112373"/>
                  </a:lnTo>
                  <a:lnTo>
                    <a:pt x="48313" y="149665"/>
                  </a:lnTo>
                  <a:lnTo>
                    <a:pt x="10933" y="165209"/>
                  </a:lnTo>
                  <a:lnTo>
                    <a:pt x="32769" y="200414"/>
                  </a:lnTo>
                  <a:lnTo>
                    <a:pt x="0" y="224745"/>
                  </a:lnTo>
                  <a:lnTo>
                    <a:pt x="28594" y="251164"/>
                  </a:lnTo>
                  <a:lnTo>
                    <a:pt x="4249" y="283933"/>
                  </a:lnTo>
                  <a:lnTo>
                    <a:pt x="39438" y="303942"/>
                  </a:lnTo>
                  <a:lnTo>
                    <a:pt x="21894" y="339205"/>
                  </a:lnTo>
                  <a:lnTo>
                    <a:pt x="61681" y="350080"/>
                  </a:lnTo>
                  <a:lnTo>
                    <a:pt x="55011" y="389520"/>
                  </a:lnTo>
                  <a:lnTo>
                    <a:pt x="94451" y="389520"/>
                  </a:lnTo>
                  <a:lnTo>
                    <a:pt x="96887" y="431511"/>
                  </a:lnTo>
                  <a:lnTo>
                    <a:pt x="136356" y="420549"/>
                  </a:lnTo>
                  <a:lnTo>
                    <a:pt x="149724" y="460016"/>
                  </a:lnTo>
                  <a:lnTo>
                    <a:pt x="184929" y="440268"/>
                  </a:lnTo>
                  <a:lnTo>
                    <a:pt x="206766" y="475474"/>
                  </a:lnTo>
                  <a:lnTo>
                    <a:pt x="237794" y="446967"/>
                  </a:lnTo>
                  <a:lnTo>
                    <a:pt x="266301" y="475474"/>
                  </a:lnTo>
                  <a:lnTo>
                    <a:pt x="288166" y="440268"/>
                  </a:lnTo>
                  <a:lnTo>
                    <a:pt x="325837" y="460016"/>
                  </a:lnTo>
                  <a:lnTo>
                    <a:pt x="336769" y="420549"/>
                  </a:lnTo>
                  <a:lnTo>
                    <a:pt x="376209" y="431511"/>
                  </a:lnTo>
                  <a:lnTo>
                    <a:pt x="380762" y="389520"/>
                  </a:lnTo>
                  <a:lnTo>
                    <a:pt x="420201" y="389520"/>
                  </a:lnTo>
                  <a:lnTo>
                    <a:pt x="413879" y="350080"/>
                  </a:lnTo>
                  <a:lnTo>
                    <a:pt x="453318" y="339205"/>
                  </a:lnTo>
                  <a:lnTo>
                    <a:pt x="435744" y="303942"/>
                  </a:lnTo>
                  <a:lnTo>
                    <a:pt x="470950" y="283933"/>
                  </a:lnTo>
                  <a:lnTo>
                    <a:pt x="444531" y="251164"/>
                  </a:lnTo>
                  <a:lnTo>
                    <a:pt x="475561" y="224745"/>
                  </a:lnTo>
                  <a:lnTo>
                    <a:pt x="442443" y="200414"/>
                  </a:lnTo>
                  <a:lnTo>
                    <a:pt x="464251" y="165209"/>
                  </a:lnTo>
                  <a:lnTo>
                    <a:pt x="424811" y="149665"/>
                  </a:lnTo>
                  <a:lnTo>
                    <a:pt x="437832" y="110197"/>
                  </a:lnTo>
                  <a:lnTo>
                    <a:pt x="398393" y="105674"/>
                  </a:lnTo>
                  <a:lnTo>
                    <a:pt x="400481" y="66235"/>
                  </a:lnTo>
                  <a:lnTo>
                    <a:pt x="358578" y="70468"/>
                  </a:lnTo>
                  <a:lnTo>
                    <a:pt x="352256" y="31029"/>
                  </a:lnTo>
                  <a:lnTo>
                    <a:pt x="314585" y="44049"/>
                  </a:lnTo>
                  <a:lnTo>
                    <a:pt x="296953" y="8787"/>
                  </a:lnTo>
                  <a:lnTo>
                    <a:pt x="264213" y="33117"/>
                  </a:lnTo>
                  <a:lnTo>
                    <a:pt x="237794" y="0"/>
                  </a:lnTo>
                  <a:close/>
                </a:path>
              </a:pathLst>
            </a:custGeom>
            <a:solidFill>
              <a:srgbClr val="A2CC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988734" y="1827217"/>
              <a:ext cx="469265" cy="466725"/>
            </a:xfrm>
            <a:custGeom>
              <a:avLst/>
              <a:gdLst/>
              <a:ahLst/>
              <a:cxnLst/>
              <a:rect l="l" t="t" r="r" b="b"/>
              <a:pathLst>
                <a:path w="469265" h="466725">
                  <a:moveTo>
                    <a:pt x="235634" y="0"/>
                  </a:moveTo>
                  <a:lnTo>
                    <a:pt x="209188" y="30594"/>
                  </a:lnTo>
                  <a:lnTo>
                    <a:pt x="176099" y="6322"/>
                  </a:lnTo>
                  <a:lnTo>
                    <a:pt x="158438" y="43962"/>
                  </a:lnTo>
                  <a:lnTo>
                    <a:pt x="121145" y="28506"/>
                  </a:lnTo>
                  <a:lnTo>
                    <a:pt x="114475" y="67944"/>
                  </a:lnTo>
                  <a:lnTo>
                    <a:pt x="74659" y="63712"/>
                  </a:lnTo>
                  <a:lnTo>
                    <a:pt x="77095" y="103150"/>
                  </a:lnTo>
                  <a:lnTo>
                    <a:pt x="37278" y="107762"/>
                  </a:lnTo>
                  <a:lnTo>
                    <a:pt x="48240" y="147200"/>
                  </a:lnTo>
                  <a:lnTo>
                    <a:pt x="10861" y="160597"/>
                  </a:lnTo>
                  <a:lnTo>
                    <a:pt x="33102" y="195803"/>
                  </a:lnTo>
                  <a:lnTo>
                    <a:pt x="0" y="220134"/>
                  </a:lnTo>
                  <a:lnTo>
                    <a:pt x="30609" y="246552"/>
                  </a:lnTo>
                  <a:lnTo>
                    <a:pt x="4175" y="277147"/>
                  </a:lnTo>
                  <a:lnTo>
                    <a:pt x="39453" y="296866"/>
                  </a:lnTo>
                  <a:lnTo>
                    <a:pt x="21822" y="334594"/>
                  </a:lnTo>
                  <a:lnTo>
                    <a:pt x="61610" y="343381"/>
                  </a:lnTo>
                  <a:lnTo>
                    <a:pt x="54940" y="382821"/>
                  </a:lnTo>
                  <a:lnTo>
                    <a:pt x="94726" y="382821"/>
                  </a:lnTo>
                  <a:lnTo>
                    <a:pt x="96814" y="424724"/>
                  </a:lnTo>
                  <a:lnTo>
                    <a:pt x="136282" y="413849"/>
                  </a:lnTo>
                  <a:lnTo>
                    <a:pt x="149651" y="453317"/>
                  </a:lnTo>
                  <a:lnTo>
                    <a:pt x="184856" y="433569"/>
                  </a:lnTo>
                  <a:lnTo>
                    <a:pt x="204605" y="466686"/>
                  </a:lnTo>
                  <a:lnTo>
                    <a:pt x="235634" y="440268"/>
                  </a:lnTo>
                  <a:lnTo>
                    <a:pt x="264140" y="466686"/>
                  </a:lnTo>
                  <a:lnTo>
                    <a:pt x="286006" y="433569"/>
                  </a:lnTo>
                  <a:lnTo>
                    <a:pt x="321212" y="453317"/>
                  </a:lnTo>
                  <a:lnTo>
                    <a:pt x="334609" y="413849"/>
                  </a:lnTo>
                  <a:lnTo>
                    <a:pt x="374049" y="424724"/>
                  </a:lnTo>
                  <a:lnTo>
                    <a:pt x="376514" y="382821"/>
                  </a:lnTo>
                  <a:lnTo>
                    <a:pt x="415952" y="382821"/>
                  </a:lnTo>
                  <a:lnTo>
                    <a:pt x="409253" y="343381"/>
                  </a:lnTo>
                  <a:lnTo>
                    <a:pt x="446982" y="334594"/>
                  </a:lnTo>
                  <a:lnTo>
                    <a:pt x="431438" y="296866"/>
                  </a:lnTo>
                  <a:lnTo>
                    <a:pt x="466702" y="277147"/>
                  </a:lnTo>
                  <a:lnTo>
                    <a:pt x="440283" y="246552"/>
                  </a:lnTo>
                  <a:lnTo>
                    <a:pt x="468790" y="220134"/>
                  </a:lnTo>
                  <a:lnTo>
                    <a:pt x="435672" y="195803"/>
                  </a:lnTo>
                  <a:lnTo>
                    <a:pt x="457856" y="160597"/>
                  </a:lnTo>
                  <a:lnTo>
                    <a:pt x="420564" y="147200"/>
                  </a:lnTo>
                  <a:lnTo>
                    <a:pt x="433584" y="107762"/>
                  </a:lnTo>
                  <a:lnTo>
                    <a:pt x="394145" y="103150"/>
                  </a:lnTo>
                  <a:lnTo>
                    <a:pt x="396233" y="63712"/>
                  </a:lnTo>
                  <a:lnTo>
                    <a:pt x="356417" y="67944"/>
                  </a:lnTo>
                  <a:lnTo>
                    <a:pt x="347630" y="28506"/>
                  </a:lnTo>
                  <a:lnTo>
                    <a:pt x="310278" y="43962"/>
                  </a:lnTo>
                  <a:lnTo>
                    <a:pt x="292705" y="6322"/>
                  </a:lnTo>
                  <a:lnTo>
                    <a:pt x="262053" y="30594"/>
                  </a:lnTo>
                  <a:lnTo>
                    <a:pt x="235634" y="0"/>
                  </a:lnTo>
                  <a:close/>
                </a:path>
              </a:pathLst>
            </a:custGeom>
            <a:solidFill>
              <a:srgbClr val="ADD2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992910" y="1829305"/>
              <a:ext cx="462915" cy="462280"/>
            </a:xfrm>
            <a:custGeom>
              <a:avLst/>
              <a:gdLst/>
              <a:ahLst/>
              <a:cxnLst/>
              <a:rect l="l" t="t" r="r" b="b"/>
              <a:pathLst>
                <a:path w="462915" h="462280">
                  <a:moveTo>
                    <a:pt x="231458" y="0"/>
                  </a:moveTo>
                  <a:lnTo>
                    <a:pt x="205012" y="30652"/>
                  </a:lnTo>
                  <a:lnTo>
                    <a:pt x="174011" y="8787"/>
                  </a:lnTo>
                  <a:lnTo>
                    <a:pt x="156437" y="44049"/>
                  </a:lnTo>
                  <a:lnTo>
                    <a:pt x="119057" y="28506"/>
                  </a:lnTo>
                  <a:lnTo>
                    <a:pt x="112387" y="68322"/>
                  </a:lnTo>
                  <a:lnTo>
                    <a:pt x="72919" y="63769"/>
                  </a:lnTo>
                  <a:lnTo>
                    <a:pt x="75093" y="103498"/>
                  </a:lnTo>
                  <a:lnTo>
                    <a:pt x="35278" y="107762"/>
                  </a:lnTo>
                  <a:lnTo>
                    <a:pt x="46501" y="145112"/>
                  </a:lnTo>
                  <a:lnTo>
                    <a:pt x="11295" y="160599"/>
                  </a:lnTo>
                  <a:lnTo>
                    <a:pt x="31015" y="193715"/>
                  </a:lnTo>
                  <a:lnTo>
                    <a:pt x="0" y="218046"/>
                  </a:lnTo>
                  <a:lnTo>
                    <a:pt x="28926" y="244464"/>
                  </a:lnTo>
                  <a:lnTo>
                    <a:pt x="2518" y="275059"/>
                  </a:lnTo>
                  <a:lnTo>
                    <a:pt x="37713" y="294778"/>
                  </a:lnTo>
                  <a:lnTo>
                    <a:pt x="22258" y="329984"/>
                  </a:lnTo>
                  <a:lnTo>
                    <a:pt x="59521" y="341293"/>
                  </a:lnTo>
                  <a:lnTo>
                    <a:pt x="52852" y="378644"/>
                  </a:lnTo>
                  <a:lnTo>
                    <a:pt x="92638" y="380733"/>
                  </a:lnTo>
                  <a:lnTo>
                    <a:pt x="94814" y="420549"/>
                  </a:lnTo>
                  <a:lnTo>
                    <a:pt x="132106" y="409239"/>
                  </a:lnTo>
                  <a:lnTo>
                    <a:pt x="145475" y="446967"/>
                  </a:lnTo>
                  <a:lnTo>
                    <a:pt x="180680" y="429336"/>
                  </a:lnTo>
                  <a:lnTo>
                    <a:pt x="202575" y="462075"/>
                  </a:lnTo>
                  <a:lnTo>
                    <a:pt x="231458" y="433569"/>
                  </a:lnTo>
                  <a:lnTo>
                    <a:pt x="259965" y="462075"/>
                  </a:lnTo>
                  <a:lnTo>
                    <a:pt x="281830" y="429336"/>
                  </a:lnTo>
                  <a:lnTo>
                    <a:pt x="317036" y="446967"/>
                  </a:lnTo>
                  <a:lnTo>
                    <a:pt x="328258" y="409239"/>
                  </a:lnTo>
                  <a:lnTo>
                    <a:pt x="367727" y="420549"/>
                  </a:lnTo>
                  <a:lnTo>
                    <a:pt x="369873" y="380733"/>
                  </a:lnTo>
                  <a:lnTo>
                    <a:pt x="409689" y="378644"/>
                  </a:lnTo>
                  <a:lnTo>
                    <a:pt x="402990" y="341293"/>
                  </a:lnTo>
                  <a:lnTo>
                    <a:pt x="440283" y="329984"/>
                  </a:lnTo>
                  <a:lnTo>
                    <a:pt x="422710" y="294778"/>
                  </a:lnTo>
                  <a:lnTo>
                    <a:pt x="457915" y="275059"/>
                  </a:lnTo>
                  <a:lnTo>
                    <a:pt x="433961" y="244464"/>
                  </a:lnTo>
                  <a:lnTo>
                    <a:pt x="462526" y="218046"/>
                  </a:lnTo>
                  <a:lnTo>
                    <a:pt x="429408" y="193715"/>
                  </a:lnTo>
                  <a:lnTo>
                    <a:pt x="451592" y="160599"/>
                  </a:lnTo>
                  <a:lnTo>
                    <a:pt x="413865" y="145112"/>
                  </a:lnTo>
                  <a:lnTo>
                    <a:pt x="427262" y="107762"/>
                  </a:lnTo>
                  <a:lnTo>
                    <a:pt x="387446" y="103498"/>
                  </a:lnTo>
                  <a:lnTo>
                    <a:pt x="389970" y="63769"/>
                  </a:lnTo>
                  <a:lnTo>
                    <a:pt x="350152" y="68322"/>
                  </a:lnTo>
                  <a:lnTo>
                    <a:pt x="341365" y="28506"/>
                  </a:lnTo>
                  <a:lnTo>
                    <a:pt x="306103" y="44049"/>
                  </a:lnTo>
                  <a:lnTo>
                    <a:pt x="288530" y="8787"/>
                  </a:lnTo>
                  <a:lnTo>
                    <a:pt x="255412" y="30652"/>
                  </a:lnTo>
                  <a:lnTo>
                    <a:pt x="231458" y="0"/>
                  </a:lnTo>
                  <a:close/>
                </a:path>
              </a:pathLst>
            </a:custGeom>
            <a:solidFill>
              <a:srgbClr val="B9D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995429" y="1833539"/>
              <a:ext cx="455930" cy="454025"/>
            </a:xfrm>
            <a:custGeom>
              <a:avLst/>
              <a:gdLst/>
              <a:ahLst/>
              <a:cxnLst/>
              <a:rect l="l" t="t" r="r" b="b"/>
              <a:pathLst>
                <a:path w="455929" h="454025">
                  <a:moveTo>
                    <a:pt x="228940" y="0"/>
                  </a:moveTo>
                  <a:lnTo>
                    <a:pt x="202493" y="28883"/>
                  </a:lnTo>
                  <a:lnTo>
                    <a:pt x="171493" y="6697"/>
                  </a:lnTo>
                  <a:lnTo>
                    <a:pt x="153918" y="41903"/>
                  </a:lnTo>
                  <a:lnTo>
                    <a:pt x="118714" y="28883"/>
                  </a:lnTo>
                  <a:lnTo>
                    <a:pt x="109868" y="66146"/>
                  </a:lnTo>
                  <a:lnTo>
                    <a:pt x="72575" y="61622"/>
                  </a:lnTo>
                  <a:lnTo>
                    <a:pt x="74664" y="101439"/>
                  </a:lnTo>
                  <a:lnTo>
                    <a:pt x="35195" y="105615"/>
                  </a:lnTo>
                  <a:lnTo>
                    <a:pt x="48246" y="143343"/>
                  </a:lnTo>
                  <a:lnTo>
                    <a:pt x="10866" y="156364"/>
                  </a:lnTo>
                  <a:lnTo>
                    <a:pt x="32759" y="189481"/>
                  </a:lnTo>
                  <a:lnTo>
                    <a:pt x="0" y="213812"/>
                  </a:lnTo>
                  <a:lnTo>
                    <a:pt x="28497" y="240230"/>
                  </a:lnTo>
                  <a:lnTo>
                    <a:pt x="4166" y="270824"/>
                  </a:lnTo>
                  <a:lnTo>
                    <a:pt x="37283" y="288456"/>
                  </a:lnTo>
                  <a:lnTo>
                    <a:pt x="21827" y="325749"/>
                  </a:lnTo>
                  <a:lnTo>
                    <a:pt x="59178" y="334623"/>
                  </a:lnTo>
                  <a:lnTo>
                    <a:pt x="52826" y="374409"/>
                  </a:lnTo>
                  <a:lnTo>
                    <a:pt x="92295" y="374409"/>
                  </a:lnTo>
                  <a:lnTo>
                    <a:pt x="94383" y="411703"/>
                  </a:lnTo>
                  <a:lnTo>
                    <a:pt x="132025" y="402916"/>
                  </a:lnTo>
                  <a:lnTo>
                    <a:pt x="145045" y="440297"/>
                  </a:lnTo>
                  <a:lnTo>
                    <a:pt x="178161" y="420578"/>
                  </a:lnTo>
                  <a:lnTo>
                    <a:pt x="200056" y="453694"/>
                  </a:lnTo>
                  <a:lnTo>
                    <a:pt x="228940" y="427247"/>
                  </a:lnTo>
                  <a:lnTo>
                    <a:pt x="257446" y="453694"/>
                  </a:lnTo>
                  <a:lnTo>
                    <a:pt x="277166" y="420578"/>
                  </a:lnTo>
                  <a:lnTo>
                    <a:pt x="312430" y="440297"/>
                  </a:lnTo>
                  <a:lnTo>
                    <a:pt x="325739" y="402916"/>
                  </a:lnTo>
                  <a:lnTo>
                    <a:pt x="363120" y="411703"/>
                  </a:lnTo>
                  <a:lnTo>
                    <a:pt x="365208" y="374409"/>
                  </a:lnTo>
                  <a:lnTo>
                    <a:pt x="405024" y="374409"/>
                  </a:lnTo>
                  <a:lnTo>
                    <a:pt x="396238" y="334623"/>
                  </a:lnTo>
                  <a:lnTo>
                    <a:pt x="435677" y="325749"/>
                  </a:lnTo>
                  <a:lnTo>
                    <a:pt x="418045" y="288456"/>
                  </a:lnTo>
                  <a:lnTo>
                    <a:pt x="453308" y="270824"/>
                  </a:lnTo>
                  <a:lnTo>
                    <a:pt x="426890" y="240230"/>
                  </a:lnTo>
                  <a:lnTo>
                    <a:pt x="455396" y="213812"/>
                  </a:lnTo>
                  <a:lnTo>
                    <a:pt x="424743" y="189481"/>
                  </a:lnTo>
                  <a:lnTo>
                    <a:pt x="444464" y="156364"/>
                  </a:lnTo>
                  <a:lnTo>
                    <a:pt x="409258" y="143343"/>
                  </a:lnTo>
                  <a:lnTo>
                    <a:pt x="420192" y="105615"/>
                  </a:lnTo>
                  <a:lnTo>
                    <a:pt x="382840" y="101439"/>
                  </a:lnTo>
                  <a:lnTo>
                    <a:pt x="384928" y="61622"/>
                  </a:lnTo>
                  <a:lnTo>
                    <a:pt x="345489" y="66146"/>
                  </a:lnTo>
                  <a:lnTo>
                    <a:pt x="338847" y="26418"/>
                  </a:lnTo>
                  <a:lnTo>
                    <a:pt x="301496" y="41903"/>
                  </a:lnTo>
                  <a:lnTo>
                    <a:pt x="286011" y="6697"/>
                  </a:lnTo>
                  <a:lnTo>
                    <a:pt x="252893" y="28883"/>
                  </a:lnTo>
                  <a:lnTo>
                    <a:pt x="228940" y="0"/>
                  </a:lnTo>
                  <a:close/>
                </a:path>
              </a:pathLst>
            </a:custGeom>
            <a:solidFill>
              <a:srgbClr val="C5D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999596" y="1836004"/>
              <a:ext cx="449580" cy="449580"/>
            </a:xfrm>
            <a:custGeom>
              <a:avLst/>
              <a:gdLst/>
              <a:ahLst/>
              <a:cxnLst/>
              <a:rect l="l" t="t" r="r" b="b"/>
              <a:pathLst>
                <a:path w="449579" h="449580">
                  <a:moveTo>
                    <a:pt x="224773" y="0"/>
                  </a:moveTo>
                  <a:lnTo>
                    <a:pt x="200413" y="30651"/>
                  </a:lnTo>
                  <a:lnTo>
                    <a:pt x="167326" y="6322"/>
                  </a:lnTo>
                  <a:lnTo>
                    <a:pt x="151839" y="41526"/>
                  </a:lnTo>
                  <a:lnTo>
                    <a:pt x="114547" y="28506"/>
                  </a:lnTo>
                  <a:lnTo>
                    <a:pt x="107848" y="65857"/>
                  </a:lnTo>
                  <a:lnTo>
                    <a:pt x="70497" y="61622"/>
                  </a:lnTo>
                  <a:lnTo>
                    <a:pt x="72584" y="98974"/>
                  </a:lnTo>
                  <a:lnTo>
                    <a:pt x="33116" y="105672"/>
                  </a:lnTo>
                  <a:lnTo>
                    <a:pt x="46167" y="140878"/>
                  </a:lnTo>
                  <a:lnTo>
                    <a:pt x="10961" y="155987"/>
                  </a:lnTo>
                  <a:lnTo>
                    <a:pt x="31028" y="189104"/>
                  </a:lnTo>
                  <a:lnTo>
                    <a:pt x="0" y="211347"/>
                  </a:lnTo>
                  <a:lnTo>
                    <a:pt x="26417" y="237765"/>
                  </a:lnTo>
                  <a:lnTo>
                    <a:pt x="2174" y="268359"/>
                  </a:lnTo>
                  <a:lnTo>
                    <a:pt x="37379" y="285991"/>
                  </a:lnTo>
                  <a:lnTo>
                    <a:pt x="19748" y="321196"/>
                  </a:lnTo>
                  <a:lnTo>
                    <a:pt x="57447" y="329984"/>
                  </a:lnTo>
                  <a:lnTo>
                    <a:pt x="50749" y="369799"/>
                  </a:lnTo>
                  <a:lnTo>
                    <a:pt x="90216" y="369799"/>
                  </a:lnTo>
                  <a:lnTo>
                    <a:pt x="92652" y="407150"/>
                  </a:lnTo>
                  <a:lnTo>
                    <a:pt x="130032" y="398363"/>
                  </a:lnTo>
                  <a:lnTo>
                    <a:pt x="140878" y="435656"/>
                  </a:lnTo>
                  <a:lnTo>
                    <a:pt x="176170" y="415937"/>
                  </a:lnTo>
                  <a:lnTo>
                    <a:pt x="195889" y="449055"/>
                  </a:lnTo>
                  <a:lnTo>
                    <a:pt x="224773" y="422636"/>
                  </a:lnTo>
                  <a:lnTo>
                    <a:pt x="253279" y="449055"/>
                  </a:lnTo>
                  <a:lnTo>
                    <a:pt x="272999" y="415937"/>
                  </a:lnTo>
                  <a:lnTo>
                    <a:pt x="306116" y="435656"/>
                  </a:lnTo>
                  <a:lnTo>
                    <a:pt x="319138" y="398363"/>
                  </a:lnTo>
                  <a:lnTo>
                    <a:pt x="356866" y="407150"/>
                  </a:lnTo>
                  <a:lnTo>
                    <a:pt x="358954" y="369799"/>
                  </a:lnTo>
                  <a:lnTo>
                    <a:pt x="398392" y="369799"/>
                  </a:lnTo>
                  <a:lnTo>
                    <a:pt x="389606" y="329984"/>
                  </a:lnTo>
                  <a:lnTo>
                    <a:pt x="427276" y="321196"/>
                  </a:lnTo>
                  <a:lnTo>
                    <a:pt x="411789" y="285991"/>
                  </a:lnTo>
                  <a:lnTo>
                    <a:pt x="444907" y="268359"/>
                  </a:lnTo>
                  <a:lnTo>
                    <a:pt x="420577" y="237765"/>
                  </a:lnTo>
                  <a:lnTo>
                    <a:pt x="449141" y="211347"/>
                  </a:lnTo>
                  <a:lnTo>
                    <a:pt x="418490" y="189104"/>
                  </a:lnTo>
                  <a:lnTo>
                    <a:pt x="438208" y="155987"/>
                  </a:lnTo>
                  <a:lnTo>
                    <a:pt x="403004" y="140878"/>
                  </a:lnTo>
                  <a:lnTo>
                    <a:pt x="413879" y="105672"/>
                  </a:lnTo>
                  <a:lnTo>
                    <a:pt x="376585" y="98974"/>
                  </a:lnTo>
                  <a:lnTo>
                    <a:pt x="378673" y="61622"/>
                  </a:lnTo>
                  <a:lnTo>
                    <a:pt x="339234" y="65857"/>
                  </a:lnTo>
                  <a:lnTo>
                    <a:pt x="332535" y="28506"/>
                  </a:lnTo>
                  <a:lnTo>
                    <a:pt x="297329" y="41526"/>
                  </a:lnTo>
                  <a:lnTo>
                    <a:pt x="279698" y="6322"/>
                  </a:lnTo>
                  <a:lnTo>
                    <a:pt x="248726" y="30651"/>
                  </a:lnTo>
                  <a:lnTo>
                    <a:pt x="224773" y="0"/>
                  </a:lnTo>
                  <a:close/>
                </a:path>
              </a:pathLst>
            </a:custGeom>
            <a:solidFill>
              <a:srgbClr val="D0E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01770" y="1840237"/>
              <a:ext cx="443230" cy="440690"/>
            </a:xfrm>
            <a:custGeom>
              <a:avLst/>
              <a:gdLst/>
              <a:ahLst/>
              <a:cxnLst/>
              <a:rect l="l" t="t" r="r" b="b"/>
              <a:pathLst>
                <a:path w="443229" h="440689">
                  <a:moveTo>
                    <a:pt x="222599" y="0"/>
                  </a:moveTo>
                  <a:lnTo>
                    <a:pt x="198239" y="28506"/>
                  </a:lnTo>
                  <a:lnTo>
                    <a:pt x="167297" y="6699"/>
                  </a:lnTo>
                  <a:lnTo>
                    <a:pt x="149665" y="39729"/>
                  </a:lnTo>
                  <a:lnTo>
                    <a:pt x="114461" y="26418"/>
                  </a:lnTo>
                  <a:lnTo>
                    <a:pt x="108110" y="63712"/>
                  </a:lnTo>
                  <a:lnTo>
                    <a:pt x="70410" y="59448"/>
                  </a:lnTo>
                  <a:lnTo>
                    <a:pt x="72933" y="96829"/>
                  </a:lnTo>
                  <a:lnTo>
                    <a:pt x="35205" y="101439"/>
                  </a:lnTo>
                  <a:lnTo>
                    <a:pt x="46485" y="138733"/>
                  </a:lnTo>
                  <a:lnTo>
                    <a:pt x="11222" y="151754"/>
                  </a:lnTo>
                  <a:lnTo>
                    <a:pt x="30942" y="184871"/>
                  </a:lnTo>
                  <a:lnTo>
                    <a:pt x="0" y="207114"/>
                  </a:lnTo>
                  <a:lnTo>
                    <a:pt x="28854" y="233532"/>
                  </a:lnTo>
                  <a:lnTo>
                    <a:pt x="4525" y="262039"/>
                  </a:lnTo>
                  <a:lnTo>
                    <a:pt x="37641" y="281758"/>
                  </a:lnTo>
                  <a:lnTo>
                    <a:pt x="22156" y="314876"/>
                  </a:lnTo>
                  <a:lnTo>
                    <a:pt x="57360" y="325751"/>
                  </a:lnTo>
                  <a:lnTo>
                    <a:pt x="50661" y="363101"/>
                  </a:lnTo>
                  <a:lnTo>
                    <a:pt x="88042" y="363101"/>
                  </a:lnTo>
                  <a:lnTo>
                    <a:pt x="92652" y="400829"/>
                  </a:lnTo>
                  <a:lnTo>
                    <a:pt x="127858" y="391985"/>
                  </a:lnTo>
                  <a:lnTo>
                    <a:pt x="140878" y="427248"/>
                  </a:lnTo>
                  <a:lnTo>
                    <a:pt x="173996" y="409616"/>
                  </a:lnTo>
                  <a:lnTo>
                    <a:pt x="193715" y="440297"/>
                  </a:lnTo>
                  <a:lnTo>
                    <a:pt x="222599" y="415968"/>
                  </a:lnTo>
                  <a:lnTo>
                    <a:pt x="249017" y="440297"/>
                  </a:lnTo>
                  <a:lnTo>
                    <a:pt x="270824" y="409616"/>
                  </a:lnTo>
                  <a:lnTo>
                    <a:pt x="303942" y="427248"/>
                  </a:lnTo>
                  <a:lnTo>
                    <a:pt x="314874" y="391985"/>
                  </a:lnTo>
                  <a:lnTo>
                    <a:pt x="352226" y="400829"/>
                  </a:lnTo>
                  <a:lnTo>
                    <a:pt x="354691" y="363101"/>
                  </a:lnTo>
                  <a:lnTo>
                    <a:pt x="394130" y="363101"/>
                  </a:lnTo>
                  <a:lnTo>
                    <a:pt x="385286" y="325751"/>
                  </a:lnTo>
                  <a:lnTo>
                    <a:pt x="422636" y="314876"/>
                  </a:lnTo>
                  <a:lnTo>
                    <a:pt x="407529" y="281758"/>
                  </a:lnTo>
                  <a:lnTo>
                    <a:pt x="440268" y="262039"/>
                  </a:lnTo>
                  <a:lnTo>
                    <a:pt x="416316" y="233532"/>
                  </a:lnTo>
                  <a:lnTo>
                    <a:pt x="442733" y="207114"/>
                  </a:lnTo>
                  <a:lnTo>
                    <a:pt x="411704" y="184871"/>
                  </a:lnTo>
                  <a:lnTo>
                    <a:pt x="433947" y="151754"/>
                  </a:lnTo>
                  <a:lnTo>
                    <a:pt x="398683" y="138733"/>
                  </a:lnTo>
                  <a:lnTo>
                    <a:pt x="409615" y="101439"/>
                  </a:lnTo>
                  <a:lnTo>
                    <a:pt x="372266" y="96829"/>
                  </a:lnTo>
                  <a:lnTo>
                    <a:pt x="374411" y="59448"/>
                  </a:lnTo>
                  <a:lnTo>
                    <a:pt x="337060" y="63712"/>
                  </a:lnTo>
                  <a:lnTo>
                    <a:pt x="328273" y="26418"/>
                  </a:lnTo>
                  <a:lnTo>
                    <a:pt x="293067" y="39729"/>
                  </a:lnTo>
                  <a:lnTo>
                    <a:pt x="277524" y="6699"/>
                  </a:lnTo>
                  <a:lnTo>
                    <a:pt x="246552" y="28506"/>
                  </a:lnTo>
                  <a:lnTo>
                    <a:pt x="222599" y="0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006295" y="1842326"/>
              <a:ext cx="436245" cy="436245"/>
            </a:xfrm>
            <a:custGeom>
              <a:avLst/>
              <a:gdLst/>
              <a:ahLst/>
              <a:cxnLst/>
              <a:rect l="l" t="t" r="r" b="b"/>
              <a:pathLst>
                <a:path w="436245" h="436244">
                  <a:moveTo>
                    <a:pt x="218074" y="0"/>
                  </a:moveTo>
                  <a:lnTo>
                    <a:pt x="193714" y="28853"/>
                  </a:lnTo>
                  <a:lnTo>
                    <a:pt x="162772" y="6697"/>
                  </a:lnTo>
                  <a:lnTo>
                    <a:pt x="147577" y="41903"/>
                  </a:lnTo>
                  <a:lnTo>
                    <a:pt x="112372" y="26417"/>
                  </a:lnTo>
                  <a:lnTo>
                    <a:pt x="105672" y="64058"/>
                  </a:lnTo>
                  <a:lnTo>
                    <a:pt x="68408" y="59535"/>
                  </a:lnTo>
                  <a:lnTo>
                    <a:pt x="70496" y="96828"/>
                  </a:lnTo>
                  <a:lnTo>
                    <a:pt x="33116" y="101438"/>
                  </a:lnTo>
                  <a:lnTo>
                    <a:pt x="44049" y="136644"/>
                  </a:lnTo>
                  <a:lnTo>
                    <a:pt x="8873" y="152187"/>
                  </a:lnTo>
                  <a:lnTo>
                    <a:pt x="28592" y="182782"/>
                  </a:lnTo>
                  <a:lnTo>
                    <a:pt x="0" y="205024"/>
                  </a:lnTo>
                  <a:lnTo>
                    <a:pt x="26417" y="231443"/>
                  </a:lnTo>
                  <a:lnTo>
                    <a:pt x="2174" y="259949"/>
                  </a:lnTo>
                  <a:lnTo>
                    <a:pt x="35290" y="277522"/>
                  </a:lnTo>
                  <a:lnTo>
                    <a:pt x="19718" y="312787"/>
                  </a:lnTo>
                  <a:lnTo>
                    <a:pt x="55011" y="321572"/>
                  </a:lnTo>
                  <a:lnTo>
                    <a:pt x="48312" y="358924"/>
                  </a:lnTo>
                  <a:lnTo>
                    <a:pt x="85953" y="358924"/>
                  </a:lnTo>
                  <a:lnTo>
                    <a:pt x="88127" y="396218"/>
                  </a:lnTo>
                  <a:lnTo>
                    <a:pt x="125421" y="387460"/>
                  </a:lnTo>
                  <a:lnTo>
                    <a:pt x="136353" y="422635"/>
                  </a:lnTo>
                  <a:lnTo>
                    <a:pt x="169471" y="405091"/>
                  </a:lnTo>
                  <a:lnTo>
                    <a:pt x="189190" y="436034"/>
                  </a:lnTo>
                  <a:lnTo>
                    <a:pt x="218074" y="409615"/>
                  </a:lnTo>
                  <a:lnTo>
                    <a:pt x="244492" y="436034"/>
                  </a:lnTo>
                  <a:lnTo>
                    <a:pt x="264213" y="405091"/>
                  </a:lnTo>
                  <a:lnTo>
                    <a:pt x="297329" y="422635"/>
                  </a:lnTo>
                  <a:lnTo>
                    <a:pt x="310349" y="387460"/>
                  </a:lnTo>
                  <a:lnTo>
                    <a:pt x="345555" y="396218"/>
                  </a:lnTo>
                  <a:lnTo>
                    <a:pt x="347701" y="358924"/>
                  </a:lnTo>
                  <a:lnTo>
                    <a:pt x="385372" y="358924"/>
                  </a:lnTo>
                  <a:lnTo>
                    <a:pt x="378673" y="321572"/>
                  </a:lnTo>
                  <a:lnTo>
                    <a:pt x="416024" y="312787"/>
                  </a:lnTo>
                  <a:lnTo>
                    <a:pt x="400480" y="277522"/>
                  </a:lnTo>
                  <a:lnTo>
                    <a:pt x="431509" y="259949"/>
                  </a:lnTo>
                  <a:lnTo>
                    <a:pt x="409326" y="231443"/>
                  </a:lnTo>
                  <a:lnTo>
                    <a:pt x="435743" y="205024"/>
                  </a:lnTo>
                  <a:lnTo>
                    <a:pt x="405090" y="182782"/>
                  </a:lnTo>
                  <a:lnTo>
                    <a:pt x="424811" y="152187"/>
                  </a:lnTo>
                  <a:lnTo>
                    <a:pt x="389605" y="136644"/>
                  </a:lnTo>
                  <a:lnTo>
                    <a:pt x="403004" y="101438"/>
                  </a:lnTo>
                  <a:lnTo>
                    <a:pt x="365276" y="96828"/>
                  </a:lnTo>
                  <a:lnTo>
                    <a:pt x="367741" y="59535"/>
                  </a:lnTo>
                  <a:lnTo>
                    <a:pt x="330070" y="64058"/>
                  </a:lnTo>
                  <a:lnTo>
                    <a:pt x="323748" y="26417"/>
                  </a:lnTo>
                  <a:lnTo>
                    <a:pt x="288542" y="41903"/>
                  </a:lnTo>
                  <a:lnTo>
                    <a:pt x="272999" y="6697"/>
                  </a:lnTo>
                  <a:lnTo>
                    <a:pt x="242027" y="28853"/>
                  </a:lnTo>
                  <a:lnTo>
                    <a:pt x="218074" y="0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08469" y="1844762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91540" y="28592"/>
                  </a:lnTo>
                  <a:lnTo>
                    <a:pt x="160597" y="8873"/>
                  </a:lnTo>
                  <a:lnTo>
                    <a:pt x="145403" y="41614"/>
                  </a:lnTo>
                  <a:lnTo>
                    <a:pt x="112285" y="28592"/>
                  </a:lnTo>
                  <a:lnTo>
                    <a:pt x="103498" y="63798"/>
                  </a:lnTo>
                  <a:lnTo>
                    <a:pt x="68322" y="59187"/>
                  </a:lnTo>
                  <a:lnTo>
                    <a:pt x="70380" y="96914"/>
                  </a:lnTo>
                  <a:lnTo>
                    <a:pt x="33116" y="101090"/>
                  </a:lnTo>
                  <a:lnTo>
                    <a:pt x="43962" y="136354"/>
                  </a:lnTo>
                  <a:lnTo>
                    <a:pt x="10875" y="149752"/>
                  </a:lnTo>
                  <a:lnTo>
                    <a:pt x="30942" y="180346"/>
                  </a:lnTo>
                  <a:lnTo>
                    <a:pt x="0" y="202589"/>
                  </a:lnTo>
                  <a:lnTo>
                    <a:pt x="26418" y="229007"/>
                  </a:lnTo>
                  <a:lnTo>
                    <a:pt x="4523" y="257514"/>
                  </a:lnTo>
                  <a:lnTo>
                    <a:pt x="35205" y="275087"/>
                  </a:lnTo>
                  <a:lnTo>
                    <a:pt x="19719" y="308204"/>
                  </a:lnTo>
                  <a:lnTo>
                    <a:pt x="54924" y="317049"/>
                  </a:lnTo>
                  <a:lnTo>
                    <a:pt x="48573" y="354342"/>
                  </a:lnTo>
                  <a:lnTo>
                    <a:pt x="85953" y="354342"/>
                  </a:lnTo>
                  <a:lnTo>
                    <a:pt x="88042" y="391693"/>
                  </a:lnTo>
                  <a:lnTo>
                    <a:pt x="125393" y="380761"/>
                  </a:lnTo>
                  <a:lnTo>
                    <a:pt x="136616" y="416024"/>
                  </a:lnTo>
                  <a:lnTo>
                    <a:pt x="169384" y="398392"/>
                  </a:lnTo>
                  <a:lnTo>
                    <a:pt x="189453" y="431510"/>
                  </a:lnTo>
                  <a:lnTo>
                    <a:pt x="215900" y="405091"/>
                  </a:lnTo>
                  <a:lnTo>
                    <a:pt x="242318" y="431510"/>
                  </a:lnTo>
                  <a:lnTo>
                    <a:pt x="262039" y="398392"/>
                  </a:lnTo>
                  <a:lnTo>
                    <a:pt x="295155" y="416024"/>
                  </a:lnTo>
                  <a:lnTo>
                    <a:pt x="306089" y="380761"/>
                  </a:lnTo>
                  <a:lnTo>
                    <a:pt x="341293" y="391693"/>
                  </a:lnTo>
                  <a:lnTo>
                    <a:pt x="343381" y="354342"/>
                  </a:lnTo>
                  <a:lnTo>
                    <a:pt x="380733" y="354342"/>
                  </a:lnTo>
                  <a:lnTo>
                    <a:pt x="374411" y="317049"/>
                  </a:lnTo>
                  <a:lnTo>
                    <a:pt x="409616" y="308204"/>
                  </a:lnTo>
                  <a:lnTo>
                    <a:pt x="394130" y="275087"/>
                  </a:lnTo>
                  <a:lnTo>
                    <a:pt x="427248" y="257514"/>
                  </a:lnTo>
                  <a:lnTo>
                    <a:pt x="402916" y="229007"/>
                  </a:lnTo>
                  <a:lnTo>
                    <a:pt x="431424" y="202589"/>
                  </a:lnTo>
                  <a:lnTo>
                    <a:pt x="400829" y="180346"/>
                  </a:lnTo>
                  <a:lnTo>
                    <a:pt x="420549" y="149752"/>
                  </a:lnTo>
                  <a:lnTo>
                    <a:pt x="385284" y="136354"/>
                  </a:lnTo>
                  <a:lnTo>
                    <a:pt x="396218" y="101090"/>
                  </a:lnTo>
                  <a:lnTo>
                    <a:pt x="361012" y="96914"/>
                  </a:lnTo>
                  <a:lnTo>
                    <a:pt x="363101" y="59187"/>
                  </a:lnTo>
                  <a:lnTo>
                    <a:pt x="325807" y="63798"/>
                  </a:lnTo>
                  <a:lnTo>
                    <a:pt x="319109" y="28592"/>
                  </a:lnTo>
                  <a:lnTo>
                    <a:pt x="283846" y="41614"/>
                  </a:lnTo>
                  <a:lnTo>
                    <a:pt x="268737" y="8873"/>
                  </a:lnTo>
                  <a:lnTo>
                    <a:pt x="239853" y="28592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F3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876360" y="1748878"/>
              <a:ext cx="748665" cy="701040"/>
            </a:xfrm>
            <a:custGeom>
              <a:avLst/>
              <a:gdLst/>
              <a:ahLst/>
              <a:cxnLst/>
              <a:rect l="l" t="t" r="r" b="b"/>
              <a:pathLst>
                <a:path w="748665" h="701039">
                  <a:moveTo>
                    <a:pt x="77100" y="699769"/>
                  </a:moveTo>
                  <a:lnTo>
                    <a:pt x="16555" y="699769"/>
                  </a:lnTo>
                  <a:lnTo>
                    <a:pt x="19724" y="701039"/>
                  </a:lnTo>
                  <a:lnTo>
                    <a:pt x="73571" y="701039"/>
                  </a:lnTo>
                  <a:lnTo>
                    <a:pt x="77100" y="699769"/>
                  </a:lnTo>
                  <a:close/>
                </a:path>
                <a:path w="748665" h="701039">
                  <a:moveTo>
                    <a:pt x="83793" y="699769"/>
                  </a:moveTo>
                  <a:lnTo>
                    <a:pt x="77100" y="699769"/>
                  </a:lnTo>
                  <a:lnTo>
                    <a:pt x="79620" y="701039"/>
                  </a:lnTo>
                  <a:lnTo>
                    <a:pt x="83146" y="701039"/>
                  </a:lnTo>
                  <a:lnTo>
                    <a:pt x="83793" y="699769"/>
                  </a:lnTo>
                  <a:close/>
                </a:path>
                <a:path w="748665" h="701039">
                  <a:moveTo>
                    <a:pt x="715344" y="699769"/>
                  </a:moveTo>
                  <a:lnTo>
                    <a:pt x="711111" y="699769"/>
                  </a:lnTo>
                  <a:lnTo>
                    <a:pt x="712182" y="701039"/>
                  </a:lnTo>
                  <a:lnTo>
                    <a:pt x="715344" y="699769"/>
                  </a:lnTo>
                  <a:close/>
                </a:path>
                <a:path w="748665" h="701039">
                  <a:moveTo>
                    <a:pt x="263870" y="47533"/>
                  </a:moveTo>
                  <a:lnTo>
                    <a:pt x="262403" y="50800"/>
                  </a:lnTo>
                  <a:lnTo>
                    <a:pt x="261330" y="54610"/>
                  </a:lnTo>
                  <a:lnTo>
                    <a:pt x="259938" y="57150"/>
                  </a:lnTo>
                  <a:lnTo>
                    <a:pt x="258140" y="63500"/>
                  </a:lnTo>
                  <a:lnTo>
                    <a:pt x="257502" y="67310"/>
                  </a:lnTo>
                  <a:lnTo>
                    <a:pt x="257154" y="69850"/>
                  </a:lnTo>
                  <a:lnTo>
                    <a:pt x="257154" y="72389"/>
                  </a:lnTo>
                  <a:lnTo>
                    <a:pt x="256429" y="74929"/>
                  </a:lnTo>
                  <a:lnTo>
                    <a:pt x="255356" y="76200"/>
                  </a:lnTo>
                  <a:lnTo>
                    <a:pt x="255356" y="97789"/>
                  </a:lnTo>
                  <a:lnTo>
                    <a:pt x="257502" y="99060"/>
                  </a:lnTo>
                  <a:lnTo>
                    <a:pt x="258517" y="101600"/>
                  </a:lnTo>
                  <a:lnTo>
                    <a:pt x="259938" y="105410"/>
                  </a:lnTo>
                  <a:lnTo>
                    <a:pt x="259938" y="107950"/>
                  </a:lnTo>
                  <a:lnTo>
                    <a:pt x="260953" y="110489"/>
                  </a:lnTo>
                  <a:lnTo>
                    <a:pt x="262026" y="114300"/>
                  </a:lnTo>
                  <a:lnTo>
                    <a:pt x="258865" y="115569"/>
                  </a:lnTo>
                  <a:lnTo>
                    <a:pt x="256777" y="118110"/>
                  </a:lnTo>
                  <a:lnTo>
                    <a:pt x="255356" y="120650"/>
                  </a:lnTo>
                  <a:lnTo>
                    <a:pt x="255356" y="123189"/>
                  </a:lnTo>
                  <a:lnTo>
                    <a:pt x="253268" y="124460"/>
                  </a:lnTo>
                  <a:lnTo>
                    <a:pt x="253268" y="125729"/>
                  </a:lnTo>
                  <a:lnTo>
                    <a:pt x="252166" y="127000"/>
                  </a:lnTo>
                  <a:lnTo>
                    <a:pt x="251094" y="127000"/>
                  </a:lnTo>
                  <a:lnTo>
                    <a:pt x="250078" y="130810"/>
                  </a:lnTo>
                  <a:lnTo>
                    <a:pt x="249730" y="134619"/>
                  </a:lnTo>
                  <a:lnTo>
                    <a:pt x="249730" y="138429"/>
                  </a:lnTo>
                  <a:lnTo>
                    <a:pt x="265216" y="162560"/>
                  </a:lnTo>
                  <a:lnTo>
                    <a:pt x="268725" y="165100"/>
                  </a:lnTo>
                  <a:lnTo>
                    <a:pt x="268725" y="173989"/>
                  </a:lnTo>
                  <a:lnTo>
                    <a:pt x="270813" y="175260"/>
                  </a:lnTo>
                  <a:lnTo>
                    <a:pt x="265940" y="175260"/>
                  </a:lnTo>
                  <a:lnTo>
                    <a:pt x="263475" y="176529"/>
                  </a:lnTo>
                  <a:lnTo>
                    <a:pt x="256777" y="176529"/>
                  </a:lnTo>
                  <a:lnTo>
                    <a:pt x="252543" y="177800"/>
                  </a:lnTo>
                  <a:lnTo>
                    <a:pt x="241959" y="177800"/>
                  </a:lnTo>
                  <a:lnTo>
                    <a:pt x="235607" y="179069"/>
                  </a:lnTo>
                  <a:lnTo>
                    <a:pt x="222238" y="179069"/>
                  </a:lnTo>
                  <a:lnTo>
                    <a:pt x="218062" y="180339"/>
                  </a:lnTo>
                  <a:lnTo>
                    <a:pt x="211364" y="180339"/>
                  </a:lnTo>
                  <a:lnTo>
                    <a:pt x="209189" y="181610"/>
                  </a:lnTo>
                  <a:lnTo>
                    <a:pt x="200431" y="181610"/>
                  </a:lnTo>
                  <a:lnTo>
                    <a:pt x="196894" y="182879"/>
                  </a:lnTo>
                  <a:lnTo>
                    <a:pt x="193733" y="184150"/>
                  </a:lnTo>
                  <a:lnTo>
                    <a:pt x="190543" y="186689"/>
                  </a:lnTo>
                  <a:lnTo>
                    <a:pt x="187759" y="190500"/>
                  </a:lnTo>
                  <a:lnTo>
                    <a:pt x="184569" y="193039"/>
                  </a:lnTo>
                  <a:lnTo>
                    <a:pt x="181408" y="196850"/>
                  </a:lnTo>
                  <a:lnTo>
                    <a:pt x="177869" y="200660"/>
                  </a:lnTo>
                  <a:lnTo>
                    <a:pt x="174708" y="203200"/>
                  </a:lnTo>
                  <a:lnTo>
                    <a:pt x="171895" y="207010"/>
                  </a:lnTo>
                  <a:lnTo>
                    <a:pt x="169402" y="210819"/>
                  </a:lnTo>
                  <a:lnTo>
                    <a:pt x="166212" y="214629"/>
                  </a:lnTo>
                  <a:lnTo>
                    <a:pt x="165225" y="217169"/>
                  </a:lnTo>
                  <a:lnTo>
                    <a:pt x="163428" y="218439"/>
                  </a:lnTo>
                  <a:lnTo>
                    <a:pt x="162036" y="219710"/>
                  </a:lnTo>
                  <a:lnTo>
                    <a:pt x="160615" y="222250"/>
                  </a:lnTo>
                  <a:lnTo>
                    <a:pt x="160615" y="353060"/>
                  </a:lnTo>
                  <a:lnTo>
                    <a:pt x="163051" y="355600"/>
                  </a:lnTo>
                  <a:lnTo>
                    <a:pt x="161340" y="358139"/>
                  </a:lnTo>
                  <a:lnTo>
                    <a:pt x="160963" y="359410"/>
                  </a:lnTo>
                  <a:lnTo>
                    <a:pt x="161340" y="361950"/>
                  </a:lnTo>
                  <a:lnTo>
                    <a:pt x="163051" y="364489"/>
                  </a:lnTo>
                  <a:lnTo>
                    <a:pt x="163051" y="372110"/>
                  </a:lnTo>
                  <a:lnTo>
                    <a:pt x="162326" y="373379"/>
                  </a:lnTo>
                  <a:lnTo>
                    <a:pt x="162036" y="375919"/>
                  </a:lnTo>
                  <a:lnTo>
                    <a:pt x="161688" y="377189"/>
                  </a:lnTo>
                  <a:lnTo>
                    <a:pt x="161688" y="386079"/>
                  </a:lnTo>
                  <a:lnTo>
                    <a:pt x="162036" y="387350"/>
                  </a:lnTo>
                  <a:lnTo>
                    <a:pt x="162036" y="393700"/>
                  </a:lnTo>
                  <a:lnTo>
                    <a:pt x="162326" y="396239"/>
                  </a:lnTo>
                  <a:lnTo>
                    <a:pt x="162326" y="398779"/>
                  </a:lnTo>
                  <a:lnTo>
                    <a:pt x="162703" y="400050"/>
                  </a:lnTo>
                  <a:lnTo>
                    <a:pt x="162703" y="402589"/>
                  </a:lnTo>
                  <a:lnTo>
                    <a:pt x="163051" y="405129"/>
                  </a:lnTo>
                  <a:lnTo>
                    <a:pt x="162703" y="406400"/>
                  </a:lnTo>
                  <a:lnTo>
                    <a:pt x="160615" y="406400"/>
                  </a:lnTo>
                  <a:lnTo>
                    <a:pt x="159165" y="410210"/>
                  </a:lnTo>
                  <a:lnTo>
                    <a:pt x="156352" y="414019"/>
                  </a:lnTo>
                  <a:lnTo>
                    <a:pt x="153540" y="415289"/>
                  </a:lnTo>
                  <a:lnTo>
                    <a:pt x="151451" y="416560"/>
                  </a:lnTo>
                  <a:lnTo>
                    <a:pt x="149305" y="419100"/>
                  </a:lnTo>
                  <a:lnTo>
                    <a:pt x="147942" y="421639"/>
                  </a:lnTo>
                  <a:lnTo>
                    <a:pt x="146145" y="422910"/>
                  </a:lnTo>
                  <a:lnTo>
                    <a:pt x="144781" y="425450"/>
                  </a:lnTo>
                  <a:lnTo>
                    <a:pt x="143680" y="427989"/>
                  </a:lnTo>
                  <a:lnTo>
                    <a:pt x="142984" y="430530"/>
                  </a:lnTo>
                  <a:lnTo>
                    <a:pt x="142984" y="433069"/>
                  </a:lnTo>
                  <a:lnTo>
                    <a:pt x="141435" y="433069"/>
                  </a:lnTo>
                  <a:lnTo>
                    <a:pt x="8780" y="650625"/>
                  </a:lnTo>
                  <a:lnTo>
                    <a:pt x="8780" y="651510"/>
                  </a:lnTo>
                  <a:lnTo>
                    <a:pt x="7923" y="652031"/>
                  </a:lnTo>
                  <a:lnTo>
                    <a:pt x="6692" y="654050"/>
                  </a:lnTo>
                  <a:lnTo>
                    <a:pt x="5614" y="656589"/>
                  </a:lnTo>
                  <a:lnTo>
                    <a:pt x="4535" y="657860"/>
                  </a:lnTo>
                  <a:lnTo>
                    <a:pt x="4535" y="660400"/>
                  </a:lnTo>
                  <a:lnTo>
                    <a:pt x="1078" y="662939"/>
                  </a:lnTo>
                  <a:lnTo>
                    <a:pt x="0" y="666750"/>
                  </a:lnTo>
                  <a:lnTo>
                    <a:pt x="0" y="668019"/>
                  </a:lnTo>
                  <a:lnTo>
                    <a:pt x="359" y="670560"/>
                  </a:lnTo>
                  <a:lnTo>
                    <a:pt x="1724" y="673100"/>
                  </a:lnTo>
                  <a:lnTo>
                    <a:pt x="4535" y="675639"/>
                  </a:lnTo>
                  <a:lnTo>
                    <a:pt x="4535" y="687069"/>
                  </a:lnTo>
                  <a:lnTo>
                    <a:pt x="5253" y="689610"/>
                  </a:lnTo>
                  <a:lnTo>
                    <a:pt x="5614" y="692150"/>
                  </a:lnTo>
                  <a:lnTo>
                    <a:pt x="7052" y="697229"/>
                  </a:lnTo>
                  <a:lnTo>
                    <a:pt x="8780" y="698500"/>
                  </a:lnTo>
                  <a:lnTo>
                    <a:pt x="10941" y="698500"/>
                  </a:lnTo>
                  <a:lnTo>
                    <a:pt x="13388" y="699769"/>
                  </a:lnTo>
                  <a:lnTo>
                    <a:pt x="738601" y="699769"/>
                  </a:lnTo>
                  <a:lnTo>
                    <a:pt x="741791" y="697229"/>
                  </a:lnTo>
                  <a:lnTo>
                    <a:pt x="746373" y="693419"/>
                  </a:lnTo>
                  <a:lnTo>
                    <a:pt x="747388" y="690879"/>
                  </a:lnTo>
                  <a:lnTo>
                    <a:pt x="748461" y="688339"/>
                  </a:lnTo>
                  <a:lnTo>
                    <a:pt x="748461" y="664210"/>
                  </a:lnTo>
                  <a:lnTo>
                    <a:pt x="747388" y="662939"/>
                  </a:lnTo>
                  <a:lnTo>
                    <a:pt x="746373" y="660400"/>
                  </a:lnTo>
                  <a:lnTo>
                    <a:pt x="744227" y="657860"/>
                  </a:lnTo>
                  <a:lnTo>
                    <a:pt x="743212" y="651510"/>
                  </a:lnTo>
                  <a:lnTo>
                    <a:pt x="742139" y="647700"/>
                  </a:lnTo>
                  <a:lnTo>
                    <a:pt x="741791" y="645160"/>
                  </a:lnTo>
                  <a:lnTo>
                    <a:pt x="741791" y="642619"/>
                  </a:lnTo>
                  <a:lnTo>
                    <a:pt x="741066" y="638810"/>
                  </a:lnTo>
                  <a:lnTo>
                    <a:pt x="740690" y="635000"/>
                  </a:lnTo>
                  <a:lnTo>
                    <a:pt x="740051" y="633729"/>
                  </a:lnTo>
                  <a:lnTo>
                    <a:pt x="739703" y="631189"/>
                  </a:lnTo>
                  <a:lnTo>
                    <a:pt x="739703" y="619760"/>
                  </a:lnTo>
                  <a:lnTo>
                    <a:pt x="737529" y="619760"/>
                  </a:lnTo>
                  <a:lnTo>
                    <a:pt x="736890" y="618489"/>
                  </a:lnTo>
                  <a:lnTo>
                    <a:pt x="736513" y="615950"/>
                  </a:lnTo>
                  <a:lnTo>
                    <a:pt x="735788" y="613410"/>
                  </a:lnTo>
                  <a:lnTo>
                    <a:pt x="735440" y="610869"/>
                  </a:lnTo>
                  <a:lnTo>
                    <a:pt x="734716" y="609600"/>
                  </a:lnTo>
                  <a:lnTo>
                    <a:pt x="734716" y="607060"/>
                  </a:lnTo>
                  <a:lnTo>
                    <a:pt x="733991" y="604519"/>
                  </a:lnTo>
                  <a:lnTo>
                    <a:pt x="733991" y="603250"/>
                  </a:lnTo>
                  <a:lnTo>
                    <a:pt x="733353" y="600710"/>
                  </a:lnTo>
                  <a:lnTo>
                    <a:pt x="732279" y="594360"/>
                  </a:lnTo>
                  <a:lnTo>
                    <a:pt x="731555" y="591819"/>
                  </a:lnTo>
                  <a:lnTo>
                    <a:pt x="731555" y="589279"/>
                  </a:lnTo>
                  <a:lnTo>
                    <a:pt x="730830" y="588010"/>
                  </a:lnTo>
                  <a:lnTo>
                    <a:pt x="730830" y="585469"/>
                  </a:lnTo>
                  <a:lnTo>
                    <a:pt x="730192" y="582929"/>
                  </a:lnTo>
                  <a:lnTo>
                    <a:pt x="729814" y="580389"/>
                  </a:lnTo>
                  <a:lnTo>
                    <a:pt x="729119" y="576579"/>
                  </a:lnTo>
                  <a:lnTo>
                    <a:pt x="728394" y="574039"/>
                  </a:lnTo>
                  <a:lnTo>
                    <a:pt x="728394" y="572769"/>
                  </a:lnTo>
                  <a:lnTo>
                    <a:pt x="727669" y="570229"/>
                  </a:lnTo>
                  <a:lnTo>
                    <a:pt x="727669" y="567689"/>
                  </a:lnTo>
                  <a:lnTo>
                    <a:pt x="727031" y="565150"/>
                  </a:lnTo>
                  <a:lnTo>
                    <a:pt x="726654" y="563879"/>
                  </a:lnTo>
                  <a:lnTo>
                    <a:pt x="725929" y="558800"/>
                  </a:lnTo>
                  <a:lnTo>
                    <a:pt x="725233" y="557529"/>
                  </a:lnTo>
                  <a:lnTo>
                    <a:pt x="725233" y="554989"/>
                  </a:lnTo>
                  <a:lnTo>
                    <a:pt x="724508" y="552450"/>
                  </a:lnTo>
                  <a:lnTo>
                    <a:pt x="724508" y="551179"/>
                  </a:lnTo>
                  <a:lnTo>
                    <a:pt x="723841" y="548639"/>
                  </a:lnTo>
                  <a:lnTo>
                    <a:pt x="723145" y="544829"/>
                  </a:lnTo>
                  <a:lnTo>
                    <a:pt x="722768" y="542289"/>
                  </a:lnTo>
                  <a:lnTo>
                    <a:pt x="722043" y="539750"/>
                  </a:lnTo>
                  <a:lnTo>
                    <a:pt x="722043" y="537210"/>
                  </a:lnTo>
                  <a:lnTo>
                    <a:pt x="721347" y="535939"/>
                  </a:lnTo>
                  <a:lnTo>
                    <a:pt x="721347" y="533400"/>
                  </a:lnTo>
                  <a:lnTo>
                    <a:pt x="720680" y="530860"/>
                  </a:lnTo>
                  <a:lnTo>
                    <a:pt x="719607" y="524510"/>
                  </a:lnTo>
                  <a:lnTo>
                    <a:pt x="718882" y="521969"/>
                  </a:lnTo>
                  <a:lnTo>
                    <a:pt x="718882" y="520700"/>
                  </a:lnTo>
                  <a:lnTo>
                    <a:pt x="718157" y="518160"/>
                  </a:lnTo>
                  <a:lnTo>
                    <a:pt x="718157" y="515619"/>
                  </a:lnTo>
                  <a:lnTo>
                    <a:pt x="717519" y="513079"/>
                  </a:lnTo>
                  <a:lnTo>
                    <a:pt x="717171" y="511810"/>
                  </a:lnTo>
                  <a:lnTo>
                    <a:pt x="716794" y="509269"/>
                  </a:lnTo>
                  <a:lnTo>
                    <a:pt x="716794" y="506729"/>
                  </a:lnTo>
                  <a:lnTo>
                    <a:pt x="716069" y="505460"/>
                  </a:lnTo>
                  <a:lnTo>
                    <a:pt x="715344" y="500379"/>
                  </a:lnTo>
                  <a:lnTo>
                    <a:pt x="715344" y="499110"/>
                  </a:lnTo>
                  <a:lnTo>
                    <a:pt x="714648" y="494029"/>
                  </a:lnTo>
                  <a:lnTo>
                    <a:pt x="714272" y="491489"/>
                  </a:lnTo>
                  <a:lnTo>
                    <a:pt x="714272" y="490219"/>
                  </a:lnTo>
                  <a:lnTo>
                    <a:pt x="713981" y="487679"/>
                  </a:lnTo>
                  <a:lnTo>
                    <a:pt x="713256" y="483869"/>
                  </a:lnTo>
                  <a:lnTo>
                    <a:pt x="713256" y="481329"/>
                  </a:lnTo>
                  <a:lnTo>
                    <a:pt x="706587" y="435610"/>
                  </a:lnTo>
                  <a:lnTo>
                    <a:pt x="704411" y="431800"/>
                  </a:lnTo>
                  <a:lnTo>
                    <a:pt x="704411" y="430530"/>
                  </a:lnTo>
                  <a:lnTo>
                    <a:pt x="700236" y="426719"/>
                  </a:lnTo>
                  <a:lnTo>
                    <a:pt x="698481" y="425450"/>
                  </a:lnTo>
                  <a:lnTo>
                    <a:pt x="572754" y="425450"/>
                  </a:lnTo>
                  <a:lnTo>
                    <a:pt x="570231" y="424179"/>
                  </a:lnTo>
                  <a:lnTo>
                    <a:pt x="554746" y="424179"/>
                  </a:lnTo>
                  <a:lnTo>
                    <a:pt x="554020" y="422910"/>
                  </a:lnTo>
                  <a:lnTo>
                    <a:pt x="553673" y="420369"/>
                  </a:lnTo>
                  <a:lnTo>
                    <a:pt x="552658" y="417829"/>
                  </a:lnTo>
                  <a:lnTo>
                    <a:pt x="552658" y="415289"/>
                  </a:lnTo>
                  <a:lnTo>
                    <a:pt x="553673" y="412750"/>
                  </a:lnTo>
                  <a:lnTo>
                    <a:pt x="554020" y="410210"/>
                  </a:lnTo>
                  <a:lnTo>
                    <a:pt x="553673" y="407669"/>
                  </a:lnTo>
                  <a:lnTo>
                    <a:pt x="552658" y="406400"/>
                  </a:lnTo>
                  <a:lnTo>
                    <a:pt x="552658" y="405129"/>
                  </a:lnTo>
                  <a:lnTo>
                    <a:pt x="554398" y="403860"/>
                  </a:lnTo>
                  <a:lnTo>
                    <a:pt x="554746" y="402589"/>
                  </a:lnTo>
                  <a:lnTo>
                    <a:pt x="550511" y="354329"/>
                  </a:lnTo>
                  <a:lnTo>
                    <a:pt x="550134" y="351789"/>
                  </a:lnTo>
                  <a:lnTo>
                    <a:pt x="549497" y="346710"/>
                  </a:lnTo>
                  <a:lnTo>
                    <a:pt x="549497" y="345439"/>
                  </a:lnTo>
                  <a:lnTo>
                    <a:pt x="548424" y="339089"/>
                  </a:lnTo>
                  <a:lnTo>
                    <a:pt x="548424" y="336550"/>
                  </a:lnTo>
                  <a:lnTo>
                    <a:pt x="548046" y="334010"/>
                  </a:lnTo>
                  <a:lnTo>
                    <a:pt x="547698" y="331469"/>
                  </a:lnTo>
                  <a:lnTo>
                    <a:pt x="547698" y="327660"/>
                  </a:lnTo>
                  <a:lnTo>
                    <a:pt x="547321" y="325119"/>
                  </a:lnTo>
                  <a:lnTo>
                    <a:pt x="546973" y="322579"/>
                  </a:lnTo>
                  <a:lnTo>
                    <a:pt x="546973" y="318769"/>
                  </a:lnTo>
                  <a:lnTo>
                    <a:pt x="546684" y="316229"/>
                  </a:lnTo>
                  <a:lnTo>
                    <a:pt x="546336" y="313689"/>
                  </a:lnTo>
                  <a:lnTo>
                    <a:pt x="546336" y="309879"/>
                  </a:lnTo>
                  <a:lnTo>
                    <a:pt x="545959" y="307339"/>
                  </a:lnTo>
                  <a:lnTo>
                    <a:pt x="545611" y="304800"/>
                  </a:lnTo>
                  <a:lnTo>
                    <a:pt x="545611" y="300989"/>
                  </a:lnTo>
                  <a:lnTo>
                    <a:pt x="545233" y="298450"/>
                  </a:lnTo>
                  <a:lnTo>
                    <a:pt x="545233" y="297179"/>
                  </a:lnTo>
                  <a:lnTo>
                    <a:pt x="544885" y="294639"/>
                  </a:lnTo>
                  <a:lnTo>
                    <a:pt x="544885" y="292100"/>
                  </a:lnTo>
                  <a:lnTo>
                    <a:pt x="544537" y="289560"/>
                  </a:lnTo>
                  <a:lnTo>
                    <a:pt x="544537" y="283210"/>
                  </a:lnTo>
                  <a:lnTo>
                    <a:pt x="544160" y="280669"/>
                  </a:lnTo>
                  <a:lnTo>
                    <a:pt x="543436" y="276860"/>
                  </a:lnTo>
                  <a:lnTo>
                    <a:pt x="543436" y="274319"/>
                  </a:lnTo>
                  <a:lnTo>
                    <a:pt x="543145" y="271779"/>
                  </a:lnTo>
                  <a:lnTo>
                    <a:pt x="543145" y="270510"/>
                  </a:lnTo>
                  <a:lnTo>
                    <a:pt x="542798" y="267969"/>
                  </a:lnTo>
                  <a:lnTo>
                    <a:pt x="542798" y="265429"/>
                  </a:lnTo>
                  <a:lnTo>
                    <a:pt x="542450" y="262889"/>
                  </a:lnTo>
                  <a:lnTo>
                    <a:pt x="542074" y="261619"/>
                  </a:lnTo>
                  <a:lnTo>
                    <a:pt x="541726" y="259079"/>
                  </a:lnTo>
                  <a:lnTo>
                    <a:pt x="541726" y="256539"/>
                  </a:lnTo>
                  <a:lnTo>
                    <a:pt x="541347" y="255269"/>
                  </a:lnTo>
                  <a:lnTo>
                    <a:pt x="541347" y="252729"/>
                  </a:lnTo>
                  <a:lnTo>
                    <a:pt x="540999" y="250189"/>
                  </a:lnTo>
                  <a:lnTo>
                    <a:pt x="540999" y="248919"/>
                  </a:lnTo>
                  <a:lnTo>
                    <a:pt x="540275" y="243839"/>
                  </a:lnTo>
                  <a:lnTo>
                    <a:pt x="539984" y="242569"/>
                  </a:lnTo>
                  <a:lnTo>
                    <a:pt x="539984" y="240029"/>
                  </a:lnTo>
                  <a:lnTo>
                    <a:pt x="539636" y="237489"/>
                  </a:lnTo>
                  <a:lnTo>
                    <a:pt x="539261" y="236219"/>
                  </a:lnTo>
                  <a:lnTo>
                    <a:pt x="538913" y="233679"/>
                  </a:lnTo>
                  <a:lnTo>
                    <a:pt x="538913" y="232410"/>
                  </a:lnTo>
                  <a:lnTo>
                    <a:pt x="537838" y="226060"/>
                  </a:lnTo>
                  <a:lnTo>
                    <a:pt x="537838" y="223519"/>
                  </a:lnTo>
                  <a:lnTo>
                    <a:pt x="537462" y="220979"/>
                  </a:lnTo>
                  <a:lnTo>
                    <a:pt x="537462" y="219710"/>
                  </a:lnTo>
                  <a:lnTo>
                    <a:pt x="537114" y="217169"/>
                  </a:lnTo>
                  <a:lnTo>
                    <a:pt x="537114" y="210819"/>
                  </a:lnTo>
                  <a:lnTo>
                    <a:pt x="535373" y="208279"/>
                  </a:lnTo>
                  <a:lnTo>
                    <a:pt x="533953" y="207010"/>
                  </a:lnTo>
                  <a:lnTo>
                    <a:pt x="532591" y="204469"/>
                  </a:lnTo>
                  <a:lnTo>
                    <a:pt x="531140" y="203200"/>
                  </a:lnTo>
                  <a:lnTo>
                    <a:pt x="527602" y="198119"/>
                  </a:lnTo>
                  <a:lnTo>
                    <a:pt x="524441" y="195579"/>
                  </a:lnTo>
                  <a:lnTo>
                    <a:pt x="520555" y="191769"/>
                  </a:lnTo>
                  <a:lnTo>
                    <a:pt x="517394" y="187960"/>
                  </a:lnTo>
                  <a:lnTo>
                    <a:pt x="513857" y="185419"/>
                  </a:lnTo>
                  <a:lnTo>
                    <a:pt x="505070" y="176529"/>
                  </a:lnTo>
                  <a:lnTo>
                    <a:pt x="502257" y="173989"/>
                  </a:lnTo>
                  <a:lnTo>
                    <a:pt x="499821" y="171450"/>
                  </a:lnTo>
                  <a:lnTo>
                    <a:pt x="498370" y="168910"/>
                  </a:lnTo>
                  <a:lnTo>
                    <a:pt x="436051" y="168910"/>
                  </a:lnTo>
                  <a:lnTo>
                    <a:pt x="436051" y="153669"/>
                  </a:lnTo>
                  <a:lnTo>
                    <a:pt x="439212" y="149860"/>
                  </a:lnTo>
                  <a:lnTo>
                    <a:pt x="442374" y="147319"/>
                  </a:lnTo>
                  <a:lnTo>
                    <a:pt x="444171" y="143510"/>
                  </a:lnTo>
                  <a:lnTo>
                    <a:pt x="445910" y="139700"/>
                  </a:lnTo>
                  <a:lnTo>
                    <a:pt x="446984" y="137160"/>
                  </a:lnTo>
                  <a:lnTo>
                    <a:pt x="447709" y="134619"/>
                  </a:lnTo>
                  <a:lnTo>
                    <a:pt x="447709" y="129539"/>
                  </a:lnTo>
                  <a:lnTo>
                    <a:pt x="447332" y="127000"/>
                  </a:lnTo>
                  <a:lnTo>
                    <a:pt x="446984" y="125729"/>
                  </a:lnTo>
                  <a:lnTo>
                    <a:pt x="446984" y="118110"/>
                  </a:lnTo>
                  <a:lnTo>
                    <a:pt x="445910" y="116839"/>
                  </a:lnTo>
                  <a:lnTo>
                    <a:pt x="444808" y="114300"/>
                  </a:lnTo>
                  <a:lnTo>
                    <a:pt x="443097" y="111760"/>
                  </a:lnTo>
                  <a:lnTo>
                    <a:pt x="441648" y="110489"/>
                  </a:lnTo>
                  <a:lnTo>
                    <a:pt x="439560" y="107950"/>
                  </a:lnTo>
                  <a:lnTo>
                    <a:pt x="437850" y="106679"/>
                  </a:lnTo>
                  <a:lnTo>
                    <a:pt x="435674" y="104139"/>
                  </a:lnTo>
                  <a:lnTo>
                    <a:pt x="433586" y="102869"/>
                  </a:lnTo>
                  <a:lnTo>
                    <a:pt x="431499" y="100329"/>
                  </a:lnTo>
                  <a:lnTo>
                    <a:pt x="431499" y="96519"/>
                  </a:lnTo>
                  <a:lnTo>
                    <a:pt x="432513" y="93979"/>
                  </a:lnTo>
                  <a:lnTo>
                    <a:pt x="432861" y="92710"/>
                  </a:lnTo>
                  <a:lnTo>
                    <a:pt x="432513" y="90169"/>
                  </a:lnTo>
                  <a:lnTo>
                    <a:pt x="431499" y="87629"/>
                  </a:lnTo>
                  <a:lnTo>
                    <a:pt x="257502" y="87629"/>
                  </a:lnTo>
                  <a:lnTo>
                    <a:pt x="263870" y="47533"/>
                  </a:lnTo>
                  <a:close/>
                </a:path>
                <a:path w="748665" h="701039">
                  <a:moveTo>
                    <a:pt x="7923" y="652031"/>
                  </a:moveTo>
                  <a:lnTo>
                    <a:pt x="6692" y="652779"/>
                  </a:lnTo>
                  <a:lnTo>
                    <a:pt x="6692" y="654050"/>
                  </a:lnTo>
                  <a:lnTo>
                    <a:pt x="7923" y="652031"/>
                  </a:lnTo>
                  <a:close/>
                </a:path>
                <a:path w="748665" h="701039">
                  <a:moveTo>
                    <a:pt x="141435" y="433069"/>
                  </a:moveTo>
                  <a:lnTo>
                    <a:pt x="64067" y="433069"/>
                  </a:lnTo>
                  <a:lnTo>
                    <a:pt x="62702" y="434339"/>
                  </a:lnTo>
                  <a:lnTo>
                    <a:pt x="61620" y="436879"/>
                  </a:lnTo>
                  <a:lnTo>
                    <a:pt x="61620" y="439419"/>
                  </a:lnTo>
                  <a:lnTo>
                    <a:pt x="60542" y="443229"/>
                  </a:lnTo>
                  <a:lnTo>
                    <a:pt x="59535" y="447039"/>
                  </a:lnTo>
                  <a:lnTo>
                    <a:pt x="58453" y="450850"/>
                  </a:lnTo>
                  <a:lnTo>
                    <a:pt x="57734" y="454660"/>
                  </a:lnTo>
                  <a:lnTo>
                    <a:pt x="56724" y="458469"/>
                  </a:lnTo>
                  <a:lnTo>
                    <a:pt x="56006" y="462279"/>
                  </a:lnTo>
                  <a:lnTo>
                    <a:pt x="54927" y="466089"/>
                  </a:lnTo>
                  <a:lnTo>
                    <a:pt x="54208" y="469900"/>
                  </a:lnTo>
                  <a:lnTo>
                    <a:pt x="52119" y="477519"/>
                  </a:lnTo>
                  <a:lnTo>
                    <a:pt x="51398" y="478789"/>
                  </a:lnTo>
                  <a:lnTo>
                    <a:pt x="51038" y="481329"/>
                  </a:lnTo>
                  <a:lnTo>
                    <a:pt x="50679" y="482600"/>
                  </a:lnTo>
                  <a:lnTo>
                    <a:pt x="50392" y="485139"/>
                  </a:lnTo>
                  <a:lnTo>
                    <a:pt x="49672" y="486410"/>
                  </a:lnTo>
                  <a:lnTo>
                    <a:pt x="48590" y="490219"/>
                  </a:lnTo>
                  <a:lnTo>
                    <a:pt x="48590" y="492760"/>
                  </a:lnTo>
                  <a:lnTo>
                    <a:pt x="47871" y="494029"/>
                  </a:lnTo>
                  <a:lnTo>
                    <a:pt x="47511" y="496569"/>
                  </a:lnTo>
                  <a:lnTo>
                    <a:pt x="46863" y="497839"/>
                  </a:lnTo>
                  <a:lnTo>
                    <a:pt x="46863" y="500379"/>
                  </a:lnTo>
                  <a:lnTo>
                    <a:pt x="44705" y="508000"/>
                  </a:lnTo>
                  <a:lnTo>
                    <a:pt x="43982" y="509269"/>
                  </a:lnTo>
                  <a:lnTo>
                    <a:pt x="43695" y="511810"/>
                  </a:lnTo>
                  <a:lnTo>
                    <a:pt x="42976" y="513079"/>
                  </a:lnTo>
                  <a:lnTo>
                    <a:pt x="42617" y="515619"/>
                  </a:lnTo>
                  <a:lnTo>
                    <a:pt x="41535" y="519429"/>
                  </a:lnTo>
                  <a:lnTo>
                    <a:pt x="40529" y="523239"/>
                  </a:lnTo>
                  <a:lnTo>
                    <a:pt x="39809" y="524510"/>
                  </a:lnTo>
                  <a:lnTo>
                    <a:pt x="39447" y="527050"/>
                  </a:lnTo>
                  <a:lnTo>
                    <a:pt x="39088" y="528319"/>
                  </a:lnTo>
                  <a:lnTo>
                    <a:pt x="38728" y="530860"/>
                  </a:lnTo>
                  <a:lnTo>
                    <a:pt x="37649" y="533400"/>
                  </a:lnTo>
                  <a:lnTo>
                    <a:pt x="36639" y="538479"/>
                  </a:lnTo>
                  <a:lnTo>
                    <a:pt x="35920" y="539750"/>
                  </a:lnTo>
                  <a:lnTo>
                    <a:pt x="35561" y="542289"/>
                  </a:lnTo>
                  <a:lnTo>
                    <a:pt x="34842" y="543560"/>
                  </a:lnTo>
                  <a:lnTo>
                    <a:pt x="34842" y="546100"/>
                  </a:lnTo>
                  <a:lnTo>
                    <a:pt x="33832" y="548639"/>
                  </a:lnTo>
                  <a:lnTo>
                    <a:pt x="32034" y="554989"/>
                  </a:lnTo>
                  <a:lnTo>
                    <a:pt x="31672" y="557529"/>
                  </a:lnTo>
                  <a:lnTo>
                    <a:pt x="30953" y="558800"/>
                  </a:lnTo>
                  <a:lnTo>
                    <a:pt x="30953" y="561339"/>
                  </a:lnTo>
                  <a:lnTo>
                    <a:pt x="29947" y="562610"/>
                  </a:lnTo>
                  <a:lnTo>
                    <a:pt x="29588" y="565150"/>
                  </a:lnTo>
                  <a:lnTo>
                    <a:pt x="28505" y="567689"/>
                  </a:lnTo>
                  <a:lnTo>
                    <a:pt x="28145" y="570229"/>
                  </a:lnTo>
                  <a:lnTo>
                    <a:pt x="27499" y="572769"/>
                  </a:lnTo>
                  <a:lnTo>
                    <a:pt x="26059" y="577850"/>
                  </a:lnTo>
                  <a:lnTo>
                    <a:pt x="25698" y="580389"/>
                  </a:lnTo>
                  <a:lnTo>
                    <a:pt x="24620" y="582929"/>
                  </a:lnTo>
                  <a:lnTo>
                    <a:pt x="24260" y="585469"/>
                  </a:lnTo>
                  <a:lnTo>
                    <a:pt x="23610" y="588010"/>
                  </a:lnTo>
                  <a:lnTo>
                    <a:pt x="23251" y="590550"/>
                  </a:lnTo>
                  <a:lnTo>
                    <a:pt x="22172" y="593089"/>
                  </a:lnTo>
                  <a:lnTo>
                    <a:pt x="21809" y="596900"/>
                  </a:lnTo>
                  <a:lnTo>
                    <a:pt x="21090" y="598169"/>
                  </a:lnTo>
                  <a:lnTo>
                    <a:pt x="20803" y="601979"/>
                  </a:lnTo>
                  <a:lnTo>
                    <a:pt x="19724" y="603250"/>
                  </a:lnTo>
                  <a:lnTo>
                    <a:pt x="19362" y="607060"/>
                  </a:lnTo>
                  <a:lnTo>
                    <a:pt x="18284" y="609600"/>
                  </a:lnTo>
                  <a:lnTo>
                    <a:pt x="17924" y="612139"/>
                  </a:lnTo>
                  <a:lnTo>
                    <a:pt x="17278" y="613410"/>
                  </a:lnTo>
                  <a:lnTo>
                    <a:pt x="16915" y="617219"/>
                  </a:lnTo>
                  <a:lnTo>
                    <a:pt x="16195" y="619760"/>
                  </a:lnTo>
                  <a:lnTo>
                    <a:pt x="15835" y="622300"/>
                  </a:lnTo>
                  <a:lnTo>
                    <a:pt x="14757" y="624839"/>
                  </a:lnTo>
                  <a:lnTo>
                    <a:pt x="14397" y="627379"/>
                  </a:lnTo>
                  <a:lnTo>
                    <a:pt x="13388" y="629919"/>
                  </a:lnTo>
                  <a:lnTo>
                    <a:pt x="13028" y="632460"/>
                  </a:lnTo>
                  <a:lnTo>
                    <a:pt x="12310" y="635000"/>
                  </a:lnTo>
                  <a:lnTo>
                    <a:pt x="11950" y="637539"/>
                  </a:lnTo>
                  <a:lnTo>
                    <a:pt x="11228" y="640079"/>
                  </a:lnTo>
                  <a:lnTo>
                    <a:pt x="10941" y="642619"/>
                  </a:lnTo>
                  <a:lnTo>
                    <a:pt x="9502" y="643889"/>
                  </a:lnTo>
                  <a:lnTo>
                    <a:pt x="8780" y="646429"/>
                  </a:lnTo>
                  <a:lnTo>
                    <a:pt x="8780" y="650625"/>
                  </a:lnTo>
                  <a:lnTo>
                    <a:pt x="141435" y="433069"/>
                  </a:lnTo>
                  <a:close/>
                </a:path>
                <a:path w="748665" h="701039">
                  <a:moveTo>
                    <a:pt x="79258" y="431800"/>
                  </a:moveTo>
                  <a:lnTo>
                    <a:pt x="67597" y="431800"/>
                  </a:lnTo>
                  <a:lnTo>
                    <a:pt x="66227" y="433069"/>
                  </a:lnTo>
                  <a:lnTo>
                    <a:pt x="81346" y="433069"/>
                  </a:lnTo>
                  <a:lnTo>
                    <a:pt x="79258" y="431800"/>
                  </a:lnTo>
                  <a:close/>
                </a:path>
                <a:path w="748665" h="701039">
                  <a:moveTo>
                    <a:pt x="137706" y="431800"/>
                  </a:moveTo>
                  <a:lnTo>
                    <a:pt x="115901" y="431800"/>
                  </a:lnTo>
                  <a:lnTo>
                    <a:pt x="113741" y="433069"/>
                  </a:lnTo>
                  <a:lnTo>
                    <a:pt x="140171" y="433069"/>
                  </a:lnTo>
                  <a:lnTo>
                    <a:pt x="137706" y="431800"/>
                  </a:lnTo>
                  <a:close/>
                </a:path>
                <a:path w="748665" h="701039">
                  <a:moveTo>
                    <a:pt x="696727" y="424179"/>
                  </a:moveTo>
                  <a:lnTo>
                    <a:pt x="593488" y="424179"/>
                  </a:lnTo>
                  <a:lnTo>
                    <a:pt x="591400" y="425450"/>
                  </a:lnTo>
                  <a:lnTo>
                    <a:pt x="698481" y="425450"/>
                  </a:lnTo>
                  <a:lnTo>
                    <a:pt x="696727" y="424179"/>
                  </a:lnTo>
                  <a:close/>
                </a:path>
                <a:path w="748665" h="701039">
                  <a:moveTo>
                    <a:pt x="489960" y="167639"/>
                  </a:moveTo>
                  <a:lnTo>
                    <a:pt x="470241" y="167639"/>
                  </a:lnTo>
                  <a:lnTo>
                    <a:pt x="468066" y="168910"/>
                  </a:lnTo>
                  <a:lnTo>
                    <a:pt x="492398" y="168910"/>
                  </a:lnTo>
                  <a:lnTo>
                    <a:pt x="489960" y="167639"/>
                  </a:lnTo>
                  <a:close/>
                </a:path>
                <a:path w="748665" h="701039">
                  <a:moveTo>
                    <a:pt x="274003" y="3810"/>
                  </a:moveTo>
                  <a:lnTo>
                    <a:pt x="270813" y="3810"/>
                  </a:lnTo>
                  <a:lnTo>
                    <a:pt x="265888" y="34823"/>
                  </a:lnTo>
                  <a:lnTo>
                    <a:pt x="266636" y="36829"/>
                  </a:lnTo>
                  <a:lnTo>
                    <a:pt x="268725" y="39369"/>
                  </a:lnTo>
                  <a:lnTo>
                    <a:pt x="268725" y="40639"/>
                  </a:lnTo>
                  <a:lnTo>
                    <a:pt x="266288" y="44450"/>
                  </a:lnTo>
                  <a:lnTo>
                    <a:pt x="264114" y="46989"/>
                  </a:lnTo>
                  <a:lnTo>
                    <a:pt x="263870" y="47533"/>
                  </a:lnTo>
                  <a:lnTo>
                    <a:pt x="257502" y="87629"/>
                  </a:lnTo>
                  <a:lnTo>
                    <a:pt x="431499" y="87629"/>
                  </a:lnTo>
                  <a:lnTo>
                    <a:pt x="431151" y="86360"/>
                  </a:lnTo>
                  <a:lnTo>
                    <a:pt x="429352" y="85089"/>
                  </a:lnTo>
                  <a:lnTo>
                    <a:pt x="427990" y="82550"/>
                  </a:lnTo>
                  <a:lnTo>
                    <a:pt x="425814" y="77469"/>
                  </a:lnTo>
                  <a:lnTo>
                    <a:pt x="424799" y="74929"/>
                  </a:lnTo>
                  <a:lnTo>
                    <a:pt x="421929" y="69850"/>
                  </a:lnTo>
                  <a:lnTo>
                    <a:pt x="420188" y="68579"/>
                  </a:lnTo>
                  <a:lnTo>
                    <a:pt x="418768" y="66039"/>
                  </a:lnTo>
                  <a:lnTo>
                    <a:pt x="414940" y="60960"/>
                  </a:lnTo>
                  <a:lnTo>
                    <a:pt x="412794" y="59689"/>
                  </a:lnTo>
                  <a:lnTo>
                    <a:pt x="410706" y="57150"/>
                  </a:lnTo>
                  <a:lnTo>
                    <a:pt x="408241" y="54610"/>
                  </a:lnTo>
                  <a:lnTo>
                    <a:pt x="403282" y="52069"/>
                  </a:lnTo>
                  <a:lnTo>
                    <a:pt x="400846" y="49529"/>
                  </a:lnTo>
                  <a:lnTo>
                    <a:pt x="399395" y="49529"/>
                  </a:lnTo>
                  <a:lnTo>
                    <a:pt x="398381" y="48260"/>
                  </a:lnTo>
                  <a:lnTo>
                    <a:pt x="396582" y="46989"/>
                  </a:lnTo>
                  <a:lnTo>
                    <a:pt x="395220" y="45719"/>
                  </a:lnTo>
                  <a:lnTo>
                    <a:pt x="393421" y="44450"/>
                  </a:lnTo>
                  <a:lnTo>
                    <a:pt x="392059" y="40639"/>
                  </a:lnTo>
                  <a:lnTo>
                    <a:pt x="388522" y="39369"/>
                  </a:lnTo>
                  <a:lnTo>
                    <a:pt x="385998" y="35560"/>
                  </a:lnTo>
                  <a:lnTo>
                    <a:pt x="384288" y="34289"/>
                  </a:lnTo>
                  <a:lnTo>
                    <a:pt x="382489" y="33019"/>
                  </a:lnTo>
                  <a:lnTo>
                    <a:pt x="380401" y="30479"/>
                  </a:lnTo>
                  <a:lnTo>
                    <a:pt x="378661" y="30479"/>
                  </a:lnTo>
                  <a:lnTo>
                    <a:pt x="376138" y="29210"/>
                  </a:lnTo>
                  <a:lnTo>
                    <a:pt x="374050" y="27939"/>
                  </a:lnTo>
                  <a:lnTo>
                    <a:pt x="371614" y="26669"/>
                  </a:lnTo>
                  <a:lnTo>
                    <a:pt x="369440" y="25400"/>
                  </a:lnTo>
                  <a:lnTo>
                    <a:pt x="367003" y="24129"/>
                  </a:lnTo>
                  <a:lnTo>
                    <a:pt x="362103" y="24129"/>
                  </a:lnTo>
                  <a:lnTo>
                    <a:pt x="359957" y="22860"/>
                  </a:lnTo>
                  <a:lnTo>
                    <a:pt x="357144" y="22860"/>
                  </a:lnTo>
                  <a:lnTo>
                    <a:pt x="352243" y="21589"/>
                  </a:lnTo>
                  <a:lnTo>
                    <a:pt x="316980" y="21589"/>
                  </a:lnTo>
                  <a:lnTo>
                    <a:pt x="316980" y="19050"/>
                  </a:lnTo>
                  <a:lnTo>
                    <a:pt x="315964" y="16510"/>
                  </a:lnTo>
                  <a:lnTo>
                    <a:pt x="314892" y="15239"/>
                  </a:lnTo>
                  <a:lnTo>
                    <a:pt x="288474" y="15239"/>
                  </a:lnTo>
                  <a:lnTo>
                    <a:pt x="284935" y="11429"/>
                  </a:lnTo>
                  <a:lnTo>
                    <a:pt x="281774" y="8889"/>
                  </a:lnTo>
                  <a:lnTo>
                    <a:pt x="279687" y="6350"/>
                  </a:lnTo>
                  <a:lnTo>
                    <a:pt x="276148" y="5079"/>
                  </a:lnTo>
                  <a:lnTo>
                    <a:pt x="274003" y="3810"/>
                  </a:lnTo>
                  <a:close/>
                </a:path>
                <a:path w="748665" h="701039">
                  <a:moveTo>
                    <a:pt x="270813" y="3810"/>
                  </a:moveTo>
                  <a:lnTo>
                    <a:pt x="268725" y="5079"/>
                  </a:lnTo>
                  <a:lnTo>
                    <a:pt x="268725" y="6350"/>
                  </a:lnTo>
                  <a:lnTo>
                    <a:pt x="263475" y="6350"/>
                  </a:lnTo>
                  <a:lnTo>
                    <a:pt x="262026" y="8889"/>
                  </a:lnTo>
                  <a:lnTo>
                    <a:pt x="259938" y="11429"/>
                  </a:lnTo>
                  <a:lnTo>
                    <a:pt x="259938" y="17779"/>
                  </a:lnTo>
                  <a:lnTo>
                    <a:pt x="265216" y="33019"/>
                  </a:lnTo>
                  <a:lnTo>
                    <a:pt x="265888" y="34823"/>
                  </a:lnTo>
                  <a:lnTo>
                    <a:pt x="270813" y="3810"/>
                  </a:lnTo>
                  <a:close/>
                </a:path>
                <a:path w="748665" h="701039">
                  <a:moveTo>
                    <a:pt x="334611" y="19050"/>
                  </a:moveTo>
                  <a:lnTo>
                    <a:pt x="332524" y="19050"/>
                  </a:lnTo>
                  <a:lnTo>
                    <a:pt x="328985" y="21589"/>
                  </a:lnTo>
                  <a:lnTo>
                    <a:pt x="337773" y="21589"/>
                  </a:lnTo>
                  <a:lnTo>
                    <a:pt x="334611" y="19050"/>
                  </a:lnTo>
                  <a:close/>
                </a:path>
                <a:path w="748665" h="701039">
                  <a:moveTo>
                    <a:pt x="305728" y="0"/>
                  </a:moveTo>
                  <a:lnTo>
                    <a:pt x="296941" y="0"/>
                  </a:lnTo>
                  <a:lnTo>
                    <a:pt x="295144" y="1269"/>
                  </a:lnTo>
                  <a:lnTo>
                    <a:pt x="292359" y="5079"/>
                  </a:lnTo>
                  <a:lnTo>
                    <a:pt x="290562" y="7619"/>
                  </a:lnTo>
                  <a:lnTo>
                    <a:pt x="289546" y="11429"/>
                  </a:lnTo>
                  <a:lnTo>
                    <a:pt x="288474" y="15239"/>
                  </a:lnTo>
                  <a:lnTo>
                    <a:pt x="314892" y="15239"/>
                  </a:lnTo>
                  <a:lnTo>
                    <a:pt x="314892" y="12700"/>
                  </a:lnTo>
                  <a:lnTo>
                    <a:pt x="313790" y="10160"/>
                  </a:lnTo>
                  <a:lnTo>
                    <a:pt x="312803" y="8889"/>
                  </a:lnTo>
                  <a:lnTo>
                    <a:pt x="311702" y="7619"/>
                  </a:lnTo>
                  <a:lnTo>
                    <a:pt x="311006" y="5079"/>
                  </a:lnTo>
                  <a:lnTo>
                    <a:pt x="309266" y="3810"/>
                  </a:lnTo>
                  <a:lnTo>
                    <a:pt x="307816" y="1269"/>
                  </a:lnTo>
                  <a:lnTo>
                    <a:pt x="305728" y="0"/>
                  </a:lnTo>
                  <a:close/>
                </a:path>
                <a:path w="748665" h="701039">
                  <a:moveTo>
                    <a:pt x="270813" y="3810"/>
                  </a:moveTo>
                  <a:lnTo>
                    <a:pt x="267362" y="5079"/>
                  </a:lnTo>
                  <a:lnTo>
                    <a:pt x="265216" y="6350"/>
                  </a:lnTo>
                  <a:lnTo>
                    <a:pt x="268725" y="6350"/>
                  </a:lnTo>
                  <a:lnTo>
                    <a:pt x="268725" y="5079"/>
                  </a:lnTo>
                  <a:lnTo>
                    <a:pt x="270813" y="3810"/>
                  </a:lnTo>
                  <a:close/>
                </a:path>
              </a:pathLst>
            </a:custGeom>
            <a:solidFill>
              <a:srgbClr val="33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886941" y="1757874"/>
              <a:ext cx="729615" cy="683260"/>
            </a:xfrm>
            <a:custGeom>
              <a:avLst/>
              <a:gdLst/>
              <a:ahLst/>
              <a:cxnLst/>
              <a:rect l="l" t="t" r="r" b="b"/>
              <a:pathLst>
                <a:path w="729615" h="683260">
                  <a:moveTo>
                    <a:pt x="58813" y="681989"/>
                  </a:moveTo>
                  <a:lnTo>
                    <a:pt x="22532" y="681989"/>
                  </a:lnTo>
                  <a:lnTo>
                    <a:pt x="25339" y="683260"/>
                  </a:lnTo>
                  <a:lnTo>
                    <a:pt x="56366" y="683260"/>
                  </a:lnTo>
                  <a:lnTo>
                    <a:pt x="58813" y="681989"/>
                  </a:lnTo>
                  <a:close/>
                </a:path>
                <a:path w="729615" h="683260">
                  <a:moveTo>
                    <a:pt x="703690" y="681989"/>
                  </a:moveTo>
                  <a:lnTo>
                    <a:pt x="698440" y="681989"/>
                  </a:lnTo>
                  <a:lnTo>
                    <a:pt x="700529" y="683260"/>
                  </a:lnTo>
                  <a:lnTo>
                    <a:pt x="703690" y="681989"/>
                  </a:lnTo>
                  <a:close/>
                </a:path>
                <a:path w="729615" h="683260">
                  <a:moveTo>
                    <a:pt x="63710" y="430530"/>
                  </a:moveTo>
                  <a:lnTo>
                    <a:pt x="59822" y="430530"/>
                  </a:lnTo>
                  <a:lnTo>
                    <a:pt x="58813" y="434339"/>
                  </a:lnTo>
                  <a:lnTo>
                    <a:pt x="57374" y="440689"/>
                  </a:lnTo>
                  <a:lnTo>
                    <a:pt x="56655" y="444500"/>
                  </a:lnTo>
                  <a:lnTo>
                    <a:pt x="55646" y="447039"/>
                  </a:lnTo>
                  <a:lnTo>
                    <a:pt x="54207" y="453389"/>
                  </a:lnTo>
                  <a:lnTo>
                    <a:pt x="53486" y="457200"/>
                  </a:lnTo>
                  <a:lnTo>
                    <a:pt x="52480" y="459739"/>
                  </a:lnTo>
                  <a:lnTo>
                    <a:pt x="50319" y="469900"/>
                  </a:lnTo>
                  <a:lnTo>
                    <a:pt x="49672" y="472439"/>
                  </a:lnTo>
                  <a:lnTo>
                    <a:pt x="48232" y="478789"/>
                  </a:lnTo>
                  <a:lnTo>
                    <a:pt x="47511" y="482600"/>
                  </a:lnTo>
                  <a:lnTo>
                    <a:pt x="46503" y="486410"/>
                  </a:lnTo>
                  <a:lnTo>
                    <a:pt x="43986" y="495300"/>
                  </a:lnTo>
                  <a:lnTo>
                    <a:pt x="42976" y="499110"/>
                  </a:lnTo>
                  <a:lnTo>
                    <a:pt x="40816" y="508000"/>
                  </a:lnTo>
                  <a:lnTo>
                    <a:pt x="39810" y="511810"/>
                  </a:lnTo>
                  <a:lnTo>
                    <a:pt x="37650" y="520700"/>
                  </a:lnTo>
                  <a:lnTo>
                    <a:pt x="36643" y="524510"/>
                  </a:lnTo>
                  <a:lnTo>
                    <a:pt x="35201" y="530860"/>
                  </a:lnTo>
                  <a:lnTo>
                    <a:pt x="33400" y="537210"/>
                  </a:lnTo>
                  <a:lnTo>
                    <a:pt x="32395" y="539750"/>
                  </a:lnTo>
                  <a:lnTo>
                    <a:pt x="30953" y="546100"/>
                  </a:lnTo>
                  <a:lnTo>
                    <a:pt x="29947" y="549910"/>
                  </a:lnTo>
                  <a:lnTo>
                    <a:pt x="27787" y="558800"/>
                  </a:lnTo>
                  <a:lnTo>
                    <a:pt x="26780" y="562610"/>
                  </a:lnTo>
                  <a:lnTo>
                    <a:pt x="25698" y="565150"/>
                  </a:lnTo>
                  <a:lnTo>
                    <a:pt x="24260" y="571500"/>
                  </a:lnTo>
                  <a:lnTo>
                    <a:pt x="23251" y="575310"/>
                  </a:lnTo>
                  <a:lnTo>
                    <a:pt x="21090" y="584200"/>
                  </a:lnTo>
                  <a:lnTo>
                    <a:pt x="20085" y="588010"/>
                  </a:lnTo>
                  <a:lnTo>
                    <a:pt x="17923" y="596900"/>
                  </a:lnTo>
                  <a:lnTo>
                    <a:pt x="16917" y="600710"/>
                  </a:lnTo>
                  <a:lnTo>
                    <a:pt x="14757" y="609600"/>
                  </a:lnTo>
                  <a:lnTo>
                    <a:pt x="13679" y="613410"/>
                  </a:lnTo>
                  <a:lnTo>
                    <a:pt x="13028" y="615950"/>
                  </a:lnTo>
                  <a:lnTo>
                    <a:pt x="12310" y="619760"/>
                  </a:lnTo>
                  <a:lnTo>
                    <a:pt x="11949" y="622300"/>
                  </a:lnTo>
                  <a:lnTo>
                    <a:pt x="10868" y="626110"/>
                  </a:lnTo>
                  <a:lnTo>
                    <a:pt x="10222" y="628650"/>
                  </a:lnTo>
                  <a:lnTo>
                    <a:pt x="9503" y="632460"/>
                  </a:lnTo>
                  <a:lnTo>
                    <a:pt x="9142" y="635000"/>
                  </a:lnTo>
                  <a:lnTo>
                    <a:pt x="7343" y="637539"/>
                  </a:lnTo>
                  <a:lnTo>
                    <a:pt x="6333" y="638810"/>
                  </a:lnTo>
                  <a:lnTo>
                    <a:pt x="3816" y="647700"/>
                  </a:lnTo>
                  <a:lnTo>
                    <a:pt x="3167" y="650239"/>
                  </a:lnTo>
                  <a:lnTo>
                    <a:pt x="2806" y="651510"/>
                  </a:lnTo>
                  <a:lnTo>
                    <a:pt x="4894" y="651510"/>
                  </a:lnTo>
                  <a:lnTo>
                    <a:pt x="2447" y="654050"/>
                  </a:lnTo>
                  <a:lnTo>
                    <a:pt x="2087" y="656589"/>
                  </a:lnTo>
                  <a:lnTo>
                    <a:pt x="1728" y="657860"/>
                  </a:lnTo>
                  <a:lnTo>
                    <a:pt x="1005" y="659130"/>
                  </a:lnTo>
                  <a:lnTo>
                    <a:pt x="0" y="660400"/>
                  </a:lnTo>
                  <a:lnTo>
                    <a:pt x="2806" y="660400"/>
                  </a:lnTo>
                  <a:lnTo>
                    <a:pt x="2447" y="661670"/>
                  </a:lnTo>
                  <a:lnTo>
                    <a:pt x="2087" y="665480"/>
                  </a:lnTo>
                  <a:lnTo>
                    <a:pt x="1728" y="666750"/>
                  </a:lnTo>
                  <a:lnTo>
                    <a:pt x="1728" y="670560"/>
                  </a:lnTo>
                  <a:lnTo>
                    <a:pt x="1369" y="673100"/>
                  </a:lnTo>
                  <a:lnTo>
                    <a:pt x="1369" y="675639"/>
                  </a:lnTo>
                  <a:lnTo>
                    <a:pt x="1728" y="679450"/>
                  </a:lnTo>
                  <a:lnTo>
                    <a:pt x="2806" y="681989"/>
                  </a:lnTo>
                  <a:lnTo>
                    <a:pt x="706937" y="681989"/>
                  </a:lnTo>
                  <a:lnTo>
                    <a:pt x="710098" y="680720"/>
                  </a:lnTo>
                  <a:lnTo>
                    <a:pt x="726990" y="680720"/>
                  </a:lnTo>
                  <a:lnTo>
                    <a:pt x="729122" y="679450"/>
                  </a:lnTo>
                  <a:lnTo>
                    <a:pt x="729122" y="655320"/>
                  </a:lnTo>
                  <a:lnTo>
                    <a:pt x="726948" y="652780"/>
                  </a:lnTo>
                  <a:lnTo>
                    <a:pt x="725931" y="650239"/>
                  </a:lnTo>
                  <a:lnTo>
                    <a:pt x="725206" y="647700"/>
                  </a:lnTo>
                  <a:lnTo>
                    <a:pt x="724510" y="646430"/>
                  </a:lnTo>
                  <a:lnTo>
                    <a:pt x="724134" y="643889"/>
                  </a:lnTo>
                  <a:lnTo>
                    <a:pt x="723409" y="641350"/>
                  </a:lnTo>
                  <a:lnTo>
                    <a:pt x="723118" y="638810"/>
                  </a:lnTo>
                  <a:lnTo>
                    <a:pt x="722424" y="637539"/>
                  </a:lnTo>
                  <a:lnTo>
                    <a:pt x="722424" y="635000"/>
                  </a:lnTo>
                  <a:lnTo>
                    <a:pt x="722045" y="632460"/>
                  </a:lnTo>
                  <a:lnTo>
                    <a:pt x="721697" y="629920"/>
                  </a:lnTo>
                  <a:lnTo>
                    <a:pt x="721321" y="627380"/>
                  </a:lnTo>
                  <a:lnTo>
                    <a:pt x="721321" y="626110"/>
                  </a:lnTo>
                  <a:lnTo>
                    <a:pt x="720625" y="621030"/>
                  </a:lnTo>
                  <a:lnTo>
                    <a:pt x="720248" y="618489"/>
                  </a:lnTo>
                  <a:lnTo>
                    <a:pt x="720248" y="615950"/>
                  </a:lnTo>
                  <a:lnTo>
                    <a:pt x="719232" y="612139"/>
                  </a:lnTo>
                  <a:lnTo>
                    <a:pt x="718884" y="609600"/>
                  </a:lnTo>
                  <a:lnTo>
                    <a:pt x="717812" y="607060"/>
                  </a:lnTo>
                  <a:lnTo>
                    <a:pt x="717435" y="604520"/>
                  </a:lnTo>
                  <a:lnTo>
                    <a:pt x="716798" y="600710"/>
                  </a:lnTo>
                  <a:lnTo>
                    <a:pt x="715347" y="595630"/>
                  </a:lnTo>
                  <a:lnTo>
                    <a:pt x="714999" y="591820"/>
                  </a:lnTo>
                  <a:lnTo>
                    <a:pt x="713549" y="586739"/>
                  </a:lnTo>
                  <a:lnTo>
                    <a:pt x="712911" y="582930"/>
                  </a:lnTo>
                  <a:lnTo>
                    <a:pt x="712563" y="580389"/>
                  </a:lnTo>
                  <a:lnTo>
                    <a:pt x="711838" y="577850"/>
                  </a:lnTo>
                  <a:lnTo>
                    <a:pt x="711461" y="575310"/>
                  </a:lnTo>
                  <a:lnTo>
                    <a:pt x="710765" y="571500"/>
                  </a:lnTo>
                  <a:lnTo>
                    <a:pt x="710388" y="568960"/>
                  </a:lnTo>
                  <a:lnTo>
                    <a:pt x="709750" y="566420"/>
                  </a:lnTo>
                  <a:lnTo>
                    <a:pt x="709373" y="562610"/>
                  </a:lnTo>
                  <a:lnTo>
                    <a:pt x="708677" y="560070"/>
                  </a:lnTo>
                  <a:lnTo>
                    <a:pt x="708300" y="557530"/>
                  </a:lnTo>
                  <a:lnTo>
                    <a:pt x="707575" y="553720"/>
                  </a:lnTo>
                  <a:lnTo>
                    <a:pt x="707227" y="551180"/>
                  </a:lnTo>
                  <a:lnTo>
                    <a:pt x="706589" y="548639"/>
                  </a:lnTo>
                  <a:lnTo>
                    <a:pt x="706212" y="544830"/>
                  </a:lnTo>
                  <a:lnTo>
                    <a:pt x="705487" y="542289"/>
                  </a:lnTo>
                  <a:lnTo>
                    <a:pt x="705139" y="539750"/>
                  </a:lnTo>
                  <a:lnTo>
                    <a:pt x="704414" y="535939"/>
                  </a:lnTo>
                  <a:lnTo>
                    <a:pt x="704066" y="533400"/>
                  </a:lnTo>
                  <a:lnTo>
                    <a:pt x="703399" y="530860"/>
                  </a:lnTo>
                  <a:lnTo>
                    <a:pt x="703051" y="527050"/>
                  </a:lnTo>
                  <a:lnTo>
                    <a:pt x="702327" y="524510"/>
                  </a:lnTo>
                  <a:lnTo>
                    <a:pt x="701979" y="521970"/>
                  </a:lnTo>
                  <a:lnTo>
                    <a:pt x="701253" y="518160"/>
                  </a:lnTo>
                  <a:lnTo>
                    <a:pt x="700877" y="515620"/>
                  </a:lnTo>
                  <a:lnTo>
                    <a:pt x="700238" y="511810"/>
                  </a:lnTo>
                  <a:lnTo>
                    <a:pt x="699890" y="509270"/>
                  </a:lnTo>
                  <a:lnTo>
                    <a:pt x="699166" y="506730"/>
                  </a:lnTo>
                  <a:lnTo>
                    <a:pt x="698788" y="502920"/>
                  </a:lnTo>
                  <a:lnTo>
                    <a:pt x="698092" y="500380"/>
                  </a:lnTo>
                  <a:lnTo>
                    <a:pt x="697716" y="497839"/>
                  </a:lnTo>
                  <a:lnTo>
                    <a:pt x="697077" y="495300"/>
                  </a:lnTo>
                  <a:lnTo>
                    <a:pt x="696701" y="491489"/>
                  </a:lnTo>
                  <a:lnTo>
                    <a:pt x="696005" y="488950"/>
                  </a:lnTo>
                  <a:lnTo>
                    <a:pt x="695627" y="485139"/>
                  </a:lnTo>
                  <a:lnTo>
                    <a:pt x="694903" y="482600"/>
                  </a:lnTo>
                  <a:lnTo>
                    <a:pt x="694555" y="480060"/>
                  </a:lnTo>
                  <a:lnTo>
                    <a:pt x="693830" y="476250"/>
                  </a:lnTo>
                  <a:lnTo>
                    <a:pt x="693830" y="473710"/>
                  </a:lnTo>
                  <a:lnTo>
                    <a:pt x="693192" y="471170"/>
                  </a:lnTo>
                  <a:lnTo>
                    <a:pt x="692815" y="467360"/>
                  </a:lnTo>
                  <a:lnTo>
                    <a:pt x="692119" y="464820"/>
                  </a:lnTo>
                  <a:lnTo>
                    <a:pt x="691742" y="462280"/>
                  </a:lnTo>
                  <a:lnTo>
                    <a:pt x="691017" y="458470"/>
                  </a:lnTo>
                  <a:lnTo>
                    <a:pt x="691017" y="455930"/>
                  </a:lnTo>
                  <a:lnTo>
                    <a:pt x="690379" y="453389"/>
                  </a:lnTo>
                  <a:lnTo>
                    <a:pt x="690379" y="449580"/>
                  </a:lnTo>
                  <a:lnTo>
                    <a:pt x="689654" y="447039"/>
                  </a:lnTo>
                  <a:lnTo>
                    <a:pt x="688581" y="438150"/>
                  </a:lnTo>
                  <a:lnTo>
                    <a:pt x="687856" y="434339"/>
                  </a:lnTo>
                  <a:lnTo>
                    <a:pt x="687856" y="433070"/>
                  </a:lnTo>
                  <a:lnTo>
                    <a:pt x="66518" y="433070"/>
                  </a:lnTo>
                  <a:lnTo>
                    <a:pt x="65509" y="431800"/>
                  </a:lnTo>
                  <a:lnTo>
                    <a:pt x="63710" y="430530"/>
                  </a:lnTo>
                  <a:close/>
                </a:path>
                <a:path w="729615" h="683260">
                  <a:moveTo>
                    <a:pt x="726990" y="680720"/>
                  </a:moveTo>
                  <a:lnTo>
                    <a:pt x="716072" y="680720"/>
                  </a:lnTo>
                  <a:lnTo>
                    <a:pt x="719232" y="681989"/>
                  </a:lnTo>
                  <a:lnTo>
                    <a:pt x="724858" y="681989"/>
                  </a:lnTo>
                  <a:lnTo>
                    <a:pt x="726990" y="680720"/>
                  </a:lnTo>
                  <a:close/>
                </a:path>
                <a:path w="729615" h="683260">
                  <a:moveTo>
                    <a:pt x="132402" y="431800"/>
                  </a:moveTo>
                  <a:lnTo>
                    <a:pt x="107767" y="431800"/>
                  </a:lnTo>
                  <a:lnTo>
                    <a:pt x="105679" y="433070"/>
                  </a:lnTo>
                  <a:lnTo>
                    <a:pt x="134547" y="433070"/>
                  </a:lnTo>
                  <a:lnTo>
                    <a:pt x="132402" y="431800"/>
                  </a:lnTo>
                  <a:close/>
                </a:path>
                <a:path w="729615" h="683260">
                  <a:moveTo>
                    <a:pt x="262406" y="3810"/>
                  </a:moveTo>
                  <a:lnTo>
                    <a:pt x="260231" y="5080"/>
                  </a:lnTo>
                  <a:lnTo>
                    <a:pt x="258144" y="6350"/>
                  </a:lnTo>
                  <a:lnTo>
                    <a:pt x="258144" y="10160"/>
                  </a:lnTo>
                  <a:lnTo>
                    <a:pt x="258519" y="11430"/>
                  </a:lnTo>
                  <a:lnTo>
                    <a:pt x="258867" y="13970"/>
                  </a:lnTo>
                  <a:lnTo>
                    <a:pt x="259246" y="15239"/>
                  </a:lnTo>
                  <a:lnTo>
                    <a:pt x="259941" y="17780"/>
                  </a:lnTo>
                  <a:lnTo>
                    <a:pt x="260609" y="19050"/>
                  </a:lnTo>
                  <a:lnTo>
                    <a:pt x="261680" y="21589"/>
                  </a:lnTo>
                  <a:lnTo>
                    <a:pt x="263131" y="25400"/>
                  </a:lnTo>
                  <a:lnTo>
                    <a:pt x="265915" y="30480"/>
                  </a:lnTo>
                  <a:lnTo>
                    <a:pt x="266931" y="33020"/>
                  </a:lnTo>
                  <a:lnTo>
                    <a:pt x="269105" y="36830"/>
                  </a:lnTo>
                  <a:lnTo>
                    <a:pt x="266640" y="38100"/>
                  </a:lnTo>
                  <a:lnTo>
                    <a:pt x="264494" y="39370"/>
                  </a:lnTo>
                  <a:lnTo>
                    <a:pt x="262028" y="41910"/>
                  </a:lnTo>
                  <a:lnTo>
                    <a:pt x="260231" y="45720"/>
                  </a:lnTo>
                  <a:lnTo>
                    <a:pt x="259246" y="46989"/>
                  </a:lnTo>
                  <a:lnTo>
                    <a:pt x="258519" y="49530"/>
                  </a:lnTo>
                  <a:lnTo>
                    <a:pt x="257796" y="50800"/>
                  </a:lnTo>
                  <a:lnTo>
                    <a:pt x="257448" y="53339"/>
                  </a:lnTo>
                  <a:lnTo>
                    <a:pt x="256433" y="54610"/>
                  </a:lnTo>
                  <a:lnTo>
                    <a:pt x="256054" y="57150"/>
                  </a:lnTo>
                  <a:lnTo>
                    <a:pt x="255358" y="59689"/>
                  </a:lnTo>
                  <a:lnTo>
                    <a:pt x="254257" y="63500"/>
                  </a:lnTo>
                  <a:lnTo>
                    <a:pt x="254257" y="66039"/>
                  </a:lnTo>
                  <a:lnTo>
                    <a:pt x="253532" y="67310"/>
                  </a:lnTo>
                  <a:lnTo>
                    <a:pt x="253532" y="73660"/>
                  </a:lnTo>
                  <a:lnTo>
                    <a:pt x="254257" y="77470"/>
                  </a:lnTo>
                  <a:lnTo>
                    <a:pt x="254257" y="80010"/>
                  </a:lnTo>
                  <a:lnTo>
                    <a:pt x="253532" y="82550"/>
                  </a:lnTo>
                  <a:lnTo>
                    <a:pt x="254634" y="85089"/>
                  </a:lnTo>
                  <a:lnTo>
                    <a:pt x="255706" y="88900"/>
                  </a:lnTo>
                  <a:lnTo>
                    <a:pt x="255706" y="90170"/>
                  </a:lnTo>
                  <a:lnTo>
                    <a:pt x="256433" y="92710"/>
                  </a:lnTo>
                  <a:lnTo>
                    <a:pt x="257070" y="93980"/>
                  </a:lnTo>
                  <a:lnTo>
                    <a:pt x="258144" y="96520"/>
                  </a:lnTo>
                  <a:lnTo>
                    <a:pt x="258519" y="99060"/>
                  </a:lnTo>
                  <a:lnTo>
                    <a:pt x="260231" y="102870"/>
                  </a:lnTo>
                  <a:lnTo>
                    <a:pt x="261680" y="105410"/>
                  </a:lnTo>
                  <a:lnTo>
                    <a:pt x="262406" y="109220"/>
                  </a:lnTo>
                  <a:lnTo>
                    <a:pt x="257796" y="109220"/>
                  </a:lnTo>
                  <a:lnTo>
                    <a:pt x="256054" y="110489"/>
                  </a:lnTo>
                  <a:lnTo>
                    <a:pt x="253272" y="114300"/>
                  </a:lnTo>
                  <a:lnTo>
                    <a:pt x="250371" y="119380"/>
                  </a:lnTo>
                  <a:lnTo>
                    <a:pt x="249356" y="123189"/>
                  </a:lnTo>
                  <a:lnTo>
                    <a:pt x="248283" y="124460"/>
                  </a:lnTo>
                  <a:lnTo>
                    <a:pt x="247935" y="127000"/>
                  </a:lnTo>
                  <a:lnTo>
                    <a:pt x="247935" y="128270"/>
                  </a:lnTo>
                  <a:lnTo>
                    <a:pt x="248660" y="132080"/>
                  </a:lnTo>
                  <a:lnTo>
                    <a:pt x="248660" y="134620"/>
                  </a:lnTo>
                  <a:lnTo>
                    <a:pt x="249734" y="137160"/>
                  </a:lnTo>
                  <a:lnTo>
                    <a:pt x="250371" y="139700"/>
                  </a:lnTo>
                  <a:lnTo>
                    <a:pt x="251444" y="142239"/>
                  </a:lnTo>
                  <a:lnTo>
                    <a:pt x="252893" y="143510"/>
                  </a:lnTo>
                  <a:lnTo>
                    <a:pt x="254634" y="143510"/>
                  </a:lnTo>
                  <a:lnTo>
                    <a:pt x="256781" y="144780"/>
                  </a:lnTo>
                  <a:lnTo>
                    <a:pt x="258867" y="146050"/>
                  </a:lnTo>
                  <a:lnTo>
                    <a:pt x="260609" y="146050"/>
                  </a:lnTo>
                  <a:lnTo>
                    <a:pt x="262754" y="147320"/>
                  </a:lnTo>
                  <a:lnTo>
                    <a:pt x="264841" y="148589"/>
                  </a:lnTo>
                  <a:lnTo>
                    <a:pt x="266931" y="148589"/>
                  </a:lnTo>
                  <a:lnTo>
                    <a:pt x="267655" y="151130"/>
                  </a:lnTo>
                  <a:lnTo>
                    <a:pt x="267655" y="153670"/>
                  </a:lnTo>
                  <a:lnTo>
                    <a:pt x="266931" y="156210"/>
                  </a:lnTo>
                  <a:lnTo>
                    <a:pt x="266931" y="160020"/>
                  </a:lnTo>
                  <a:lnTo>
                    <a:pt x="267307" y="161289"/>
                  </a:lnTo>
                  <a:lnTo>
                    <a:pt x="268003" y="163830"/>
                  </a:lnTo>
                  <a:lnTo>
                    <a:pt x="268728" y="167639"/>
                  </a:lnTo>
                  <a:lnTo>
                    <a:pt x="268728" y="173989"/>
                  </a:lnTo>
                  <a:lnTo>
                    <a:pt x="269105" y="175260"/>
                  </a:lnTo>
                  <a:lnTo>
                    <a:pt x="263770" y="175260"/>
                  </a:lnTo>
                  <a:lnTo>
                    <a:pt x="261332" y="176530"/>
                  </a:lnTo>
                  <a:lnTo>
                    <a:pt x="246195" y="176530"/>
                  </a:lnTo>
                  <a:lnTo>
                    <a:pt x="243673" y="177800"/>
                  </a:lnTo>
                  <a:lnTo>
                    <a:pt x="233813" y="177800"/>
                  </a:lnTo>
                  <a:lnTo>
                    <a:pt x="231377" y="179070"/>
                  </a:lnTo>
                  <a:lnTo>
                    <a:pt x="214094" y="179070"/>
                  </a:lnTo>
                  <a:lnTo>
                    <a:pt x="211656" y="180339"/>
                  </a:lnTo>
                  <a:lnTo>
                    <a:pt x="196896" y="180339"/>
                  </a:lnTo>
                  <a:lnTo>
                    <a:pt x="189849" y="181610"/>
                  </a:lnTo>
                  <a:lnTo>
                    <a:pt x="186312" y="185420"/>
                  </a:lnTo>
                  <a:lnTo>
                    <a:pt x="179961" y="191770"/>
                  </a:lnTo>
                  <a:lnTo>
                    <a:pt x="176800" y="195580"/>
                  </a:lnTo>
                  <a:lnTo>
                    <a:pt x="173639" y="198120"/>
                  </a:lnTo>
                  <a:lnTo>
                    <a:pt x="170478" y="201930"/>
                  </a:lnTo>
                  <a:lnTo>
                    <a:pt x="167665" y="204470"/>
                  </a:lnTo>
                  <a:lnTo>
                    <a:pt x="165489" y="208280"/>
                  </a:lnTo>
                  <a:lnTo>
                    <a:pt x="163055" y="209550"/>
                  </a:lnTo>
                  <a:lnTo>
                    <a:pt x="161980" y="212089"/>
                  </a:lnTo>
                  <a:lnTo>
                    <a:pt x="160966" y="213360"/>
                  </a:lnTo>
                  <a:lnTo>
                    <a:pt x="158821" y="214630"/>
                  </a:lnTo>
                  <a:lnTo>
                    <a:pt x="158821" y="237489"/>
                  </a:lnTo>
                  <a:lnTo>
                    <a:pt x="158443" y="240030"/>
                  </a:lnTo>
                  <a:lnTo>
                    <a:pt x="158153" y="242570"/>
                  </a:lnTo>
                  <a:lnTo>
                    <a:pt x="157805" y="245110"/>
                  </a:lnTo>
                  <a:lnTo>
                    <a:pt x="157805" y="306070"/>
                  </a:lnTo>
                  <a:lnTo>
                    <a:pt x="158153" y="309880"/>
                  </a:lnTo>
                  <a:lnTo>
                    <a:pt x="158250" y="320039"/>
                  </a:lnTo>
                  <a:lnTo>
                    <a:pt x="158443" y="322580"/>
                  </a:lnTo>
                  <a:lnTo>
                    <a:pt x="158569" y="334010"/>
                  </a:lnTo>
                  <a:lnTo>
                    <a:pt x="158821" y="336550"/>
                  </a:lnTo>
                  <a:lnTo>
                    <a:pt x="159517" y="339089"/>
                  </a:lnTo>
                  <a:lnTo>
                    <a:pt x="158821" y="342900"/>
                  </a:lnTo>
                  <a:lnTo>
                    <a:pt x="160242" y="345439"/>
                  </a:lnTo>
                  <a:lnTo>
                    <a:pt x="159894" y="347980"/>
                  </a:lnTo>
                  <a:lnTo>
                    <a:pt x="159517" y="350520"/>
                  </a:lnTo>
                  <a:lnTo>
                    <a:pt x="161314" y="354330"/>
                  </a:lnTo>
                  <a:lnTo>
                    <a:pt x="161314" y="363220"/>
                  </a:lnTo>
                  <a:lnTo>
                    <a:pt x="160618" y="364489"/>
                  </a:lnTo>
                  <a:lnTo>
                    <a:pt x="160242" y="367030"/>
                  </a:lnTo>
                  <a:lnTo>
                    <a:pt x="159894" y="368300"/>
                  </a:lnTo>
                  <a:lnTo>
                    <a:pt x="159894" y="377189"/>
                  </a:lnTo>
                  <a:lnTo>
                    <a:pt x="160242" y="379730"/>
                  </a:lnTo>
                  <a:lnTo>
                    <a:pt x="160242" y="387350"/>
                  </a:lnTo>
                  <a:lnTo>
                    <a:pt x="160618" y="389889"/>
                  </a:lnTo>
                  <a:lnTo>
                    <a:pt x="160618" y="392430"/>
                  </a:lnTo>
                  <a:lnTo>
                    <a:pt x="160966" y="394970"/>
                  </a:lnTo>
                  <a:lnTo>
                    <a:pt x="160966" y="397510"/>
                  </a:lnTo>
                  <a:lnTo>
                    <a:pt x="161314" y="400050"/>
                  </a:lnTo>
                  <a:lnTo>
                    <a:pt x="159517" y="402589"/>
                  </a:lnTo>
                  <a:lnTo>
                    <a:pt x="156733" y="405130"/>
                  </a:lnTo>
                  <a:lnTo>
                    <a:pt x="154644" y="406400"/>
                  </a:lnTo>
                  <a:lnTo>
                    <a:pt x="152121" y="408939"/>
                  </a:lnTo>
                  <a:lnTo>
                    <a:pt x="149308" y="411480"/>
                  </a:lnTo>
                  <a:lnTo>
                    <a:pt x="146843" y="414020"/>
                  </a:lnTo>
                  <a:lnTo>
                    <a:pt x="144059" y="416560"/>
                  </a:lnTo>
                  <a:lnTo>
                    <a:pt x="141884" y="419100"/>
                  </a:lnTo>
                  <a:lnTo>
                    <a:pt x="139797" y="422910"/>
                  </a:lnTo>
                  <a:lnTo>
                    <a:pt x="139071" y="426720"/>
                  </a:lnTo>
                  <a:lnTo>
                    <a:pt x="138723" y="427989"/>
                  </a:lnTo>
                  <a:lnTo>
                    <a:pt x="138723" y="430530"/>
                  </a:lnTo>
                  <a:lnTo>
                    <a:pt x="138085" y="431800"/>
                  </a:lnTo>
                  <a:lnTo>
                    <a:pt x="136984" y="433070"/>
                  </a:lnTo>
                  <a:lnTo>
                    <a:pt x="687856" y="433070"/>
                  </a:lnTo>
                  <a:lnTo>
                    <a:pt x="687856" y="431800"/>
                  </a:lnTo>
                  <a:lnTo>
                    <a:pt x="687218" y="429260"/>
                  </a:lnTo>
                  <a:lnTo>
                    <a:pt x="687218" y="426720"/>
                  </a:lnTo>
                  <a:lnTo>
                    <a:pt x="685086" y="425450"/>
                  </a:lnTo>
                  <a:lnTo>
                    <a:pt x="572033" y="425450"/>
                  </a:lnTo>
                  <a:lnTo>
                    <a:pt x="569509" y="424180"/>
                  </a:lnTo>
                  <a:lnTo>
                    <a:pt x="535377" y="424180"/>
                  </a:lnTo>
                  <a:lnTo>
                    <a:pt x="535029" y="421639"/>
                  </a:lnTo>
                  <a:lnTo>
                    <a:pt x="534903" y="414020"/>
                  </a:lnTo>
                  <a:lnTo>
                    <a:pt x="534652" y="411480"/>
                  </a:lnTo>
                  <a:lnTo>
                    <a:pt x="534304" y="408939"/>
                  </a:lnTo>
                  <a:lnTo>
                    <a:pt x="533231" y="405130"/>
                  </a:lnTo>
                  <a:lnTo>
                    <a:pt x="533956" y="402589"/>
                  </a:lnTo>
                  <a:lnTo>
                    <a:pt x="534304" y="400050"/>
                  </a:lnTo>
                  <a:lnTo>
                    <a:pt x="534304" y="396239"/>
                  </a:lnTo>
                  <a:lnTo>
                    <a:pt x="535377" y="393700"/>
                  </a:lnTo>
                  <a:lnTo>
                    <a:pt x="534652" y="389889"/>
                  </a:lnTo>
                  <a:lnTo>
                    <a:pt x="534304" y="387350"/>
                  </a:lnTo>
                  <a:lnTo>
                    <a:pt x="533956" y="383539"/>
                  </a:lnTo>
                  <a:lnTo>
                    <a:pt x="533956" y="381000"/>
                  </a:lnTo>
                  <a:lnTo>
                    <a:pt x="533579" y="378460"/>
                  </a:lnTo>
                  <a:lnTo>
                    <a:pt x="532855" y="372110"/>
                  </a:lnTo>
                  <a:lnTo>
                    <a:pt x="532855" y="369570"/>
                  </a:lnTo>
                  <a:lnTo>
                    <a:pt x="531868" y="360680"/>
                  </a:lnTo>
                  <a:lnTo>
                    <a:pt x="531868" y="358139"/>
                  </a:lnTo>
                  <a:lnTo>
                    <a:pt x="531144" y="351789"/>
                  </a:lnTo>
                  <a:lnTo>
                    <a:pt x="530766" y="349250"/>
                  </a:lnTo>
                  <a:lnTo>
                    <a:pt x="530650" y="345439"/>
                  </a:lnTo>
                  <a:lnTo>
                    <a:pt x="530418" y="342900"/>
                  </a:lnTo>
                  <a:lnTo>
                    <a:pt x="529694" y="337820"/>
                  </a:lnTo>
                  <a:lnTo>
                    <a:pt x="529694" y="334010"/>
                  </a:lnTo>
                  <a:lnTo>
                    <a:pt x="529403" y="331470"/>
                  </a:lnTo>
                  <a:lnTo>
                    <a:pt x="529055" y="328930"/>
                  </a:lnTo>
                  <a:lnTo>
                    <a:pt x="528679" y="325120"/>
                  </a:lnTo>
                  <a:lnTo>
                    <a:pt x="528679" y="322580"/>
                  </a:lnTo>
                  <a:lnTo>
                    <a:pt x="528331" y="320039"/>
                  </a:lnTo>
                  <a:lnTo>
                    <a:pt x="527983" y="316230"/>
                  </a:lnTo>
                  <a:lnTo>
                    <a:pt x="527983" y="311150"/>
                  </a:lnTo>
                  <a:lnTo>
                    <a:pt x="527257" y="304800"/>
                  </a:lnTo>
                  <a:lnTo>
                    <a:pt x="527257" y="299720"/>
                  </a:lnTo>
                  <a:lnTo>
                    <a:pt x="526242" y="290830"/>
                  </a:lnTo>
                  <a:lnTo>
                    <a:pt x="526242" y="287020"/>
                  </a:lnTo>
                  <a:lnTo>
                    <a:pt x="525894" y="284480"/>
                  </a:lnTo>
                  <a:lnTo>
                    <a:pt x="525518" y="281939"/>
                  </a:lnTo>
                  <a:lnTo>
                    <a:pt x="525170" y="279400"/>
                  </a:lnTo>
                  <a:lnTo>
                    <a:pt x="525170" y="275589"/>
                  </a:lnTo>
                  <a:lnTo>
                    <a:pt x="524791" y="273050"/>
                  </a:lnTo>
                  <a:lnTo>
                    <a:pt x="524443" y="269239"/>
                  </a:lnTo>
                  <a:lnTo>
                    <a:pt x="524097" y="266700"/>
                  </a:lnTo>
                  <a:lnTo>
                    <a:pt x="524097" y="264160"/>
                  </a:lnTo>
                  <a:lnTo>
                    <a:pt x="523372" y="257810"/>
                  </a:lnTo>
                  <a:lnTo>
                    <a:pt x="522994" y="255270"/>
                  </a:lnTo>
                  <a:lnTo>
                    <a:pt x="522994" y="252730"/>
                  </a:lnTo>
                  <a:lnTo>
                    <a:pt x="522357" y="248920"/>
                  </a:lnTo>
                  <a:lnTo>
                    <a:pt x="522357" y="246380"/>
                  </a:lnTo>
                  <a:lnTo>
                    <a:pt x="521632" y="243839"/>
                  </a:lnTo>
                  <a:lnTo>
                    <a:pt x="521516" y="240030"/>
                  </a:lnTo>
                  <a:lnTo>
                    <a:pt x="521284" y="237489"/>
                  </a:lnTo>
                  <a:lnTo>
                    <a:pt x="520559" y="232410"/>
                  </a:lnTo>
                  <a:lnTo>
                    <a:pt x="520559" y="228600"/>
                  </a:lnTo>
                  <a:lnTo>
                    <a:pt x="519833" y="226060"/>
                  </a:lnTo>
                  <a:lnTo>
                    <a:pt x="519544" y="223520"/>
                  </a:lnTo>
                  <a:lnTo>
                    <a:pt x="519196" y="220980"/>
                  </a:lnTo>
                  <a:lnTo>
                    <a:pt x="519196" y="217170"/>
                  </a:lnTo>
                  <a:lnTo>
                    <a:pt x="518471" y="214630"/>
                  </a:lnTo>
                  <a:lnTo>
                    <a:pt x="517745" y="208280"/>
                  </a:lnTo>
                  <a:lnTo>
                    <a:pt x="517745" y="205739"/>
                  </a:lnTo>
                  <a:lnTo>
                    <a:pt x="513859" y="200660"/>
                  </a:lnTo>
                  <a:lnTo>
                    <a:pt x="512119" y="198120"/>
                  </a:lnTo>
                  <a:lnTo>
                    <a:pt x="510321" y="195580"/>
                  </a:lnTo>
                  <a:lnTo>
                    <a:pt x="503999" y="189230"/>
                  </a:lnTo>
                  <a:lnTo>
                    <a:pt x="499475" y="184150"/>
                  </a:lnTo>
                  <a:lnTo>
                    <a:pt x="497301" y="181610"/>
                  </a:lnTo>
                  <a:lnTo>
                    <a:pt x="493125" y="176530"/>
                  </a:lnTo>
                  <a:lnTo>
                    <a:pt x="490979" y="175260"/>
                  </a:lnTo>
                  <a:lnTo>
                    <a:pt x="486803" y="170180"/>
                  </a:lnTo>
                  <a:lnTo>
                    <a:pt x="484629" y="168910"/>
                  </a:lnTo>
                  <a:lnTo>
                    <a:pt x="414218" y="168910"/>
                  </a:lnTo>
                  <a:lnTo>
                    <a:pt x="415232" y="165100"/>
                  </a:lnTo>
                  <a:lnTo>
                    <a:pt x="416305" y="161289"/>
                  </a:lnTo>
                  <a:lnTo>
                    <a:pt x="416683" y="157480"/>
                  </a:lnTo>
                  <a:lnTo>
                    <a:pt x="417031" y="154939"/>
                  </a:lnTo>
                  <a:lnTo>
                    <a:pt x="416683" y="151130"/>
                  </a:lnTo>
                  <a:lnTo>
                    <a:pt x="416683" y="140970"/>
                  </a:lnTo>
                  <a:lnTo>
                    <a:pt x="421584" y="135889"/>
                  </a:lnTo>
                  <a:lnTo>
                    <a:pt x="423382" y="133350"/>
                  </a:lnTo>
                  <a:lnTo>
                    <a:pt x="425470" y="132080"/>
                  </a:lnTo>
                  <a:lnTo>
                    <a:pt x="426542" y="129539"/>
                  </a:lnTo>
                  <a:lnTo>
                    <a:pt x="427616" y="125730"/>
                  </a:lnTo>
                  <a:lnTo>
                    <a:pt x="427906" y="123189"/>
                  </a:lnTo>
                  <a:lnTo>
                    <a:pt x="427616" y="120650"/>
                  </a:lnTo>
                  <a:lnTo>
                    <a:pt x="427616" y="114300"/>
                  </a:lnTo>
                  <a:lnTo>
                    <a:pt x="425470" y="109220"/>
                  </a:lnTo>
                  <a:lnTo>
                    <a:pt x="423729" y="106680"/>
                  </a:lnTo>
                  <a:lnTo>
                    <a:pt x="422280" y="104139"/>
                  </a:lnTo>
                  <a:lnTo>
                    <a:pt x="417756" y="100330"/>
                  </a:lnTo>
                  <a:lnTo>
                    <a:pt x="414884" y="99060"/>
                  </a:lnTo>
                  <a:lnTo>
                    <a:pt x="412071" y="99060"/>
                  </a:lnTo>
                  <a:lnTo>
                    <a:pt x="412796" y="95250"/>
                  </a:lnTo>
                  <a:lnTo>
                    <a:pt x="412796" y="91439"/>
                  </a:lnTo>
                  <a:lnTo>
                    <a:pt x="412071" y="87630"/>
                  </a:lnTo>
                  <a:lnTo>
                    <a:pt x="412071" y="85089"/>
                  </a:lnTo>
                  <a:lnTo>
                    <a:pt x="412419" y="83820"/>
                  </a:lnTo>
                  <a:lnTo>
                    <a:pt x="412071" y="82550"/>
                  </a:lnTo>
                  <a:lnTo>
                    <a:pt x="411347" y="81280"/>
                  </a:lnTo>
                  <a:lnTo>
                    <a:pt x="412071" y="78739"/>
                  </a:lnTo>
                  <a:lnTo>
                    <a:pt x="411057" y="76200"/>
                  </a:lnTo>
                  <a:lnTo>
                    <a:pt x="408910" y="71120"/>
                  </a:lnTo>
                  <a:lnTo>
                    <a:pt x="407896" y="69850"/>
                  </a:lnTo>
                  <a:lnTo>
                    <a:pt x="405025" y="64770"/>
                  </a:lnTo>
                  <a:lnTo>
                    <a:pt x="403632" y="63500"/>
                  </a:lnTo>
                  <a:lnTo>
                    <a:pt x="402212" y="60960"/>
                  </a:lnTo>
                  <a:lnTo>
                    <a:pt x="398326" y="57150"/>
                  </a:lnTo>
                  <a:lnTo>
                    <a:pt x="396238" y="55880"/>
                  </a:lnTo>
                  <a:lnTo>
                    <a:pt x="394498" y="54610"/>
                  </a:lnTo>
                  <a:lnTo>
                    <a:pt x="392352" y="52070"/>
                  </a:lnTo>
                  <a:lnTo>
                    <a:pt x="390264" y="50800"/>
                  </a:lnTo>
                  <a:lnTo>
                    <a:pt x="387799" y="49530"/>
                  </a:lnTo>
                  <a:lnTo>
                    <a:pt x="385653" y="48260"/>
                  </a:lnTo>
                  <a:lnTo>
                    <a:pt x="382116" y="46989"/>
                  </a:lnTo>
                  <a:lnTo>
                    <a:pt x="379679" y="44450"/>
                  </a:lnTo>
                  <a:lnTo>
                    <a:pt x="376866" y="41910"/>
                  </a:lnTo>
                  <a:lnTo>
                    <a:pt x="374779" y="39370"/>
                  </a:lnTo>
                  <a:lnTo>
                    <a:pt x="371908" y="35560"/>
                  </a:lnTo>
                  <a:lnTo>
                    <a:pt x="369443" y="33020"/>
                  </a:lnTo>
                  <a:lnTo>
                    <a:pt x="366629" y="29210"/>
                  </a:lnTo>
                  <a:lnTo>
                    <a:pt x="363846" y="27939"/>
                  </a:lnTo>
                  <a:lnTo>
                    <a:pt x="361381" y="26670"/>
                  </a:lnTo>
                  <a:lnTo>
                    <a:pt x="358858" y="25400"/>
                  </a:lnTo>
                  <a:lnTo>
                    <a:pt x="356421" y="24130"/>
                  </a:lnTo>
                  <a:lnTo>
                    <a:pt x="354335" y="24130"/>
                  </a:lnTo>
                  <a:lnTo>
                    <a:pt x="351522" y="22860"/>
                  </a:lnTo>
                  <a:lnTo>
                    <a:pt x="302221" y="22860"/>
                  </a:lnTo>
                  <a:lnTo>
                    <a:pt x="301134" y="21589"/>
                  </a:lnTo>
                  <a:lnTo>
                    <a:pt x="282125" y="21589"/>
                  </a:lnTo>
                  <a:lnTo>
                    <a:pt x="279980" y="19050"/>
                  </a:lnTo>
                  <a:lnTo>
                    <a:pt x="277892" y="16510"/>
                  </a:lnTo>
                  <a:lnTo>
                    <a:pt x="275427" y="13970"/>
                  </a:lnTo>
                  <a:lnTo>
                    <a:pt x="272991" y="12700"/>
                  </a:lnTo>
                  <a:lnTo>
                    <a:pt x="270090" y="10160"/>
                  </a:lnTo>
                  <a:lnTo>
                    <a:pt x="267307" y="7620"/>
                  </a:lnTo>
                  <a:lnTo>
                    <a:pt x="264494" y="6350"/>
                  </a:lnTo>
                  <a:lnTo>
                    <a:pt x="262406" y="3810"/>
                  </a:lnTo>
                  <a:close/>
                </a:path>
                <a:path w="729615" h="683260">
                  <a:moveTo>
                    <a:pt x="682955" y="424180"/>
                  </a:moveTo>
                  <a:lnTo>
                    <a:pt x="611124" y="424180"/>
                  </a:lnTo>
                  <a:lnTo>
                    <a:pt x="608949" y="425450"/>
                  </a:lnTo>
                  <a:lnTo>
                    <a:pt x="685086" y="425450"/>
                  </a:lnTo>
                  <a:lnTo>
                    <a:pt x="682955" y="424180"/>
                  </a:lnTo>
                  <a:close/>
                </a:path>
                <a:path w="729615" h="683260">
                  <a:moveTo>
                    <a:pt x="479379" y="167639"/>
                  </a:moveTo>
                  <a:lnTo>
                    <a:pt x="454671" y="167639"/>
                  </a:lnTo>
                  <a:lnTo>
                    <a:pt x="452584" y="168910"/>
                  </a:lnTo>
                  <a:lnTo>
                    <a:pt x="481816" y="168910"/>
                  </a:lnTo>
                  <a:lnTo>
                    <a:pt x="479379" y="167639"/>
                  </a:lnTo>
                  <a:close/>
                </a:path>
                <a:path w="729615" h="683260">
                  <a:moveTo>
                    <a:pt x="340588" y="20320"/>
                  </a:moveTo>
                  <a:lnTo>
                    <a:pt x="306746" y="20320"/>
                  </a:lnTo>
                  <a:lnTo>
                    <a:pt x="304311" y="21589"/>
                  </a:lnTo>
                  <a:lnTo>
                    <a:pt x="302221" y="22860"/>
                  </a:lnTo>
                  <a:lnTo>
                    <a:pt x="348998" y="22860"/>
                  </a:lnTo>
                  <a:lnTo>
                    <a:pt x="346185" y="21589"/>
                  </a:lnTo>
                  <a:lnTo>
                    <a:pt x="343749" y="21589"/>
                  </a:lnTo>
                  <a:lnTo>
                    <a:pt x="340588" y="20320"/>
                  </a:lnTo>
                  <a:close/>
                </a:path>
                <a:path w="729615" h="683260">
                  <a:moveTo>
                    <a:pt x="290912" y="0"/>
                  </a:moveTo>
                  <a:lnTo>
                    <a:pt x="288447" y="1270"/>
                  </a:lnTo>
                  <a:lnTo>
                    <a:pt x="287375" y="5080"/>
                  </a:lnTo>
                  <a:lnTo>
                    <a:pt x="286359" y="6350"/>
                  </a:lnTo>
                  <a:lnTo>
                    <a:pt x="285663" y="10160"/>
                  </a:lnTo>
                  <a:lnTo>
                    <a:pt x="283141" y="19050"/>
                  </a:lnTo>
                  <a:lnTo>
                    <a:pt x="282125" y="21589"/>
                  </a:lnTo>
                  <a:lnTo>
                    <a:pt x="301134" y="21589"/>
                  </a:lnTo>
                  <a:lnTo>
                    <a:pt x="300047" y="20320"/>
                  </a:lnTo>
                  <a:lnTo>
                    <a:pt x="298684" y="17780"/>
                  </a:lnTo>
                  <a:lnTo>
                    <a:pt x="297611" y="13970"/>
                  </a:lnTo>
                  <a:lnTo>
                    <a:pt x="297611" y="10160"/>
                  </a:lnTo>
                  <a:lnTo>
                    <a:pt x="296249" y="6350"/>
                  </a:lnTo>
                  <a:lnTo>
                    <a:pt x="295146" y="3810"/>
                  </a:lnTo>
                  <a:lnTo>
                    <a:pt x="293348" y="1270"/>
                  </a:lnTo>
                  <a:lnTo>
                    <a:pt x="290912" y="0"/>
                  </a:lnTo>
                  <a:close/>
                </a:path>
                <a:path w="729615" h="683260">
                  <a:moveTo>
                    <a:pt x="327916" y="19050"/>
                  </a:moveTo>
                  <a:lnTo>
                    <a:pt x="320492" y="19050"/>
                  </a:lnTo>
                  <a:lnTo>
                    <a:pt x="317331" y="20320"/>
                  </a:lnTo>
                  <a:lnTo>
                    <a:pt x="332816" y="20320"/>
                  </a:lnTo>
                  <a:lnTo>
                    <a:pt x="327916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2648" y="1774380"/>
              <a:ext cx="165877" cy="155987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057043" y="1932166"/>
              <a:ext cx="334645" cy="38100"/>
            </a:xfrm>
            <a:custGeom>
              <a:avLst/>
              <a:gdLst/>
              <a:ahLst/>
              <a:cxnLst/>
              <a:rect l="l" t="t" r="r" b="b"/>
              <a:pathLst>
                <a:path w="334645" h="38100">
                  <a:moveTo>
                    <a:pt x="311715" y="0"/>
                  </a:moveTo>
                  <a:lnTo>
                    <a:pt x="307103" y="0"/>
                  </a:lnTo>
                  <a:lnTo>
                    <a:pt x="305015" y="347"/>
                  </a:lnTo>
                  <a:lnTo>
                    <a:pt x="302928" y="347"/>
                  </a:lnTo>
                  <a:lnTo>
                    <a:pt x="301506" y="637"/>
                  </a:lnTo>
                  <a:lnTo>
                    <a:pt x="215552" y="637"/>
                  </a:lnTo>
                  <a:lnTo>
                    <a:pt x="212390" y="1014"/>
                  </a:lnTo>
                  <a:lnTo>
                    <a:pt x="202154" y="1014"/>
                  </a:lnTo>
                  <a:lnTo>
                    <a:pt x="198993" y="1362"/>
                  </a:lnTo>
                  <a:lnTo>
                    <a:pt x="195455" y="1362"/>
                  </a:lnTo>
                  <a:lnTo>
                    <a:pt x="192294" y="1739"/>
                  </a:lnTo>
                  <a:lnTo>
                    <a:pt x="189133" y="1739"/>
                  </a:lnTo>
                  <a:lnTo>
                    <a:pt x="185944" y="2087"/>
                  </a:lnTo>
                  <a:lnTo>
                    <a:pt x="169037" y="2087"/>
                  </a:lnTo>
                  <a:lnTo>
                    <a:pt x="165875" y="2435"/>
                  </a:lnTo>
                  <a:lnTo>
                    <a:pt x="162714" y="2435"/>
                  </a:lnTo>
                  <a:lnTo>
                    <a:pt x="159525" y="2813"/>
                  </a:lnTo>
                  <a:lnTo>
                    <a:pt x="149317" y="2813"/>
                  </a:lnTo>
                  <a:lnTo>
                    <a:pt x="146157" y="3161"/>
                  </a:lnTo>
                  <a:lnTo>
                    <a:pt x="142618" y="3161"/>
                  </a:lnTo>
                  <a:lnTo>
                    <a:pt x="139457" y="3536"/>
                  </a:lnTo>
                  <a:lnTo>
                    <a:pt x="136297" y="3536"/>
                  </a:lnTo>
                  <a:lnTo>
                    <a:pt x="133107" y="3827"/>
                  </a:lnTo>
                  <a:lnTo>
                    <a:pt x="126408" y="3827"/>
                  </a:lnTo>
                  <a:lnTo>
                    <a:pt x="119739" y="4523"/>
                  </a:lnTo>
                  <a:lnTo>
                    <a:pt x="113040" y="4523"/>
                  </a:lnTo>
                  <a:lnTo>
                    <a:pt x="106688" y="5248"/>
                  </a:lnTo>
                  <a:lnTo>
                    <a:pt x="103527" y="5248"/>
                  </a:lnTo>
                  <a:lnTo>
                    <a:pt x="100366" y="5626"/>
                  </a:lnTo>
                  <a:lnTo>
                    <a:pt x="97205" y="5626"/>
                  </a:lnTo>
                  <a:lnTo>
                    <a:pt x="94016" y="5974"/>
                  </a:lnTo>
                  <a:lnTo>
                    <a:pt x="90855" y="5974"/>
                  </a:lnTo>
                  <a:lnTo>
                    <a:pt x="81343" y="6988"/>
                  </a:lnTo>
                  <a:lnTo>
                    <a:pt x="78907" y="8785"/>
                  </a:lnTo>
                  <a:lnTo>
                    <a:pt x="76819" y="6988"/>
                  </a:lnTo>
                  <a:lnTo>
                    <a:pt x="26418" y="11598"/>
                  </a:lnTo>
                  <a:lnTo>
                    <a:pt x="11252" y="24620"/>
                  </a:lnTo>
                  <a:lnTo>
                    <a:pt x="7772" y="28158"/>
                  </a:lnTo>
                  <a:lnTo>
                    <a:pt x="2087" y="34856"/>
                  </a:lnTo>
                  <a:lnTo>
                    <a:pt x="0" y="38017"/>
                  </a:lnTo>
                  <a:lnTo>
                    <a:pt x="10237" y="36945"/>
                  </a:lnTo>
                  <a:lnTo>
                    <a:pt x="13746" y="36945"/>
                  </a:lnTo>
                  <a:lnTo>
                    <a:pt x="20821" y="36277"/>
                  </a:lnTo>
                  <a:lnTo>
                    <a:pt x="28158" y="36277"/>
                  </a:lnTo>
                  <a:lnTo>
                    <a:pt x="38366" y="35204"/>
                  </a:lnTo>
                  <a:lnTo>
                    <a:pt x="42282" y="35204"/>
                  </a:lnTo>
                  <a:lnTo>
                    <a:pt x="49676" y="34480"/>
                  </a:lnTo>
                  <a:lnTo>
                    <a:pt x="57100" y="34480"/>
                  </a:lnTo>
                  <a:lnTo>
                    <a:pt x="67974" y="33407"/>
                  </a:lnTo>
                  <a:lnTo>
                    <a:pt x="71860" y="33407"/>
                  </a:lnTo>
                  <a:lnTo>
                    <a:pt x="75369" y="33116"/>
                  </a:lnTo>
                  <a:lnTo>
                    <a:pt x="79255" y="33116"/>
                  </a:lnTo>
                  <a:lnTo>
                    <a:pt x="82792" y="32768"/>
                  </a:lnTo>
                  <a:lnTo>
                    <a:pt x="86680" y="32768"/>
                  </a:lnTo>
                  <a:lnTo>
                    <a:pt x="94016" y="32043"/>
                  </a:lnTo>
                  <a:lnTo>
                    <a:pt x="101439" y="32043"/>
                  </a:lnTo>
                  <a:lnTo>
                    <a:pt x="108863" y="31319"/>
                  </a:lnTo>
                  <a:lnTo>
                    <a:pt x="116547" y="31319"/>
                  </a:lnTo>
                  <a:lnTo>
                    <a:pt x="119739" y="30594"/>
                  </a:lnTo>
                  <a:lnTo>
                    <a:pt x="123247" y="30971"/>
                  </a:lnTo>
                  <a:lnTo>
                    <a:pt x="127133" y="30971"/>
                  </a:lnTo>
                  <a:lnTo>
                    <a:pt x="132120" y="29231"/>
                  </a:lnTo>
                  <a:lnTo>
                    <a:pt x="136992" y="29955"/>
                  </a:lnTo>
                  <a:lnTo>
                    <a:pt x="142618" y="29955"/>
                  </a:lnTo>
                  <a:lnTo>
                    <a:pt x="148302" y="29231"/>
                  </a:lnTo>
                  <a:lnTo>
                    <a:pt x="153929" y="29231"/>
                  </a:lnTo>
                  <a:lnTo>
                    <a:pt x="155002" y="29578"/>
                  </a:lnTo>
                  <a:lnTo>
                    <a:pt x="155726" y="29231"/>
                  </a:lnTo>
                  <a:lnTo>
                    <a:pt x="155726" y="28506"/>
                  </a:lnTo>
                  <a:lnTo>
                    <a:pt x="156016" y="29231"/>
                  </a:lnTo>
                  <a:lnTo>
                    <a:pt x="163062" y="28158"/>
                  </a:lnTo>
                  <a:lnTo>
                    <a:pt x="197979" y="28158"/>
                  </a:lnTo>
                  <a:lnTo>
                    <a:pt x="200414" y="27781"/>
                  </a:lnTo>
                  <a:lnTo>
                    <a:pt x="219786" y="27781"/>
                  </a:lnTo>
                  <a:lnTo>
                    <a:pt x="222251" y="27433"/>
                  </a:lnTo>
                  <a:lnTo>
                    <a:pt x="230748" y="27433"/>
                  </a:lnTo>
                  <a:lnTo>
                    <a:pt x="233183" y="27056"/>
                  </a:lnTo>
                  <a:lnTo>
                    <a:pt x="241970" y="27056"/>
                  </a:lnTo>
                  <a:lnTo>
                    <a:pt x="245131" y="26070"/>
                  </a:lnTo>
                  <a:lnTo>
                    <a:pt x="248669" y="27056"/>
                  </a:lnTo>
                  <a:lnTo>
                    <a:pt x="256440" y="26070"/>
                  </a:lnTo>
                  <a:lnTo>
                    <a:pt x="259253" y="26070"/>
                  </a:lnTo>
                  <a:lnTo>
                    <a:pt x="261691" y="25693"/>
                  </a:lnTo>
                  <a:lnTo>
                    <a:pt x="291270" y="25693"/>
                  </a:lnTo>
                  <a:lnTo>
                    <a:pt x="293735" y="25345"/>
                  </a:lnTo>
                  <a:lnTo>
                    <a:pt x="312816" y="25345"/>
                  </a:lnTo>
                  <a:lnTo>
                    <a:pt x="315252" y="24968"/>
                  </a:lnTo>
                  <a:lnTo>
                    <a:pt x="323662" y="24968"/>
                  </a:lnTo>
                  <a:lnTo>
                    <a:pt x="326185" y="24620"/>
                  </a:lnTo>
                  <a:lnTo>
                    <a:pt x="334624" y="24620"/>
                  </a:lnTo>
                  <a:lnTo>
                    <a:pt x="316993" y="4900"/>
                  </a:lnTo>
                  <a:lnTo>
                    <a:pt x="315600" y="2435"/>
                  </a:lnTo>
                  <a:lnTo>
                    <a:pt x="313801" y="1014"/>
                  </a:lnTo>
                  <a:lnTo>
                    <a:pt x="311715" y="0"/>
                  </a:lnTo>
                  <a:close/>
                </a:path>
              </a:pathLst>
            </a:custGeom>
            <a:solidFill>
              <a:srgbClr val="BFB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050345" y="1965573"/>
              <a:ext cx="365760" cy="293370"/>
            </a:xfrm>
            <a:custGeom>
              <a:avLst/>
              <a:gdLst/>
              <a:ahLst/>
              <a:cxnLst/>
              <a:rect l="l" t="t" r="r" b="b"/>
              <a:pathLst>
                <a:path w="365759" h="293369">
                  <a:moveTo>
                    <a:pt x="347643" y="0"/>
                  </a:moveTo>
                  <a:lnTo>
                    <a:pt x="292718" y="0"/>
                  </a:lnTo>
                  <a:lnTo>
                    <a:pt x="287760" y="725"/>
                  </a:lnTo>
                  <a:lnTo>
                    <a:pt x="283931" y="725"/>
                  </a:lnTo>
                  <a:lnTo>
                    <a:pt x="280423" y="0"/>
                  </a:lnTo>
                  <a:lnTo>
                    <a:pt x="221235" y="0"/>
                  </a:lnTo>
                  <a:lnTo>
                    <a:pt x="218713" y="347"/>
                  </a:lnTo>
                  <a:lnTo>
                    <a:pt x="215900" y="347"/>
                  </a:lnTo>
                  <a:lnTo>
                    <a:pt x="213462" y="725"/>
                  </a:lnTo>
                  <a:lnTo>
                    <a:pt x="208215" y="725"/>
                  </a:lnTo>
                  <a:lnTo>
                    <a:pt x="203226" y="1449"/>
                  </a:lnTo>
                  <a:lnTo>
                    <a:pt x="200790" y="1449"/>
                  </a:lnTo>
                  <a:lnTo>
                    <a:pt x="193744" y="2522"/>
                  </a:lnTo>
                  <a:lnTo>
                    <a:pt x="191946" y="1449"/>
                  </a:lnTo>
                  <a:lnTo>
                    <a:pt x="188466" y="2870"/>
                  </a:lnTo>
                  <a:lnTo>
                    <a:pt x="187045" y="2522"/>
                  </a:lnTo>
                  <a:lnTo>
                    <a:pt x="152187" y="2522"/>
                  </a:lnTo>
                  <a:lnTo>
                    <a:pt x="149664" y="2870"/>
                  </a:lnTo>
                  <a:lnTo>
                    <a:pt x="146881" y="2870"/>
                  </a:lnTo>
                  <a:lnTo>
                    <a:pt x="144416" y="3161"/>
                  </a:lnTo>
                  <a:lnTo>
                    <a:pt x="130670" y="3161"/>
                  </a:lnTo>
                  <a:lnTo>
                    <a:pt x="127857" y="3538"/>
                  </a:lnTo>
                  <a:lnTo>
                    <a:pt x="125044" y="3538"/>
                  </a:lnTo>
                  <a:lnTo>
                    <a:pt x="122608" y="3884"/>
                  </a:lnTo>
                  <a:lnTo>
                    <a:pt x="114112" y="3884"/>
                  </a:lnTo>
                  <a:lnTo>
                    <a:pt x="111676" y="4232"/>
                  </a:lnTo>
                  <a:lnTo>
                    <a:pt x="108863" y="4232"/>
                  </a:lnTo>
                  <a:lnTo>
                    <a:pt x="106427" y="4610"/>
                  </a:lnTo>
                  <a:lnTo>
                    <a:pt x="103527" y="4610"/>
                  </a:lnTo>
                  <a:lnTo>
                    <a:pt x="101090" y="4958"/>
                  </a:lnTo>
                  <a:lnTo>
                    <a:pt x="92303" y="4958"/>
                  </a:lnTo>
                  <a:lnTo>
                    <a:pt x="89869" y="5335"/>
                  </a:lnTo>
                  <a:lnTo>
                    <a:pt x="86968" y="5335"/>
                  </a:lnTo>
                  <a:lnTo>
                    <a:pt x="84155" y="5683"/>
                  </a:lnTo>
                  <a:lnTo>
                    <a:pt x="81371" y="5683"/>
                  </a:lnTo>
                  <a:lnTo>
                    <a:pt x="78906" y="6031"/>
                  </a:lnTo>
                  <a:lnTo>
                    <a:pt x="76093" y="6031"/>
                  </a:lnTo>
                  <a:lnTo>
                    <a:pt x="73309" y="6408"/>
                  </a:lnTo>
                  <a:lnTo>
                    <a:pt x="70410" y="6408"/>
                  </a:lnTo>
                  <a:lnTo>
                    <a:pt x="67974" y="6697"/>
                  </a:lnTo>
                  <a:lnTo>
                    <a:pt x="65161" y="6697"/>
                  </a:lnTo>
                  <a:lnTo>
                    <a:pt x="57388" y="7771"/>
                  </a:lnTo>
                  <a:lnTo>
                    <a:pt x="52139" y="7771"/>
                  </a:lnTo>
                  <a:lnTo>
                    <a:pt x="46890" y="8496"/>
                  </a:lnTo>
                  <a:lnTo>
                    <a:pt x="41555" y="8496"/>
                  </a:lnTo>
                  <a:lnTo>
                    <a:pt x="36306" y="9221"/>
                  </a:lnTo>
                  <a:lnTo>
                    <a:pt x="33493" y="9221"/>
                  </a:lnTo>
                  <a:lnTo>
                    <a:pt x="25722" y="10206"/>
                  </a:lnTo>
                  <a:lnTo>
                    <a:pt x="22909" y="10206"/>
                  </a:lnTo>
                  <a:lnTo>
                    <a:pt x="17659" y="10932"/>
                  </a:lnTo>
                  <a:lnTo>
                    <a:pt x="11976" y="12034"/>
                  </a:lnTo>
                  <a:lnTo>
                    <a:pt x="8785" y="12382"/>
                  </a:lnTo>
                  <a:lnTo>
                    <a:pt x="5278" y="12382"/>
                  </a:lnTo>
                  <a:lnTo>
                    <a:pt x="2086" y="13397"/>
                  </a:lnTo>
                  <a:lnTo>
                    <a:pt x="1738" y="15543"/>
                  </a:lnTo>
                  <a:lnTo>
                    <a:pt x="1738" y="23257"/>
                  </a:lnTo>
                  <a:lnTo>
                    <a:pt x="1390" y="25779"/>
                  </a:lnTo>
                  <a:lnTo>
                    <a:pt x="1390" y="33841"/>
                  </a:lnTo>
                  <a:lnTo>
                    <a:pt x="1101" y="36277"/>
                  </a:lnTo>
                  <a:lnTo>
                    <a:pt x="1101" y="90564"/>
                  </a:lnTo>
                  <a:lnTo>
                    <a:pt x="2086" y="99352"/>
                  </a:lnTo>
                  <a:lnTo>
                    <a:pt x="0" y="99352"/>
                  </a:lnTo>
                  <a:lnTo>
                    <a:pt x="0" y="101497"/>
                  </a:lnTo>
                  <a:lnTo>
                    <a:pt x="1101" y="108833"/>
                  </a:lnTo>
                  <a:lnTo>
                    <a:pt x="1101" y="111357"/>
                  </a:lnTo>
                  <a:lnTo>
                    <a:pt x="1390" y="113822"/>
                  </a:lnTo>
                  <a:lnTo>
                    <a:pt x="1390" y="116258"/>
                  </a:lnTo>
                  <a:lnTo>
                    <a:pt x="1738" y="119071"/>
                  </a:lnTo>
                  <a:lnTo>
                    <a:pt x="1738" y="135977"/>
                  </a:lnTo>
                  <a:lnTo>
                    <a:pt x="2086" y="138790"/>
                  </a:lnTo>
                  <a:lnTo>
                    <a:pt x="2086" y="143402"/>
                  </a:lnTo>
                  <a:lnTo>
                    <a:pt x="2465" y="145837"/>
                  </a:lnTo>
                  <a:lnTo>
                    <a:pt x="2086" y="148302"/>
                  </a:lnTo>
                  <a:lnTo>
                    <a:pt x="1390" y="150100"/>
                  </a:lnTo>
                  <a:lnTo>
                    <a:pt x="2086" y="152187"/>
                  </a:lnTo>
                  <a:lnTo>
                    <a:pt x="2086" y="155696"/>
                  </a:lnTo>
                  <a:lnTo>
                    <a:pt x="2465" y="159612"/>
                  </a:lnTo>
                  <a:lnTo>
                    <a:pt x="2465" y="165209"/>
                  </a:lnTo>
                  <a:lnTo>
                    <a:pt x="2813" y="167383"/>
                  </a:lnTo>
                  <a:lnTo>
                    <a:pt x="2813" y="177881"/>
                  </a:lnTo>
                  <a:lnTo>
                    <a:pt x="3188" y="181767"/>
                  </a:lnTo>
                  <a:lnTo>
                    <a:pt x="3188" y="206823"/>
                  </a:lnTo>
                  <a:lnTo>
                    <a:pt x="4262" y="213812"/>
                  </a:lnTo>
                  <a:lnTo>
                    <a:pt x="4262" y="218423"/>
                  </a:lnTo>
                  <a:lnTo>
                    <a:pt x="4899" y="223295"/>
                  </a:lnTo>
                  <a:lnTo>
                    <a:pt x="4899" y="228282"/>
                  </a:lnTo>
                  <a:lnTo>
                    <a:pt x="5624" y="233531"/>
                  </a:lnTo>
                  <a:lnTo>
                    <a:pt x="5624" y="235677"/>
                  </a:lnTo>
                  <a:lnTo>
                    <a:pt x="5972" y="238142"/>
                  </a:lnTo>
                  <a:lnTo>
                    <a:pt x="5972" y="240578"/>
                  </a:lnTo>
                  <a:lnTo>
                    <a:pt x="6350" y="243043"/>
                  </a:lnTo>
                  <a:lnTo>
                    <a:pt x="6350" y="245565"/>
                  </a:lnTo>
                  <a:lnTo>
                    <a:pt x="7423" y="253250"/>
                  </a:lnTo>
                  <a:lnTo>
                    <a:pt x="7423" y="255426"/>
                  </a:lnTo>
                  <a:lnTo>
                    <a:pt x="7800" y="257862"/>
                  </a:lnTo>
                  <a:lnTo>
                    <a:pt x="8060" y="265286"/>
                  </a:lnTo>
                  <a:lnTo>
                    <a:pt x="9163" y="272971"/>
                  </a:lnTo>
                  <a:lnTo>
                    <a:pt x="9163" y="275145"/>
                  </a:lnTo>
                  <a:lnTo>
                    <a:pt x="9511" y="277958"/>
                  </a:lnTo>
                  <a:lnTo>
                    <a:pt x="9511" y="280046"/>
                  </a:lnTo>
                  <a:lnTo>
                    <a:pt x="9888" y="282830"/>
                  </a:lnTo>
                  <a:lnTo>
                    <a:pt x="9888" y="285353"/>
                  </a:lnTo>
                  <a:lnTo>
                    <a:pt x="10961" y="293067"/>
                  </a:lnTo>
                  <a:lnTo>
                    <a:pt x="24358" y="293067"/>
                  </a:lnTo>
                  <a:lnTo>
                    <a:pt x="27519" y="292051"/>
                  </a:lnTo>
                  <a:lnTo>
                    <a:pt x="30680" y="293067"/>
                  </a:lnTo>
                  <a:lnTo>
                    <a:pt x="33493" y="292719"/>
                  </a:lnTo>
                  <a:lnTo>
                    <a:pt x="36654" y="292719"/>
                  </a:lnTo>
                  <a:lnTo>
                    <a:pt x="39815" y="292342"/>
                  </a:lnTo>
                  <a:lnTo>
                    <a:pt x="42975" y="292342"/>
                  </a:lnTo>
                  <a:lnTo>
                    <a:pt x="45788" y="292051"/>
                  </a:lnTo>
                  <a:lnTo>
                    <a:pt x="48980" y="292051"/>
                  </a:lnTo>
                  <a:lnTo>
                    <a:pt x="51762" y="291703"/>
                  </a:lnTo>
                  <a:lnTo>
                    <a:pt x="54952" y="291703"/>
                  </a:lnTo>
                  <a:lnTo>
                    <a:pt x="64088" y="290631"/>
                  </a:lnTo>
                  <a:lnTo>
                    <a:pt x="81371" y="290631"/>
                  </a:lnTo>
                  <a:lnTo>
                    <a:pt x="83517" y="288543"/>
                  </a:lnTo>
                  <a:lnTo>
                    <a:pt x="78558" y="285353"/>
                  </a:lnTo>
                  <a:lnTo>
                    <a:pt x="70787" y="281467"/>
                  </a:lnTo>
                  <a:lnTo>
                    <a:pt x="68698" y="280046"/>
                  </a:lnTo>
                  <a:lnTo>
                    <a:pt x="63798" y="277581"/>
                  </a:lnTo>
                  <a:lnTo>
                    <a:pt x="61622" y="275493"/>
                  </a:lnTo>
                  <a:lnTo>
                    <a:pt x="57388" y="272623"/>
                  </a:lnTo>
                  <a:lnTo>
                    <a:pt x="33116" y="211347"/>
                  </a:lnTo>
                  <a:lnTo>
                    <a:pt x="32768" y="208563"/>
                  </a:lnTo>
                  <a:lnTo>
                    <a:pt x="32768" y="206098"/>
                  </a:lnTo>
                  <a:lnTo>
                    <a:pt x="32420" y="203285"/>
                  </a:lnTo>
                  <a:lnTo>
                    <a:pt x="32420" y="200761"/>
                  </a:lnTo>
                  <a:lnTo>
                    <a:pt x="32043" y="197977"/>
                  </a:lnTo>
                  <a:lnTo>
                    <a:pt x="32043" y="190265"/>
                  </a:lnTo>
                  <a:lnTo>
                    <a:pt x="31695" y="187393"/>
                  </a:lnTo>
                  <a:lnTo>
                    <a:pt x="31695" y="184928"/>
                  </a:lnTo>
                  <a:lnTo>
                    <a:pt x="31318" y="182144"/>
                  </a:lnTo>
                  <a:lnTo>
                    <a:pt x="31318" y="179679"/>
                  </a:lnTo>
                  <a:lnTo>
                    <a:pt x="30970" y="176866"/>
                  </a:lnTo>
                  <a:lnTo>
                    <a:pt x="30970" y="169471"/>
                  </a:lnTo>
                  <a:lnTo>
                    <a:pt x="30680" y="166659"/>
                  </a:lnTo>
                  <a:lnTo>
                    <a:pt x="30680" y="158887"/>
                  </a:lnTo>
                  <a:lnTo>
                    <a:pt x="30332" y="156074"/>
                  </a:lnTo>
                  <a:lnTo>
                    <a:pt x="30332" y="148302"/>
                  </a:lnTo>
                  <a:lnTo>
                    <a:pt x="29955" y="145489"/>
                  </a:lnTo>
                  <a:lnTo>
                    <a:pt x="29955" y="127567"/>
                  </a:lnTo>
                  <a:lnTo>
                    <a:pt x="29607" y="124697"/>
                  </a:lnTo>
                  <a:lnTo>
                    <a:pt x="29607" y="56374"/>
                  </a:lnTo>
                  <a:lnTo>
                    <a:pt x="29955" y="54286"/>
                  </a:lnTo>
                  <a:lnTo>
                    <a:pt x="29955" y="51473"/>
                  </a:lnTo>
                  <a:lnTo>
                    <a:pt x="30332" y="49008"/>
                  </a:lnTo>
                  <a:lnTo>
                    <a:pt x="30332" y="46137"/>
                  </a:lnTo>
                  <a:lnTo>
                    <a:pt x="30680" y="44049"/>
                  </a:lnTo>
                  <a:lnTo>
                    <a:pt x="30680" y="41614"/>
                  </a:lnTo>
                  <a:lnTo>
                    <a:pt x="33493" y="39438"/>
                  </a:lnTo>
                  <a:lnTo>
                    <a:pt x="54227" y="36654"/>
                  </a:lnTo>
                  <a:lnTo>
                    <a:pt x="58113" y="36654"/>
                  </a:lnTo>
                  <a:lnTo>
                    <a:pt x="65509" y="35987"/>
                  </a:lnTo>
                  <a:lnTo>
                    <a:pt x="72932" y="35987"/>
                  </a:lnTo>
                  <a:lnTo>
                    <a:pt x="76470" y="35640"/>
                  </a:lnTo>
                  <a:lnTo>
                    <a:pt x="80270" y="35640"/>
                  </a:lnTo>
                  <a:lnTo>
                    <a:pt x="83807" y="35262"/>
                  </a:lnTo>
                  <a:lnTo>
                    <a:pt x="103527" y="35262"/>
                  </a:lnTo>
                  <a:lnTo>
                    <a:pt x="107064" y="34914"/>
                  </a:lnTo>
                  <a:lnTo>
                    <a:pt x="110951" y="34914"/>
                  </a:lnTo>
                  <a:lnTo>
                    <a:pt x="112748" y="34566"/>
                  </a:lnTo>
                  <a:lnTo>
                    <a:pt x="119070" y="34566"/>
                  </a:lnTo>
                  <a:lnTo>
                    <a:pt x="122608" y="34189"/>
                  </a:lnTo>
                  <a:lnTo>
                    <a:pt x="134556" y="34189"/>
                  </a:lnTo>
                  <a:lnTo>
                    <a:pt x="138094" y="33841"/>
                  </a:lnTo>
                  <a:lnTo>
                    <a:pt x="141979" y="33841"/>
                  </a:lnTo>
                  <a:lnTo>
                    <a:pt x="143690" y="33464"/>
                  </a:lnTo>
                  <a:lnTo>
                    <a:pt x="149664" y="33464"/>
                  </a:lnTo>
                  <a:lnTo>
                    <a:pt x="151491" y="33116"/>
                  </a:lnTo>
                  <a:lnTo>
                    <a:pt x="165237" y="33116"/>
                  </a:lnTo>
                  <a:lnTo>
                    <a:pt x="166223" y="32101"/>
                  </a:lnTo>
                  <a:lnTo>
                    <a:pt x="167326" y="33116"/>
                  </a:lnTo>
                  <a:lnTo>
                    <a:pt x="177533" y="32101"/>
                  </a:lnTo>
                  <a:lnTo>
                    <a:pt x="181071" y="32101"/>
                  </a:lnTo>
                  <a:lnTo>
                    <a:pt x="184580" y="31753"/>
                  </a:lnTo>
                  <a:lnTo>
                    <a:pt x="195455" y="31753"/>
                  </a:lnTo>
                  <a:lnTo>
                    <a:pt x="198644" y="31376"/>
                  </a:lnTo>
                  <a:lnTo>
                    <a:pt x="202530" y="31376"/>
                  </a:lnTo>
                  <a:lnTo>
                    <a:pt x="205691" y="31028"/>
                  </a:lnTo>
                  <a:lnTo>
                    <a:pt x="281786" y="31028"/>
                  </a:lnTo>
                  <a:lnTo>
                    <a:pt x="283583" y="29955"/>
                  </a:lnTo>
                  <a:lnTo>
                    <a:pt x="283931" y="31028"/>
                  </a:lnTo>
                  <a:lnTo>
                    <a:pt x="286020" y="30303"/>
                  </a:lnTo>
                  <a:lnTo>
                    <a:pt x="290921" y="30303"/>
                  </a:lnTo>
                  <a:lnTo>
                    <a:pt x="293791" y="31028"/>
                  </a:lnTo>
                  <a:lnTo>
                    <a:pt x="295879" y="31028"/>
                  </a:lnTo>
                  <a:lnTo>
                    <a:pt x="298692" y="31376"/>
                  </a:lnTo>
                  <a:lnTo>
                    <a:pt x="300781" y="31028"/>
                  </a:lnTo>
                  <a:lnTo>
                    <a:pt x="305391" y="31028"/>
                  </a:lnTo>
                  <a:lnTo>
                    <a:pt x="310292" y="33464"/>
                  </a:lnTo>
                  <a:lnTo>
                    <a:pt x="312439" y="35262"/>
                  </a:lnTo>
                  <a:lnTo>
                    <a:pt x="312439" y="38075"/>
                  </a:lnTo>
                  <a:lnTo>
                    <a:pt x="314904" y="59883"/>
                  </a:lnTo>
                  <a:lnTo>
                    <a:pt x="314904" y="62696"/>
                  </a:lnTo>
                  <a:lnTo>
                    <a:pt x="315252" y="65857"/>
                  </a:lnTo>
                  <a:lnTo>
                    <a:pt x="315252" y="69047"/>
                  </a:lnTo>
                  <a:lnTo>
                    <a:pt x="315628" y="72208"/>
                  </a:lnTo>
                  <a:lnTo>
                    <a:pt x="315628" y="75455"/>
                  </a:lnTo>
                  <a:lnTo>
                    <a:pt x="316701" y="84938"/>
                  </a:lnTo>
                  <a:lnTo>
                    <a:pt x="316701" y="87751"/>
                  </a:lnTo>
                  <a:lnTo>
                    <a:pt x="316992" y="90912"/>
                  </a:lnTo>
                  <a:lnTo>
                    <a:pt x="316992" y="94073"/>
                  </a:lnTo>
                  <a:lnTo>
                    <a:pt x="317338" y="97262"/>
                  </a:lnTo>
                  <a:lnTo>
                    <a:pt x="317338" y="100075"/>
                  </a:lnTo>
                  <a:lnTo>
                    <a:pt x="318413" y="109559"/>
                  </a:lnTo>
                  <a:lnTo>
                    <a:pt x="318413" y="112372"/>
                  </a:lnTo>
                  <a:lnTo>
                    <a:pt x="320499" y="131366"/>
                  </a:lnTo>
                  <a:lnTo>
                    <a:pt x="321226" y="134556"/>
                  </a:lnTo>
                  <a:lnTo>
                    <a:pt x="320151" y="136354"/>
                  </a:lnTo>
                  <a:lnTo>
                    <a:pt x="320151" y="141603"/>
                  </a:lnTo>
                  <a:lnTo>
                    <a:pt x="320499" y="144416"/>
                  </a:lnTo>
                  <a:lnTo>
                    <a:pt x="321226" y="147634"/>
                  </a:lnTo>
                  <a:lnTo>
                    <a:pt x="321226" y="154275"/>
                  </a:lnTo>
                  <a:lnTo>
                    <a:pt x="321602" y="156799"/>
                  </a:lnTo>
                  <a:lnTo>
                    <a:pt x="321602" y="158887"/>
                  </a:lnTo>
                  <a:lnTo>
                    <a:pt x="321950" y="161323"/>
                  </a:lnTo>
                  <a:lnTo>
                    <a:pt x="321950" y="163846"/>
                  </a:lnTo>
                  <a:lnTo>
                    <a:pt x="322298" y="166659"/>
                  </a:lnTo>
                  <a:lnTo>
                    <a:pt x="322298" y="173705"/>
                  </a:lnTo>
                  <a:lnTo>
                    <a:pt x="322675" y="176518"/>
                  </a:lnTo>
                  <a:lnTo>
                    <a:pt x="322675" y="178954"/>
                  </a:lnTo>
                  <a:lnTo>
                    <a:pt x="323023" y="181767"/>
                  </a:lnTo>
                  <a:lnTo>
                    <a:pt x="323023" y="184232"/>
                  </a:lnTo>
                  <a:lnTo>
                    <a:pt x="323400" y="187104"/>
                  </a:lnTo>
                  <a:lnTo>
                    <a:pt x="323691" y="199398"/>
                  </a:lnTo>
                  <a:lnTo>
                    <a:pt x="324037" y="202211"/>
                  </a:lnTo>
                  <a:lnTo>
                    <a:pt x="324037" y="204677"/>
                  </a:lnTo>
                  <a:lnTo>
                    <a:pt x="324385" y="207460"/>
                  </a:lnTo>
                  <a:lnTo>
                    <a:pt x="324385" y="214537"/>
                  </a:lnTo>
                  <a:lnTo>
                    <a:pt x="324763" y="216973"/>
                  </a:lnTo>
                  <a:lnTo>
                    <a:pt x="324763" y="219495"/>
                  </a:lnTo>
                  <a:lnTo>
                    <a:pt x="325836" y="226832"/>
                  </a:lnTo>
                  <a:lnTo>
                    <a:pt x="325836" y="253250"/>
                  </a:lnTo>
                  <a:lnTo>
                    <a:pt x="308204" y="268794"/>
                  </a:lnTo>
                  <a:lnTo>
                    <a:pt x="306116" y="268794"/>
                  </a:lnTo>
                  <a:lnTo>
                    <a:pt x="306116" y="270882"/>
                  </a:lnTo>
                  <a:lnTo>
                    <a:pt x="302578" y="272623"/>
                  </a:lnTo>
                  <a:lnTo>
                    <a:pt x="296604" y="276856"/>
                  </a:lnTo>
                  <a:lnTo>
                    <a:pt x="293791" y="279321"/>
                  </a:lnTo>
                  <a:lnTo>
                    <a:pt x="287760" y="283555"/>
                  </a:lnTo>
                  <a:lnTo>
                    <a:pt x="281786" y="286368"/>
                  </a:lnTo>
                  <a:lnTo>
                    <a:pt x="288108" y="287093"/>
                  </a:lnTo>
                  <a:lnTo>
                    <a:pt x="291646" y="287093"/>
                  </a:lnTo>
                  <a:lnTo>
                    <a:pt x="295155" y="287441"/>
                  </a:lnTo>
                  <a:lnTo>
                    <a:pt x="306116" y="287441"/>
                  </a:lnTo>
                  <a:lnTo>
                    <a:pt x="308204" y="287818"/>
                  </a:lnTo>
                  <a:lnTo>
                    <a:pt x="310292" y="288543"/>
                  </a:lnTo>
                  <a:lnTo>
                    <a:pt x="311365" y="287441"/>
                  </a:lnTo>
                  <a:lnTo>
                    <a:pt x="314904" y="288543"/>
                  </a:lnTo>
                  <a:lnTo>
                    <a:pt x="317338" y="288166"/>
                  </a:lnTo>
                  <a:lnTo>
                    <a:pt x="320151" y="288166"/>
                  </a:lnTo>
                  <a:lnTo>
                    <a:pt x="325836" y="286368"/>
                  </a:lnTo>
                  <a:lnTo>
                    <a:pt x="327924" y="286368"/>
                  </a:lnTo>
                  <a:lnTo>
                    <a:pt x="335696" y="287441"/>
                  </a:lnTo>
                  <a:lnTo>
                    <a:pt x="338161" y="287441"/>
                  </a:lnTo>
                  <a:lnTo>
                    <a:pt x="340944" y="287818"/>
                  </a:lnTo>
                  <a:lnTo>
                    <a:pt x="343409" y="287818"/>
                  </a:lnTo>
                  <a:lnTo>
                    <a:pt x="346280" y="288166"/>
                  </a:lnTo>
                  <a:lnTo>
                    <a:pt x="362838" y="288166"/>
                  </a:lnTo>
                  <a:lnTo>
                    <a:pt x="365276" y="288543"/>
                  </a:lnTo>
                  <a:lnTo>
                    <a:pt x="364928" y="285730"/>
                  </a:lnTo>
                  <a:lnTo>
                    <a:pt x="364928" y="248001"/>
                  </a:lnTo>
                  <a:lnTo>
                    <a:pt x="364580" y="245188"/>
                  </a:lnTo>
                  <a:lnTo>
                    <a:pt x="364580" y="228282"/>
                  </a:lnTo>
                  <a:lnTo>
                    <a:pt x="364201" y="225817"/>
                  </a:lnTo>
                  <a:lnTo>
                    <a:pt x="364201" y="209259"/>
                  </a:lnTo>
                  <a:lnTo>
                    <a:pt x="363853" y="206475"/>
                  </a:lnTo>
                  <a:lnTo>
                    <a:pt x="363853" y="203951"/>
                  </a:lnTo>
                  <a:lnTo>
                    <a:pt x="363477" y="201486"/>
                  </a:lnTo>
                  <a:lnTo>
                    <a:pt x="363477" y="199398"/>
                  </a:lnTo>
                  <a:lnTo>
                    <a:pt x="363129" y="196615"/>
                  </a:lnTo>
                  <a:lnTo>
                    <a:pt x="362838" y="186726"/>
                  </a:lnTo>
                  <a:lnTo>
                    <a:pt x="362838" y="179679"/>
                  </a:lnTo>
                  <a:lnTo>
                    <a:pt x="362491" y="177243"/>
                  </a:lnTo>
                  <a:lnTo>
                    <a:pt x="362491" y="170167"/>
                  </a:lnTo>
                  <a:lnTo>
                    <a:pt x="361388" y="162396"/>
                  </a:lnTo>
                  <a:lnTo>
                    <a:pt x="361388" y="159960"/>
                  </a:lnTo>
                  <a:lnTo>
                    <a:pt x="361040" y="157147"/>
                  </a:lnTo>
                  <a:lnTo>
                    <a:pt x="361040" y="155000"/>
                  </a:lnTo>
                  <a:lnTo>
                    <a:pt x="360693" y="152187"/>
                  </a:lnTo>
                  <a:lnTo>
                    <a:pt x="360693" y="150100"/>
                  </a:lnTo>
                  <a:lnTo>
                    <a:pt x="359591" y="142328"/>
                  </a:lnTo>
                  <a:lnTo>
                    <a:pt x="359302" y="134904"/>
                  </a:lnTo>
                  <a:lnTo>
                    <a:pt x="358954" y="132091"/>
                  </a:lnTo>
                  <a:lnTo>
                    <a:pt x="358954" y="130003"/>
                  </a:lnTo>
                  <a:lnTo>
                    <a:pt x="358606" y="127915"/>
                  </a:lnTo>
                  <a:lnTo>
                    <a:pt x="358606" y="125769"/>
                  </a:lnTo>
                  <a:lnTo>
                    <a:pt x="358228" y="123681"/>
                  </a:lnTo>
                  <a:lnTo>
                    <a:pt x="358228" y="121884"/>
                  </a:lnTo>
                  <a:lnTo>
                    <a:pt x="357880" y="119796"/>
                  </a:lnTo>
                  <a:lnTo>
                    <a:pt x="357880" y="113822"/>
                  </a:lnTo>
                  <a:lnTo>
                    <a:pt x="357503" y="111646"/>
                  </a:lnTo>
                  <a:lnTo>
                    <a:pt x="357503" y="109559"/>
                  </a:lnTo>
                  <a:lnTo>
                    <a:pt x="357155" y="107471"/>
                  </a:lnTo>
                  <a:lnTo>
                    <a:pt x="357155" y="105672"/>
                  </a:lnTo>
                  <a:lnTo>
                    <a:pt x="356778" y="103585"/>
                  </a:lnTo>
                  <a:lnTo>
                    <a:pt x="356778" y="97988"/>
                  </a:lnTo>
                  <a:lnTo>
                    <a:pt x="356430" y="95813"/>
                  </a:lnTo>
                  <a:lnTo>
                    <a:pt x="356430" y="93725"/>
                  </a:lnTo>
                  <a:lnTo>
                    <a:pt x="356141" y="91638"/>
                  </a:lnTo>
                  <a:lnTo>
                    <a:pt x="356141" y="89491"/>
                  </a:lnTo>
                  <a:lnTo>
                    <a:pt x="355793" y="87403"/>
                  </a:lnTo>
                  <a:lnTo>
                    <a:pt x="355793" y="81777"/>
                  </a:lnTo>
                  <a:lnTo>
                    <a:pt x="355415" y="79631"/>
                  </a:lnTo>
                  <a:lnTo>
                    <a:pt x="355415" y="77543"/>
                  </a:lnTo>
                  <a:lnTo>
                    <a:pt x="355067" y="75455"/>
                  </a:lnTo>
                  <a:lnTo>
                    <a:pt x="355067" y="73281"/>
                  </a:lnTo>
                  <a:lnTo>
                    <a:pt x="354690" y="71192"/>
                  </a:lnTo>
                  <a:lnTo>
                    <a:pt x="354690" y="65567"/>
                  </a:lnTo>
                  <a:lnTo>
                    <a:pt x="353617" y="59187"/>
                  </a:lnTo>
                  <a:lnTo>
                    <a:pt x="353617" y="57099"/>
                  </a:lnTo>
                  <a:lnTo>
                    <a:pt x="353269" y="55011"/>
                  </a:lnTo>
                  <a:lnTo>
                    <a:pt x="353269" y="52837"/>
                  </a:lnTo>
                  <a:lnTo>
                    <a:pt x="352979" y="50747"/>
                  </a:lnTo>
                  <a:lnTo>
                    <a:pt x="352979" y="49008"/>
                  </a:lnTo>
                  <a:lnTo>
                    <a:pt x="352254" y="44775"/>
                  </a:lnTo>
                  <a:lnTo>
                    <a:pt x="352254" y="40888"/>
                  </a:lnTo>
                  <a:lnTo>
                    <a:pt x="351529" y="36654"/>
                  </a:lnTo>
                  <a:lnTo>
                    <a:pt x="351529" y="32739"/>
                  </a:lnTo>
                  <a:lnTo>
                    <a:pt x="350456" y="26418"/>
                  </a:lnTo>
                  <a:lnTo>
                    <a:pt x="350456" y="24330"/>
                  </a:lnTo>
                  <a:lnTo>
                    <a:pt x="349441" y="18008"/>
                  </a:lnTo>
                  <a:lnTo>
                    <a:pt x="349441" y="16268"/>
                  </a:lnTo>
                  <a:lnTo>
                    <a:pt x="348368" y="9859"/>
                  </a:lnTo>
                  <a:lnTo>
                    <a:pt x="348368" y="8119"/>
                  </a:lnTo>
                  <a:lnTo>
                    <a:pt x="348020" y="6031"/>
                  </a:lnTo>
                  <a:lnTo>
                    <a:pt x="348020" y="3884"/>
                  </a:lnTo>
                  <a:lnTo>
                    <a:pt x="347643" y="1797"/>
                  </a:lnTo>
                  <a:lnTo>
                    <a:pt x="347643" y="0"/>
                  </a:lnTo>
                  <a:close/>
                </a:path>
              </a:pathLst>
            </a:custGeom>
            <a:solidFill>
              <a:srgbClr val="D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092248" y="2003301"/>
              <a:ext cx="264795" cy="106045"/>
            </a:xfrm>
            <a:custGeom>
              <a:avLst/>
              <a:gdLst/>
              <a:ahLst/>
              <a:cxnLst/>
              <a:rect l="l" t="t" r="r" b="b"/>
              <a:pathLst>
                <a:path w="264795" h="106044">
                  <a:moveTo>
                    <a:pt x="264213" y="0"/>
                  </a:moveTo>
                  <a:lnTo>
                    <a:pt x="145489" y="0"/>
                  </a:lnTo>
                  <a:lnTo>
                    <a:pt x="143402" y="347"/>
                  </a:lnTo>
                  <a:lnTo>
                    <a:pt x="136354" y="347"/>
                  </a:lnTo>
                  <a:lnTo>
                    <a:pt x="134209" y="725"/>
                  </a:lnTo>
                  <a:lnTo>
                    <a:pt x="127133" y="725"/>
                  </a:lnTo>
                  <a:lnTo>
                    <a:pt x="125045" y="1073"/>
                  </a:lnTo>
                  <a:lnTo>
                    <a:pt x="113097" y="1073"/>
                  </a:lnTo>
                  <a:lnTo>
                    <a:pt x="110661" y="1421"/>
                  </a:lnTo>
                  <a:lnTo>
                    <a:pt x="108139" y="1421"/>
                  </a:lnTo>
                  <a:lnTo>
                    <a:pt x="106050" y="1710"/>
                  </a:lnTo>
                  <a:lnTo>
                    <a:pt x="94101" y="1710"/>
                  </a:lnTo>
                  <a:lnTo>
                    <a:pt x="91579" y="2087"/>
                  </a:lnTo>
                  <a:lnTo>
                    <a:pt x="89143" y="2087"/>
                  </a:lnTo>
                  <a:lnTo>
                    <a:pt x="87055" y="2435"/>
                  </a:lnTo>
                  <a:lnTo>
                    <a:pt x="79255" y="2435"/>
                  </a:lnTo>
                  <a:lnTo>
                    <a:pt x="77166" y="2813"/>
                  </a:lnTo>
                  <a:lnTo>
                    <a:pt x="69772" y="2813"/>
                  </a:lnTo>
                  <a:lnTo>
                    <a:pt x="67684" y="3161"/>
                  </a:lnTo>
                  <a:lnTo>
                    <a:pt x="59912" y="3161"/>
                  </a:lnTo>
                  <a:lnTo>
                    <a:pt x="57824" y="3509"/>
                  </a:lnTo>
                  <a:lnTo>
                    <a:pt x="55302" y="3509"/>
                  </a:lnTo>
                  <a:lnTo>
                    <a:pt x="52837" y="3886"/>
                  </a:lnTo>
                  <a:lnTo>
                    <a:pt x="50399" y="3886"/>
                  </a:lnTo>
                  <a:lnTo>
                    <a:pt x="48225" y="4234"/>
                  </a:lnTo>
                  <a:lnTo>
                    <a:pt x="32768" y="4234"/>
                  </a:lnTo>
                  <a:lnTo>
                    <a:pt x="23982" y="5248"/>
                  </a:lnTo>
                  <a:lnTo>
                    <a:pt x="14470" y="5248"/>
                  </a:lnTo>
                  <a:lnTo>
                    <a:pt x="11309" y="5596"/>
                  </a:lnTo>
                  <a:lnTo>
                    <a:pt x="8148" y="5596"/>
                  </a:lnTo>
                  <a:lnTo>
                    <a:pt x="5335" y="5974"/>
                  </a:lnTo>
                  <a:lnTo>
                    <a:pt x="2465" y="5974"/>
                  </a:lnTo>
                  <a:lnTo>
                    <a:pt x="0" y="6322"/>
                  </a:lnTo>
                  <a:lnTo>
                    <a:pt x="3161" y="16906"/>
                  </a:lnTo>
                  <a:lnTo>
                    <a:pt x="5626" y="23953"/>
                  </a:lnTo>
                  <a:lnTo>
                    <a:pt x="8496" y="31028"/>
                  </a:lnTo>
                  <a:lnTo>
                    <a:pt x="12324" y="41526"/>
                  </a:lnTo>
                  <a:lnTo>
                    <a:pt x="19719" y="58085"/>
                  </a:lnTo>
                  <a:lnTo>
                    <a:pt x="21894" y="61624"/>
                  </a:lnTo>
                  <a:lnTo>
                    <a:pt x="21894" y="64060"/>
                  </a:lnTo>
                  <a:lnTo>
                    <a:pt x="22532" y="66930"/>
                  </a:lnTo>
                  <a:lnTo>
                    <a:pt x="25055" y="74992"/>
                  </a:lnTo>
                  <a:lnTo>
                    <a:pt x="30681" y="88766"/>
                  </a:lnTo>
                  <a:lnTo>
                    <a:pt x="33116" y="94015"/>
                  </a:lnTo>
                  <a:lnTo>
                    <a:pt x="37379" y="105674"/>
                  </a:lnTo>
                  <a:lnTo>
                    <a:pt x="41614" y="105674"/>
                  </a:lnTo>
                  <a:lnTo>
                    <a:pt x="102889" y="103238"/>
                  </a:lnTo>
                  <a:lnTo>
                    <a:pt x="105326" y="103875"/>
                  </a:lnTo>
                  <a:lnTo>
                    <a:pt x="107760" y="103875"/>
                  </a:lnTo>
                  <a:lnTo>
                    <a:pt x="109936" y="103238"/>
                  </a:lnTo>
                  <a:lnTo>
                    <a:pt x="113474" y="103238"/>
                  </a:lnTo>
                  <a:lnTo>
                    <a:pt x="116983" y="103527"/>
                  </a:lnTo>
                  <a:lnTo>
                    <a:pt x="123972" y="103527"/>
                  </a:lnTo>
                  <a:lnTo>
                    <a:pt x="127509" y="103238"/>
                  </a:lnTo>
                  <a:lnTo>
                    <a:pt x="138442" y="103238"/>
                  </a:lnTo>
                  <a:lnTo>
                    <a:pt x="145141" y="102513"/>
                  </a:lnTo>
                  <a:lnTo>
                    <a:pt x="163121" y="102513"/>
                  </a:lnTo>
                  <a:lnTo>
                    <a:pt x="167297" y="103238"/>
                  </a:lnTo>
                  <a:lnTo>
                    <a:pt x="170110" y="102135"/>
                  </a:lnTo>
                  <a:lnTo>
                    <a:pt x="171559" y="101062"/>
                  </a:lnTo>
                  <a:lnTo>
                    <a:pt x="233183" y="101062"/>
                  </a:lnTo>
                  <a:lnTo>
                    <a:pt x="235329" y="98974"/>
                  </a:lnTo>
                  <a:lnTo>
                    <a:pt x="235996" y="96161"/>
                  </a:lnTo>
                  <a:lnTo>
                    <a:pt x="236344" y="93000"/>
                  </a:lnTo>
                  <a:lnTo>
                    <a:pt x="237794" y="90187"/>
                  </a:lnTo>
                  <a:lnTo>
                    <a:pt x="239882" y="81691"/>
                  </a:lnTo>
                  <a:lnTo>
                    <a:pt x="240955" y="79255"/>
                  </a:lnTo>
                  <a:lnTo>
                    <a:pt x="242318" y="73629"/>
                  </a:lnTo>
                  <a:lnTo>
                    <a:pt x="244492" y="68322"/>
                  </a:lnTo>
                  <a:lnTo>
                    <a:pt x="246581" y="60260"/>
                  </a:lnTo>
                  <a:lnTo>
                    <a:pt x="247653" y="57738"/>
                  </a:lnTo>
                  <a:lnTo>
                    <a:pt x="248380" y="54924"/>
                  </a:lnTo>
                  <a:lnTo>
                    <a:pt x="251540" y="47210"/>
                  </a:lnTo>
                  <a:lnTo>
                    <a:pt x="252177" y="44049"/>
                  </a:lnTo>
                  <a:lnTo>
                    <a:pt x="253627" y="38713"/>
                  </a:lnTo>
                  <a:lnTo>
                    <a:pt x="254701" y="36277"/>
                  </a:lnTo>
                  <a:lnTo>
                    <a:pt x="255338" y="33117"/>
                  </a:lnTo>
                  <a:lnTo>
                    <a:pt x="256440" y="30652"/>
                  </a:lnTo>
                  <a:lnTo>
                    <a:pt x="257166" y="27839"/>
                  </a:lnTo>
                  <a:lnTo>
                    <a:pt x="258239" y="25345"/>
                  </a:lnTo>
                  <a:lnTo>
                    <a:pt x="263140" y="6699"/>
                  </a:lnTo>
                  <a:lnTo>
                    <a:pt x="264213" y="4234"/>
                  </a:lnTo>
                  <a:lnTo>
                    <a:pt x="264213" y="0"/>
                  </a:lnTo>
                  <a:close/>
                </a:path>
              </a:pathLst>
            </a:custGeom>
            <a:solidFill>
              <a:srgbClr val="BFB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6652" y="2020933"/>
              <a:ext cx="282830" cy="226966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7034888" y="2168163"/>
              <a:ext cx="13970" cy="15875"/>
            </a:xfrm>
            <a:custGeom>
              <a:avLst/>
              <a:gdLst/>
              <a:ahLst/>
              <a:cxnLst/>
              <a:rect l="l" t="t" r="r" b="b"/>
              <a:pathLst>
                <a:path w="13970" h="15875">
                  <a:moveTo>
                    <a:pt x="10875" y="0"/>
                  </a:moveTo>
                  <a:lnTo>
                    <a:pt x="2087" y="8757"/>
                  </a:lnTo>
                  <a:lnTo>
                    <a:pt x="985" y="11948"/>
                  </a:lnTo>
                  <a:lnTo>
                    <a:pt x="0" y="13369"/>
                  </a:lnTo>
                  <a:lnTo>
                    <a:pt x="3509" y="13369"/>
                  </a:lnTo>
                  <a:lnTo>
                    <a:pt x="5248" y="13745"/>
                  </a:lnTo>
                  <a:lnTo>
                    <a:pt x="7336" y="14384"/>
                  </a:lnTo>
                  <a:lnTo>
                    <a:pt x="10497" y="14732"/>
                  </a:lnTo>
                  <a:lnTo>
                    <a:pt x="13368" y="15457"/>
                  </a:lnTo>
                  <a:lnTo>
                    <a:pt x="13368" y="9483"/>
                  </a:lnTo>
                  <a:lnTo>
                    <a:pt x="13658" y="7684"/>
                  </a:lnTo>
                  <a:lnTo>
                    <a:pt x="13368" y="5596"/>
                  </a:lnTo>
                  <a:lnTo>
                    <a:pt x="13020" y="3509"/>
                  </a:lnTo>
                  <a:lnTo>
                    <a:pt x="11948" y="1362"/>
                  </a:lnTo>
                  <a:lnTo>
                    <a:pt x="10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8533" y="2185708"/>
              <a:ext cx="708660" cy="226060"/>
            </a:xfrm>
            <a:custGeom>
              <a:avLst/>
              <a:gdLst/>
              <a:ahLst/>
              <a:cxnLst/>
              <a:rect l="l" t="t" r="r" b="b"/>
              <a:pathLst>
                <a:path w="708659" h="226060">
                  <a:moveTo>
                    <a:pt x="629112" y="0"/>
                  </a:moveTo>
                  <a:lnTo>
                    <a:pt x="617106" y="0"/>
                  </a:lnTo>
                  <a:lnTo>
                    <a:pt x="613915" y="377"/>
                  </a:lnTo>
                  <a:lnTo>
                    <a:pt x="610407" y="377"/>
                  </a:lnTo>
                  <a:lnTo>
                    <a:pt x="607217" y="725"/>
                  </a:lnTo>
                  <a:lnTo>
                    <a:pt x="604056" y="725"/>
                  </a:lnTo>
                  <a:lnTo>
                    <a:pt x="600895" y="1101"/>
                  </a:lnTo>
                  <a:lnTo>
                    <a:pt x="591384" y="1101"/>
                  </a:lnTo>
                  <a:lnTo>
                    <a:pt x="588223" y="1449"/>
                  </a:lnTo>
                  <a:lnTo>
                    <a:pt x="585062" y="1449"/>
                  </a:lnTo>
                  <a:lnTo>
                    <a:pt x="581901" y="1797"/>
                  </a:lnTo>
                  <a:lnTo>
                    <a:pt x="578711" y="1797"/>
                  </a:lnTo>
                  <a:lnTo>
                    <a:pt x="575550" y="2174"/>
                  </a:lnTo>
                  <a:lnTo>
                    <a:pt x="565689" y="2174"/>
                  </a:lnTo>
                  <a:lnTo>
                    <a:pt x="562528" y="2522"/>
                  </a:lnTo>
                  <a:lnTo>
                    <a:pt x="558991" y="2522"/>
                  </a:lnTo>
                  <a:lnTo>
                    <a:pt x="555830" y="2899"/>
                  </a:lnTo>
                  <a:lnTo>
                    <a:pt x="552669" y="2899"/>
                  </a:lnTo>
                  <a:lnTo>
                    <a:pt x="549479" y="3161"/>
                  </a:lnTo>
                  <a:lnTo>
                    <a:pt x="539619" y="3161"/>
                  </a:lnTo>
                  <a:lnTo>
                    <a:pt x="536458" y="3538"/>
                  </a:lnTo>
                  <a:lnTo>
                    <a:pt x="533298" y="3538"/>
                  </a:lnTo>
                  <a:lnTo>
                    <a:pt x="523786" y="4610"/>
                  </a:lnTo>
                  <a:lnTo>
                    <a:pt x="523786" y="8148"/>
                  </a:lnTo>
                  <a:lnTo>
                    <a:pt x="524800" y="19457"/>
                  </a:lnTo>
                  <a:lnTo>
                    <a:pt x="524800" y="25054"/>
                  </a:lnTo>
                  <a:lnTo>
                    <a:pt x="525148" y="27142"/>
                  </a:lnTo>
                  <a:lnTo>
                    <a:pt x="525148" y="32768"/>
                  </a:lnTo>
                  <a:lnTo>
                    <a:pt x="525526" y="34914"/>
                  </a:lnTo>
                  <a:lnTo>
                    <a:pt x="525526" y="60608"/>
                  </a:lnTo>
                  <a:lnTo>
                    <a:pt x="525873" y="64146"/>
                  </a:lnTo>
                  <a:lnTo>
                    <a:pt x="525148" y="71193"/>
                  </a:lnTo>
                  <a:lnTo>
                    <a:pt x="523786" y="74730"/>
                  </a:lnTo>
                  <a:lnTo>
                    <a:pt x="521639" y="77166"/>
                  </a:lnTo>
                  <a:lnTo>
                    <a:pt x="518826" y="76094"/>
                  </a:lnTo>
                  <a:lnTo>
                    <a:pt x="510040" y="76094"/>
                  </a:lnTo>
                  <a:lnTo>
                    <a:pt x="506879" y="75746"/>
                  </a:lnTo>
                  <a:lnTo>
                    <a:pt x="503718" y="75746"/>
                  </a:lnTo>
                  <a:lnTo>
                    <a:pt x="497367" y="75078"/>
                  </a:lnTo>
                  <a:lnTo>
                    <a:pt x="496295" y="75746"/>
                  </a:lnTo>
                  <a:lnTo>
                    <a:pt x="495221" y="75078"/>
                  </a:lnTo>
                  <a:lnTo>
                    <a:pt x="492756" y="75078"/>
                  </a:lnTo>
                  <a:lnTo>
                    <a:pt x="490669" y="77166"/>
                  </a:lnTo>
                  <a:lnTo>
                    <a:pt x="489973" y="75746"/>
                  </a:lnTo>
                  <a:lnTo>
                    <a:pt x="488523" y="75078"/>
                  </a:lnTo>
                  <a:lnTo>
                    <a:pt x="466716" y="75078"/>
                  </a:lnTo>
                  <a:lnTo>
                    <a:pt x="464626" y="74382"/>
                  </a:lnTo>
                  <a:lnTo>
                    <a:pt x="460364" y="74382"/>
                  </a:lnTo>
                  <a:lnTo>
                    <a:pt x="458943" y="74730"/>
                  </a:lnTo>
                  <a:lnTo>
                    <a:pt x="455463" y="75078"/>
                  </a:lnTo>
                  <a:lnTo>
                    <a:pt x="452245" y="75746"/>
                  </a:lnTo>
                  <a:lnTo>
                    <a:pt x="445255" y="76470"/>
                  </a:lnTo>
                  <a:lnTo>
                    <a:pt x="443458" y="76094"/>
                  </a:lnTo>
                  <a:lnTo>
                    <a:pt x="441717" y="76094"/>
                  </a:lnTo>
                  <a:lnTo>
                    <a:pt x="437832" y="75078"/>
                  </a:lnTo>
                  <a:lnTo>
                    <a:pt x="440993" y="76470"/>
                  </a:lnTo>
                  <a:lnTo>
                    <a:pt x="444182" y="78268"/>
                  </a:lnTo>
                  <a:lnTo>
                    <a:pt x="456478" y="86330"/>
                  </a:lnTo>
                  <a:lnTo>
                    <a:pt x="462104" y="90564"/>
                  </a:lnTo>
                  <a:lnTo>
                    <a:pt x="463177" y="90564"/>
                  </a:lnTo>
                  <a:lnTo>
                    <a:pt x="464251" y="92652"/>
                  </a:lnTo>
                  <a:lnTo>
                    <a:pt x="467064" y="94827"/>
                  </a:lnTo>
                  <a:lnTo>
                    <a:pt x="469877" y="97988"/>
                  </a:lnTo>
                  <a:lnTo>
                    <a:pt x="474487" y="104310"/>
                  </a:lnTo>
                  <a:lnTo>
                    <a:pt x="475849" y="107500"/>
                  </a:lnTo>
                  <a:lnTo>
                    <a:pt x="477648" y="111009"/>
                  </a:lnTo>
                  <a:lnTo>
                    <a:pt x="478663" y="114837"/>
                  </a:lnTo>
                  <a:lnTo>
                    <a:pt x="479010" y="116988"/>
                  </a:lnTo>
                  <a:lnTo>
                    <a:pt x="479736" y="119076"/>
                  </a:lnTo>
                  <a:lnTo>
                    <a:pt x="479010" y="120877"/>
                  </a:lnTo>
                  <a:lnTo>
                    <a:pt x="479010" y="122965"/>
                  </a:lnTo>
                  <a:lnTo>
                    <a:pt x="478663" y="124693"/>
                  </a:lnTo>
                  <a:lnTo>
                    <a:pt x="478663" y="134915"/>
                  </a:lnTo>
                  <a:lnTo>
                    <a:pt x="477300" y="142331"/>
                  </a:lnTo>
                  <a:lnTo>
                    <a:pt x="475503" y="145858"/>
                  </a:lnTo>
                  <a:lnTo>
                    <a:pt x="473038" y="149746"/>
                  </a:lnTo>
                  <a:lnTo>
                    <a:pt x="470225" y="152553"/>
                  </a:lnTo>
                  <a:lnTo>
                    <a:pt x="467440" y="155719"/>
                  </a:lnTo>
                  <a:lnTo>
                    <a:pt x="464626" y="158527"/>
                  </a:lnTo>
                  <a:lnTo>
                    <a:pt x="462104" y="161693"/>
                  </a:lnTo>
                  <a:lnTo>
                    <a:pt x="449780" y="171556"/>
                  </a:lnTo>
                  <a:lnTo>
                    <a:pt x="442733" y="175445"/>
                  </a:lnTo>
                  <a:lnTo>
                    <a:pt x="435743" y="178972"/>
                  </a:lnTo>
                  <a:lnTo>
                    <a:pt x="429712" y="181060"/>
                  </a:lnTo>
                  <a:lnTo>
                    <a:pt x="427972" y="182142"/>
                  </a:lnTo>
                  <a:lnTo>
                    <a:pt x="425884" y="182501"/>
                  </a:lnTo>
                  <a:lnTo>
                    <a:pt x="424086" y="183579"/>
                  </a:lnTo>
                  <a:lnTo>
                    <a:pt x="421998" y="183866"/>
                  </a:lnTo>
                  <a:lnTo>
                    <a:pt x="420201" y="184948"/>
                  </a:lnTo>
                  <a:lnTo>
                    <a:pt x="417763" y="185308"/>
                  </a:lnTo>
                  <a:lnTo>
                    <a:pt x="415677" y="186028"/>
                  </a:lnTo>
                  <a:lnTo>
                    <a:pt x="413501" y="186387"/>
                  </a:lnTo>
                  <a:lnTo>
                    <a:pt x="411413" y="187106"/>
                  </a:lnTo>
                  <a:lnTo>
                    <a:pt x="408978" y="187396"/>
                  </a:lnTo>
                  <a:lnTo>
                    <a:pt x="406802" y="188116"/>
                  </a:lnTo>
                  <a:lnTo>
                    <a:pt x="404714" y="188475"/>
                  </a:lnTo>
                  <a:lnTo>
                    <a:pt x="402626" y="189556"/>
                  </a:lnTo>
                  <a:lnTo>
                    <a:pt x="400104" y="189556"/>
                  </a:lnTo>
                  <a:lnTo>
                    <a:pt x="398015" y="190276"/>
                  </a:lnTo>
                  <a:lnTo>
                    <a:pt x="395927" y="190276"/>
                  </a:lnTo>
                  <a:lnTo>
                    <a:pt x="393782" y="190922"/>
                  </a:lnTo>
                  <a:lnTo>
                    <a:pt x="387431" y="192004"/>
                  </a:lnTo>
                  <a:lnTo>
                    <a:pt x="385372" y="192723"/>
                  </a:lnTo>
                  <a:lnTo>
                    <a:pt x="382907" y="192723"/>
                  </a:lnTo>
                  <a:lnTo>
                    <a:pt x="380761" y="193442"/>
                  </a:lnTo>
                  <a:lnTo>
                    <a:pt x="378673" y="193442"/>
                  </a:lnTo>
                  <a:lnTo>
                    <a:pt x="376585" y="194090"/>
                  </a:lnTo>
                  <a:lnTo>
                    <a:pt x="370177" y="195171"/>
                  </a:lnTo>
                  <a:lnTo>
                    <a:pt x="368087" y="195889"/>
                  </a:lnTo>
                  <a:lnTo>
                    <a:pt x="365622" y="195889"/>
                  </a:lnTo>
                  <a:lnTo>
                    <a:pt x="363477" y="196250"/>
                  </a:lnTo>
                  <a:lnTo>
                    <a:pt x="361012" y="196250"/>
                  </a:lnTo>
                  <a:lnTo>
                    <a:pt x="358924" y="196609"/>
                  </a:lnTo>
                  <a:lnTo>
                    <a:pt x="356489" y="196609"/>
                  </a:lnTo>
                  <a:lnTo>
                    <a:pt x="350166" y="197618"/>
                  </a:lnTo>
                  <a:lnTo>
                    <a:pt x="345556" y="197618"/>
                  </a:lnTo>
                  <a:lnTo>
                    <a:pt x="341293" y="198338"/>
                  </a:lnTo>
                  <a:lnTo>
                    <a:pt x="336769" y="198338"/>
                  </a:lnTo>
                  <a:lnTo>
                    <a:pt x="332506" y="199057"/>
                  </a:lnTo>
                  <a:lnTo>
                    <a:pt x="314236" y="199057"/>
                  </a:lnTo>
                  <a:lnTo>
                    <a:pt x="311713" y="198697"/>
                  </a:lnTo>
                  <a:lnTo>
                    <a:pt x="309278" y="198697"/>
                  </a:lnTo>
                  <a:lnTo>
                    <a:pt x="307190" y="198338"/>
                  </a:lnTo>
                  <a:lnTo>
                    <a:pt x="305014" y="198338"/>
                  </a:lnTo>
                  <a:lnTo>
                    <a:pt x="302578" y="197977"/>
                  </a:lnTo>
                  <a:lnTo>
                    <a:pt x="295880" y="197977"/>
                  </a:lnTo>
                  <a:lnTo>
                    <a:pt x="288833" y="196969"/>
                  </a:lnTo>
                  <a:lnTo>
                    <a:pt x="286745" y="196969"/>
                  </a:lnTo>
                  <a:lnTo>
                    <a:pt x="284280" y="196609"/>
                  </a:lnTo>
                  <a:lnTo>
                    <a:pt x="281757" y="196609"/>
                  </a:lnTo>
                  <a:lnTo>
                    <a:pt x="279669" y="196250"/>
                  </a:lnTo>
                  <a:lnTo>
                    <a:pt x="277581" y="196250"/>
                  </a:lnTo>
                  <a:lnTo>
                    <a:pt x="261689" y="193729"/>
                  </a:lnTo>
                  <a:lnTo>
                    <a:pt x="259601" y="193729"/>
                  </a:lnTo>
                  <a:lnTo>
                    <a:pt x="257514" y="193083"/>
                  </a:lnTo>
                  <a:lnTo>
                    <a:pt x="255339" y="192723"/>
                  </a:lnTo>
                  <a:lnTo>
                    <a:pt x="253250" y="192004"/>
                  </a:lnTo>
                  <a:lnTo>
                    <a:pt x="251162" y="191641"/>
                  </a:lnTo>
                  <a:lnTo>
                    <a:pt x="244842" y="189556"/>
                  </a:lnTo>
                  <a:lnTo>
                    <a:pt x="243043" y="189194"/>
                  </a:lnTo>
                  <a:lnTo>
                    <a:pt x="236692" y="187106"/>
                  </a:lnTo>
                  <a:lnTo>
                    <a:pt x="234604" y="186747"/>
                  </a:lnTo>
                  <a:lnTo>
                    <a:pt x="232458" y="186028"/>
                  </a:lnTo>
                  <a:lnTo>
                    <a:pt x="230370" y="185667"/>
                  </a:lnTo>
                  <a:lnTo>
                    <a:pt x="228282" y="184948"/>
                  </a:lnTo>
                  <a:lnTo>
                    <a:pt x="226484" y="184948"/>
                  </a:lnTo>
                  <a:lnTo>
                    <a:pt x="224019" y="182860"/>
                  </a:lnTo>
                  <a:lnTo>
                    <a:pt x="217698" y="178612"/>
                  </a:lnTo>
                  <a:lnTo>
                    <a:pt x="213086" y="176165"/>
                  </a:lnTo>
                  <a:lnTo>
                    <a:pt x="210999" y="174726"/>
                  </a:lnTo>
                  <a:lnTo>
                    <a:pt x="183507" y="147946"/>
                  </a:lnTo>
                  <a:lnTo>
                    <a:pt x="182782" y="145858"/>
                  </a:lnTo>
                  <a:lnTo>
                    <a:pt x="182492" y="144129"/>
                  </a:lnTo>
                  <a:lnTo>
                    <a:pt x="182492" y="132109"/>
                  </a:lnTo>
                  <a:lnTo>
                    <a:pt x="169762" y="132109"/>
                  </a:lnTo>
                  <a:lnTo>
                    <a:pt x="167297" y="132468"/>
                  </a:lnTo>
                  <a:lnTo>
                    <a:pt x="164861" y="132468"/>
                  </a:lnTo>
                  <a:lnTo>
                    <a:pt x="162773" y="132828"/>
                  </a:lnTo>
                  <a:lnTo>
                    <a:pt x="153202" y="132828"/>
                  </a:lnTo>
                  <a:lnTo>
                    <a:pt x="151116" y="132468"/>
                  </a:lnTo>
                  <a:lnTo>
                    <a:pt x="149026" y="132468"/>
                  </a:lnTo>
                  <a:lnTo>
                    <a:pt x="146852" y="132109"/>
                  </a:lnTo>
                  <a:lnTo>
                    <a:pt x="141951" y="132468"/>
                  </a:lnTo>
                  <a:lnTo>
                    <a:pt x="139863" y="132109"/>
                  </a:lnTo>
                  <a:lnTo>
                    <a:pt x="137717" y="131386"/>
                  </a:lnTo>
                  <a:lnTo>
                    <a:pt x="136354" y="132109"/>
                  </a:lnTo>
                  <a:lnTo>
                    <a:pt x="81344" y="132109"/>
                  </a:lnTo>
                  <a:lnTo>
                    <a:pt x="78538" y="132468"/>
                  </a:lnTo>
                  <a:lnTo>
                    <a:pt x="75371" y="132468"/>
                  </a:lnTo>
                  <a:lnTo>
                    <a:pt x="66948" y="133548"/>
                  </a:lnTo>
                  <a:lnTo>
                    <a:pt x="58454" y="133548"/>
                  </a:lnTo>
                  <a:lnTo>
                    <a:pt x="56005" y="133907"/>
                  </a:lnTo>
                  <a:lnTo>
                    <a:pt x="50750" y="133187"/>
                  </a:lnTo>
                  <a:lnTo>
                    <a:pt x="46144" y="132109"/>
                  </a:lnTo>
                  <a:lnTo>
                    <a:pt x="45424" y="130021"/>
                  </a:lnTo>
                  <a:lnTo>
                    <a:pt x="45064" y="127933"/>
                  </a:lnTo>
                  <a:lnTo>
                    <a:pt x="45064" y="126132"/>
                  </a:lnTo>
                  <a:lnTo>
                    <a:pt x="46144" y="125773"/>
                  </a:lnTo>
                  <a:lnTo>
                    <a:pt x="46144" y="121236"/>
                  </a:lnTo>
                  <a:lnTo>
                    <a:pt x="46861" y="119435"/>
                  </a:lnTo>
                  <a:lnTo>
                    <a:pt x="48230" y="119076"/>
                  </a:lnTo>
                  <a:lnTo>
                    <a:pt x="67956" y="55359"/>
                  </a:lnTo>
                  <a:lnTo>
                    <a:pt x="68317" y="52489"/>
                  </a:lnTo>
                  <a:lnTo>
                    <a:pt x="69395" y="50053"/>
                  </a:lnTo>
                  <a:lnTo>
                    <a:pt x="69757" y="47588"/>
                  </a:lnTo>
                  <a:lnTo>
                    <a:pt x="70836" y="45499"/>
                  </a:lnTo>
                  <a:lnTo>
                    <a:pt x="71123" y="42976"/>
                  </a:lnTo>
                  <a:lnTo>
                    <a:pt x="72204" y="40540"/>
                  </a:lnTo>
                  <a:lnTo>
                    <a:pt x="72563" y="38453"/>
                  </a:lnTo>
                  <a:lnTo>
                    <a:pt x="73643" y="36277"/>
                  </a:lnTo>
                  <a:lnTo>
                    <a:pt x="75731" y="29317"/>
                  </a:lnTo>
                  <a:lnTo>
                    <a:pt x="79979" y="19719"/>
                  </a:lnTo>
                  <a:lnTo>
                    <a:pt x="81344" y="17631"/>
                  </a:lnTo>
                  <a:lnTo>
                    <a:pt x="98974" y="15543"/>
                  </a:lnTo>
                  <a:lnTo>
                    <a:pt x="98974" y="16935"/>
                  </a:lnTo>
                  <a:lnTo>
                    <a:pt x="101062" y="15543"/>
                  </a:lnTo>
                  <a:lnTo>
                    <a:pt x="102859" y="16558"/>
                  </a:lnTo>
                  <a:lnTo>
                    <a:pt x="105324" y="16935"/>
                  </a:lnTo>
                  <a:lnTo>
                    <a:pt x="107762" y="16558"/>
                  </a:lnTo>
                  <a:lnTo>
                    <a:pt x="109936" y="15543"/>
                  </a:lnTo>
                  <a:lnTo>
                    <a:pt x="110921" y="13397"/>
                  </a:lnTo>
                  <a:lnTo>
                    <a:pt x="114460" y="11309"/>
                  </a:lnTo>
                  <a:lnTo>
                    <a:pt x="106746" y="10236"/>
                  </a:lnTo>
                  <a:lnTo>
                    <a:pt x="104253" y="10236"/>
                  </a:lnTo>
                  <a:lnTo>
                    <a:pt x="101439" y="9859"/>
                  </a:lnTo>
                  <a:lnTo>
                    <a:pt x="99350" y="9859"/>
                  </a:lnTo>
                  <a:lnTo>
                    <a:pt x="96535" y="10236"/>
                  </a:lnTo>
                  <a:lnTo>
                    <a:pt x="94377" y="11309"/>
                  </a:lnTo>
                  <a:lnTo>
                    <a:pt x="90201" y="11309"/>
                  </a:lnTo>
                  <a:lnTo>
                    <a:pt x="88400" y="10236"/>
                  </a:lnTo>
                  <a:lnTo>
                    <a:pt x="84874" y="11657"/>
                  </a:lnTo>
                  <a:lnTo>
                    <a:pt x="83506" y="11309"/>
                  </a:lnTo>
                  <a:lnTo>
                    <a:pt x="54927" y="11309"/>
                  </a:lnTo>
                  <a:lnTo>
                    <a:pt x="51757" y="20821"/>
                  </a:lnTo>
                  <a:lnTo>
                    <a:pt x="51111" y="24330"/>
                  </a:lnTo>
                  <a:lnTo>
                    <a:pt x="47943" y="34189"/>
                  </a:lnTo>
                  <a:lnTo>
                    <a:pt x="47222" y="37727"/>
                  </a:lnTo>
                  <a:lnTo>
                    <a:pt x="44055" y="47240"/>
                  </a:lnTo>
                  <a:lnTo>
                    <a:pt x="43336" y="50747"/>
                  </a:lnTo>
                  <a:lnTo>
                    <a:pt x="42257" y="53938"/>
                  </a:lnTo>
                  <a:lnTo>
                    <a:pt x="41535" y="57447"/>
                  </a:lnTo>
                  <a:lnTo>
                    <a:pt x="40529" y="60608"/>
                  </a:lnTo>
                  <a:lnTo>
                    <a:pt x="39809" y="64146"/>
                  </a:lnTo>
                  <a:lnTo>
                    <a:pt x="36640" y="73657"/>
                  </a:lnTo>
                  <a:lnTo>
                    <a:pt x="35920" y="77166"/>
                  </a:lnTo>
                  <a:lnTo>
                    <a:pt x="34912" y="80356"/>
                  </a:lnTo>
                  <a:lnTo>
                    <a:pt x="34192" y="83865"/>
                  </a:lnTo>
                  <a:lnTo>
                    <a:pt x="33113" y="87055"/>
                  </a:lnTo>
                  <a:lnTo>
                    <a:pt x="32395" y="90564"/>
                  </a:lnTo>
                  <a:lnTo>
                    <a:pt x="31385" y="93725"/>
                  </a:lnTo>
                  <a:lnTo>
                    <a:pt x="30666" y="96914"/>
                  </a:lnTo>
                  <a:lnTo>
                    <a:pt x="29584" y="100075"/>
                  </a:lnTo>
                  <a:lnTo>
                    <a:pt x="28865" y="103614"/>
                  </a:lnTo>
                  <a:lnTo>
                    <a:pt x="27859" y="106775"/>
                  </a:lnTo>
                  <a:lnTo>
                    <a:pt x="25698" y="116988"/>
                  </a:lnTo>
                  <a:lnTo>
                    <a:pt x="22532" y="126491"/>
                  </a:lnTo>
                  <a:lnTo>
                    <a:pt x="21809" y="130021"/>
                  </a:lnTo>
                  <a:lnTo>
                    <a:pt x="20803" y="133187"/>
                  </a:lnTo>
                  <a:lnTo>
                    <a:pt x="20085" y="136714"/>
                  </a:lnTo>
                  <a:lnTo>
                    <a:pt x="19003" y="139884"/>
                  </a:lnTo>
                  <a:lnTo>
                    <a:pt x="18356" y="143409"/>
                  </a:lnTo>
                  <a:lnTo>
                    <a:pt x="17274" y="146577"/>
                  </a:lnTo>
                  <a:lnTo>
                    <a:pt x="15189" y="156799"/>
                  </a:lnTo>
                  <a:lnTo>
                    <a:pt x="14107" y="159969"/>
                  </a:lnTo>
                  <a:lnTo>
                    <a:pt x="11946" y="170550"/>
                  </a:lnTo>
                  <a:lnTo>
                    <a:pt x="10941" y="173718"/>
                  </a:lnTo>
                  <a:lnTo>
                    <a:pt x="8780" y="183866"/>
                  </a:lnTo>
                  <a:lnTo>
                    <a:pt x="7774" y="187106"/>
                  </a:lnTo>
                  <a:lnTo>
                    <a:pt x="5613" y="197258"/>
                  </a:lnTo>
                  <a:lnTo>
                    <a:pt x="4605" y="200426"/>
                  </a:lnTo>
                  <a:lnTo>
                    <a:pt x="358" y="221230"/>
                  </a:lnTo>
                  <a:lnTo>
                    <a:pt x="0" y="224759"/>
                  </a:lnTo>
                  <a:lnTo>
                    <a:pt x="37362" y="224759"/>
                  </a:lnTo>
                  <a:lnTo>
                    <a:pt x="37362" y="225118"/>
                  </a:lnTo>
                  <a:lnTo>
                    <a:pt x="38369" y="224759"/>
                  </a:lnTo>
                  <a:lnTo>
                    <a:pt x="38728" y="224036"/>
                  </a:lnTo>
                  <a:lnTo>
                    <a:pt x="39447" y="224759"/>
                  </a:lnTo>
                  <a:lnTo>
                    <a:pt x="102511" y="224759"/>
                  </a:lnTo>
                  <a:lnTo>
                    <a:pt x="105672" y="225118"/>
                  </a:lnTo>
                  <a:lnTo>
                    <a:pt x="125769" y="225118"/>
                  </a:lnTo>
                  <a:lnTo>
                    <a:pt x="128930" y="225478"/>
                  </a:lnTo>
                  <a:lnTo>
                    <a:pt x="174721" y="225478"/>
                  </a:lnTo>
                  <a:lnTo>
                    <a:pt x="177156" y="225118"/>
                  </a:lnTo>
                  <a:lnTo>
                    <a:pt x="197252" y="225118"/>
                  </a:lnTo>
                  <a:lnTo>
                    <a:pt x="199689" y="224759"/>
                  </a:lnTo>
                  <a:lnTo>
                    <a:pt x="708657" y="224759"/>
                  </a:lnTo>
                  <a:lnTo>
                    <a:pt x="704481" y="202586"/>
                  </a:lnTo>
                  <a:lnTo>
                    <a:pt x="702335" y="193083"/>
                  </a:lnTo>
                  <a:lnTo>
                    <a:pt x="701958" y="189917"/>
                  </a:lnTo>
                  <a:lnTo>
                    <a:pt x="701320" y="186747"/>
                  </a:lnTo>
                  <a:lnTo>
                    <a:pt x="700972" y="183579"/>
                  </a:lnTo>
                  <a:lnTo>
                    <a:pt x="700247" y="180413"/>
                  </a:lnTo>
                  <a:lnTo>
                    <a:pt x="699870" y="177533"/>
                  </a:lnTo>
                  <a:lnTo>
                    <a:pt x="697782" y="168031"/>
                  </a:lnTo>
                  <a:lnTo>
                    <a:pt x="697434" y="164863"/>
                  </a:lnTo>
                  <a:lnTo>
                    <a:pt x="696709" y="161693"/>
                  </a:lnTo>
                  <a:lnTo>
                    <a:pt x="696361" y="158527"/>
                  </a:lnTo>
                  <a:lnTo>
                    <a:pt x="695636" y="155361"/>
                  </a:lnTo>
                  <a:lnTo>
                    <a:pt x="695346" y="152553"/>
                  </a:lnTo>
                  <a:lnTo>
                    <a:pt x="693171" y="143050"/>
                  </a:lnTo>
                  <a:lnTo>
                    <a:pt x="692823" y="139884"/>
                  </a:lnTo>
                  <a:lnTo>
                    <a:pt x="692099" y="136714"/>
                  </a:lnTo>
                  <a:lnTo>
                    <a:pt x="691808" y="133548"/>
                  </a:lnTo>
                  <a:lnTo>
                    <a:pt x="691083" y="130380"/>
                  </a:lnTo>
                  <a:lnTo>
                    <a:pt x="690736" y="127574"/>
                  </a:lnTo>
                  <a:lnTo>
                    <a:pt x="690010" y="124404"/>
                  </a:lnTo>
                  <a:lnTo>
                    <a:pt x="689662" y="121236"/>
                  </a:lnTo>
                  <a:lnTo>
                    <a:pt x="688938" y="118070"/>
                  </a:lnTo>
                  <a:lnTo>
                    <a:pt x="688647" y="114837"/>
                  </a:lnTo>
                  <a:lnTo>
                    <a:pt x="687923" y="111676"/>
                  </a:lnTo>
                  <a:lnTo>
                    <a:pt x="687575" y="108485"/>
                  </a:lnTo>
                  <a:lnTo>
                    <a:pt x="686849" y="105324"/>
                  </a:lnTo>
                  <a:lnTo>
                    <a:pt x="686501" y="102511"/>
                  </a:lnTo>
                  <a:lnTo>
                    <a:pt x="685486" y="99352"/>
                  </a:lnTo>
                  <a:lnTo>
                    <a:pt x="685110" y="96191"/>
                  </a:lnTo>
                  <a:lnTo>
                    <a:pt x="684414" y="93030"/>
                  </a:lnTo>
                  <a:lnTo>
                    <a:pt x="684035" y="89839"/>
                  </a:lnTo>
                  <a:lnTo>
                    <a:pt x="683312" y="86678"/>
                  </a:lnTo>
                  <a:lnTo>
                    <a:pt x="682964" y="83517"/>
                  </a:lnTo>
                  <a:lnTo>
                    <a:pt x="682238" y="80356"/>
                  </a:lnTo>
                  <a:lnTo>
                    <a:pt x="681949" y="77166"/>
                  </a:lnTo>
                  <a:lnTo>
                    <a:pt x="680876" y="74005"/>
                  </a:lnTo>
                  <a:lnTo>
                    <a:pt x="680528" y="70845"/>
                  </a:lnTo>
                  <a:lnTo>
                    <a:pt x="679803" y="67684"/>
                  </a:lnTo>
                  <a:lnTo>
                    <a:pt x="678788" y="61333"/>
                  </a:lnTo>
                  <a:lnTo>
                    <a:pt x="678440" y="58172"/>
                  </a:lnTo>
                  <a:lnTo>
                    <a:pt x="677715" y="55011"/>
                  </a:lnTo>
                  <a:lnTo>
                    <a:pt x="677337" y="51850"/>
                  </a:lnTo>
                  <a:lnTo>
                    <a:pt x="676612" y="48660"/>
                  </a:lnTo>
                  <a:lnTo>
                    <a:pt x="676264" y="45499"/>
                  </a:lnTo>
                  <a:lnTo>
                    <a:pt x="675627" y="42339"/>
                  </a:lnTo>
                  <a:lnTo>
                    <a:pt x="675250" y="39178"/>
                  </a:lnTo>
                  <a:lnTo>
                    <a:pt x="674554" y="35987"/>
                  </a:lnTo>
                  <a:lnTo>
                    <a:pt x="674176" y="32768"/>
                  </a:lnTo>
                  <a:lnTo>
                    <a:pt x="673451" y="29607"/>
                  </a:lnTo>
                  <a:lnTo>
                    <a:pt x="673103" y="26795"/>
                  </a:lnTo>
                  <a:lnTo>
                    <a:pt x="672378" y="23634"/>
                  </a:lnTo>
                  <a:lnTo>
                    <a:pt x="672089" y="20444"/>
                  </a:lnTo>
                  <a:lnTo>
                    <a:pt x="671363" y="17283"/>
                  </a:lnTo>
                  <a:lnTo>
                    <a:pt x="671015" y="14470"/>
                  </a:lnTo>
                  <a:lnTo>
                    <a:pt x="670290" y="11309"/>
                  </a:lnTo>
                  <a:lnTo>
                    <a:pt x="669942" y="8496"/>
                  </a:lnTo>
                  <a:lnTo>
                    <a:pt x="669217" y="5335"/>
                  </a:lnTo>
                  <a:lnTo>
                    <a:pt x="669217" y="2522"/>
                  </a:lnTo>
                  <a:lnTo>
                    <a:pt x="666404" y="1797"/>
                  </a:lnTo>
                  <a:lnTo>
                    <a:pt x="660778" y="1101"/>
                  </a:lnTo>
                  <a:lnTo>
                    <a:pt x="647033" y="1101"/>
                  </a:lnTo>
                  <a:lnTo>
                    <a:pt x="643873" y="725"/>
                  </a:lnTo>
                  <a:lnTo>
                    <a:pt x="636158" y="725"/>
                  </a:lnTo>
                  <a:lnTo>
                    <a:pt x="633636" y="377"/>
                  </a:lnTo>
                  <a:lnTo>
                    <a:pt x="631200" y="377"/>
                  </a:lnTo>
                  <a:lnTo>
                    <a:pt x="629112" y="0"/>
                  </a:lnTo>
                  <a:close/>
                </a:path>
              </a:pathLst>
            </a:custGeom>
            <a:solidFill>
              <a:srgbClr val="C999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51372" y="2189592"/>
              <a:ext cx="384992" cy="14513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088739" y="2267485"/>
              <a:ext cx="283210" cy="97155"/>
            </a:xfrm>
            <a:custGeom>
              <a:avLst/>
              <a:gdLst/>
              <a:ahLst/>
              <a:cxnLst/>
              <a:rect l="l" t="t" r="r" b="b"/>
              <a:pathLst>
                <a:path w="283209" h="97155">
                  <a:moveTo>
                    <a:pt x="45123" y="0"/>
                  </a:moveTo>
                  <a:lnTo>
                    <a:pt x="41584" y="1362"/>
                  </a:lnTo>
                  <a:lnTo>
                    <a:pt x="38075" y="3190"/>
                  </a:lnTo>
                  <a:lnTo>
                    <a:pt x="34537" y="4552"/>
                  </a:lnTo>
                  <a:lnTo>
                    <a:pt x="31377" y="6699"/>
                  </a:lnTo>
                  <a:lnTo>
                    <a:pt x="27838" y="8061"/>
                  </a:lnTo>
                  <a:lnTo>
                    <a:pt x="24330" y="10149"/>
                  </a:lnTo>
                  <a:lnTo>
                    <a:pt x="12005" y="18646"/>
                  </a:lnTo>
                  <a:lnTo>
                    <a:pt x="9135" y="21111"/>
                  </a:lnTo>
                  <a:lnTo>
                    <a:pt x="7045" y="24272"/>
                  </a:lnTo>
                  <a:lnTo>
                    <a:pt x="4959" y="26708"/>
                  </a:lnTo>
                  <a:lnTo>
                    <a:pt x="1798" y="33413"/>
                  </a:lnTo>
                  <a:lnTo>
                    <a:pt x="1073" y="37298"/>
                  </a:lnTo>
                  <a:lnTo>
                    <a:pt x="0" y="40106"/>
                  </a:lnTo>
                  <a:lnTo>
                    <a:pt x="0" y="46155"/>
                  </a:lnTo>
                  <a:lnTo>
                    <a:pt x="1798" y="51409"/>
                  </a:lnTo>
                  <a:lnTo>
                    <a:pt x="27838" y="73223"/>
                  </a:lnTo>
                  <a:lnTo>
                    <a:pt x="31029" y="75380"/>
                  </a:lnTo>
                  <a:lnTo>
                    <a:pt x="72179" y="88773"/>
                  </a:lnTo>
                  <a:lnTo>
                    <a:pt x="141951" y="96834"/>
                  </a:lnTo>
                  <a:lnTo>
                    <a:pt x="145112" y="96116"/>
                  </a:lnTo>
                  <a:lnTo>
                    <a:pt x="148650" y="96116"/>
                  </a:lnTo>
                  <a:lnTo>
                    <a:pt x="152158" y="95468"/>
                  </a:lnTo>
                  <a:lnTo>
                    <a:pt x="155698" y="95468"/>
                  </a:lnTo>
                  <a:lnTo>
                    <a:pt x="158859" y="94747"/>
                  </a:lnTo>
                  <a:lnTo>
                    <a:pt x="162396" y="94747"/>
                  </a:lnTo>
                  <a:lnTo>
                    <a:pt x="165934" y="94028"/>
                  </a:lnTo>
                  <a:lnTo>
                    <a:pt x="169443" y="94028"/>
                  </a:lnTo>
                  <a:lnTo>
                    <a:pt x="172633" y="93308"/>
                  </a:lnTo>
                  <a:lnTo>
                    <a:pt x="182840" y="92226"/>
                  </a:lnTo>
                  <a:lnTo>
                    <a:pt x="186001" y="91579"/>
                  </a:lnTo>
                  <a:lnTo>
                    <a:pt x="196528" y="90501"/>
                  </a:lnTo>
                  <a:lnTo>
                    <a:pt x="199689" y="89419"/>
                  </a:lnTo>
                  <a:lnTo>
                    <a:pt x="209259" y="87331"/>
                  </a:lnTo>
                  <a:lnTo>
                    <a:pt x="212420" y="86253"/>
                  </a:lnTo>
                  <a:lnTo>
                    <a:pt x="222279" y="84165"/>
                  </a:lnTo>
                  <a:lnTo>
                    <a:pt x="234952" y="79916"/>
                  </a:lnTo>
                  <a:lnTo>
                    <a:pt x="244464" y="75744"/>
                  </a:lnTo>
                  <a:lnTo>
                    <a:pt x="247625" y="74662"/>
                  </a:lnTo>
                  <a:lnTo>
                    <a:pt x="249713" y="72504"/>
                  </a:lnTo>
                  <a:lnTo>
                    <a:pt x="252526" y="71135"/>
                  </a:lnTo>
                  <a:lnTo>
                    <a:pt x="255049" y="69047"/>
                  </a:lnTo>
                  <a:lnTo>
                    <a:pt x="257862" y="67605"/>
                  </a:lnTo>
                  <a:lnTo>
                    <a:pt x="263110" y="64080"/>
                  </a:lnTo>
                  <a:lnTo>
                    <a:pt x="265546" y="61992"/>
                  </a:lnTo>
                  <a:lnTo>
                    <a:pt x="268446" y="60194"/>
                  </a:lnTo>
                  <a:lnTo>
                    <a:pt x="270535" y="57743"/>
                  </a:lnTo>
                  <a:lnTo>
                    <a:pt x="272971" y="55659"/>
                  </a:lnTo>
                  <a:lnTo>
                    <a:pt x="277233" y="50690"/>
                  </a:lnTo>
                  <a:lnTo>
                    <a:pt x="278597" y="47884"/>
                  </a:lnTo>
                  <a:lnTo>
                    <a:pt x="280394" y="45435"/>
                  </a:lnTo>
                  <a:lnTo>
                    <a:pt x="281467" y="42266"/>
                  </a:lnTo>
                  <a:lnTo>
                    <a:pt x="282831" y="39458"/>
                  </a:lnTo>
                  <a:lnTo>
                    <a:pt x="282483" y="35933"/>
                  </a:lnTo>
                  <a:lnTo>
                    <a:pt x="281757" y="32769"/>
                  </a:lnTo>
                  <a:lnTo>
                    <a:pt x="279670" y="26708"/>
                  </a:lnTo>
                  <a:lnTo>
                    <a:pt x="277929" y="23547"/>
                  </a:lnTo>
                  <a:lnTo>
                    <a:pt x="274044" y="19023"/>
                  </a:lnTo>
                  <a:lnTo>
                    <a:pt x="269085" y="15485"/>
                  </a:lnTo>
                  <a:lnTo>
                    <a:pt x="264184" y="11252"/>
                  </a:lnTo>
                  <a:lnTo>
                    <a:pt x="256065" y="5278"/>
                  </a:lnTo>
                  <a:lnTo>
                    <a:pt x="250090" y="2087"/>
                  </a:lnTo>
                  <a:lnTo>
                    <a:pt x="250438" y="4175"/>
                  </a:lnTo>
                  <a:lnTo>
                    <a:pt x="251162" y="6699"/>
                  </a:lnTo>
                  <a:lnTo>
                    <a:pt x="251510" y="9164"/>
                  </a:lnTo>
                  <a:lnTo>
                    <a:pt x="252178" y="11600"/>
                  </a:lnTo>
                  <a:lnTo>
                    <a:pt x="252178" y="13340"/>
                  </a:lnTo>
                  <a:lnTo>
                    <a:pt x="252873" y="15485"/>
                  </a:lnTo>
                  <a:lnTo>
                    <a:pt x="253251" y="17574"/>
                  </a:lnTo>
                  <a:lnTo>
                    <a:pt x="254323" y="19748"/>
                  </a:lnTo>
                  <a:lnTo>
                    <a:pt x="253251" y="22184"/>
                  </a:lnTo>
                  <a:lnTo>
                    <a:pt x="253251" y="24997"/>
                  </a:lnTo>
                  <a:lnTo>
                    <a:pt x="253599" y="27433"/>
                  </a:lnTo>
                  <a:lnTo>
                    <a:pt x="255049" y="33773"/>
                  </a:lnTo>
                  <a:lnTo>
                    <a:pt x="254323" y="37298"/>
                  </a:lnTo>
                  <a:lnTo>
                    <a:pt x="252178" y="38021"/>
                  </a:lnTo>
                  <a:lnTo>
                    <a:pt x="250090" y="37298"/>
                  </a:lnTo>
                  <a:lnTo>
                    <a:pt x="250090" y="41548"/>
                  </a:lnTo>
                  <a:lnTo>
                    <a:pt x="247625" y="41548"/>
                  </a:lnTo>
                  <a:lnTo>
                    <a:pt x="243739" y="42915"/>
                  </a:lnTo>
                  <a:lnTo>
                    <a:pt x="240230" y="46155"/>
                  </a:lnTo>
                  <a:lnTo>
                    <a:pt x="238838" y="48243"/>
                  </a:lnTo>
                  <a:lnTo>
                    <a:pt x="236692" y="49608"/>
                  </a:lnTo>
                  <a:lnTo>
                    <a:pt x="234952" y="51050"/>
                  </a:lnTo>
                  <a:lnTo>
                    <a:pt x="232807" y="52129"/>
                  </a:lnTo>
                  <a:lnTo>
                    <a:pt x="230718" y="53497"/>
                  </a:lnTo>
                  <a:lnTo>
                    <a:pt x="228253" y="54576"/>
                  </a:lnTo>
                  <a:lnTo>
                    <a:pt x="223295" y="57383"/>
                  </a:lnTo>
                  <a:lnTo>
                    <a:pt x="221207" y="59184"/>
                  </a:lnTo>
                  <a:lnTo>
                    <a:pt x="206388" y="63360"/>
                  </a:lnTo>
                  <a:lnTo>
                    <a:pt x="202561" y="64080"/>
                  </a:lnTo>
                  <a:lnTo>
                    <a:pt x="195165" y="66168"/>
                  </a:lnTo>
                  <a:lnTo>
                    <a:pt x="191975" y="67246"/>
                  </a:lnTo>
                  <a:lnTo>
                    <a:pt x="188089" y="67605"/>
                  </a:lnTo>
                  <a:lnTo>
                    <a:pt x="184580" y="68687"/>
                  </a:lnTo>
                  <a:lnTo>
                    <a:pt x="181042" y="69047"/>
                  </a:lnTo>
                  <a:lnTo>
                    <a:pt x="177881" y="70054"/>
                  </a:lnTo>
                  <a:lnTo>
                    <a:pt x="173996" y="70416"/>
                  </a:lnTo>
                  <a:lnTo>
                    <a:pt x="170458" y="71135"/>
                  </a:lnTo>
                  <a:lnTo>
                    <a:pt x="166919" y="71494"/>
                  </a:lnTo>
                  <a:lnTo>
                    <a:pt x="163758" y="72214"/>
                  </a:lnTo>
                  <a:lnTo>
                    <a:pt x="159960" y="72214"/>
                  </a:lnTo>
                  <a:lnTo>
                    <a:pt x="149724" y="73223"/>
                  </a:lnTo>
                  <a:lnTo>
                    <a:pt x="145837" y="73223"/>
                  </a:lnTo>
                  <a:lnTo>
                    <a:pt x="142299" y="73583"/>
                  </a:lnTo>
                  <a:lnTo>
                    <a:pt x="138790" y="73583"/>
                  </a:lnTo>
                  <a:lnTo>
                    <a:pt x="135629" y="73941"/>
                  </a:lnTo>
                  <a:lnTo>
                    <a:pt x="131714" y="73583"/>
                  </a:lnTo>
                  <a:lnTo>
                    <a:pt x="121159" y="73583"/>
                  </a:lnTo>
                  <a:lnTo>
                    <a:pt x="110284" y="72504"/>
                  </a:lnTo>
                  <a:lnTo>
                    <a:pt x="106746" y="72504"/>
                  </a:lnTo>
                  <a:lnTo>
                    <a:pt x="101410" y="71494"/>
                  </a:lnTo>
                  <a:lnTo>
                    <a:pt x="98974" y="70775"/>
                  </a:lnTo>
                  <a:lnTo>
                    <a:pt x="96887" y="70416"/>
                  </a:lnTo>
                  <a:lnTo>
                    <a:pt x="94451" y="69693"/>
                  </a:lnTo>
                  <a:lnTo>
                    <a:pt x="91927" y="69334"/>
                  </a:lnTo>
                  <a:lnTo>
                    <a:pt x="89839" y="68687"/>
                  </a:lnTo>
                  <a:lnTo>
                    <a:pt x="87751" y="68328"/>
                  </a:lnTo>
                  <a:lnTo>
                    <a:pt x="81052" y="66168"/>
                  </a:lnTo>
                  <a:lnTo>
                    <a:pt x="78878" y="65881"/>
                  </a:lnTo>
                  <a:lnTo>
                    <a:pt x="76790" y="64799"/>
                  </a:lnTo>
                  <a:lnTo>
                    <a:pt x="74992" y="64439"/>
                  </a:lnTo>
                  <a:lnTo>
                    <a:pt x="72904" y="63360"/>
                  </a:lnTo>
                  <a:lnTo>
                    <a:pt x="71193" y="63000"/>
                  </a:lnTo>
                  <a:lnTo>
                    <a:pt x="64842" y="59832"/>
                  </a:lnTo>
                  <a:lnTo>
                    <a:pt x="63044" y="59184"/>
                  </a:lnTo>
                  <a:lnTo>
                    <a:pt x="51734" y="52489"/>
                  </a:lnTo>
                  <a:lnTo>
                    <a:pt x="48284" y="49968"/>
                  </a:lnTo>
                  <a:lnTo>
                    <a:pt x="40888" y="43995"/>
                  </a:lnTo>
                  <a:lnTo>
                    <a:pt x="40888" y="40106"/>
                  </a:lnTo>
                  <a:lnTo>
                    <a:pt x="41584" y="36292"/>
                  </a:lnTo>
                  <a:lnTo>
                    <a:pt x="41584" y="32769"/>
                  </a:lnTo>
                  <a:lnTo>
                    <a:pt x="40888" y="30594"/>
                  </a:lnTo>
                  <a:lnTo>
                    <a:pt x="40888" y="20010"/>
                  </a:lnTo>
                  <a:lnTo>
                    <a:pt x="41875" y="14413"/>
                  </a:lnTo>
                  <a:lnTo>
                    <a:pt x="41875" y="12325"/>
                  </a:lnTo>
                  <a:lnTo>
                    <a:pt x="42599" y="10149"/>
                  </a:lnTo>
                  <a:lnTo>
                    <a:pt x="42599" y="8439"/>
                  </a:lnTo>
                  <a:lnTo>
                    <a:pt x="43324" y="6699"/>
                  </a:lnTo>
                  <a:lnTo>
                    <a:pt x="44049" y="3190"/>
                  </a:lnTo>
                  <a:lnTo>
                    <a:pt x="45123" y="0"/>
                  </a:lnTo>
                  <a:close/>
                </a:path>
              </a:pathLst>
            </a:custGeom>
            <a:solidFill>
              <a:srgbClr val="D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97508" y="2271661"/>
              <a:ext cx="50800" cy="16510"/>
            </a:xfrm>
            <a:custGeom>
              <a:avLst/>
              <a:gdLst/>
              <a:ahLst/>
              <a:cxnLst/>
              <a:rect l="l" t="t" r="r" b="b"/>
              <a:pathLst>
                <a:path w="50800" h="16510">
                  <a:moveTo>
                    <a:pt x="0" y="0"/>
                  </a:moveTo>
                  <a:lnTo>
                    <a:pt x="0" y="4611"/>
                  </a:lnTo>
                  <a:lnTo>
                    <a:pt x="2087" y="7076"/>
                  </a:lnTo>
                  <a:lnTo>
                    <a:pt x="5626" y="9512"/>
                  </a:lnTo>
                  <a:lnTo>
                    <a:pt x="7423" y="10237"/>
                  </a:lnTo>
                  <a:lnTo>
                    <a:pt x="10961" y="12382"/>
                  </a:lnTo>
                  <a:lnTo>
                    <a:pt x="13049" y="13398"/>
                  </a:lnTo>
                  <a:lnTo>
                    <a:pt x="15485" y="13398"/>
                  </a:lnTo>
                  <a:lnTo>
                    <a:pt x="15485" y="15572"/>
                  </a:lnTo>
                  <a:lnTo>
                    <a:pt x="17660" y="15572"/>
                  </a:lnTo>
                  <a:lnTo>
                    <a:pt x="20096" y="15834"/>
                  </a:lnTo>
                  <a:lnTo>
                    <a:pt x="22184" y="15834"/>
                  </a:lnTo>
                  <a:lnTo>
                    <a:pt x="24707" y="16210"/>
                  </a:lnTo>
                  <a:lnTo>
                    <a:pt x="26794" y="15834"/>
                  </a:lnTo>
                  <a:lnTo>
                    <a:pt x="28883" y="15834"/>
                  </a:lnTo>
                  <a:lnTo>
                    <a:pt x="33493" y="15195"/>
                  </a:lnTo>
                  <a:lnTo>
                    <a:pt x="39815" y="13050"/>
                  </a:lnTo>
                  <a:lnTo>
                    <a:pt x="41903" y="12673"/>
                  </a:lnTo>
                  <a:lnTo>
                    <a:pt x="44077" y="11657"/>
                  </a:lnTo>
                  <a:lnTo>
                    <a:pt x="48254" y="9512"/>
                  </a:lnTo>
                  <a:lnTo>
                    <a:pt x="50747" y="8873"/>
                  </a:lnTo>
                  <a:lnTo>
                    <a:pt x="50747" y="6699"/>
                  </a:lnTo>
                  <a:lnTo>
                    <a:pt x="48254" y="7772"/>
                  </a:lnTo>
                  <a:lnTo>
                    <a:pt x="46167" y="8873"/>
                  </a:lnTo>
                  <a:lnTo>
                    <a:pt x="43701" y="9512"/>
                  </a:lnTo>
                  <a:lnTo>
                    <a:pt x="41903" y="10961"/>
                  </a:lnTo>
                  <a:lnTo>
                    <a:pt x="39815" y="9860"/>
                  </a:lnTo>
                  <a:lnTo>
                    <a:pt x="33841" y="9860"/>
                  </a:lnTo>
                  <a:lnTo>
                    <a:pt x="31696" y="9512"/>
                  </a:lnTo>
                  <a:lnTo>
                    <a:pt x="29607" y="9512"/>
                  </a:lnTo>
                  <a:lnTo>
                    <a:pt x="26418" y="8873"/>
                  </a:lnTo>
                  <a:lnTo>
                    <a:pt x="15485" y="8873"/>
                  </a:lnTo>
                  <a:lnTo>
                    <a:pt x="10961" y="6699"/>
                  </a:lnTo>
                  <a:lnTo>
                    <a:pt x="9163" y="4263"/>
                  </a:lnTo>
                  <a:lnTo>
                    <a:pt x="5974" y="3190"/>
                  </a:lnTo>
                  <a:lnTo>
                    <a:pt x="2465" y="2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087725" y="2324510"/>
              <a:ext cx="281940" cy="54610"/>
            </a:xfrm>
            <a:custGeom>
              <a:avLst/>
              <a:gdLst/>
              <a:ahLst/>
              <a:cxnLst/>
              <a:rect l="l" t="t" r="r" b="b"/>
              <a:pathLst>
                <a:path w="281940" h="54610">
                  <a:moveTo>
                    <a:pt x="281757" y="0"/>
                  </a:moveTo>
                  <a:lnTo>
                    <a:pt x="278944" y="2807"/>
                  </a:lnTo>
                  <a:lnTo>
                    <a:pt x="276161" y="5976"/>
                  </a:lnTo>
                  <a:lnTo>
                    <a:pt x="272912" y="8497"/>
                  </a:lnTo>
                  <a:lnTo>
                    <a:pt x="270099" y="11304"/>
                  </a:lnTo>
                  <a:lnTo>
                    <a:pt x="266272" y="13392"/>
                  </a:lnTo>
                  <a:lnTo>
                    <a:pt x="262762" y="15839"/>
                  </a:lnTo>
                  <a:lnTo>
                    <a:pt x="258876" y="17637"/>
                  </a:lnTo>
                  <a:lnTo>
                    <a:pt x="255338" y="19725"/>
                  </a:lnTo>
                  <a:lnTo>
                    <a:pt x="249712" y="22532"/>
                  </a:lnTo>
                  <a:lnTo>
                    <a:pt x="246842" y="23614"/>
                  </a:lnTo>
                  <a:lnTo>
                    <a:pt x="244406" y="25052"/>
                  </a:lnTo>
                  <a:lnTo>
                    <a:pt x="233154" y="29229"/>
                  </a:lnTo>
                  <a:lnTo>
                    <a:pt x="229993" y="29947"/>
                  </a:lnTo>
                  <a:lnTo>
                    <a:pt x="227122" y="31029"/>
                  </a:lnTo>
                  <a:lnTo>
                    <a:pt x="224309" y="31748"/>
                  </a:lnTo>
                  <a:lnTo>
                    <a:pt x="213434" y="35924"/>
                  </a:lnTo>
                  <a:lnTo>
                    <a:pt x="211288" y="37363"/>
                  </a:lnTo>
                  <a:lnTo>
                    <a:pt x="209200" y="37363"/>
                  </a:lnTo>
                  <a:lnTo>
                    <a:pt x="204938" y="38082"/>
                  </a:lnTo>
                  <a:lnTo>
                    <a:pt x="203227" y="38731"/>
                  </a:lnTo>
                  <a:lnTo>
                    <a:pt x="201052" y="38731"/>
                  </a:lnTo>
                  <a:lnTo>
                    <a:pt x="196876" y="39451"/>
                  </a:lnTo>
                  <a:lnTo>
                    <a:pt x="195078" y="40170"/>
                  </a:lnTo>
                  <a:lnTo>
                    <a:pt x="192990" y="40170"/>
                  </a:lnTo>
                  <a:lnTo>
                    <a:pt x="186668" y="41252"/>
                  </a:lnTo>
                  <a:lnTo>
                    <a:pt x="184494" y="41252"/>
                  </a:lnTo>
                  <a:lnTo>
                    <a:pt x="178520" y="42257"/>
                  </a:lnTo>
                  <a:lnTo>
                    <a:pt x="176430" y="42257"/>
                  </a:lnTo>
                  <a:lnTo>
                    <a:pt x="174285" y="42617"/>
                  </a:lnTo>
                  <a:lnTo>
                    <a:pt x="172198" y="42617"/>
                  </a:lnTo>
                  <a:lnTo>
                    <a:pt x="170110" y="42976"/>
                  </a:lnTo>
                  <a:lnTo>
                    <a:pt x="167934" y="42976"/>
                  </a:lnTo>
                  <a:lnTo>
                    <a:pt x="161960" y="44058"/>
                  </a:lnTo>
                  <a:lnTo>
                    <a:pt x="155638" y="44058"/>
                  </a:lnTo>
                  <a:lnTo>
                    <a:pt x="153551" y="44418"/>
                  </a:lnTo>
                  <a:lnTo>
                    <a:pt x="151376" y="44418"/>
                  </a:lnTo>
                  <a:lnTo>
                    <a:pt x="149288" y="44777"/>
                  </a:lnTo>
                  <a:lnTo>
                    <a:pt x="147200" y="44777"/>
                  </a:lnTo>
                  <a:lnTo>
                    <a:pt x="145402" y="45064"/>
                  </a:lnTo>
                  <a:lnTo>
                    <a:pt x="128496" y="45064"/>
                  </a:lnTo>
                  <a:lnTo>
                    <a:pt x="126408" y="44777"/>
                  </a:lnTo>
                  <a:lnTo>
                    <a:pt x="124320" y="44777"/>
                  </a:lnTo>
                  <a:lnTo>
                    <a:pt x="122174" y="44418"/>
                  </a:lnTo>
                  <a:lnTo>
                    <a:pt x="120434" y="44418"/>
                  </a:lnTo>
                  <a:lnTo>
                    <a:pt x="118346" y="44058"/>
                  </a:lnTo>
                  <a:lnTo>
                    <a:pt x="112284" y="44058"/>
                  </a:lnTo>
                  <a:lnTo>
                    <a:pt x="105963" y="42976"/>
                  </a:lnTo>
                  <a:lnTo>
                    <a:pt x="103875" y="42976"/>
                  </a:lnTo>
                  <a:lnTo>
                    <a:pt x="101786" y="42617"/>
                  </a:lnTo>
                  <a:lnTo>
                    <a:pt x="99989" y="42617"/>
                  </a:lnTo>
                  <a:lnTo>
                    <a:pt x="97901" y="42257"/>
                  </a:lnTo>
                  <a:lnTo>
                    <a:pt x="96103" y="42257"/>
                  </a:lnTo>
                  <a:lnTo>
                    <a:pt x="84880" y="40170"/>
                  </a:lnTo>
                  <a:lnTo>
                    <a:pt x="81342" y="39810"/>
                  </a:lnTo>
                  <a:lnTo>
                    <a:pt x="79197" y="39810"/>
                  </a:lnTo>
                  <a:lnTo>
                    <a:pt x="77109" y="38731"/>
                  </a:lnTo>
                  <a:lnTo>
                    <a:pt x="72845" y="37363"/>
                  </a:lnTo>
                  <a:lnTo>
                    <a:pt x="64435" y="35924"/>
                  </a:lnTo>
                  <a:lnTo>
                    <a:pt x="62638" y="35924"/>
                  </a:lnTo>
                  <a:lnTo>
                    <a:pt x="60549" y="35201"/>
                  </a:lnTo>
                  <a:lnTo>
                    <a:pt x="54199" y="34196"/>
                  </a:lnTo>
                  <a:lnTo>
                    <a:pt x="49965" y="32754"/>
                  </a:lnTo>
                  <a:lnTo>
                    <a:pt x="42599" y="29229"/>
                  </a:lnTo>
                  <a:lnTo>
                    <a:pt x="39438" y="28219"/>
                  </a:lnTo>
                  <a:lnTo>
                    <a:pt x="36277" y="26421"/>
                  </a:lnTo>
                  <a:lnTo>
                    <a:pt x="33030" y="25340"/>
                  </a:lnTo>
                  <a:lnTo>
                    <a:pt x="29869" y="23614"/>
                  </a:lnTo>
                  <a:lnTo>
                    <a:pt x="26708" y="22172"/>
                  </a:lnTo>
                  <a:lnTo>
                    <a:pt x="18268" y="16917"/>
                  </a:lnTo>
                  <a:lnTo>
                    <a:pt x="7336" y="8856"/>
                  </a:lnTo>
                  <a:lnTo>
                    <a:pt x="0" y="2160"/>
                  </a:lnTo>
                  <a:lnTo>
                    <a:pt x="1014" y="5617"/>
                  </a:lnTo>
                  <a:lnTo>
                    <a:pt x="15833" y="23254"/>
                  </a:lnTo>
                  <a:lnTo>
                    <a:pt x="31318" y="33117"/>
                  </a:lnTo>
                  <a:lnTo>
                    <a:pt x="37292" y="36283"/>
                  </a:lnTo>
                  <a:lnTo>
                    <a:pt x="43991" y="39451"/>
                  </a:lnTo>
                  <a:lnTo>
                    <a:pt x="51038" y="41898"/>
                  </a:lnTo>
                  <a:lnTo>
                    <a:pt x="53126" y="42257"/>
                  </a:lnTo>
                  <a:lnTo>
                    <a:pt x="55271" y="42976"/>
                  </a:lnTo>
                  <a:lnTo>
                    <a:pt x="57360" y="43340"/>
                  </a:lnTo>
                  <a:lnTo>
                    <a:pt x="59448" y="44058"/>
                  </a:lnTo>
                  <a:lnTo>
                    <a:pt x="63710" y="46146"/>
                  </a:lnTo>
                  <a:lnTo>
                    <a:pt x="67944" y="46146"/>
                  </a:lnTo>
                  <a:lnTo>
                    <a:pt x="70410" y="46865"/>
                  </a:lnTo>
                  <a:lnTo>
                    <a:pt x="72497" y="48594"/>
                  </a:lnTo>
                  <a:lnTo>
                    <a:pt x="75021" y="48594"/>
                  </a:lnTo>
                  <a:lnTo>
                    <a:pt x="77457" y="49314"/>
                  </a:lnTo>
                  <a:lnTo>
                    <a:pt x="79893" y="49314"/>
                  </a:lnTo>
                  <a:lnTo>
                    <a:pt x="82706" y="50032"/>
                  </a:lnTo>
                  <a:lnTo>
                    <a:pt x="85228" y="50032"/>
                  </a:lnTo>
                  <a:lnTo>
                    <a:pt x="88041" y="50754"/>
                  </a:lnTo>
                  <a:lnTo>
                    <a:pt x="90477" y="50754"/>
                  </a:lnTo>
                  <a:lnTo>
                    <a:pt x="93290" y="51474"/>
                  </a:lnTo>
                  <a:lnTo>
                    <a:pt x="95726" y="51474"/>
                  </a:lnTo>
                  <a:lnTo>
                    <a:pt x="103875" y="52480"/>
                  </a:lnTo>
                  <a:lnTo>
                    <a:pt x="106310" y="52480"/>
                  </a:lnTo>
                  <a:lnTo>
                    <a:pt x="114460" y="53562"/>
                  </a:lnTo>
                  <a:lnTo>
                    <a:pt x="121796" y="53562"/>
                  </a:lnTo>
                  <a:lnTo>
                    <a:pt x="124668" y="53921"/>
                  </a:lnTo>
                  <a:lnTo>
                    <a:pt x="132380" y="53921"/>
                  </a:lnTo>
                  <a:lnTo>
                    <a:pt x="135194" y="54281"/>
                  </a:lnTo>
                  <a:lnTo>
                    <a:pt x="137717" y="53921"/>
                  </a:lnTo>
                  <a:lnTo>
                    <a:pt x="145402" y="53921"/>
                  </a:lnTo>
                  <a:lnTo>
                    <a:pt x="147925" y="53562"/>
                  </a:lnTo>
                  <a:lnTo>
                    <a:pt x="155986" y="53562"/>
                  </a:lnTo>
                  <a:lnTo>
                    <a:pt x="173271" y="51114"/>
                  </a:lnTo>
                  <a:lnTo>
                    <a:pt x="176082" y="51114"/>
                  </a:lnTo>
                  <a:lnTo>
                    <a:pt x="178172" y="50392"/>
                  </a:lnTo>
                  <a:lnTo>
                    <a:pt x="186291" y="49314"/>
                  </a:lnTo>
                  <a:lnTo>
                    <a:pt x="188379" y="48594"/>
                  </a:lnTo>
                  <a:lnTo>
                    <a:pt x="191192" y="48594"/>
                  </a:lnTo>
                  <a:lnTo>
                    <a:pt x="193715" y="47945"/>
                  </a:lnTo>
                  <a:lnTo>
                    <a:pt x="196528" y="47945"/>
                  </a:lnTo>
                  <a:lnTo>
                    <a:pt x="203865" y="45787"/>
                  </a:lnTo>
                  <a:lnTo>
                    <a:pt x="206735" y="45424"/>
                  </a:lnTo>
                  <a:lnTo>
                    <a:pt x="214101" y="43340"/>
                  </a:lnTo>
                  <a:lnTo>
                    <a:pt x="216973" y="42976"/>
                  </a:lnTo>
                  <a:lnTo>
                    <a:pt x="219409" y="41898"/>
                  </a:lnTo>
                  <a:lnTo>
                    <a:pt x="221874" y="41611"/>
                  </a:lnTo>
                  <a:lnTo>
                    <a:pt x="224309" y="40529"/>
                  </a:lnTo>
                  <a:lnTo>
                    <a:pt x="227122" y="40170"/>
                  </a:lnTo>
                  <a:lnTo>
                    <a:pt x="229645" y="39091"/>
                  </a:lnTo>
                  <a:lnTo>
                    <a:pt x="232458" y="38731"/>
                  </a:lnTo>
                  <a:lnTo>
                    <a:pt x="234894" y="37722"/>
                  </a:lnTo>
                  <a:lnTo>
                    <a:pt x="237707" y="37363"/>
                  </a:lnTo>
                  <a:lnTo>
                    <a:pt x="240868" y="35201"/>
                  </a:lnTo>
                  <a:lnTo>
                    <a:pt x="244029" y="33836"/>
                  </a:lnTo>
                  <a:lnTo>
                    <a:pt x="247219" y="31748"/>
                  </a:lnTo>
                  <a:lnTo>
                    <a:pt x="250728" y="30307"/>
                  </a:lnTo>
                  <a:lnTo>
                    <a:pt x="253888" y="28219"/>
                  </a:lnTo>
                  <a:lnTo>
                    <a:pt x="257079" y="26421"/>
                  </a:lnTo>
                  <a:lnTo>
                    <a:pt x="260240" y="24333"/>
                  </a:lnTo>
                  <a:lnTo>
                    <a:pt x="263777" y="22532"/>
                  </a:lnTo>
                  <a:lnTo>
                    <a:pt x="266272" y="20085"/>
                  </a:lnTo>
                  <a:lnTo>
                    <a:pt x="269085" y="17997"/>
                  </a:lnTo>
                  <a:lnTo>
                    <a:pt x="271550" y="15190"/>
                  </a:lnTo>
                  <a:lnTo>
                    <a:pt x="274333" y="12669"/>
                  </a:lnTo>
                  <a:lnTo>
                    <a:pt x="276161" y="9503"/>
                  </a:lnTo>
                  <a:lnTo>
                    <a:pt x="278248" y="6695"/>
                  </a:lnTo>
                  <a:lnTo>
                    <a:pt x="281757" y="0"/>
                  </a:lnTo>
                  <a:close/>
                </a:path>
              </a:pathLst>
            </a:custGeom>
            <a:solidFill>
              <a:srgbClr val="BFB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895003" y="2414713"/>
              <a:ext cx="714375" cy="20320"/>
            </a:xfrm>
            <a:custGeom>
              <a:avLst/>
              <a:gdLst/>
              <a:ahLst/>
              <a:cxnLst/>
              <a:rect l="l" t="t" r="r" b="b"/>
              <a:pathLst>
                <a:path w="714375" h="20319">
                  <a:moveTo>
                    <a:pt x="638267" y="0"/>
                  </a:moveTo>
                  <a:lnTo>
                    <a:pt x="620984" y="0"/>
                  </a:lnTo>
                  <a:lnTo>
                    <a:pt x="619243" y="359"/>
                  </a:lnTo>
                  <a:lnTo>
                    <a:pt x="605149" y="359"/>
                  </a:lnTo>
                  <a:lnTo>
                    <a:pt x="603410" y="721"/>
                  </a:lnTo>
                  <a:lnTo>
                    <a:pt x="571656" y="721"/>
                  </a:lnTo>
                  <a:lnTo>
                    <a:pt x="569567" y="359"/>
                  </a:lnTo>
                  <a:lnTo>
                    <a:pt x="555473" y="359"/>
                  </a:lnTo>
                  <a:lnTo>
                    <a:pt x="553385" y="0"/>
                  </a:lnTo>
                  <a:lnTo>
                    <a:pt x="505449" y="0"/>
                  </a:lnTo>
                  <a:lnTo>
                    <a:pt x="502984" y="2447"/>
                  </a:lnTo>
                  <a:lnTo>
                    <a:pt x="500548" y="2087"/>
                  </a:lnTo>
                  <a:lnTo>
                    <a:pt x="498461" y="2087"/>
                  </a:lnTo>
                  <a:lnTo>
                    <a:pt x="496285" y="1728"/>
                  </a:lnTo>
                  <a:lnTo>
                    <a:pt x="494198" y="1728"/>
                  </a:lnTo>
                  <a:lnTo>
                    <a:pt x="492052" y="1367"/>
                  </a:lnTo>
                  <a:lnTo>
                    <a:pt x="485701" y="1367"/>
                  </a:lnTo>
                  <a:lnTo>
                    <a:pt x="483613" y="1008"/>
                  </a:lnTo>
                  <a:lnTo>
                    <a:pt x="437475" y="1008"/>
                  </a:lnTo>
                  <a:lnTo>
                    <a:pt x="435764" y="1367"/>
                  </a:lnTo>
                  <a:lnTo>
                    <a:pt x="404357" y="1367"/>
                  </a:lnTo>
                  <a:lnTo>
                    <a:pt x="402647" y="1728"/>
                  </a:lnTo>
                  <a:lnTo>
                    <a:pt x="387799" y="1728"/>
                  </a:lnTo>
                  <a:lnTo>
                    <a:pt x="385711" y="2087"/>
                  </a:lnTo>
                  <a:lnTo>
                    <a:pt x="370893" y="2087"/>
                  </a:lnTo>
                  <a:lnTo>
                    <a:pt x="368804" y="2447"/>
                  </a:lnTo>
                  <a:lnTo>
                    <a:pt x="361381" y="1367"/>
                  </a:lnTo>
                  <a:lnTo>
                    <a:pt x="359293" y="1367"/>
                  </a:lnTo>
                  <a:lnTo>
                    <a:pt x="356857" y="1008"/>
                  </a:lnTo>
                  <a:lnTo>
                    <a:pt x="334614" y="1008"/>
                  </a:lnTo>
                  <a:lnTo>
                    <a:pt x="332526" y="1367"/>
                  </a:lnTo>
                  <a:lnTo>
                    <a:pt x="316316" y="1367"/>
                  </a:lnTo>
                  <a:lnTo>
                    <a:pt x="314228" y="1728"/>
                  </a:lnTo>
                  <a:lnTo>
                    <a:pt x="307181" y="1728"/>
                  </a:lnTo>
                  <a:lnTo>
                    <a:pt x="305005" y="2087"/>
                  </a:lnTo>
                  <a:lnTo>
                    <a:pt x="298336" y="2087"/>
                  </a:lnTo>
                  <a:lnTo>
                    <a:pt x="296249" y="2447"/>
                  </a:lnTo>
                  <a:lnTo>
                    <a:pt x="292710" y="2087"/>
                  </a:lnTo>
                  <a:lnTo>
                    <a:pt x="289549" y="2087"/>
                  </a:lnTo>
                  <a:lnTo>
                    <a:pt x="286388" y="1728"/>
                  </a:lnTo>
                  <a:lnTo>
                    <a:pt x="283198" y="1728"/>
                  </a:lnTo>
                  <a:lnTo>
                    <a:pt x="280037" y="1367"/>
                  </a:lnTo>
                  <a:lnTo>
                    <a:pt x="270526" y="1367"/>
                  </a:lnTo>
                  <a:lnTo>
                    <a:pt x="267365" y="1008"/>
                  </a:lnTo>
                  <a:lnTo>
                    <a:pt x="201129" y="1008"/>
                  </a:lnTo>
                  <a:lnTo>
                    <a:pt x="198316" y="1367"/>
                  </a:lnTo>
                  <a:lnTo>
                    <a:pt x="153543" y="1367"/>
                  </a:lnTo>
                  <a:lnTo>
                    <a:pt x="150759" y="1728"/>
                  </a:lnTo>
                  <a:lnTo>
                    <a:pt x="129298" y="1728"/>
                  </a:lnTo>
                  <a:lnTo>
                    <a:pt x="126485" y="2087"/>
                  </a:lnTo>
                  <a:lnTo>
                    <a:pt x="105317" y="2087"/>
                  </a:lnTo>
                  <a:lnTo>
                    <a:pt x="102504" y="2447"/>
                  </a:lnTo>
                  <a:lnTo>
                    <a:pt x="92290" y="2447"/>
                  </a:lnTo>
                  <a:lnTo>
                    <a:pt x="89123" y="2806"/>
                  </a:lnTo>
                  <a:lnTo>
                    <a:pt x="79260" y="2806"/>
                  </a:lnTo>
                  <a:lnTo>
                    <a:pt x="76093" y="3169"/>
                  </a:lnTo>
                  <a:lnTo>
                    <a:pt x="53921" y="3169"/>
                  </a:lnTo>
                  <a:lnTo>
                    <a:pt x="50751" y="3529"/>
                  </a:lnTo>
                  <a:lnTo>
                    <a:pt x="10222" y="3529"/>
                  </a:lnTo>
                  <a:lnTo>
                    <a:pt x="1080" y="4535"/>
                  </a:lnTo>
                  <a:lnTo>
                    <a:pt x="359" y="7705"/>
                  </a:lnTo>
                  <a:lnTo>
                    <a:pt x="0" y="11230"/>
                  </a:lnTo>
                  <a:lnTo>
                    <a:pt x="0" y="17277"/>
                  </a:lnTo>
                  <a:lnTo>
                    <a:pt x="1080" y="20085"/>
                  </a:lnTo>
                  <a:lnTo>
                    <a:pt x="210294" y="20085"/>
                  </a:lnTo>
                  <a:lnTo>
                    <a:pt x="212440" y="17567"/>
                  </a:lnTo>
                  <a:lnTo>
                    <a:pt x="219429" y="17567"/>
                  </a:lnTo>
                  <a:lnTo>
                    <a:pt x="222300" y="17927"/>
                  </a:lnTo>
                  <a:lnTo>
                    <a:pt x="224765" y="17927"/>
                  </a:lnTo>
                  <a:lnTo>
                    <a:pt x="227548" y="18286"/>
                  </a:lnTo>
                  <a:lnTo>
                    <a:pt x="230013" y="18286"/>
                  </a:lnTo>
                  <a:lnTo>
                    <a:pt x="232826" y="18646"/>
                  </a:lnTo>
                  <a:lnTo>
                    <a:pt x="240598" y="18646"/>
                  </a:lnTo>
                  <a:lnTo>
                    <a:pt x="243382" y="19005"/>
                  </a:lnTo>
                  <a:lnTo>
                    <a:pt x="251184" y="19005"/>
                  </a:lnTo>
                  <a:lnTo>
                    <a:pt x="254344" y="19364"/>
                  </a:lnTo>
                  <a:lnTo>
                    <a:pt x="256780" y="19005"/>
                  </a:lnTo>
                  <a:lnTo>
                    <a:pt x="265219" y="19005"/>
                  </a:lnTo>
                  <a:lnTo>
                    <a:pt x="267742" y="18646"/>
                  </a:lnTo>
                  <a:lnTo>
                    <a:pt x="276152" y="18646"/>
                  </a:lnTo>
                  <a:lnTo>
                    <a:pt x="278587" y="18286"/>
                  </a:lnTo>
                  <a:lnTo>
                    <a:pt x="281487" y="18286"/>
                  </a:lnTo>
                  <a:lnTo>
                    <a:pt x="284300" y="17927"/>
                  </a:lnTo>
                  <a:lnTo>
                    <a:pt x="287084" y="17927"/>
                  </a:lnTo>
                  <a:lnTo>
                    <a:pt x="289549" y="17567"/>
                  </a:lnTo>
                  <a:lnTo>
                    <a:pt x="298336" y="17567"/>
                  </a:lnTo>
                  <a:lnTo>
                    <a:pt x="298336" y="20085"/>
                  </a:lnTo>
                  <a:lnTo>
                    <a:pt x="351172" y="20085"/>
                  </a:lnTo>
                  <a:lnTo>
                    <a:pt x="509684" y="17567"/>
                  </a:lnTo>
                  <a:lnTo>
                    <a:pt x="578006" y="20085"/>
                  </a:lnTo>
                  <a:lnTo>
                    <a:pt x="578006" y="19005"/>
                  </a:lnTo>
                  <a:lnTo>
                    <a:pt x="579456" y="17927"/>
                  </a:lnTo>
                  <a:lnTo>
                    <a:pt x="580152" y="20085"/>
                  </a:lnTo>
                  <a:lnTo>
                    <a:pt x="687943" y="17567"/>
                  </a:lnTo>
                  <a:lnTo>
                    <a:pt x="694265" y="17567"/>
                  </a:lnTo>
                  <a:lnTo>
                    <a:pt x="700963" y="18286"/>
                  </a:lnTo>
                  <a:lnTo>
                    <a:pt x="707663" y="18286"/>
                  </a:lnTo>
                  <a:lnTo>
                    <a:pt x="714362" y="17567"/>
                  </a:lnTo>
                  <a:lnTo>
                    <a:pt x="713983" y="15480"/>
                  </a:lnTo>
                  <a:lnTo>
                    <a:pt x="713983" y="9862"/>
                  </a:lnTo>
                  <a:lnTo>
                    <a:pt x="713259" y="5617"/>
                  </a:lnTo>
                  <a:lnTo>
                    <a:pt x="712186" y="2447"/>
                  </a:lnTo>
                  <a:lnTo>
                    <a:pt x="711170" y="1367"/>
                  </a:lnTo>
                  <a:lnTo>
                    <a:pt x="710098" y="2447"/>
                  </a:lnTo>
                  <a:lnTo>
                    <a:pt x="683680" y="2447"/>
                  </a:lnTo>
                  <a:lnTo>
                    <a:pt x="680519" y="1728"/>
                  </a:lnTo>
                  <a:lnTo>
                    <a:pt x="674545" y="1008"/>
                  </a:lnTo>
                  <a:lnTo>
                    <a:pt x="660074" y="1008"/>
                  </a:lnTo>
                  <a:lnTo>
                    <a:pt x="656913" y="721"/>
                  </a:lnTo>
                  <a:lnTo>
                    <a:pt x="647749" y="721"/>
                  </a:lnTo>
                  <a:lnTo>
                    <a:pt x="644589" y="359"/>
                  </a:lnTo>
                  <a:lnTo>
                    <a:pt x="641428" y="359"/>
                  </a:lnTo>
                  <a:lnTo>
                    <a:pt x="638267" y="0"/>
                  </a:lnTo>
                  <a:close/>
                </a:path>
              </a:pathLst>
            </a:custGeom>
            <a:solidFill>
              <a:srgbClr val="9E73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1142999" y="4497070"/>
            <a:ext cx="851535" cy="833755"/>
            <a:chOff x="1142999" y="4497070"/>
            <a:chExt cx="851535" cy="833755"/>
          </a:xfrm>
        </p:grpSpPr>
        <p:sp>
          <p:nvSpPr>
            <p:cNvPr id="109" name="object 109"/>
            <p:cNvSpPr/>
            <p:nvPr/>
          </p:nvSpPr>
          <p:spPr>
            <a:xfrm>
              <a:off x="1630134" y="4674222"/>
              <a:ext cx="364490" cy="455930"/>
            </a:xfrm>
            <a:custGeom>
              <a:avLst/>
              <a:gdLst/>
              <a:ahLst/>
              <a:cxnLst/>
              <a:rect l="l" t="t" r="r" b="b"/>
              <a:pathLst>
                <a:path w="364489" h="455929">
                  <a:moveTo>
                    <a:pt x="285915" y="72999"/>
                  </a:moveTo>
                  <a:lnTo>
                    <a:pt x="265607" y="69824"/>
                  </a:lnTo>
                  <a:lnTo>
                    <a:pt x="263296" y="72136"/>
                  </a:lnTo>
                  <a:lnTo>
                    <a:pt x="246189" y="86855"/>
                  </a:lnTo>
                  <a:lnTo>
                    <a:pt x="231978" y="96951"/>
                  </a:lnTo>
                  <a:lnTo>
                    <a:pt x="214871" y="106464"/>
                  </a:lnTo>
                  <a:lnTo>
                    <a:pt x="194564" y="113106"/>
                  </a:lnTo>
                  <a:lnTo>
                    <a:pt x="172542" y="117424"/>
                  </a:lnTo>
                  <a:lnTo>
                    <a:pt x="149047" y="117424"/>
                  </a:lnTo>
                  <a:lnTo>
                    <a:pt x="106718" y="106464"/>
                  </a:lnTo>
                  <a:lnTo>
                    <a:pt x="66116" y="83388"/>
                  </a:lnTo>
                  <a:lnTo>
                    <a:pt x="54229" y="72999"/>
                  </a:lnTo>
                  <a:lnTo>
                    <a:pt x="52489" y="71551"/>
                  </a:lnTo>
                  <a:lnTo>
                    <a:pt x="48425" y="71551"/>
                  </a:lnTo>
                  <a:lnTo>
                    <a:pt x="44945" y="72136"/>
                  </a:lnTo>
                  <a:lnTo>
                    <a:pt x="11023" y="92608"/>
                  </a:lnTo>
                  <a:lnTo>
                    <a:pt x="0" y="104736"/>
                  </a:lnTo>
                  <a:lnTo>
                    <a:pt x="2616" y="108762"/>
                  </a:lnTo>
                  <a:lnTo>
                    <a:pt x="9283" y="121742"/>
                  </a:lnTo>
                  <a:lnTo>
                    <a:pt x="34798" y="160705"/>
                  </a:lnTo>
                  <a:lnTo>
                    <a:pt x="76263" y="202526"/>
                  </a:lnTo>
                  <a:lnTo>
                    <a:pt x="131940" y="228206"/>
                  </a:lnTo>
                  <a:lnTo>
                    <a:pt x="164985" y="231381"/>
                  </a:lnTo>
                  <a:lnTo>
                    <a:pt x="180365" y="231381"/>
                  </a:lnTo>
                  <a:lnTo>
                    <a:pt x="220091" y="225602"/>
                  </a:lnTo>
                  <a:lnTo>
                    <a:pt x="250532" y="215226"/>
                  </a:lnTo>
                  <a:lnTo>
                    <a:pt x="258940" y="212039"/>
                  </a:lnTo>
                  <a:lnTo>
                    <a:pt x="276631" y="202526"/>
                  </a:lnTo>
                  <a:lnTo>
                    <a:pt x="280111" y="199936"/>
                  </a:lnTo>
                  <a:lnTo>
                    <a:pt x="281851" y="199059"/>
                  </a:lnTo>
                  <a:lnTo>
                    <a:pt x="282727" y="198208"/>
                  </a:lnTo>
                  <a:lnTo>
                    <a:pt x="276631" y="184645"/>
                  </a:lnTo>
                  <a:lnTo>
                    <a:pt x="275755" y="185508"/>
                  </a:lnTo>
                  <a:lnTo>
                    <a:pt x="270827" y="188099"/>
                  </a:lnTo>
                  <a:lnTo>
                    <a:pt x="228498" y="206857"/>
                  </a:lnTo>
                  <a:lnTo>
                    <a:pt x="217474" y="210324"/>
                  </a:lnTo>
                  <a:lnTo>
                    <a:pt x="206463" y="212915"/>
                  </a:lnTo>
                  <a:lnTo>
                    <a:pt x="193700" y="214350"/>
                  </a:lnTo>
                  <a:lnTo>
                    <a:pt x="180365" y="215226"/>
                  </a:lnTo>
                  <a:lnTo>
                    <a:pt x="166738" y="215226"/>
                  </a:lnTo>
                  <a:lnTo>
                    <a:pt x="109321" y="203403"/>
                  </a:lnTo>
                  <a:lnTo>
                    <a:pt x="65252" y="172808"/>
                  </a:lnTo>
                  <a:lnTo>
                    <a:pt x="35674" y="137045"/>
                  </a:lnTo>
                  <a:lnTo>
                    <a:pt x="18859" y="107911"/>
                  </a:lnTo>
                  <a:lnTo>
                    <a:pt x="18859" y="107035"/>
                  </a:lnTo>
                  <a:lnTo>
                    <a:pt x="20307" y="105600"/>
                  </a:lnTo>
                  <a:lnTo>
                    <a:pt x="23787" y="103009"/>
                  </a:lnTo>
                  <a:lnTo>
                    <a:pt x="29006" y="97802"/>
                  </a:lnTo>
                  <a:lnTo>
                    <a:pt x="35674" y="93484"/>
                  </a:lnTo>
                  <a:lnTo>
                    <a:pt x="40601" y="90017"/>
                  </a:lnTo>
                  <a:lnTo>
                    <a:pt x="44945" y="88582"/>
                  </a:lnTo>
                  <a:lnTo>
                    <a:pt x="46685" y="87706"/>
                  </a:lnTo>
                  <a:lnTo>
                    <a:pt x="48425" y="89446"/>
                  </a:lnTo>
                  <a:lnTo>
                    <a:pt x="52489" y="92608"/>
                  </a:lnTo>
                  <a:lnTo>
                    <a:pt x="85534" y="113957"/>
                  </a:lnTo>
                  <a:lnTo>
                    <a:pt x="121780" y="128384"/>
                  </a:lnTo>
                  <a:lnTo>
                    <a:pt x="160058" y="135305"/>
                  </a:lnTo>
                  <a:lnTo>
                    <a:pt x="173405" y="135305"/>
                  </a:lnTo>
                  <a:lnTo>
                    <a:pt x="187896" y="133578"/>
                  </a:lnTo>
                  <a:lnTo>
                    <a:pt x="213423" y="126657"/>
                  </a:lnTo>
                  <a:lnTo>
                    <a:pt x="235165" y="115697"/>
                  </a:lnTo>
                  <a:lnTo>
                    <a:pt x="245325" y="108762"/>
                  </a:lnTo>
                  <a:lnTo>
                    <a:pt x="254596" y="103009"/>
                  </a:lnTo>
                  <a:lnTo>
                    <a:pt x="269087" y="90017"/>
                  </a:lnTo>
                  <a:lnTo>
                    <a:pt x="274891" y="85115"/>
                  </a:lnTo>
                  <a:lnTo>
                    <a:pt x="283591" y="76466"/>
                  </a:lnTo>
                  <a:lnTo>
                    <a:pt x="285051" y="73875"/>
                  </a:lnTo>
                  <a:lnTo>
                    <a:pt x="285915" y="72999"/>
                  </a:lnTo>
                  <a:close/>
                </a:path>
                <a:path w="364489" h="455929">
                  <a:moveTo>
                    <a:pt x="363918" y="198208"/>
                  </a:moveTo>
                  <a:lnTo>
                    <a:pt x="358686" y="153200"/>
                  </a:lnTo>
                  <a:lnTo>
                    <a:pt x="345935" y="113957"/>
                  </a:lnTo>
                  <a:lnTo>
                    <a:pt x="309689" y="51943"/>
                  </a:lnTo>
                  <a:lnTo>
                    <a:pt x="273443" y="13563"/>
                  </a:lnTo>
                  <a:lnTo>
                    <a:pt x="256336" y="0"/>
                  </a:lnTo>
                  <a:lnTo>
                    <a:pt x="254596" y="876"/>
                  </a:lnTo>
                  <a:lnTo>
                    <a:pt x="248805" y="4914"/>
                  </a:lnTo>
                  <a:lnTo>
                    <a:pt x="240385" y="10109"/>
                  </a:lnTo>
                  <a:lnTo>
                    <a:pt x="208203" y="37223"/>
                  </a:lnTo>
                  <a:lnTo>
                    <a:pt x="176022" y="82511"/>
                  </a:lnTo>
                  <a:lnTo>
                    <a:pt x="169354" y="96951"/>
                  </a:lnTo>
                  <a:lnTo>
                    <a:pt x="164985" y="104736"/>
                  </a:lnTo>
                  <a:lnTo>
                    <a:pt x="164122" y="107035"/>
                  </a:lnTo>
                  <a:lnTo>
                    <a:pt x="164985" y="107035"/>
                  </a:lnTo>
                  <a:lnTo>
                    <a:pt x="166738" y="107911"/>
                  </a:lnTo>
                  <a:lnTo>
                    <a:pt x="176885" y="107911"/>
                  </a:lnTo>
                  <a:lnTo>
                    <a:pt x="182105" y="105600"/>
                  </a:lnTo>
                  <a:lnTo>
                    <a:pt x="182689" y="105600"/>
                  </a:lnTo>
                  <a:lnTo>
                    <a:pt x="185293" y="100406"/>
                  </a:lnTo>
                  <a:lnTo>
                    <a:pt x="187896" y="94348"/>
                  </a:lnTo>
                  <a:lnTo>
                    <a:pt x="197180" y="78193"/>
                  </a:lnTo>
                  <a:lnTo>
                    <a:pt x="203847" y="68961"/>
                  </a:lnTo>
                  <a:lnTo>
                    <a:pt x="220091" y="51066"/>
                  </a:lnTo>
                  <a:lnTo>
                    <a:pt x="236905" y="36360"/>
                  </a:lnTo>
                  <a:lnTo>
                    <a:pt x="242125" y="32321"/>
                  </a:lnTo>
                  <a:lnTo>
                    <a:pt x="246189" y="28867"/>
                  </a:lnTo>
                  <a:lnTo>
                    <a:pt x="281851" y="46748"/>
                  </a:lnTo>
                  <a:lnTo>
                    <a:pt x="312293" y="85115"/>
                  </a:lnTo>
                  <a:lnTo>
                    <a:pt x="336651" y="137045"/>
                  </a:lnTo>
                  <a:lnTo>
                    <a:pt x="347675" y="198208"/>
                  </a:lnTo>
                  <a:lnTo>
                    <a:pt x="346798" y="240893"/>
                  </a:lnTo>
                  <a:lnTo>
                    <a:pt x="343611" y="282727"/>
                  </a:lnTo>
                  <a:lnTo>
                    <a:pt x="339267" y="322541"/>
                  </a:lnTo>
                  <a:lnTo>
                    <a:pt x="325056" y="413702"/>
                  </a:lnTo>
                  <a:lnTo>
                    <a:pt x="321576" y="428980"/>
                  </a:lnTo>
                  <a:lnTo>
                    <a:pt x="320713" y="435051"/>
                  </a:lnTo>
                  <a:lnTo>
                    <a:pt x="310553" y="435051"/>
                  </a:lnTo>
                  <a:lnTo>
                    <a:pt x="297802" y="434174"/>
                  </a:lnTo>
                  <a:lnTo>
                    <a:pt x="239509" y="426389"/>
                  </a:lnTo>
                  <a:lnTo>
                    <a:pt x="188772" y="414566"/>
                  </a:lnTo>
                  <a:lnTo>
                    <a:pt x="164122" y="407073"/>
                  </a:lnTo>
                  <a:lnTo>
                    <a:pt x="142963" y="401015"/>
                  </a:lnTo>
                  <a:lnTo>
                    <a:pt x="126136" y="394944"/>
                  </a:lnTo>
                  <a:lnTo>
                    <a:pt x="103238" y="385724"/>
                  </a:lnTo>
                  <a:lnTo>
                    <a:pt x="95694" y="383120"/>
                  </a:lnTo>
                  <a:lnTo>
                    <a:pt x="90766" y="380530"/>
                  </a:lnTo>
                  <a:lnTo>
                    <a:pt x="118592" y="236575"/>
                  </a:lnTo>
                  <a:lnTo>
                    <a:pt x="103238" y="231381"/>
                  </a:lnTo>
                  <a:lnTo>
                    <a:pt x="68732" y="393217"/>
                  </a:lnTo>
                  <a:lnTo>
                    <a:pt x="70459" y="394093"/>
                  </a:lnTo>
                  <a:lnTo>
                    <a:pt x="75387" y="395820"/>
                  </a:lnTo>
                  <a:lnTo>
                    <a:pt x="96570" y="404469"/>
                  </a:lnTo>
                  <a:lnTo>
                    <a:pt x="112509" y="410235"/>
                  </a:lnTo>
                  <a:lnTo>
                    <a:pt x="132816" y="416293"/>
                  </a:lnTo>
                  <a:lnTo>
                    <a:pt x="156578" y="424078"/>
                  </a:lnTo>
                  <a:lnTo>
                    <a:pt x="199783" y="436778"/>
                  </a:lnTo>
                  <a:lnTo>
                    <a:pt x="241249" y="446011"/>
                  </a:lnTo>
                  <a:lnTo>
                    <a:pt x="254596" y="447738"/>
                  </a:lnTo>
                  <a:lnTo>
                    <a:pt x="278371" y="451205"/>
                  </a:lnTo>
                  <a:lnTo>
                    <a:pt x="288518" y="452932"/>
                  </a:lnTo>
                  <a:lnTo>
                    <a:pt x="307073" y="454672"/>
                  </a:lnTo>
                  <a:lnTo>
                    <a:pt x="314909" y="454672"/>
                  </a:lnTo>
                  <a:lnTo>
                    <a:pt x="320713" y="455523"/>
                  </a:lnTo>
                  <a:lnTo>
                    <a:pt x="332600" y="455523"/>
                  </a:lnTo>
                  <a:lnTo>
                    <a:pt x="334340" y="449478"/>
                  </a:lnTo>
                  <a:lnTo>
                    <a:pt x="337527" y="432447"/>
                  </a:lnTo>
                  <a:lnTo>
                    <a:pt x="342747" y="407073"/>
                  </a:lnTo>
                  <a:lnTo>
                    <a:pt x="348538" y="373595"/>
                  </a:lnTo>
                  <a:lnTo>
                    <a:pt x="354622" y="334657"/>
                  </a:lnTo>
                  <a:lnTo>
                    <a:pt x="359562" y="291096"/>
                  </a:lnTo>
                  <a:lnTo>
                    <a:pt x="363042" y="245224"/>
                  </a:lnTo>
                  <a:lnTo>
                    <a:pt x="363918" y="198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5528" y="5089652"/>
              <a:ext cx="229946" cy="241173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763815" y="4974836"/>
              <a:ext cx="95250" cy="59055"/>
            </a:xfrm>
            <a:custGeom>
              <a:avLst/>
              <a:gdLst/>
              <a:ahLst/>
              <a:cxnLst/>
              <a:rect l="l" t="t" r="r" b="b"/>
              <a:pathLst>
                <a:path w="95250" h="59054">
                  <a:moveTo>
                    <a:pt x="8409" y="0"/>
                  </a:moveTo>
                  <a:lnTo>
                    <a:pt x="0" y="17885"/>
                  </a:lnTo>
                  <a:lnTo>
                    <a:pt x="3481" y="20185"/>
                  </a:lnTo>
                  <a:lnTo>
                    <a:pt x="7825" y="23648"/>
                  </a:lnTo>
                  <a:lnTo>
                    <a:pt x="44947" y="44136"/>
                  </a:lnTo>
                  <a:lnTo>
                    <a:pt x="54221" y="47599"/>
                  </a:lnTo>
                  <a:lnTo>
                    <a:pt x="61767" y="51062"/>
                  </a:lnTo>
                  <a:lnTo>
                    <a:pt x="69593" y="53654"/>
                  </a:lnTo>
                  <a:lnTo>
                    <a:pt x="75398" y="55095"/>
                  </a:lnTo>
                  <a:lnTo>
                    <a:pt x="79744" y="56827"/>
                  </a:lnTo>
                  <a:lnTo>
                    <a:pt x="83797" y="57687"/>
                  </a:lnTo>
                  <a:lnTo>
                    <a:pt x="85538" y="58558"/>
                  </a:lnTo>
                  <a:lnTo>
                    <a:pt x="86413" y="58558"/>
                  </a:lnTo>
                  <a:lnTo>
                    <a:pt x="94823" y="40674"/>
                  </a:lnTo>
                  <a:lnTo>
                    <a:pt x="93948" y="40674"/>
                  </a:lnTo>
                  <a:lnTo>
                    <a:pt x="88154" y="38942"/>
                  </a:lnTo>
                  <a:lnTo>
                    <a:pt x="82933" y="37211"/>
                  </a:lnTo>
                  <a:lnTo>
                    <a:pt x="77139" y="35769"/>
                  </a:lnTo>
                  <a:lnTo>
                    <a:pt x="69593" y="33166"/>
                  </a:lnTo>
                  <a:lnTo>
                    <a:pt x="61767" y="29715"/>
                  </a:lnTo>
                  <a:lnTo>
                    <a:pt x="52481" y="26252"/>
                  </a:lnTo>
                  <a:lnTo>
                    <a:pt x="34796" y="17885"/>
                  </a:lnTo>
                  <a:lnTo>
                    <a:pt x="27263" y="13549"/>
                  </a:lnTo>
                  <a:lnTo>
                    <a:pt x="16236" y="5764"/>
                  </a:lnTo>
                  <a:lnTo>
                    <a:pt x="11891" y="2301"/>
                  </a:lnTo>
                  <a:lnTo>
                    <a:pt x="84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33376" y="4545566"/>
              <a:ext cx="160059" cy="14135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1964" y="4645088"/>
              <a:ext cx="205578" cy="11424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1142987" y="4497069"/>
              <a:ext cx="418465" cy="552450"/>
            </a:xfrm>
            <a:custGeom>
              <a:avLst/>
              <a:gdLst/>
              <a:ahLst/>
              <a:cxnLst/>
              <a:rect l="l" t="t" r="r" b="b"/>
              <a:pathLst>
                <a:path w="418465" h="552450">
                  <a:moveTo>
                    <a:pt x="149047" y="476897"/>
                  </a:moveTo>
                  <a:lnTo>
                    <a:pt x="105841" y="476897"/>
                  </a:lnTo>
                  <a:lnTo>
                    <a:pt x="105841" y="490461"/>
                  </a:lnTo>
                  <a:lnTo>
                    <a:pt x="149047" y="490461"/>
                  </a:lnTo>
                  <a:lnTo>
                    <a:pt x="149047" y="476897"/>
                  </a:lnTo>
                  <a:close/>
                </a:path>
                <a:path w="418465" h="552450">
                  <a:moveTo>
                    <a:pt x="149047" y="449491"/>
                  </a:moveTo>
                  <a:lnTo>
                    <a:pt x="52489" y="449491"/>
                  </a:lnTo>
                  <a:lnTo>
                    <a:pt x="52489" y="462191"/>
                  </a:lnTo>
                  <a:lnTo>
                    <a:pt x="149047" y="462191"/>
                  </a:lnTo>
                  <a:lnTo>
                    <a:pt x="149047" y="449491"/>
                  </a:lnTo>
                  <a:close/>
                </a:path>
                <a:path w="418465" h="552450">
                  <a:moveTo>
                    <a:pt x="149047" y="421513"/>
                  </a:moveTo>
                  <a:lnTo>
                    <a:pt x="88150" y="421513"/>
                  </a:lnTo>
                  <a:lnTo>
                    <a:pt x="88150" y="435940"/>
                  </a:lnTo>
                  <a:lnTo>
                    <a:pt x="149047" y="435940"/>
                  </a:lnTo>
                  <a:lnTo>
                    <a:pt x="149047" y="421513"/>
                  </a:lnTo>
                  <a:close/>
                </a:path>
                <a:path w="418465" h="552450">
                  <a:moveTo>
                    <a:pt x="149047" y="394106"/>
                  </a:moveTo>
                  <a:lnTo>
                    <a:pt x="66116" y="394106"/>
                  </a:lnTo>
                  <a:lnTo>
                    <a:pt x="66116" y="407949"/>
                  </a:lnTo>
                  <a:lnTo>
                    <a:pt x="149047" y="407949"/>
                  </a:lnTo>
                  <a:lnTo>
                    <a:pt x="149047" y="394106"/>
                  </a:lnTo>
                  <a:close/>
                </a:path>
                <a:path w="418465" h="552450">
                  <a:moveTo>
                    <a:pt x="358698" y="189865"/>
                  </a:moveTo>
                  <a:lnTo>
                    <a:pt x="295186" y="189865"/>
                  </a:lnTo>
                  <a:lnTo>
                    <a:pt x="295186" y="82537"/>
                  </a:lnTo>
                  <a:lnTo>
                    <a:pt x="260680" y="82537"/>
                  </a:lnTo>
                  <a:lnTo>
                    <a:pt x="260680" y="64655"/>
                  </a:lnTo>
                  <a:lnTo>
                    <a:pt x="149047" y="64655"/>
                  </a:lnTo>
                  <a:lnTo>
                    <a:pt x="149047" y="82537"/>
                  </a:lnTo>
                  <a:lnTo>
                    <a:pt x="90474" y="82537"/>
                  </a:lnTo>
                  <a:lnTo>
                    <a:pt x="90474" y="150622"/>
                  </a:lnTo>
                  <a:lnTo>
                    <a:pt x="70180" y="150622"/>
                  </a:lnTo>
                  <a:lnTo>
                    <a:pt x="70180" y="188125"/>
                  </a:lnTo>
                  <a:lnTo>
                    <a:pt x="90474" y="188125"/>
                  </a:lnTo>
                  <a:lnTo>
                    <a:pt x="90474" y="246976"/>
                  </a:lnTo>
                  <a:lnTo>
                    <a:pt x="70180" y="246976"/>
                  </a:lnTo>
                  <a:lnTo>
                    <a:pt x="70180" y="284187"/>
                  </a:lnTo>
                  <a:lnTo>
                    <a:pt x="125272" y="284187"/>
                  </a:lnTo>
                  <a:lnTo>
                    <a:pt x="125272" y="268033"/>
                  </a:lnTo>
                  <a:lnTo>
                    <a:pt x="152234" y="268033"/>
                  </a:lnTo>
                  <a:lnTo>
                    <a:pt x="152234" y="284187"/>
                  </a:lnTo>
                  <a:lnTo>
                    <a:pt x="172542" y="284187"/>
                  </a:lnTo>
                  <a:lnTo>
                    <a:pt x="172542" y="445160"/>
                  </a:lnTo>
                  <a:lnTo>
                    <a:pt x="184416" y="445160"/>
                  </a:lnTo>
                  <a:lnTo>
                    <a:pt x="184416" y="284187"/>
                  </a:lnTo>
                  <a:lnTo>
                    <a:pt x="207340" y="284187"/>
                  </a:lnTo>
                  <a:lnTo>
                    <a:pt x="207340" y="246976"/>
                  </a:lnTo>
                  <a:lnTo>
                    <a:pt x="184416" y="246976"/>
                  </a:lnTo>
                  <a:lnTo>
                    <a:pt x="184416" y="188125"/>
                  </a:lnTo>
                  <a:lnTo>
                    <a:pt x="207340" y="188125"/>
                  </a:lnTo>
                  <a:lnTo>
                    <a:pt x="207340" y="150622"/>
                  </a:lnTo>
                  <a:lnTo>
                    <a:pt x="152234" y="150622"/>
                  </a:lnTo>
                  <a:lnTo>
                    <a:pt x="152234" y="188125"/>
                  </a:lnTo>
                  <a:lnTo>
                    <a:pt x="172542" y="188125"/>
                  </a:lnTo>
                  <a:lnTo>
                    <a:pt x="172542" y="246976"/>
                  </a:lnTo>
                  <a:lnTo>
                    <a:pt x="152234" y="246976"/>
                  </a:lnTo>
                  <a:lnTo>
                    <a:pt x="152234" y="256209"/>
                  </a:lnTo>
                  <a:lnTo>
                    <a:pt x="125272" y="256209"/>
                  </a:lnTo>
                  <a:lnTo>
                    <a:pt x="125272" y="246976"/>
                  </a:lnTo>
                  <a:lnTo>
                    <a:pt x="101498" y="246976"/>
                  </a:lnTo>
                  <a:lnTo>
                    <a:pt x="101498" y="188125"/>
                  </a:lnTo>
                  <a:lnTo>
                    <a:pt x="125272" y="188125"/>
                  </a:lnTo>
                  <a:lnTo>
                    <a:pt x="125272" y="150622"/>
                  </a:lnTo>
                  <a:lnTo>
                    <a:pt x="101498" y="150622"/>
                  </a:lnTo>
                  <a:lnTo>
                    <a:pt x="101498" y="94373"/>
                  </a:lnTo>
                  <a:lnTo>
                    <a:pt x="149047" y="94373"/>
                  </a:lnTo>
                  <a:lnTo>
                    <a:pt x="149047" y="110528"/>
                  </a:lnTo>
                  <a:lnTo>
                    <a:pt x="260680" y="110528"/>
                  </a:lnTo>
                  <a:lnTo>
                    <a:pt x="260680" y="94373"/>
                  </a:lnTo>
                  <a:lnTo>
                    <a:pt x="284175" y="94373"/>
                  </a:lnTo>
                  <a:lnTo>
                    <a:pt x="284175" y="189865"/>
                  </a:lnTo>
                  <a:lnTo>
                    <a:pt x="229374" y="189865"/>
                  </a:lnTo>
                  <a:lnTo>
                    <a:pt x="229374" y="227355"/>
                  </a:lnTo>
                  <a:lnTo>
                    <a:pt x="284175" y="227355"/>
                  </a:lnTo>
                  <a:lnTo>
                    <a:pt x="284175" y="310730"/>
                  </a:lnTo>
                  <a:lnTo>
                    <a:pt x="252272" y="310730"/>
                  </a:lnTo>
                  <a:lnTo>
                    <a:pt x="252272" y="365252"/>
                  </a:lnTo>
                  <a:lnTo>
                    <a:pt x="284175" y="365252"/>
                  </a:lnTo>
                  <a:lnTo>
                    <a:pt x="284175" y="413727"/>
                  </a:lnTo>
                  <a:lnTo>
                    <a:pt x="252272" y="413727"/>
                  </a:lnTo>
                  <a:lnTo>
                    <a:pt x="252272" y="467385"/>
                  </a:lnTo>
                  <a:lnTo>
                    <a:pt x="331724" y="467385"/>
                  </a:lnTo>
                  <a:lnTo>
                    <a:pt x="331724" y="413727"/>
                  </a:lnTo>
                  <a:lnTo>
                    <a:pt x="295186" y="413727"/>
                  </a:lnTo>
                  <a:lnTo>
                    <a:pt x="295186" y="365252"/>
                  </a:lnTo>
                  <a:lnTo>
                    <a:pt x="331724" y="365252"/>
                  </a:lnTo>
                  <a:lnTo>
                    <a:pt x="331724" y="310730"/>
                  </a:lnTo>
                  <a:lnTo>
                    <a:pt x="295186" y="310730"/>
                  </a:lnTo>
                  <a:lnTo>
                    <a:pt x="295186" y="227355"/>
                  </a:lnTo>
                  <a:lnTo>
                    <a:pt x="358698" y="227355"/>
                  </a:lnTo>
                  <a:lnTo>
                    <a:pt x="358698" y="189865"/>
                  </a:lnTo>
                  <a:close/>
                </a:path>
                <a:path w="418465" h="552450">
                  <a:moveTo>
                    <a:pt x="417842" y="0"/>
                  </a:moveTo>
                  <a:lnTo>
                    <a:pt x="399288" y="0"/>
                  </a:lnTo>
                  <a:lnTo>
                    <a:pt x="399288" y="22860"/>
                  </a:lnTo>
                  <a:lnTo>
                    <a:pt x="399288" y="529590"/>
                  </a:lnTo>
                  <a:lnTo>
                    <a:pt x="14503" y="529590"/>
                  </a:lnTo>
                  <a:lnTo>
                    <a:pt x="14503" y="22860"/>
                  </a:lnTo>
                  <a:lnTo>
                    <a:pt x="125272" y="22860"/>
                  </a:lnTo>
                  <a:lnTo>
                    <a:pt x="399288" y="22860"/>
                  </a:lnTo>
                  <a:lnTo>
                    <a:pt x="399288" y="0"/>
                  </a:lnTo>
                  <a:lnTo>
                    <a:pt x="125272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529590"/>
                  </a:lnTo>
                  <a:lnTo>
                    <a:pt x="0" y="552450"/>
                  </a:lnTo>
                  <a:lnTo>
                    <a:pt x="417842" y="552450"/>
                  </a:lnTo>
                  <a:lnTo>
                    <a:pt x="417842" y="529590"/>
                  </a:lnTo>
                  <a:lnTo>
                    <a:pt x="417842" y="22860"/>
                  </a:lnTo>
                  <a:lnTo>
                    <a:pt x="4178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5" name="object 1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1798" y="4352570"/>
            <a:ext cx="906917" cy="897319"/>
          </a:xfrm>
          <a:prstGeom prst="rect">
            <a:avLst/>
          </a:prstGeom>
        </p:spPr>
      </p:pic>
      <p:sp>
        <p:nvSpPr>
          <p:cNvPr id="116" name="object 116"/>
          <p:cNvSpPr txBox="1"/>
          <p:nvPr/>
        </p:nvSpPr>
        <p:spPr>
          <a:xfrm>
            <a:off x="1043939" y="2570479"/>
            <a:ext cx="8261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End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43038" y="5237479"/>
            <a:ext cx="15601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System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Engineer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18539" y="5313679"/>
            <a:ext cx="8826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Integrator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771638" y="2555240"/>
            <a:ext cx="1243965" cy="7518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R="5080" algn="ctr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Arial MT"/>
                <a:cs typeface="Arial MT"/>
              </a:rPr>
              <a:t>Programmers  &amp; </a:t>
            </a:r>
            <a:r>
              <a:rPr sz="1600" spc="-5" dirty="0">
                <a:latin typeface="Arial MT"/>
                <a:cs typeface="Arial MT"/>
              </a:rPr>
              <a:t>software </a:t>
            </a:r>
            <a:r>
              <a:rPr sz="1600" dirty="0">
                <a:latin typeface="Arial MT"/>
                <a:cs typeface="Arial MT"/>
              </a:rPr>
              <a:t> managers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3338512" y="3109912"/>
            <a:ext cx="2009775" cy="1019175"/>
            <a:chOff x="3338512" y="3109912"/>
            <a:chExt cx="2009775" cy="1019175"/>
          </a:xfrm>
        </p:grpSpPr>
        <p:sp>
          <p:nvSpPr>
            <p:cNvPr id="121" name="object 121"/>
            <p:cNvSpPr/>
            <p:nvPr/>
          </p:nvSpPr>
          <p:spPr>
            <a:xfrm>
              <a:off x="3352799" y="3124200"/>
              <a:ext cx="1981200" cy="990600"/>
            </a:xfrm>
            <a:custGeom>
              <a:avLst/>
              <a:gdLst/>
              <a:ahLst/>
              <a:cxnLst/>
              <a:rect l="l" t="t" r="r" b="b"/>
              <a:pathLst>
                <a:path w="1981200" h="990600">
                  <a:moveTo>
                    <a:pt x="990600" y="0"/>
                  </a:moveTo>
                  <a:lnTo>
                    <a:pt x="927952" y="974"/>
                  </a:lnTo>
                  <a:lnTo>
                    <a:pt x="866341" y="3859"/>
                  </a:lnTo>
                  <a:lnTo>
                    <a:pt x="805881" y="8595"/>
                  </a:lnTo>
                  <a:lnTo>
                    <a:pt x="746688" y="15126"/>
                  </a:lnTo>
                  <a:lnTo>
                    <a:pt x="688879" y="23394"/>
                  </a:lnTo>
                  <a:lnTo>
                    <a:pt x="632569" y="33339"/>
                  </a:lnTo>
                  <a:lnTo>
                    <a:pt x="577876" y="44904"/>
                  </a:lnTo>
                  <a:lnTo>
                    <a:pt x="524914" y="58032"/>
                  </a:lnTo>
                  <a:lnTo>
                    <a:pt x="473799" y="72663"/>
                  </a:lnTo>
                  <a:lnTo>
                    <a:pt x="424648" y="88741"/>
                  </a:lnTo>
                  <a:lnTo>
                    <a:pt x="377578" y="106206"/>
                  </a:lnTo>
                  <a:lnTo>
                    <a:pt x="332703" y="125002"/>
                  </a:lnTo>
                  <a:lnTo>
                    <a:pt x="290140" y="145070"/>
                  </a:lnTo>
                  <a:lnTo>
                    <a:pt x="250004" y="166351"/>
                  </a:lnTo>
                  <a:lnTo>
                    <a:pt x="212413" y="188789"/>
                  </a:lnTo>
                  <a:lnTo>
                    <a:pt x="177482" y="212324"/>
                  </a:lnTo>
                  <a:lnTo>
                    <a:pt x="145327" y="236899"/>
                  </a:lnTo>
                  <a:lnTo>
                    <a:pt x="116064" y="262457"/>
                  </a:lnTo>
                  <a:lnTo>
                    <a:pt x="66678" y="316284"/>
                  </a:lnTo>
                  <a:lnTo>
                    <a:pt x="30253" y="373344"/>
                  </a:lnTo>
                  <a:lnTo>
                    <a:pt x="7718" y="433170"/>
                  </a:lnTo>
                  <a:lnTo>
                    <a:pt x="0" y="495300"/>
                  </a:lnTo>
                  <a:lnTo>
                    <a:pt x="1948" y="526623"/>
                  </a:lnTo>
                  <a:lnTo>
                    <a:pt x="17191" y="587659"/>
                  </a:lnTo>
                  <a:lnTo>
                    <a:pt x="46788" y="646160"/>
                  </a:lnTo>
                  <a:lnTo>
                    <a:pt x="89809" y="701661"/>
                  </a:lnTo>
                  <a:lnTo>
                    <a:pt x="145327" y="753700"/>
                  </a:lnTo>
                  <a:lnTo>
                    <a:pt x="177482" y="778275"/>
                  </a:lnTo>
                  <a:lnTo>
                    <a:pt x="212413" y="801810"/>
                  </a:lnTo>
                  <a:lnTo>
                    <a:pt x="250004" y="824248"/>
                  </a:lnTo>
                  <a:lnTo>
                    <a:pt x="290140" y="845529"/>
                  </a:lnTo>
                  <a:lnTo>
                    <a:pt x="332703" y="865597"/>
                  </a:lnTo>
                  <a:lnTo>
                    <a:pt x="377578" y="884393"/>
                  </a:lnTo>
                  <a:lnTo>
                    <a:pt x="424648" y="901858"/>
                  </a:lnTo>
                  <a:lnTo>
                    <a:pt x="473799" y="917936"/>
                  </a:lnTo>
                  <a:lnTo>
                    <a:pt x="524914" y="932567"/>
                  </a:lnTo>
                  <a:lnTo>
                    <a:pt x="577876" y="945695"/>
                  </a:lnTo>
                  <a:lnTo>
                    <a:pt x="632569" y="957260"/>
                  </a:lnTo>
                  <a:lnTo>
                    <a:pt x="688879" y="967205"/>
                  </a:lnTo>
                  <a:lnTo>
                    <a:pt x="746688" y="975473"/>
                  </a:lnTo>
                  <a:lnTo>
                    <a:pt x="805881" y="982004"/>
                  </a:lnTo>
                  <a:lnTo>
                    <a:pt x="866341" y="986740"/>
                  </a:lnTo>
                  <a:lnTo>
                    <a:pt x="927952" y="989625"/>
                  </a:lnTo>
                  <a:lnTo>
                    <a:pt x="990600" y="990600"/>
                  </a:lnTo>
                  <a:lnTo>
                    <a:pt x="1053247" y="989625"/>
                  </a:lnTo>
                  <a:lnTo>
                    <a:pt x="1114858" y="986740"/>
                  </a:lnTo>
                  <a:lnTo>
                    <a:pt x="1175318" y="982004"/>
                  </a:lnTo>
                  <a:lnTo>
                    <a:pt x="1234511" y="975473"/>
                  </a:lnTo>
                  <a:lnTo>
                    <a:pt x="1292320" y="967205"/>
                  </a:lnTo>
                  <a:lnTo>
                    <a:pt x="1348630" y="957260"/>
                  </a:lnTo>
                  <a:lnTo>
                    <a:pt x="1403323" y="945695"/>
                  </a:lnTo>
                  <a:lnTo>
                    <a:pt x="1456285" y="932567"/>
                  </a:lnTo>
                  <a:lnTo>
                    <a:pt x="1507400" y="917936"/>
                  </a:lnTo>
                  <a:lnTo>
                    <a:pt x="1556551" y="901858"/>
                  </a:lnTo>
                  <a:lnTo>
                    <a:pt x="1603621" y="884393"/>
                  </a:lnTo>
                  <a:lnTo>
                    <a:pt x="1648496" y="865597"/>
                  </a:lnTo>
                  <a:lnTo>
                    <a:pt x="1691059" y="845529"/>
                  </a:lnTo>
                  <a:lnTo>
                    <a:pt x="1731195" y="824248"/>
                  </a:lnTo>
                  <a:lnTo>
                    <a:pt x="1768786" y="801810"/>
                  </a:lnTo>
                  <a:lnTo>
                    <a:pt x="1803717" y="778275"/>
                  </a:lnTo>
                  <a:lnTo>
                    <a:pt x="1835872" y="753700"/>
                  </a:lnTo>
                  <a:lnTo>
                    <a:pt x="1865135" y="728142"/>
                  </a:lnTo>
                  <a:lnTo>
                    <a:pt x="1914521" y="674315"/>
                  </a:lnTo>
                  <a:lnTo>
                    <a:pt x="1950946" y="617255"/>
                  </a:lnTo>
                  <a:lnTo>
                    <a:pt x="1973481" y="557429"/>
                  </a:lnTo>
                  <a:lnTo>
                    <a:pt x="1981200" y="495300"/>
                  </a:lnTo>
                  <a:lnTo>
                    <a:pt x="1979251" y="463976"/>
                  </a:lnTo>
                  <a:lnTo>
                    <a:pt x="1964008" y="402940"/>
                  </a:lnTo>
                  <a:lnTo>
                    <a:pt x="1934411" y="344439"/>
                  </a:lnTo>
                  <a:lnTo>
                    <a:pt x="1891390" y="288938"/>
                  </a:lnTo>
                  <a:lnTo>
                    <a:pt x="1835872" y="236899"/>
                  </a:lnTo>
                  <a:lnTo>
                    <a:pt x="1803717" y="212324"/>
                  </a:lnTo>
                  <a:lnTo>
                    <a:pt x="1768786" y="188789"/>
                  </a:lnTo>
                  <a:lnTo>
                    <a:pt x="1731195" y="166351"/>
                  </a:lnTo>
                  <a:lnTo>
                    <a:pt x="1691059" y="145070"/>
                  </a:lnTo>
                  <a:lnTo>
                    <a:pt x="1648496" y="125002"/>
                  </a:lnTo>
                  <a:lnTo>
                    <a:pt x="1603621" y="106206"/>
                  </a:lnTo>
                  <a:lnTo>
                    <a:pt x="1556551" y="88741"/>
                  </a:lnTo>
                  <a:lnTo>
                    <a:pt x="1507400" y="72663"/>
                  </a:lnTo>
                  <a:lnTo>
                    <a:pt x="1456285" y="58032"/>
                  </a:lnTo>
                  <a:lnTo>
                    <a:pt x="1403323" y="44904"/>
                  </a:lnTo>
                  <a:lnTo>
                    <a:pt x="1348630" y="33339"/>
                  </a:lnTo>
                  <a:lnTo>
                    <a:pt x="1292320" y="23394"/>
                  </a:lnTo>
                  <a:lnTo>
                    <a:pt x="1234511" y="15126"/>
                  </a:lnTo>
                  <a:lnTo>
                    <a:pt x="1175318" y="8595"/>
                  </a:lnTo>
                  <a:lnTo>
                    <a:pt x="1114858" y="3859"/>
                  </a:lnTo>
                  <a:lnTo>
                    <a:pt x="1053247" y="974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007AAA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352800" y="3124200"/>
              <a:ext cx="1981200" cy="990600"/>
            </a:xfrm>
            <a:custGeom>
              <a:avLst/>
              <a:gdLst/>
              <a:ahLst/>
              <a:cxnLst/>
              <a:rect l="l" t="t" r="r" b="b"/>
              <a:pathLst>
                <a:path w="1981200" h="990600">
                  <a:moveTo>
                    <a:pt x="0" y="495299"/>
                  </a:moveTo>
                  <a:lnTo>
                    <a:pt x="7718" y="433170"/>
                  </a:lnTo>
                  <a:lnTo>
                    <a:pt x="30253" y="373344"/>
                  </a:lnTo>
                  <a:lnTo>
                    <a:pt x="66678" y="316285"/>
                  </a:lnTo>
                  <a:lnTo>
                    <a:pt x="116064" y="262457"/>
                  </a:lnTo>
                  <a:lnTo>
                    <a:pt x="145327" y="236899"/>
                  </a:lnTo>
                  <a:lnTo>
                    <a:pt x="177482" y="212324"/>
                  </a:lnTo>
                  <a:lnTo>
                    <a:pt x="212413" y="188789"/>
                  </a:lnTo>
                  <a:lnTo>
                    <a:pt x="250004" y="166351"/>
                  </a:lnTo>
                  <a:lnTo>
                    <a:pt x="290139" y="145070"/>
                  </a:lnTo>
                  <a:lnTo>
                    <a:pt x="332703" y="125002"/>
                  </a:lnTo>
                  <a:lnTo>
                    <a:pt x="377578" y="106206"/>
                  </a:lnTo>
                  <a:lnTo>
                    <a:pt x="424648" y="88741"/>
                  </a:lnTo>
                  <a:lnTo>
                    <a:pt x="473799" y="72663"/>
                  </a:lnTo>
                  <a:lnTo>
                    <a:pt x="524913" y="58032"/>
                  </a:lnTo>
                  <a:lnTo>
                    <a:pt x="577876" y="44904"/>
                  </a:lnTo>
                  <a:lnTo>
                    <a:pt x="632569" y="33339"/>
                  </a:lnTo>
                  <a:lnTo>
                    <a:pt x="688879" y="23394"/>
                  </a:lnTo>
                  <a:lnTo>
                    <a:pt x="746688" y="15126"/>
                  </a:lnTo>
                  <a:lnTo>
                    <a:pt x="805881" y="8595"/>
                  </a:lnTo>
                  <a:lnTo>
                    <a:pt x="866341" y="3859"/>
                  </a:lnTo>
                  <a:lnTo>
                    <a:pt x="927952" y="974"/>
                  </a:lnTo>
                  <a:lnTo>
                    <a:pt x="990600" y="0"/>
                  </a:lnTo>
                  <a:lnTo>
                    <a:pt x="1053247" y="974"/>
                  </a:lnTo>
                  <a:lnTo>
                    <a:pt x="1114858" y="3859"/>
                  </a:lnTo>
                  <a:lnTo>
                    <a:pt x="1175318" y="8595"/>
                  </a:lnTo>
                  <a:lnTo>
                    <a:pt x="1234511" y="15126"/>
                  </a:lnTo>
                  <a:lnTo>
                    <a:pt x="1292320" y="23394"/>
                  </a:lnTo>
                  <a:lnTo>
                    <a:pt x="1348629" y="33339"/>
                  </a:lnTo>
                  <a:lnTo>
                    <a:pt x="1403323" y="44904"/>
                  </a:lnTo>
                  <a:lnTo>
                    <a:pt x="1456285" y="58032"/>
                  </a:lnTo>
                  <a:lnTo>
                    <a:pt x="1507400" y="72663"/>
                  </a:lnTo>
                  <a:lnTo>
                    <a:pt x="1556550" y="88741"/>
                  </a:lnTo>
                  <a:lnTo>
                    <a:pt x="1603621" y="106206"/>
                  </a:lnTo>
                  <a:lnTo>
                    <a:pt x="1648496" y="125002"/>
                  </a:lnTo>
                  <a:lnTo>
                    <a:pt x="1691059" y="145070"/>
                  </a:lnTo>
                  <a:lnTo>
                    <a:pt x="1731194" y="166351"/>
                  </a:lnTo>
                  <a:lnTo>
                    <a:pt x="1768786" y="188789"/>
                  </a:lnTo>
                  <a:lnTo>
                    <a:pt x="1803717" y="212324"/>
                  </a:lnTo>
                  <a:lnTo>
                    <a:pt x="1835872" y="236899"/>
                  </a:lnTo>
                  <a:lnTo>
                    <a:pt x="1865135" y="262457"/>
                  </a:lnTo>
                  <a:lnTo>
                    <a:pt x="1914521" y="316285"/>
                  </a:lnTo>
                  <a:lnTo>
                    <a:pt x="1950945" y="373344"/>
                  </a:lnTo>
                  <a:lnTo>
                    <a:pt x="1973481" y="433170"/>
                  </a:lnTo>
                  <a:lnTo>
                    <a:pt x="1981199" y="495299"/>
                  </a:lnTo>
                  <a:lnTo>
                    <a:pt x="1979250" y="526623"/>
                  </a:lnTo>
                  <a:lnTo>
                    <a:pt x="1964007" y="587659"/>
                  </a:lnTo>
                  <a:lnTo>
                    <a:pt x="1934411" y="646160"/>
                  </a:lnTo>
                  <a:lnTo>
                    <a:pt x="1891390" y="701661"/>
                  </a:lnTo>
                  <a:lnTo>
                    <a:pt x="1835872" y="753700"/>
                  </a:lnTo>
                  <a:lnTo>
                    <a:pt x="1803717" y="778275"/>
                  </a:lnTo>
                  <a:lnTo>
                    <a:pt x="1768786" y="801810"/>
                  </a:lnTo>
                  <a:lnTo>
                    <a:pt x="1731194" y="824248"/>
                  </a:lnTo>
                  <a:lnTo>
                    <a:pt x="1691059" y="845529"/>
                  </a:lnTo>
                  <a:lnTo>
                    <a:pt x="1648496" y="865597"/>
                  </a:lnTo>
                  <a:lnTo>
                    <a:pt x="1603621" y="884393"/>
                  </a:lnTo>
                  <a:lnTo>
                    <a:pt x="1556550" y="901858"/>
                  </a:lnTo>
                  <a:lnTo>
                    <a:pt x="1507400" y="917936"/>
                  </a:lnTo>
                  <a:lnTo>
                    <a:pt x="1456285" y="932567"/>
                  </a:lnTo>
                  <a:lnTo>
                    <a:pt x="1403323" y="945695"/>
                  </a:lnTo>
                  <a:lnTo>
                    <a:pt x="1348629" y="957260"/>
                  </a:lnTo>
                  <a:lnTo>
                    <a:pt x="1292320" y="967205"/>
                  </a:lnTo>
                  <a:lnTo>
                    <a:pt x="1234511" y="975473"/>
                  </a:lnTo>
                  <a:lnTo>
                    <a:pt x="1175318" y="982004"/>
                  </a:lnTo>
                  <a:lnTo>
                    <a:pt x="1114858" y="986740"/>
                  </a:lnTo>
                  <a:lnTo>
                    <a:pt x="1053247" y="989625"/>
                  </a:lnTo>
                  <a:lnTo>
                    <a:pt x="990600" y="990600"/>
                  </a:lnTo>
                  <a:lnTo>
                    <a:pt x="927952" y="989625"/>
                  </a:lnTo>
                  <a:lnTo>
                    <a:pt x="866341" y="986740"/>
                  </a:lnTo>
                  <a:lnTo>
                    <a:pt x="805881" y="982004"/>
                  </a:lnTo>
                  <a:lnTo>
                    <a:pt x="746688" y="975473"/>
                  </a:lnTo>
                  <a:lnTo>
                    <a:pt x="688879" y="967205"/>
                  </a:lnTo>
                  <a:lnTo>
                    <a:pt x="632569" y="957260"/>
                  </a:lnTo>
                  <a:lnTo>
                    <a:pt x="577876" y="945695"/>
                  </a:lnTo>
                  <a:lnTo>
                    <a:pt x="524913" y="932567"/>
                  </a:lnTo>
                  <a:lnTo>
                    <a:pt x="473799" y="917936"/>
                  </a:lnTo>
                  <a:lnTo>
                    <a:pt x="424648" y="901858"/>
                  </a:lnTo>
                  <a:lnTo>
                    <a:pt x="377578" y="884393"/>
                  </a:lnTo>
                  <a:lnTo>
                    <a:pt x="332703" y="865597"/>
                  </a:lnTo>
                  <a:lnTo>
                    <a:pt x="290139" y="845529"/>
                  </a:lnTo>
                  <a:lnTo>
                    <a:pt x="250004" y="824248"/>
                  </a:lnTo>
                  <a:lnTo>
                    <a:pt x="212413" y="801810"/>
                  </a:lnTo>
                  <a:lnTo>
                    <a:pt x="177482" y="778275"/>
                  </a:lnTo>
                  <a:lnTo>
                    <a:pt x="145327" y="753700"/>
                  </a:lnTo>
                  <a:lnTo>
                    <a:pt x="116064" y="728142"/>
                  </a:lnTo>
                  <a:lnTo>
                    <a:pt x="66678" y="674314"/>
                  </a:lnTo>
                  <a:lnTo>
                    <a:pt x="30253" y="617255"/>
                  </a:lnTo>
                  <a:lnTo>
                    <a:pt x="7718" y="557429"/>
                  </a:lnTo>
                  <a:lnTo>
                    <a:pt x="0" y="4952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3835979" y="3469640"/>
            <a:ext cx="10299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Scenarios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2914650" y="2762250"/>
            <a:ext cx="2933700" cy="1714500"/>
            <a:chOff x="2914650" y="2762250"/>
            <a:chExt cx="2933700" cy="1714500"/>
          </a:xfrm>
        </p:grpSpPr>
        <p:sp>
          <p:nvSpPr>
            <p:cNvPr id="125" name="object 125"/>
            <p:cNvSpPr/>
            <p:nvPr/>
          </p:nvSpPr>
          <p:spPr>
            <a:xfrm>
              <a:off x="2971800" y="3429000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8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914650" y="3695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62398" y="2819400"/>
              <a:ext cx="800100" cy="0"/>
            </a:xfrm>
            <a:custGeom>
              <a:avLst/>
              <a:gdLst/>
              <a:ahLst/>
              <a:cxnLst/>
              <a:rect l="l" t="t" r="r" b="b"/>
              <a:pathLst>
                <a:path w="800100">
                  <a:moveTo>
                    <a:pt x="0" y="0"/>
                  </a:moveTo>
                  <a:lnTo>
                    <a:pt x="80009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686298" y="2762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791198" y="3429000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8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734048" y="3695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962398" y="4419600"/>
              <a:ext cx="876300" cy="0"/>
            </a:xfrm>
            <a:custGeom>
              <a:avLst/>
              <a:gdLst/>
              <a:ahLst/>
              <a:cxnLst/>
              <a:rect l="l" t="t" r="r" b="b"/>
              <a:pathLst>
                <a:path w="876300">
                  <a:moveTo>
                    <a:pt x="0" y="0"/>
                  </a:moveTo>
                  <a:lnTo>
                    <a:pt x="87629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762498" y="43624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107186"/>
            <a:ext cx="9153525" cy="6518275"/>
            <a:chOff x="-4762" y="107186"/>
            <a:chExt cx="9153525" cy="6518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4691"/>
              <a:ext cx="9119061" cy="65005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52401"/>
              <a:ext cx="9067800" cy="6400800"/>
            </a:xfrm>
            <a:custGeom>
              <a:avLst/>
              <a:gdLst/>
              <a:ahLst/>
              <a:cxnLst/>
              <a:rect l="l" t="t" r="r" b="b"/>
              <a:pathLst>
                <a:path w="9067800" h="6400800">
                  <a:moveTo>
                    <a:pt x="8000977" y="0"/>
                  </a:moveTo>
                  <a:lnTo>
                    <a:pt x="990620" y="0"/>
                  </a:lnTo>
                  <a:lnTo>
                    <a:pt x="941787" y="1097"/>
                  </a:lnTo>
                  <a:lnTo>
                    <a:pt x="893518" y="4359"/>
                  </a:lnTo>
                  <a:lnTo>
                    <a:pt x="845859" y="9738"/>
                  </a:lnTo>
                  <a:lnTo>
                    <a:pt x="798858" y="17187"/>
                  </a:lnTo>
                  <a:lnTo>
                    <a:pt x="752562" y="26659"/>
                  </a:lnTo>
                  <a:lnTo>
                    <a:pt x="707017" y="38107"/>
                  </a:lnTo>
                  <a:lnTo>
                    <a:pt x="662272" y="51484"/>
                  </a:lnTo>
                  <a:lnTo>
                    <a:pt x="618372" y="66742"/>
                  </a:lnTo>
                  <a:lnTo>
                    <a:pt x="575366" y="83836"/>
                  </a:lnTo>
                  <a:lnTo>
                    <a:pt x="533299" y="102716"/>
                  </a:lnTo>
                  <a:lnTo>
                    <a:pt x="492220" y="123337"/>
                  </a:lnTo>
                  <a:lnTo>
                    <a:pt x="452175" y="145652"/>
                  </a:lnTo>
                  <a:lnTo>
                    <a:pt x="413212" y="169613"/>
                  </a:lnTo>
                  <a:lnTo>
                    <a:pt x="375377" y="195173"/>
                  </a:lnTo>
                  <a:lnTo>
                    <a:pt x="338718" y="222285"/>
                  </a:lnTo>
                  <a:lnTo>
                    <a:pt x="303281" y="250902"/>
                  </a:lnTo>
                  <a:lnTo>
                    <a:pt x="269114" y="280978"/>
                  </a:lnTo>
                  <a:lnTo>
                    <a:pt x="236264" y="312464"/>
                  </a:lnTo>
                  <a:lnTo>
                    <a:pt x="204778" y="345314"/>
                  </a:lnTo>
                  <a:lnTo>
                    <a:pt x="174702" y="379481"/>
                  </a:lnTo>
                  <a:lnTo>
                    <a:pt x="146085" y="414918"/>
                  </a:lnTo>
                  <a:lnTo>
                    <a:pt x="118973" y="451577"/>
                  </a:lnTo>
                  <a:lnTo>
                    <a:pt x="93413" y="489412"/>
                  </a:lnTo>
                  <a:lnTo>
                    <a:pt x="69452" y="528375"/>
                  </a:lnTo>
                  <a:lnTo>
                    <a:pt x="47137" y="568420"/>
                  </a:lnTo>
                  <a:lnTo>
                    <a:pt x="26516" y="609499"/>
                  </a:lnTo>
                  <a:lnTo>
                    <a:pt x="7636" y="651565"/>
                  </a:lnTo>
                  <a:lnTo>
                    <a:pt x="0" y="670778"/>
                  </a:lnTo>
                  <a:lnTo>
                    <a:pt x="0" y="5730019"/>
                  </a:lnTo>
                  <a:lnTo>
                    <a:pt x="26516" y="5791298"/>
                  </a:lnTo>
                  <a:lnTo>
                    <a:pt x="47137" y="5832377"/>
                  </a:lnTo>
                  <a:lnTo>
                    <a:pt x="69452" y="5872422"/>
                  </a:lnTo>
                  <a:lnTo>
                    <a:pt x="93413" y="5911385"/>
                  </a:lnTo>
                  <a:lnTo>
                    <a:pt x="118973" y="5949220"/>
                  </a:lnTo>
                  <a:lnTo>
                    <a:pt x="146085" y="5985879"/>
                  </a:lnTo>
                  <a:lnTo>
                    <a:pt x="174702" y="6021316"/>
                  </a:lnTo>
                  <a:lnTo>
                    <a:pt x="204778" y="6055483"/>
                  </a:lnTo>
                  <a:lnTo>
                    <a:pt x="236264" y="6088333"/>
                  </a:lnTo>
                  <a:lnTo>
                    <a:pt x="269114" y="6119820"/>
                  </a:lnTo>
                  <a:lnTo>
                    <a:pt x="303281" y="6149895"/>
                  </a:lnTo>
                  <a:lnTo>
                    <a:pt x="338718" y="6178512"/>
                  </a:lnTo>
                  <a:lnTo>
                    <a:pt x="375377" y="6205625"/>
                  </a:lnTo>
                  <a:lnTo>
                    <a:pt x="413212" y="6231185"/>
                  </a:lnTo>
                  <a:lnTo>
                    <a:pt x="452175" y="6255146"/>
                  </a:lnTo>
                  <a:lnTo>
                    <a:pt x="492220" y="6277460"/>
                  </a:lnTo>
                  <a:lnTo>
                    <a:pt x="533299" y="6298081"/>
                  </a:lnTo>
                  <a:lnTo>
                    <a:pt x="575366" y="6316962"/>
                  </a:lnTo>
                  <a:lnTo>
                    <a:pt x="618372" y="6334055"/>
                  </a:lnTo>
                  <a:lnTo>
                    <a:pt x="662272" y="6349313"/>
                  </a:lnTo>
                  <a:lnTo>
                    <a:pt x="707017" y="6362690"/>
                  </a:lnTo>
                  <a:lnTo>
                    <a:pt x="752562" y="6374138"/>
                  </a:lnTo>
                  <a:lnTo>
                    <a:pt x="798858" y="6383610"/>
                  </a:lnTo>
                  <a:lnTo>
                    <a:pt x="845859" y="6391059"/>
                  </a:lnTo>
                  <a:lnTo>
                    <a:pt x="893518" y="6396438"/>
                  </a:lnTo>
                  <a:lnTo>
                    <a:pt x="941787" y="6399700"/>
                  </a:lnTo>
                  <a:lnTo>
                    <a:pt x="990620" y="6400798"/>
                  </a:lnTo>
                  <a:lnTo>
                    <a:pt x="8000977" y="6400798"/>
                  </a:lnTo>
                  <a:lnTo>
                    <a:pt x="8049810" y="6399700"/>
                  </a:lnTo>
                  <a:lnTo>
                    <a:pt x="8098079" y="6396438"/>
                  </a:lnTo>
                  <a:lnTo>
                    <a:pt x="8145738" y="6391059"/>
                  </a:lnTo>
                  <a:lnTo>
                    <a:pt x="8192739" y="6383610"/>
                  </a:lnTo>
                  <a:lnTo>
                    <a:pt x="8239036" y="6374138"/>
                  </a:lnTo>
                  <a:lnTo>
                    <a:pt x="8284580" y="6362690"/>
                  </a:lnTo>
                  <a:lnTo>
                    <a:pt x="8329326" y="6349313"/>
                  </a:lnTo>
                  <a:lnTo>
                    <a:pt x="8373225" y="6334055"/>
                  </a:lnTo>
                  <a:lnTo>
                    <a:pt x="8416232" y="6316962"/>
                  </a:lnTo>
                  <a:lnTo>
                    <a:pt x="8458298" y="6298081"/>
                  </a:lnTo>
                  <a:lnTo>
                    <a:pt x="8499377" y="6277460"/>
                  </a:lnTo>
                  <a:lnTo>
                    <a:pt x="8539422" y="6255146"/>
                  </a:lnTo>
                  <a:lnTo>
                    <a:pt x="8578386" y="6231185"/>
                  </a:lnTo>
                  <a:lnTo>
                    <a:pt x="8616220" y="6205625"/>
                  </a:lnTo>
                  <a:lnTo>
                    <a:pt x="8652880" y="6178512"/>
                  </a:lnTo>
                  <a:lnTo>
                    <a:pt x="8688316" y="6149895"/>
                  </a:lnTo>
                  <a:lnTo>
                    <a:pt x="8722483" y="6119820"/>
                  </a:lnTo>
                  <a:lnTo>
                    <a:pt x="8755334" y="6088333"/>
                  </a:lnTo>
                  <a:lnTo>
                    <a:pt x="8786820" y="6055483"/>
                  </a:lnTo>
                  <a:lnTo>
                    <a:pt x="8816895" y="6021316"/>
                  </a:lnTo>
                  <a:lnTo>
                    <a:pt x="8845513" y="5985879"/>
                  </a:lnTo>
                  <a:lnTo>
                    <a:pt x="8872625" y="5949220"/>
                  </a:lnTo>
                  <a:lnTo>
                    <a:pt x="8898185" y="5911385"/>
                  </a:lnTo>
                  <a:lnTo>
                    <a:pt x="8922146" y="5872422"/>
                  </a:lnTo>
                  <a:lnTo>
                    <a:pt x="8944460" y="5832377"/>
                  </a:lnTo>
                  <a:lnTo>
                    <a:pt x="8965082" y="5791298"/>
                  </a:lnTo>
                  <a:lnTo>
                    <a:pt x="8983962" y="5749232"/>
                  </a:lnTo>
                  <a:lnTo>
                    <a:pt x="9001055" y="5706225"/>
                  </a:lnTo>
                  <a:lnTo>
                    <a:pt x="9016314" y="5662326"/>
                  </a:lnTo>
                  <a:lnTo>
                    <a:pt x="9029690" y="5617580"/>
                  </a:lnTo>
                  <a:lnTo>
                    <a:pt x="9041138" y="5572036"/>
                  </a:lnTo>
                  <a:lnTo>
                    <a:pt x="9050610" y="5525739"/>
                  </a:lnTo>
                  <a:lnTo>
                    <a:pt x="9058059" y="5478738"/>
                  </a:lnTo>
                  <a:lnTo>
                    <a:pt x="9063438" y="5431079"/>
                  </a:lnTo>
                  <a:lnTo>
                    <a:pt x="9066700" y="5382810"/>
                  </a:lnTo>
                  <a:lnTo>
                    <a:pt x="9067798" y="5333977"/>
                  </a:lnTo>
                  <a:lnTo>
                    <a:pt x="9067798" y="1066820"/>
                  </a:lnTo>
                  <a:lnTo>
                    <a:pt x="9066700" y="1017987"/>
                  </a:lnTo>
                  <a:lnTo>
                    <a:pt x="9063438" y="969717"/>
                  </a:lnTo>
                  <a:lnTo>
                    <a:pt x="9058059" y="922059"/>
                  </a:lnTo>
                  <a:lnTo>
                    <a:pt x="9050610" y="875058"/>
                  </a:lnTo>
                  <a:lnTo>
                    <a:pt x="9041138" y="828761"/>
                  </a:lnTo>
                  <a:lnTo>
                    <a:pt x="9029690" y="783217"/>
                  </a:lnTo>
                  <a:lnTo>
                    <a:pt x="9016314" y="738471"/>
                  </a:lnTo>
                  <a:lnTo>
                    <a:pt x="9001055" y="694572"/>
                  </a:lnTo>
                  <a:lnTo>
                    <a:pt x="8983962" y="651565"/>
                  </a:lnTo>
                  <a:lnTo>
                    <a:pt x="8965082" y="609499"/>
                  </a:lnTo>
                  <a:lnTo>
                    <a:pt x="8944460" y="568420"/>
                  </a:lnTo>
                  <a:lnTo>
                    <a:pt x="8922146" y="528375"/>
                  </a:lnTo>
                  <a:lnTo>
                    <a:pt x="8898185" y="489412"/>
                  </a:lnTo>
                  <a:lnTo>
                    <a:pt x="8872625" y="451577"/>
                  </a:lnTo>
                  <a:lnTo>
                    <a:pt x="8845513" y="414918"/>
                  </a:lnTo>
                  <a:lnTo>
                    <a:pt x="8816895" y="379481"/>
                  </a:lnTo>
                  <a:lnTo>
                    <a:pt x="8786820" y="345314"/>
                  </a:lnTo>
                  <a:lnTo>
                    <a:pt x="8755334" y="312464"/>
                  </a:lnTo>
                  <a:lnTo>
                    <a:pt x="8722483" y="280978"/>
                  </a:lnTo>
                  <a:lnTo>
                    <a:pt x="8688316" y="250902"/>
                  </a:lnTo>
                  <a:lnTo>
                    <a:pt x="8652880" y="222285"/>
                  </a:lnTo>
                  <a:lnTo>
                    <a:pt x="8616220" y="195173"/>
                  </a:lnTo>
                  <a:lnTo>
                    <a:pt x="8578386" y="169613"/>
                  </a:lnTo>
                  <a:lnTo>
                    <a:pt x="8539422" y="145652"/>
                  </a:lnTo>
                  <a:lnTo>
                    <a:pt x="8499377" y="123337"/>
                  </a:lnTo>
                  <a:lnTo>
                    <a:pt x="8458298" y="102716"/>
                  </a:lnTo>
                  <a:lnTo>
                    <a:pt x="8416232" y="83836"/>
                  </a:lnTo>
                  <a:lnTo>
                    <a:pt x="8373225" y="66742"/>
                  </a:lnTo>
                  <a:lnTo>
                    <a:pt x="8329326" y="51484"/>
                  </a:lnTo>
                  <a:lnTo>
                    <a:pt x="8284580" y="38107"/>
                  </a:lnTo>
                  <a:lnTo>
                    <a:pt x="8239036" y="26659"/>
                  </a:lnTo>
                  <a:lnTo>
                    <a:pt x="8192739" y="17187"/>
                  </a:lnTo>
                  <a:lnTo>
                    <a:pt x="8145738" y="9738"/>
                  </a:lnTo>
                  <a:lnTo>
                    <a:pt x="8098079" y="4359"/>
                  </a:lnTo>
                  <a:lnTo>
                    <a:pt x="8049810" y="1097"/>
                  </a:lnTo>
                  <a:lnTo>
                    <a:pt x="80009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2401"/>
              <a:ext cx="9067800" cy="6400800"/>
            </a:xfrm>
            <a:custGeom>
              <a:avLst/>
              <a:gdLst/>
              <a:ahLst/>
              <a:cxnLst/>
              <a:rect l="l" t="t" r="r" b="b"/>
              <a:pathLst>
                <a:path w="9067800" h="6400800">
                  <a:moveTo>
                    <a:pt x="0" y="670778"/>
                  </a:moveTo>
                  <a:lnTo>
                    <a:pt x="26516" y="609499"/>
                  </a:lnTo>
                  <a:lnTo>
                    <a:pt x="47137" y="568420"/>
                  </a:lnTo>
                  <a:lnTo>
                    <a:pt x="69452" y="528375"/>
                  </a:lnTo>
                  <a:lnTo>
                    <a:pt x="93413" y="489412"/>
                  </a:lnTo>
                  <a:lnTo>
                    <a:pt x="118973" y="451577"/>
                  </a:lnTo>
                  <a:lnTo>
                    <a:pt x="146085" y="414918"/>
                  </a:lnTo>
                  <a:lnTo>
                    <a:pt x="174702" y="379481"/>
                  </a:lnTo>
                  <a:lnTo>
                    <a:pt x="204778" y="345314"/>
                  </a:lnTo>
                  <a:lnTo>
                    <a:pt x="236264" y="312464"/>
                  </a:lnTo>
                  <a:lnTo>
                    <a:pt x="269114" y="280978"/>
                  </a:lnTo>
                  <a:lnTo>
                    <a:pt x="303281" y="250902"/>
                  </a:lnTo>
                  <a:lnTo>
                    <a:pt x="338718" y="222285"/>
                  </a:lnTo>
                  <a:lnTo>
                    <a:pt x="375377" y="195173"/>
                  </a:lnTo>
                  <a:lnTo>
                    <a:pt x="413212" y="169613"/>
                  </a:lnTo>
                  <a:lnTo>
                    <a:pt x="452175" y="145652"/>
                  </a:lnTo>
                  <a:lnTo>
                    <a:pt x="492220" y="123337"/>
                  </a:lnTo>
                  <a:lnTo>
                    <a:pt x="533299" y="102716"/>
                  </a:lnTo>
                  <a:lnTo>
                    <a:pt x="575365" y="83836"/>
                  </a:lnTo>
                  <a:lnTo>
                    <a:pt x="618372" y="66743"/>
                  </a:lnTo>
                  <a:lnTo>
                    <a:pt x="662271" y="51484"/>
                  </a:lnTo>
                  <a:lnTo>
                    <a:pt x="707017" y="38107"/>
                  </a:lnTo>
                  <a:lnTo>
                    <a:pt x="752561" y="26659"/>
                  </a:lnTo>
                  <a:lnTo>
                    <a:pt x="798858" y="17187"/>
                  </a:lnTo>
                  <a:lnTo>
                    <a:pt x="845859" y="9738"/>
                  </a:lnTo>
                  <a:lnTo>
                    <a:pt x="893518" y="4359"/>
                  </a:lnTo>
                  <a:lnTo>
                    <a:pt x="941787" y="1097"/>
                  </a:lnTo>
                  <a:lnTo>
                    <a:pt x="990620" y="0"/>
                  </a:lnTo>
                  <a:lnTo>
                    <a:pt x="8000976" y="0"/>
                  </a:lnTo>
                  <a:lnTo>
                    <a:pt x="8049809" y="1097"/>
                  </a:lnTo>
                  <a:lnTo>
                    <a:pt x="8098079" y="4359"/>
                  </a:lnTo>
                  <a:lnTo>
                    <a:pt x="8145738" y="9738"/>
                  </a:lnTo>
                  <a:lnTo>
                    <a:pt x="8192739" y="17187"/>
                  </a:lnTo>
                  <a:lnTo>
                    <a:pt x="8239035" y="26659"/>
                  </a:lnTo>
                  <a:lnTo>
                    <a:pt x="8284580" y="38107"/>
                  </a:lnTo>
                  <a:lnTo>
                    <a:pt x="8329325" y="51484"/>
                  </a:lnTo>
                  <a:lnTo>
                    <a:pt x="8373225" y="66743"/>
                  </a:lnTo>
                  <a:lnTo>
                    <a:pt x="8416231" y="83836"/>
                  </a:lnTo>
                  <a:lnTo>
                    <a:pt x="8458297" y="102716"/>
                  </a:lnTo>
                  <a:lnTo>
                    <a:pt x="8499377" y="123337"/>
                  </a:lnTo>
                  <a:lnTo>
                    <a:pt x="8539421" y="145652"/>
                  </a:lnTo>
                  <a:lnTo>
                    <a:pt x="8578385" y="169613"/>
                  </a:lnTo>
                  <a:lnTo>
                    <a:pt x="8616219" y="195173"/>
                  </a:lnTo>
                  <a:lnTo>
                    <a:pt x="8652879" y="222285"/>
                  </a:lnTo>
                  <a:lnTo>
                    <a:pt x="8688315" y="250902"/>
                  </a:lnTo>
                  <a:lnTo>
                    <a:pt x="8722482" y="280978"/>
                  </a:lnTo>
                  <a:lnTo>
                    <a:pt x="8755333" y="312464"/>
                  </a:lnTo>
                  <a:lnTo>
                    <a:pt x="8786819" y="345314"/>
                  </a:lnTo>
                  <a:lnTo>
                    <a:pt x="8816894" y="379481"/>
                  </a:lnTo>
                  <a:lnTo>
                    <a:pt x="8845512" y="414918"/>
                  </a:lnTo>
                  <a:lnTo>
                    <a:pt x="8872624" y="451577"/>
                  </a:lnTo>
                  <a:lnTo>
                    <a:pt x="8898184" y="489412"/>
                  </a:lnTo>
                  <a:lnTo>
                    <a:pt x="8922145" y="528375"/>
                  </a:lnTo>
                  <a:lnTo>
                    <a:pt x="8944459" y="568420"/>
                  </a:lnTo>
                  <a:lnTo>
                    <a:pt x="8965080" y="609499"/>
                  </a:lnTo>
                  <a:lnTo>
                    <a:pt x="8983961" y="651565"/>
                  </a:lnTo>
                  <a:lnTo>
                    <a:pt x="9001054" y="694572"/>
                  </a:lnTo>
                  <a:lnTo>
                    <a:pt x="9016313" y="738471"/>
                  </a:lnTo>
                  <a:lnTo>
                    <a:pt x="9029689" y="783217"/>
                  </a:lnTo>
                  <a:lnTo>
                    <a:pt x="9041137" y="828761"/>
                  </a:lnTo>
                  <a:lnTo>
                    <a:pt x="9050609" y="875058"/>
                  </a:lnTo>
                  <a:lnTo>
                    <a:pt x="9058058" y="922059"/>
                  </a:lnTo>
                  <a:lnTo>
                    <a:pt x="9063437" y="969718"/>
                  </a:lnTo>
                  <a:lnTo>
                    <a:pt x="9066699" y="1017987"/>
                  </a:lnTo>
                  <a:lnTo>
                    <a:pt x="9067797" y="1066820"/>
                  </a:lnTo>
                  <a:lnTo>
                    <a:pt x="9067797" y="5333977"/>
                  </a:lnTo>
                  <a:lnTo>
                    <a:pt x="9066699" y="5382810"/>
                  </a:lnTo>
                  <a:lnTo>
                    <a:pt x="9063437" y="5431079"/>
                  </a:lnTo>
                  <a:lnTo>
                    <a:pt x="9058058" y="5478738"/>
                  </a:lnTo>
                  <a:lnTo>
                    <a:pt x="9050609" y="5525739"/>
                  </a:lnTo>
                  <a:lnTo>
                    <a:pt x="9041137" y="5572036"/>
                  </a:lnTo>
                  <a:lnTo>
                    <a:pt x="9029689" y="5617580"/>
                  </a:lnTo>
                  <a:lnTo>
                    <a:pt x="9016313" y="5662326"/>
                  </a:lnTo>
                  <a:lnTo>
                    <a:pt x="9001054" y="5706225"/>
                  </a:lnTo>
                  <a:lnTo>
                    <a:pt x="8983961" y="5749232"/>
                  </a:lnTo>
                  <a:lnTo>
                    <a:pt x="8965080" y="5791298"/>
                  </a:lnTo>
                  <a:lnTo>
                    <a:pt x="8944459" y="5832377"/>
                  </a:lnTo>
                  <a:lnTo>
                    <a:pt x="8922145" y="5872422"/>
                  </a:lnTo>
                  <a:lnTo>
                    <a:pt x="8898184" y="5911385"/>
                  </a:lnTo>
                  <a:lnTo>
                    <a:pt x="8872624" y="5949220"/>
                  </a:lnTo>
                  <a:lnTo>
                    <a:pt x="8845512" y="5985879"/>
                  </a:lnTo>
                  <a:lnTo>
                    <a:pt x="8816894" y="6021316"/>
                  </a:lnTo>
                  <a:lnTo>
                    <a:pt x="8786819" y="6055483"/>
                  </a:lnTo>
                  <a:lnTo>
                    <a:pt x="8755333" y="6088333"/>
                  </a:lnTo>
                  <a:lnTo>
                    <a:pt x="8722482" y="6119819"/>
                  </a:lnTo>
                  <a:lnTo>
                    <a:pt x="8688315" y="6149895"/>
                  </a:lnTo>
                  <a:lnTo>
                    <a:pt x="8652879" y="6178512"/>
                  </a:lnTo>
                  <a:lnTo>
                    <a:pt x="8616219" y="6205624"/>
                  </a:lnTo>
                  <a:lnTo>
                    <a:pt x="8578385" y="6231184"/>
                  </a:lnTo>
                  <a:lnTo>
                    <a:pt x="8539421" y="6255145"/>
                  </a:lnTo>
                  <a:lnTo>
                    <a:pt x="8499377" y="6277460"/>
                  </a:lnTo>
                  <a:lnTo>
                    <a:pt x="8458297" y="6298081"/>
                  </a:lnTo>
                  <a:lnTo>
                    <a:pt x="8416231" y="6316962"/>
                  </a:lnTo>
                  <a:lnTo>
                    <a:pt x="8373225" y="6334055"/>
                  </a:lnTo>
                  <a:lnTo>
                    <a:pt x="8329325" y="6349313"/>
                  </a:lnTo>
                  <a:lnTo>
                    <a:pt x="8284580" y="6362690"/>
                  </a:lnTo>
                  <a:lnTo>
                    <a:pt x="8239035" y="6374138"/>
                  </a:lnTo>
                  <a:lnTo>
                    <a:pt x="8192739" y="6383610"/>
                  </a:lnTo>
                  <a:lnTo>
                    <a:pt x="8145738" y="6391059"/>
                  </a:lnTo>
                  <a:lnTo>
                    <a:pt x="8098079" y="6396438"/>
                  </a:lnTo>
                  <a:lnTo>
                    <a:pt x="8049809" y="6399700"/>
                  </a:lnTo>
                  <a:lnTo>
                    <a:pt x="8000976" y="6400798"/>
                  </a:lnTo>
                  <a:lnTo>
                    <a:pt x="990620" y="6400798"/>
                  </a:lnTo>
                  <a:lnTo>
                    <a:pt x="941787" y="6399700"/>
                  </a:lnTo>
                  <a:lnTo>
                    <a:pt x="893518" y="6396438"/>
                  </a:lnTo>
                  <a:lnTo>
                    <a:pt x="845859" y="6391059"/>
                  </a:lnTo>
                  <a:lnTo>
                    <a:pt x="798858" y="6383610"/>
                  </a:lnTo>
                  <a:lnTo>
                    <a:pt x="752561" y="6374138"/>
                  </a:lnTo>
                  <a:lnTo>
                    <a:pt x="707017" y="6362690"/>
                  </a:lnTo>
                  <a:lnTo>
                    <a:pt x="662271" y="6349313"/>
                  </a:lnTo>
                  <a:lnTo>
                    <a:pt x="618372" y="6334055"/>
                  </a:lnTo>
                  <a:lnTo>
                    <a:pt x="575365" y="6316962"/>
                  </a:lnTo>
                  <a:lnTo>
                    <a:pt x="533299" y="6298081"/>
                  </a:lnTo>
                  <a:lnTo>
                    <a:pt x="492220" y="6277460"/>
                  </a:lnTo>
                  <a:lnTo>
                    <a:pt x="452175" y="6255145"/>
                  </a:lnTo>
                  <a:lnTo>
                    <a:pt x="413212" y="6231184"/>
                  </a:lnTo>
                  <a:lnTo>
                    <a:pt x="375377" y="6205624"/>
                  </a:lnTo>
                  <a:lnTo>
                    <a:pt x="338718" y="6178512"/>
                  </a:lnTo>
                  <a:lnTo>
                    <a:pt x="303281" y="6149895"/>
                  </a:lnTo>
                  <a:lnTo>
                    <a:pt x="269114" y="6119819"/>
                  </a:lnTo>
                  <a:lnTo>
                    <a:pt x="236264" y="6088333"/>
                  </a:lnTo>
                  <a:lnTo>
                    <a:pt x="204778" y="6055483"/>
                  </a:lnTo>
                  <a:lnTo>
                    <a:pt x="174702" y="6021316"/>
                  </a:lnTo>
                  <a:lnTo>
                    <a:pt x="146085" y="5985879"/>
                  </a:lnTo>
                  <a:lnTo>
                    <a:pt x="118973" y="5949220"/>
                  </a:lnTo>
                  <a:lnTo>
                    <a:pt x="93413" y="5911385"/>
                  </a:lnTo>
                  <a:lnTo>
                    <a:pt x="69452" y="5872422"/>
                  </a:lnTo>
                  <a:lnTo>
                    <a:pt x="47137" y="5832377"/>
                  </a:lnTo>
                  <a:lnTo>
                    <a:pt x="26516" y="5791298"/>
                  </a:lnTo>
                  <a:lnTo>
                    <a:pt x="7636" y="5749232"/>
                  </a:lnTo>
                  <a:lnTo>
                    <a:pt x="0" y="5730019"/>
                  </a:lnTo>
                </a:path>
              </a:pathLst>
            </a:custGeom>
            <a:ln w="9524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454" y="1191031"/>
              <a:ext cx="8612907" cy="26054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961014"/>
              <a:ext cx="9143998" cy="17830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987944"/>
              <a:ext cx="9144000" cy="1682114"/>
            </a:xfrm>
            <a:custGeom>
              <a:avLst/>
              <a:gdLst/>
              <a:ahLst/>
              <a:cxnLst/>
              <a:rect l="l" t="t" r="r" b="b"/>
              <a:pathLst>
                <a:path w="9144000" h="1682114">
                  <a:moveTo>
                    <a:pt x="8704882" y="1401456"/>
                  </a:moveTo>
                  <a:lnTo>
                    <a:pt x="2553267" y="1401456"/>
                  </a:lnTo>
                  <a:lnTo>
                    <a:pt x="6577697" y="1401457"/>
                  </a:lnTo>
                  <a:lnTo>
                    <a:pt x="6654114" y="1403960"/>
                  </a:lnTo>
                  <a:lnTo>
                    <a:pt x="6722783" y="1411024"/>
                  </a:lnTo>
                  <a:lnTo>
                    <a:pt x="6780961" y="1421981"/>
                  </a:lnTo>
                  <a:lnTo>
                    <a:pt x="6825909" y="1436164"/>
                  </a:lnTo>
                  <a:lnTo>
                    <a:pt x="6865156" y="1471532"/>
                  </a:lnTo>
                  <a:lnTo>
                    <a:pt x="6854888" y="1490160"/>
                  </a:lnTo>
                  <a:lnTo>
                    <a:pt x="6780961" y="1521082"/>
                  </a:lnTo>
                  <a:lnTo>
                    <a:pt x="6722783" y="1532039"/>
                  </a:lnTo>
                  <a:lnTo>
                    <a:pt x="6654114" y="1539104"/>
                  </a:lnTo>
                  <a:lnTo>
                    <a:pt x="6577697" y="1541607"/>
                  </a:lnTo>
                  <a:lnTo>
                    <a:pt x="6002739" y="1541607"/>
                  </a:lnTo>
                  <a:lnTo>
                    <a:pt x="5926360" y="1544109"/>
                  </a:lnTo>
                  <a:lnTo>
                    <a:pt x="5857692" y="1551173"/>
                  </a:lnTo>
                  <a:lnTo>
                    <a:pt x="5799513" y="1562130"/>
                  </a:lnTo>
                  <a:lnTo>
                    <a:pt x="5754565" y="1576313"/>
                  </a:lnTo>
                  <a:lnTo>
                    <a:pt x="5715318" y="1611681"/>
                  </a:lnTo>
                  <a:lnTo>
                    <a:pt x="5725587" y="1630309"/>
                  </a:lnTo>
                  <a:lnTo>
                    <a:pt x="5799513" y="1661231"/>
                  </a:lnTo>
                  <a:lnTo>
                    <a:pt x="5857692" y="1672188"/>
                  </a:lnTo>
                  <a:lnTo>
                    <a:pt x="5926360" y="1679252"/>
                  </a:lnTo>
                  <a:lnTo>
                    <a:pt x="6002778" y="1681756"/>
                  </a:lnTo>
                  <a:lnTo>
                    <a:pt x="9143998" y="1681755"/>
                  </a:lnTo>
                  <a:lnTo>
                    <a:pt x="9143998" y="1669060"/>
                  </a:lnTo>
                  <a:lnTo>
                    <a:pt x="8934858" y="1541607"/>
                  </a:lnTo>
                  <a:lnTo>
                    <a:pt x="6577697" y="1541607"/>
                  </a:lnTo>
                  <a:lnTo>
                    <a:pt x="8934856" y="1541606"/>
                  </a:lnTo>
                  <a:lnTo>
                    <a:pt x="8704882" y="1401456"/>
                  </a:lnTo>
                  <a:close/>
                </a:path>
                <a:path w="9144000" h="1682114">
                  <a:moveTo>
                    <a:pt x="9143998" y="280297"/>
                  </a:moveTo>
                  <a:lnTo>
                    <a:pt x="0" y="280297"/>
                  </a:lnTo>
                  <a:lnTo>
                    <a:pt x="0" y="300935"/>
                  </a:lnTo>
                  <a:lnTo>
                    <a:pt x="1115971" y="981026"/>
                  </a:lnTo>
                  <a:lnTo>
                    <a:pt x="0" y="1661117"/>
                  </a:lnTo>
                  <a:lnTo>
                    <a:pt x="0" y="1681755"/>
                  </a:lnTo>
                  <a:lnTo>
                    <a:pt x="3128186" y="1681755"/>
                  </a:lnTo>
                  <a:lnTo>
                    <a:pt x="3204604" y="1679251"/>
                  </a:lnTo>
                  <a:lnTo>
                    <a:pt x="3273272" y="1672187"/>
                  </a:lnTo>
                  <a:lnTo>
                    <a:pt x="3331450" y="1661230"/>
                  </a:lnTo>
                  <a:lnTo>
                    <a:pt x="3376399" y="1647048"/>
                  </a:lnTo>
                  <a:lnTo>
                    <a:pt x="3415645" y="1611680"/>
                  </a:lnTo>
                  <a:lnTo>
                    <a:pt x="3405377" y="1593051"/>
                  </a:lnTo>
                  <a:lnTo>
                    <a:pt x="3331450" y="1562129"/>
                  </a:lnTo>
                  <a:lnTo>
                    <a:pt x="3273272" y="1551172"/>
                  </a:lnTo>
                  <a:lnTo>
                    <a:pt x="3204604" y="1544107"/>
                  </a:lnTo>
                  <a:lnTo>
                    <a:pt x="3128225" y="1541606"/>
                  </a:lnTo>
                  <a:lnTo>
                    <a:pt x="2553228" y="1541604"/>
                  </a:lnTo>
                  <a:lnTo>
                    <a:pt x="2476849" y="1539102"/>
                  </a:lnTo>
                  <a:lnTo>
                    <a:pt x="2408181" y="1532038"/>
                  </a:lnTo>
                  <a:lnTo>
                    <a:pt x="2350003" y="1521081"/>
                  </a:lnTo>
                  <a:lnTo>
                    <a:pt x="2305055" y="1506899"/>
                  </a:lnTo>
                  <a:lnTo>
                    <a:pt x="2265808" y="1471531"/>
                  </a:lnTo>
                  <a:lnTo>
                    <a:pt x="2276076" y="1452902"/>
                  </a:lnTo>
                  <a:lnTo>
                    <a:pt x="2350003" y="1421980"/>
                  </a:lnTo>
                  <a:lnTo>
                    <a:pt x="2408181" y="1411023"/>
                  </a:lnTo>
                  <a:lnTo>
                    <a:pt x="2476849" y="1403959"/>
                  </a:lnTo>
                  <a:lnTo>
                    <a:pt x="2553267" y="1401456"/>
                  </a:lnTo>
                  <a:lnTo>
                    <a:pt x="8704882" y="1401456"/>
                  </a:lnTo>
                  <a:lnTo>
                    <a:pt x="8014992" y="981026"/>
                  </a:lnTo>
                  <a:lnTo>
                    <a:pt x="9143998" y="292992"/>
                  </a:lnTo>
                  <a:lnTo>
                    <a:pt x="9143998" y="280297"/>
                  </a:lnTo>
                  <a:close/>
                </a:path>
                <a:path w="9144000" h="1682114">
                  <a:moveTo>
                    <a:pt x="3128186" y="1541604"/>
                  </a:moveTo>
                  <a:lnTo>
                    <a:pt x="2553267" y="1541606"/>
                  </a:lnTo>
                  <a:lnTo>
                    <a:pt x="3128225" y="1541606"/>
                  </a:lnTo>
                  <a:close/>
                </a:path>
                <a:path w="9144000" h="1682114">
                  <a:moveTo>
                    <a:pt x="6577697" y="0"/>
                  </a:moveTo>
                  <a:lnTo>
                    <a:pt x="2553267" y="0"/>
                  </a:lnTo>
                  <a:lnTo>
                    <a:pt x="2476849" y="2503"/>
                  </a:lnTo>
                  <a:lnTo>
                    <a:pt x="2408181" y="9567"/>
                  </a:lnTo>
                  <a:lnTo>
                    <a:pt x="2350003" y="20524"/>
                  </a:lnTo>
                  <a:lnTo>
                    <a:pt x="2305055" y="34706"/>
                  </a:lnTo>
                  <a:lnTo>
                    <a:pt x="2265808" y="70074"/>
                  </a:lnTo>
                  <a:lnTo>
                    <a:pt x="2265808" y="280297"/>
                  </a:lnTo>
                  <a:lnTo>
                    <a:pt x="6865156" y="280297"/>
                  </a:lnTo>
                  <a:lnTo>
                    <a:pt x="6865156" y="70074"/>
                  </a:lnTo>
                  <a:lnTo>
                    <a:pt x="6825909" y="34706"/>
                  </a:lnTo>
                  <a:lnTo>
                    <a:pt x="6780961" y="20524"/>
                  </a:lnTo>
                  <a:lnTo>
                    <a:pt x="6722783" y="9567"/>
                  </a:lnTo>
                  <a:lnTo>
                    <a:pt x="6654114" y="2503"/>
                  </a:lnTo>
                  <a:lnTo>
                    <a:pt x="6577697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65808" y="5389401"/>
              <a:ext cx="4599940" cy="210820"/>
            </a:xfrm>
            <a:custGeom>
              <a:avLst/>
              <a:gdLst/>
              <a:ahLst/>
              <a:cxnLst/>
              <a:rect l="l" t="t" r="r" b="b"/>
              <a:pathLst>
                <a:path w="4599940" h="210820">
                  <a:moveTo>
                    <a:pt x="1149837" y="140148"/>
                  </a:moveTo>
                  <a:lnTo>
                    <a:pt x="862378" y="140148"/>
                  </a:lnTo>
                  <a:lnTo>
                    <a:pt x="938796" y="142651"/>
                  </a:lnTo>
                  <a:lnTo>
                    <a:pt x="1007464" y="149715"/>
                  </a:lnTo>
                  <a:lnTo>
                    <a:pt x="1065642" y="160673"/>
                  </a:lnTo>
                  <a:lnTo>
                    <a:pt x="1110590" y="174855"/>
                  </a:lnTo>
                  <a:lnTo>
                    <a:pt x="1139569" y="191594"/>
                  </a:lnTo>
                  <a:lnTo>
                    <a:pt x="1149837" y="210223"/>
                  </a:lnTo>
                  <a:lnTo>
                    <a:pt x="1149837" y="140148"/>
                  </a:lnTo>
                  <a:close/>
                </a:path>
                <a:path w="4599940" h="210820">
                  <a:moveTo>
                    <a:pt x="287459" y="0"/>
                  </a:moveTo>
                  <a:lnTo>
                    <a:pt x="211041" y="2503"/>
                  </a:lnTo>
                  <a:lnTo>
                    <a:pt x="142373" y="9567"/>
                  </a:lnTo>
                  <a:lnTo>
                    <a:pt x="84195" y="20524"/>
                  </a:lnTo>
                  <a:lnTo>
                    <a:pt x="39246" y="34706"/>
                  </a:lnTo>
                  <a:lnTo>
                    <a:pt x="0" y="70074"/>
                  </a:lnTo>
                  <a:lnTo>
                    <a:pt x="10268" y="88703"/>
                  </a:lnTo>
                  <a:lnTo>
                    <a:pt x="84195" y="119624"/>
                  </a:lnTo>
                  <a:lnTo>
                    <a:pt x="142373" y="130582"/>
                  </a:lnTo>
                  <a:lnTo>
                    <a:pt x="211041" y="137646"/>
                  </a:lnTo>
                  <a:lnTo>
                    <a:pt x="287459" y="140149"/>
                  </a:lnTo>
                  <a:lnTo>
                    <a:pt x="1149837" y="140148"/>
                  </a:lnTo>
                  <a:lnTo>
                    <a:pt x="1149837" y="1"/>
                  </a:lnTo>
                  <a:lnTo>
                    <a:pt x="287459" y="0"/>
                  </a:lnTo>
                  <a:close/>
                </a:path>
                <a:path w="4599940" h="210820">
                  <a:moveTo>
                    <a:pt x="4311888" y="0"/>
                  </a:moveTo>
                  <a:lnTo>
                    <a:pt x="3449510" y="1"/>
                  </a:lnTo>
                  <a:lnTo>
                    <a:pt x="3449510" y="210223"/>
                  </a:lnTo>
                  <a:lnTo>
                    <a:pt x="3459778" y="191594"/>
                  </a:lnTo>
                  <a:lnTo>
                    <a:pt x="3488757" y="174855"/>
                  </a:lnTo>
                  <a:lnTo>
                    <a:pt x="3533705" y="160673"/>
                  </a:lnTo>
                  <a:lnTo>
                    <a:pt x="3591883" y="149715"/>
                  </a:lnTo>
                  <a:lnTo>
                    <a:pt x="3660552" y="142651"/>
                  </a:lnTo>
                  <a:lnTo>
                    <a:pt x="3736969" y="140148"/>
                  </a:lnTo>
                  <a:lnTo>
                    <a:pt x="4311927" y="140148"/>
                  </a:lnTo>
                  <a:lnTo>
                    <a:pt x="4388306" y="137646"/>
                  </a:lnTo>
                  <a:lnTo>
                    <a:pt x="4456974" y="130582"/>
                  </a:lnTo>
                  <a:lnTo>
                    <a:pt x="4515153" y="119624"/>
                  </a:lnTo>
                  <a:lnTo>
                    <a:pt x="4560101" y="105442"/>
                  </a:lnTo>
                  <a:lnTo>
                    <a:pt x="4599348" y="70074"/>
                  </a:lnTo>
                  <a:lnTo>
                    <a:pt x="4589079" y="51445"/>
                  </a:lnTo>
                  <a:lnTo>
                    <a:pt x="4560101" y="34706"/>
                  </a:lnTo>
                  <a:lnTo>
                    <a:pt x="4515153" y="20524"/>
                  </a:lnTo>
                  <a:lnTo>
                    <a:pt x="4456974" y="9567"/>
                  </a:lnTo>
                  <a:lnTo>
                    <a:pt x="4388306" y="2503"/>
                  </a:lnTo>
                  <a:lnTo>
                    <a:pt x="4311888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987944"/>
              <a:ext cx="9144000" cy="1682114"/>
            </a:xfrm>
            <a:custGeom>
              <a:avLst/>
              <a:gdLst/>
              <a:ahLst/>
              <a:cxnLst/>
              <a:rect l="l" t="t" r="r" b="b"/>
              <a:pathLst>
                <a:path w="9144000" h="1682114">
                  <a:moveTo>
                    <a:pt x="0" y="1661116"/>
                  </a:moveTo>
                  <a:lnTo>
                    <a:pt x="1115971" y="981026"/>
                  </a:lnTo>
                  <a:lnTo>
                    <a:pt x="0" y="300935"/>
                  </a:lnTo>
                </a:path>
                <a:path w="9144000" h="1682114">
                  <a:moveTo>
                    <a:pt x="0" y="280297"/>
                  </a:moveTo>
                  <a:lnTo>
                    <a:pt x="2265808" y="280297"/>
                  </a:lnTo>
                  <a:lnTo>
                    <a:pt x="2265808" y="70074"/>
                  </a:lnTo>
                  <a:lnTo>
                    <a:pt x="2276076" y="51446"/>
                  </a:lnTo>
                  <a:lnTo>
                    <a:pt x="2350003" y="20524"/>
                  </a:lnTo>
                  <a:lnTo>
                    <a:pt x="2408181" y="9567"/>
                  </a:lnTo>
                  <a:lnTo>
                    <a:pt x="2476849" y="2503"/>
                  </a:lnTo>
                  <a:lnTo>
                    <a:pt x="2553267" y="0"/>
                  </a:lnTo>
                  <a:lnTo>
                    <a:pt x="6577696" y="0"/>
                  </a:lnTo>
                  <a:lnTo>
                    <a:pt x="6654114" y="2503"/>
                  </a:lnTo>
                  <a:lnTo>
                    <a:pt x="6722782" y="9567"/>
                  </a:lnTo>
                  <a:lnTo>
                    <a:pt x="6780960" y="20524"/>
                  </a:lnTo>
                  <a:lnTo>
                    <a:pt x="6825908" y="34706"/>
                  </a:lnTo>
                  <a:lnTo>
                    <a:pt x="6865155" y="70074"/>
                  </a:lnTo>
                  <a:lnTo>
                    <a:pt x="6865155" y="280297"/>
                  </a:lnTo>
                  <a:lnTo>
                    <a:pt x="9143999" y="280297"/>
                  </a:lnTo>
                </a:path>
                <a:path w="9144000" h="1682114">
                  <a:moveTo>
                    <a:pt x="9143999" y="292991"/>
                  </a:moveTo>
                  <a:lnTo>
                    <a:pt x="8014991" y="981026"/>
                  </a:lnTo>
                  <a:lnTo>
                    <a:pt x="9143999" y="1669060"/>
                  </a:lnTo>
                </a:path>
                <a:path w="9144000" h="1682114">
                  <a:moveTo>
                    <a:pt x="9143999" y="1681754"/>
                  </a:moveTo>
                  <a:lnTo>
                    <a:pt x="6002777" y="1681754"/>
                  </a:lnTo>
                  <a:lnTo>
                    <a:pt x="5926359" y="1679251"/>
                  </a:lnTo>
                  <a:lnTo>
                    <a:pt x="5857691" y="1672187"/>
                  </a:lnTo>
                  <a:lnTo>
                    <a:pt x="5799513" y="1661229"/>
                  </a:lnTo>
                  <a:lnTo>
                    <a:pt x="5754565" y="1647047"/>
                  </a:lnTo>
                  <a:lnTo>
                    <a:pt x="5715318" y="1611679"/>
                  </a:lnTo>
                  <a:lnTo>
                    <a:pt x="5725586" y="1593051"/>
                  </a:lnTo>
                  <a:lnTo>
                    <a:pt x="5799513" y="1562129"/>
                  </a:lnTo>
                  <a:lnTo>
                    <a:pt x="5857691" y="1551172"/>
                  </a:lnTo>
                  <a:lnTo>
                    <a:pt x="5926359" y="1544107"/>
                  </a:lnTo>
                  <a:lnTo>
                    <a:pt x="6002777" y="1541604"/>
                  </a:lnTo>
                  <a:lnTo>
                    <a:pt x="6577696" y="1541605"/>
                  </a:lnTo>
                  <a:lnTo>
                    <a:pt x="6654114" y="1539102"/>
                  </a:lnTo>
                  <a:lnTo>
                    <a:pt x="6722782" y="1532038"/>
                  </a:lnTo>
                  <a:lnTo>
                    <a:pt x="6780960" y="1521081"/>
                  </a:lnTo>
                  <a:lnTo>
                    <a:pt x="6825908" y="1506898"/>
                  </a:lnTo>
                  <a:lnTo>
                    <a:pt x="6865155" y="1471530"/>
                  </a:lnTo>
                  <a:lnTo>
                    <a:pt x="6854886" y="1452902"/>
                  </a:lnTo>
                  <a:lnTo>
                    <a:pt x="6780960" y="1421980"/>
                  </a:lnTo>
                  <a:lnTo>
                    <a:pt x="6722782" y="1411023"/>
                  </a:lnTo>
                  <a:lnTo>
                    <a:pt x="6654114" y="1403958"/>
                  </a:lnTo>
                  <a:lnTo>
                    <a:pt x="6577696" y="1401455"/>
                  </a:lnTo>
                  <a:lnTo>
                    <a:pt x="2553267" y="1401456"/>
                  </a:lnTo>
                  <a:lnTo>
                    <a:pt x="2476849" y="1403959"/>
                  </a:lnTo>
                  <a:lnTo>
                    <a:pt x="2408181" y="1411023"/>
                  </a:lnTo>
                  <a:lnTo>
                    <a:pt x="2350003" y="1421980"/>
                  </a:lnTo>
                  <a:lnTo>
                    <a:pt x="2305055" y="1436163"/>
                  </a:lnTo>
                  <a:lnTo>
                    <a:pt x="2265808" y="1471531"/>
                  </a:lnTo>
                  <a:lnTo>
                    <a:pt x="2276076" y="1490160"/>
                  </a:lnTo>
                  <a:lnTo>
                    <a:pt x="2350003" y="1521082"/>
                  </a:lnTo>
                  <a:lnTo>
                    <a:pt x="2408181" y="1532039"/>
                  </a:lnTo>
                  <a:lnTo>
                    <a:pt x="2476849" y="1539103"/>
                  </a:lnTo>
                  <a:lnTo>
                    <a:pt x="2553267" y="1541606"/>
                  </a:lnTo>
                  <a:lnTo>
                    <a:pt x="3128186" y="1541605"/>
                  </a:lnTo>
                  <a:lnTo>
                    <a:pt x="3204604" y="1544108"/>
                  </a:lnTo>
                  <a:lnTo>
                    <a:pt x="3273272" y="1551173"/>
                  </a:lnTo>
                  <a:lnTo>
                    <a:pt x="3331450" y="1562130"/>
                  </a:lnTo>
                  <a:lnTo>
                    <a:pt x="3376398" y="1576312"/>
                  </a:lnTo>
                  <a:lnTo>
                    <a:pt x="3415645" y="1611680"/>
                  </a:lnTo>
                  <a:lnTo>
                    <a:pt x="3405376" y="1630309"/>
                  </a:lnTo>
                  <a:lnTo>
                    <a:pt x="3331450" y="1661230"/>
                  </a:lnTo>
                  <a:lnTo>
                    <a:pt x="3273272" y="1672188"/>
                  </a:lnTo>
                  <a:lnTo>
                    <a:pt x="3204604" y="1679252"/>
                  </a:lnTo>
                  <a:lnTo>
                    <a:pt x="3128186" y="1681755"/>
                  </a:lnTo>
                  <a:lnTo>
                    <a:pt x="0" y="1681754"/>
                  </a:lnTo>
                </a:path>
                <a:path w="9144000" h="1682114">
                  <a:moveTo>
                    <a:pt x="3415645" y="1401456"/>
                  </a:moveTo>
                  <a:lnTo>
                    <a:pt x="3415645" y="1611679"/>
                  </a:lnTo>
                </a:path>
                <a:path w="9144000" h="1682114">
                  <a:moveTo>
                    <a:pt x="5715318" y="1611679"/>
                  </a:moveTo>
                  <a:lnTo>
                    <a:pt x="5715318" y="1401456"/>
                  </a:lnTo>
                </a:path>
                <a:path w="9144000" h="1682114">
                  <a:moveTo>
                    <a:pt x="2265808" y="1471530"/>
                  </a:moveTo>
                  <a:lnTo>
                    <a:pt x="2265808" y="280297"/>
                  </a:lnTo>
                </a:path>
                <a:path w="9144000" h="1682114">
                  <a:moveTo>
                    <a:pt x="6865155" y="280297"/>
                  </a:moveTo>
                  <a:lnTo>
                    <a:pt x="6865155" y="1471530"/>
                  </a:lnTo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39578" y="4493093"/>
            <a:ext cx="2582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2600"/>
                </a:solidFill>
                <a:latin typeface="Calibri"/>
                <a:cs typeface="Calibri"/>
              </a:rPr>
              <a:t>Questions</a:t>
            </a:r>
            <a:r>
              <a:rPr sz="2400" b="1" spc="-5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2600"/>
                </a:solidFill>
                <a:latin typeface="Calibri"/>
                <a:cs typeface="Calibri"/>
              </a:rPr>
              <a:t>Please!!!!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3288</Words>
  <Application>Microsoft Office PowerPoint</Application>
  <PresentationFormat>On-screen Show (4:3)</PresentationFormat>
  <Paragraphs>457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7" baseType="lpstr">
      <vt:lpstr>Arial</vt:lpstr>
      <vt:lpstr>Arial MT</vt:lpstr>
      <vt:lpstr>Calibri</vt:lpstr>
      <vt:lpstr>Calibri Light</vt:lpstr>
      <vt:lpstr>Comic Sans MS</vt:lpstr>
      <vt:lpstr>Symbol</vt:lpstr>
      <vt:lpstr>Times New Roman</vt:lpstr>
      <vt:lpstr>Verdana</vt:lpstr>
      <vt:lpstr>Wingdings</vt:lpstr>
      <vt:lpstr>Office Theme</vt:lpstr>
      <vt:lpstr>Chapter 3</vt:lpstr>
      <vt:lpstr>What is Software Architecture?</vt:lpstr>
      <vt:lpstr>Other Deﬁnitions of Software Architecture</vt:lpstr>
      <vt:lpstr>PowerPoint Presentation</vt:lpstr>
      <vt:lpstr>Architecture-Centric Design</vt:lpstr>
      <vt:lpstr>Software Architecture (contd)</vt:lpstr>
      <vt:lpstr>Architecture Business Cycle </vt:lpstr>
      <vt:lpstr>Where do Architectures come from?</vt:lpstr>
      <vt:lpstr>PowerPoint Presentation</vt:lpstr>
      <vt:lpstr>ARCHITECTURES INFLUENCED BY SYSTEM STAKEHOLDERS</vt:lpstr>
      <vt:lpstr>ARCHITECTURES INFLUENCED BY THE DEVELOPING ORGANIZATION</vt:lpstr>
      <vt:lpstr>ARCHITECTURES  INFLUENCED BY THE BACKGROUND AND EXPERIENCE OF THE ARCHITECTS </vt:lpstr>
      <vt:lpstr>ARCHITECTURES  INFLUENCED BY THE TECHNICAL ENVIRONMENT</vt:lpstr>
      <vt:lpstr>Ramifications Effect of the Various Influences on an Architecture</vt:lpstr>
      <vt:lpstr>Influences on the Architecture</vt:lpstr>
      <vt:lpstr>PowerPoint Presentation</vt:lpstr>
      <vt:lpstr>Architectures affect the factors, that Influence them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Software processes and ABC    Many activities are involved in creating SA, using that arch., to  realize design and then to implement or manage the system.  Software Architecture Activities are………    </vt:lpstr>
      <vt:lpstr>Creating the business case for the system</vt:lpstr>
      <vt:lpstr>Understanding the requirements </vt:lpstr>
      <vt:lpstr>Creating or selecting the architecture</vt:lpstr>
      <vt:lpstr>Communicating the architecture </vt:lpstr>
      <vt:lpstr>Analyzing or Evaluating the architecture</vt:lpstr>
      <vt:lpstr>PowerPoint Presentation</vt:lpstr>
      <vt:lpstr>PowerPoint Presentation</vt:lpstr>
      <vt:lpstr>PowerPoint Presentation</vt:lpstr>
      <vt:lpstr>The structural rules of thumb are:</vt:lpstr>
      <vt:lpstr>Components</vt:lpstr>
      <vt:lpstr>Connectors</vt:lpstr>
      <vt:lpstr>Conﬁguration/Topology</vt:lpstr>
      <vt:lpstr>Prescriptive vs. Descriptive Architecture</vt:lpstr>
      <vt:lpstr>Domain Speciﬁc Software Architecture</vt:lpstr>
      <vt:lpstr>Why Software Architecture is Important</vt:lpstr>
      <vt:lpstr>Why Software Architecture is Important</vt:lpstr>
      <vt:lpstr>Why Software Architecture is Important</vt:lpstr>
      <vt:lpstr>Role of Software Architect</vt:lpstr>
      <vt:lpstr>Architectural Design Process</vt:lpstr>
      <vt:lpstr>Sub-systems, Modules and Components</vt:lpstr>
      <vt:lpstr>Architecture Style</vt:lpstr>
      <vt:lpstr>Types of Architectural Styles</vt:lpstr>
      <vt:lpstr>Pipes-and-Filter</vt:lpstr>
      <vt:lpstr>Contd..</vt:lpstr>
      <vt:lpstr>Contd..</vt:lpstr>
      <vt:lpstr>Client-Server</vt:lpstr>
      <vt:lpstr>Contd..</vt:lpstr>
      <vt:lpstr>Peer-to-Peer (P2P)</vt:lpstr>
      <vt:lpstr>Event-Based Architecture</vt:lpstr>
      <vt:lpstr>Contd..</vt:lpstr>
      <vt:lpstr>Layering</vt:lpstr>
      <vt:lpstr>Contd..</vt:lpstr>
      <vt:lpstr>MVC (Model-View-Controller)</vt:lpstr>
      <vt:lpstr>MVC (Model-View-Controller)</vt:lpstr>
      <vt:lpstr>MVC (Model-View-Controller)</vt:lpstr>
      <vt:lpstr>MVC Beneﬁts</vt:lpstr>
      <vt:lpstr>PowerPoint Presentation</vt:lpstr>
      <vt:lpstr>Summary (MVC)</vt:lpstr>
      <vt:lpstr>Combining Architectural Styles</vt:lpstr>
      <vt:lpstr>Combination of Event-based, Client-Server, and  Repository Architecture Styles</vt:lpstr>
      <vt:lpstr>Four-Tier Architectures</vt:lpstr>
      <vt:lpstr>Architectural view models</vt:lpstr>
      <vt:lpstr>4+1 View Model of Architecture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cp:lastModifiedBy>Abena</cp:lastModifiedBy>
  <cp:revision>17</cp:revision>
  <dcterms:created xsi:type="dcterms:W3CDTF">2022-12-15T08:36:37Z</dcterms:created>
  <dcterms:modified xsi:type="dcterms:W3CDTF">2024-02-22T17:55:59Z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2022-12-15T00:00:00Z</vt:filetime>
  </property>
</Properties>
</file>