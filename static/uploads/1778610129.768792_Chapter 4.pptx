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2A16F-CD66-4C7E-A864-064532888039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3B5A9-C816-4E7C-BE51-8F5542856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3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3B5A9-C816-4E7C-BE51-8F5542856F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22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FCA9E-651A-FA24-FA6A-5C127E547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28B31-C1C9-ABAA-DB87-7BBC543C9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004FD-F59C-32E1-0FAA-CD1CD589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A9BC2-B636-5774-5A8A-E28B5D79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CBC8-B24C-B011-4DC5-4E75674B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60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395E-C746-F8AC-348A-32BB9455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A0F83-7AF2-BEC3-F5E4-006FC7D52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96F92-DA54-079C-589F-001FDDCF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CFC5A-EA9A-0AC3-DC23-D04EC003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C852E-B780-C8EB-4F71-2751542B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8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429E-A64F-3762-2CB3-A88F60ED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F4AD-2A18-6324-5870-9D8D30445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9F7E1-90A8-FEF3-C8A9-4712E111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994D-AF08-0695-94EF-03BC3183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1C258-B7A7-D385-AB40-04C15DC7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CD33-4283-A268-0243-7CE6A7F5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8066-2E7D-0A23-F328-65700C93E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ABF6F-B0F4-7E42-B7AC-668098F1A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942C8-1D99-E7D5-70CB-84CB9BCF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12CD0-B1A8-9465-8FF1-2CA27609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0CD1E-36A8-27D6-C819-2EEAA574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3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F1D5-F618-B24C-9BA2-C1D082ED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6F62F-95F6-B03E-50D4-05C6A47AE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6C27B-8912-6DDB-90CA-5AD41890A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5FBE6-CDC3-7FDC-06DB-30E358DAA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AB592-3A15-DDF1-3FCA-9FF6999E8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6E233-31C6-1E5A-E5FD-DD3C6A0B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B3A5C-7935-019F-C443-97F9860E5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0009E-536E-E195-CF86-573CC38A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5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A142-9B4B-AE6E-4CBF-A59A4E72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40BCC-8A17-7BC0-8EB3-D4F3A959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F5F47-3390-4878-8EB9-8BE3515D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6F7C4-ABF3-8836-509E-A8ED7C27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83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3EDDC-16C4-CFA1-4964-1D737724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53530-68E2-1F4D-0B60-443C2536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00F48-87CE-5F61-9F63-8CF92AE3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46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316E-7879-A080-01FE-B7DCDC1D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1B53C-E741-DAC2-FCB0-58E4D7146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119E7-645F-54B2-37E2-05694216B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38B8E-CD8D-140B-8DA5-CDFA7312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6AA20-2AC1-30A9-B829-A0A22A99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618B6-F6CC-83A8-2A5F-F3159B08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6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1F00-5678-1B5D-C1C5-3F6597DC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315BCB-3DF1-C762-E569-76631A9E1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EF85C-D3AC-7DD8-6F46-E206AE647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BF237-6149-94C5-EFA4-1D8D70B3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1296A-F209-5F0A-0D52-838CFAD7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69BAA-1BB2-75A3-EE84-9488D055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1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EEAF-2090-4A67-6699-06981CBC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DCE44-6D57-E3B2-25B5-1F98DF8C6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BDB8F-4A6F-F262-14C2-CF6C00965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E5A69-4974-2DAC-80FF-D228F92E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CBF41-940E-D7DC-21A3-7ABE9CFC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7B7F0-0BA7-5FA5-65D5-E2C03BFE9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90092-F476-2094-7EB5-AC328953D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0BCE5-3F9D-AC13-A322-19D27C98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1E09E-AE24-C159-4D4A-687B5995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4352B-2FBD-F380-43D8-B4241EBC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5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D20DD-B4FB-54DD-4FCC-677257AF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09702-BE47-DE6C-082B-677873E71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12777-DBD6-EA1E-2049-9BB51682A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502B0-C451-4D9B-BCCA-9294F9D8EC5E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05B56-8744-2F15-1341-41EA0C5F2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61A1E-309F-09F3-6F59-5C9E93C79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E8D97-7667-4779-B285-DD4AADCD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0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4E71-3A46-10E9-D65A-A8C64CC3BC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1500" dirty="0"/>
              <a:t>Chapter Four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FE31C-1B5F-A0FF-CA31-86D7BED45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Quality Attributes </a:t>
            </a:r>
          </a:p>
          <a:p>
            <a:r>
              <a:rPr lang="en-US" sz="3200" dirty="0"/>
              <a:t>                                                   By: Abenezer Fantu </a:t>
            </a:r>
          </a:p>
        </p:txBody>
      </p:sp>
    </p:spTree>
    <p:extLst>
      <p:ext uri="{BB962C8B-B14F-4D97-AF65-F5344CB8AC3E}">
        <p14:creationId xmlns:p14="http://schemas.microsoft.com/office/powerpoint/2010/main" val="244677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19A9-E82F-8A72-31BB-3E960F39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ABECE-1A64-2934-0EAC-56CE53672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527"/>
            <a:ext cx="10515600" cy="668878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400" dirty="0">
                <a:solidFill>
                  <a:srgbClr val="000000"/>
                </a:solidFill>
              </a:rPr>
              <a:t>A</a:t>
            </a:r>
            <a:r>
              <a:rPr lang="en-US" sz="3400" b="0" i="0" dirty="0">
                <a:solidFill>
                  <a:srgbClr val="000000"/>
                </a:solidFill>
                <a:effectLst/>
              </a:rPr>
              <a:t>rchitect’s life is spent designing software systems to meet a set of quality attribute requirements.</a:t>
            </a:r>
            <a:r>
              <a:rPr lang="en-US" sz="3400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3400" b="0" i="0" dirty="0">
                <a:solidFill>
                  <a:srgbClr val="000000"/>
                </a:solidFill>
                <a:effectLst/>
              </a:rPr>
              <a:t>informally called an application’s </a:t>
            </a:r>
            <a:r>
              <a:rPr lang="en-US" sz="3400" b="1" i="1" dirty="0">
                <a:solidFill>
                  <a:srgbClr val="000000"/>
                </a:solidFill>
                <a:effectLst/>
              </a:rPr>
              <a:t>“-</a:t>
            </a:r>
            <a:r>
              <a:rPr lang="en-US" sz="3400" b="1" i="1" dirty="0" err="1">
                <a:solidFill>
                  <a:srgbClr val="000000"/>
                </a:solidFill>
                <a:effectLst/>
              </a:rPr>
              <a:t>ilities</a:t>
            </a:r>
            <a:r>
              <a:rPr lang="en-US" sz="3400" b="1" i="1" dirty="0">
                <a:solidFill>
                  <a:srgbClr val="000000"/>
                </a:solidFill>
                <a:effectLst/>
              </a:rPr>
              <a:t>”. </a:t>
            </a:r>
          </a:p>
          <a:p>
            <a:pPr>
              <a:lnSpc>
                <a:spcPct val="120000"/>
              </a:lnSpc>
            </a:pPr>
            <a:r>
              <a:rPr lang="en-US" sz="3400" b="0" i="0" dirty="0">
                <a:solidFill>
                  <a:srgbClr val="000000"/>
                </a:solidFill>
                <a:effectLst/>
              </a:rPr>
              <a:t>part of an application’s </a:t>
            </a:r>
            <a:r>
              <a:rPr lang="en-US" sz="3400" b="1" i="0" dirty="0">
                <a:solidFill>
                  <a:srgbClr val="000000"/>
                </a:solidFill>
                <a:effectLst/>
              </a:rPr>
              <a:t>nonfunctional requirements</a:t>
            </a:r>
            <a:r>
              <a:rPr lang="en-US" sz="3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400" b="0" i="0" dirty="0">
                <a:solidFill>
                  <a:srgbClr val="000000"/>
                </a:solidFill>
                <a:effectLst/>
              </a:rPr>
              <a:t>“The application must be scalable”.</a:t>
            </a:r>
            <a:r>
              <a:rPr lang="en-US" sz="3400" dirty="0"/>
              <a:t> </a:t>
            </a:r>
            <a:r>
              <a:rPr lang="en-US" sz="3400" b="0" i="0" dirty="0">
                <a:solidFill>
                  <a:srgbClr val="000000"/>
                </a:solidFill>
                <a:effectLst/>
              </a:rPr>
              <a:t>Defining which of these scalability measures must be supported by the system is crucial from an architectural perspective.</a:t>
            </a:r>
          </a:p>
          <a:p>
            <a:pPr>
              <a:lnSpc>
                <a:spcPct val="120000"/>
              </a:lnSpc>
            </a:pPr>
            <a:r>
              <a:rPr lang="en-US" sz="3400" b="0" i="1" dirty="0">
                <a:solidFill>
                  <a:srgbClr val="000000"/>
                </a:solidFill>
                <a:effectLst/>
              </a:rPr>
              <a:t>It must be possible to scale the deployment from an initial 100 geographically dispersed user desktops to 10,000 without an increase in effort/cost for installation and configuration.</a:t>
            </a:r>
            <a:r>
              <a:rPr lang="en-US" sz="3400" i="1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3400" b="0" i="0" dirty="0">
                <a:solidFill>
                  <a:srgbClr val="000000"/>
                </a:solidFill>
                <a:effectLst/>
              </a:rPr>
              <a:t>Note however, that many quality attributes are actually somewhat difficult to validate and test.</a:t>
            </a:r>
            <a:r>
              <a:rPr lang="en-US" sz="3400" dirty="0"/>
              <a:t>  - </a:t>
            </a:r>
            <a:r>
              <a:rPr lang="en-US" sz="3400" b="1" i="0" dirty="0">
                <a:solidFill>
                  <a:srgbClr val="00B0F0"/>
                </a:solidFill>
                <a:effectLst/>
              </a:rPr>
              <a:t>common sense </a:t>
            </a:r>
            <a:r>
              <a:rPr lang="en-US" sz="3400" b="0" i="0" dirty="0">
                <a:solidFill>
                  <a:srgbClr val="000000"/>
                </a:solidFill>
                <a:effectLst/>
              </a:rPr>
              <a:t>and experience come in. 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08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B230-93D1-9214-A147-3AABAD5F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6F48-946B-0122-0F8F-91A28013E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00"/>
                </a:solidFill>
                <a:latin typeface="AdvP6975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an often be readily quantified and validated : not a really big problem.</a:t>
            </a:r>
          </a:p>
          <a:p>
            <a:r>
              <a:rPr lang="en-US" sz="2400" dirty="0">
                <a:solidFill>
                  <a:srgbClr val="000000"/>
                </a:solidFill>
                <a:latin typeface="AdvP6975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he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amount of work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 an application must perform in a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given time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, and/or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deadlines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 that must be met for correct operation.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Performance usually manifests itself in the following measures: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 A -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65"/>
              </a:rPr>
              <a:t>Throughput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         B - Response time </a:t>
            </a:r>
          </a:p>
          <a:p>
            <a:pPr marL="0" indent="0">
              <a:buNone/>
            </a:pPr>
            <a:r>
              <a:rPr lang="en-US" sz="2400" dirty="0"/>
              <a:t>             C - Deadlines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AdvP6975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02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2E5C-D40C-9A32-00E7-967B657A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204"/>
            <a:ext cx="10515600" cy="1325563"/>
          </a:xfrm>
        </p:spPr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61CE0-F27E-CB66-B895-6D0E3855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25"/>
            <a:ext cx="10515600" cy="6823725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6000" dirty="0"/>
              <a:t> A - </a:t>
            </a:r>
            <a:r>
              <a:rPr lang="en-US" sz="6000" b="1" i="0" dirty="0">
                <a:solidFill>
                  <a:srgbClr val="000000"/>
                </a:solidFill>
                <a:effectLst/>
                <a:latin typeface="AdvP6965"/>
              </a:rPr>
              <a:t>Throughput</a:t>
            </a:r>
            <a:r>
              <a:rPr lang="en-US" sz="6000" b="1" dirty="0"/>
              <a:t> </a:t>
            </a:r>
            <a:endParaRPr lang="en-US" sz="6000" b="1" i="0" dirty="0">
              <a:solidFill>
                <a:srgbClr val="000000"/>
              </a:solidFill>
              <a:effectLst/>
              <a:latin typeface="AdvP6975"/>
            </a:endParaRPr>
          </a:p>
          <a:p>
            <a:pPr>
              <a:lnSpc>
                <a:spcPct val="120000"/>
              </a:lnSpc>
            </a:pP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Throughput is a measure of the </a:t>
            </a:r>
            <a:r>
              <a:rPr lang="en-US" sz="6000" b="1" i="0" dirty="0">
                <a:solidFill>
                  <a:srgbClr val="000000"/>
                </a:solidFill>
                <a:effectLst/>
                <a:latin typeface="AdvP6975"/>
              </a:rPr>
              <a:t>amount of work </a:t>
            </a: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an application must perform in unit time.</a:t>
            </a:r>
            <a:r>
              <a:rPr lang="en-US" sz="6000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transactions per second </a:t>
            </a:r>
            <a:r>
              <a:rPr lang="en-US" sz="6000" b="1" i="1" dirty="0">
                <a:solidFill>
                  <a:srgbClr val="000000"/>
                </a:solidFill>
                <a:effectLst/>
                <a:latin typeface="AdvP6975"/>
              </a:rPr>
              <a:t>(</a:t>
            </a:r>
            <a:r>
              <a:rPr lang="en-US" sz="6000" b="1" i="1" dirty="0" err="1">
                <a:solidFill>
                  <a:srgbClr val="000000"/>
                </a:solidFill>
                <a:effectLst/>
                <a:latin typeface="AdvP6975"/>
              </a:rPr>
              <a:t>tps</a:t>
            </a:r>
            <a:r>
              <a:rPr lang="en-US" sz="6000" b="1" i="1" dirty="0">
                <a:solidFill>
                  <a:srgbClr val="000000"/>
                </a:solidFill>
                <a:effectLst/>
                <a:latin typeface="AdvP6975"/>
              </a:rPr>
              <a:t>), </a:t>
            </a: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or messages</a:t>
            </a:r>
            <a:r>
              <a:rPr lang="en-US" sz="6000" dirty="0">
                <a:solidFill>
                  <a:srgbClr val="000000"/>
                </a:solidFill>
                <a:latin typeface="AdvP6975"/>
              </a:rPr>
              <a:t> </a:t>
            </a: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processed per second </a:t>
            </a:r>
            <a:r>
              <a:rPr lang="en-US" sz="6000" b="1" i="1" dirty="0">
                <a:solidFill>
                  <a:srgbClr val="000000"/>
                </a:solidFill>
                <a:effectLst/>
                <a:latin typeface="AdvP6975"/>
              </a:rPr>
              <a:t>(</a:t>
            </a:r>
            <a:r>
              <a:rPr lang="en-US" sz="6000" b="1" i="1" dirty="0" err="1">
                <a:solidFill>
                  <a:srgbClr val="000000"/>
                </a:solidFill>
                <a:effectLst/>
                <a:latin typeface="AdvP6975"/>
              </a:rPr>
              <a:t>mps</a:t>
            </a:r>
            <a:r>
              <a:rPr lang="en-US" sz="6000" b="1" i="1" dirty="0">
                <a:solidFill>
                  <a:srgbClr val="000000"/>
                </a:solidFill>
                <a:effectLst/>
                <a:latin typeface="AdvP6975"/>
              </a:rPr>
              <a:t>).</a:t>
            </a:r>
            <a:r>
              <a:rPr lang="en-US" sz="6000" b="1" i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000" dirty="0"/>
              <a:t> B - </a:t>
            </a:r>
            <a:r>
              <a:rPr lang="en-US" sz="6000" b="1" dirty="0"/>
              <a:t>Response time </a:t>
            </a:r>
          </a:p>
          <a:p>
            <a:pPr>
              <a:lnSpc>
                <a:spcPct val="120000"/>
              </a:lnSpc>
            </a:pP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This is a measure of the </a:t>
            </a:r>
            <a:r>
              <a:rPr lang="en-US" sz="6000" b="1" i="0" dirty="0">
                <a:solidFill>
                  <a:srgbClr val="000000"/>
                </a:solidFill>
                <a:effectLst/>
                <a:latin typeface="AdvP6975"/>
              </a:rPr>
              <a:t>latency</a:t>
            </a: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 an application exhibits in processing a business transaction.</a:t>
            </a:r>
            <a:r>
              <a:rPr lang="en-US" sz="6000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point-of-sale application supporting a large store. </a:t>
            </a:r>
          </a:p>
          <a:p>
            <a:pPr>
              <a:lnSpc>
                <a:spcPct val="120000"/>
              </a:lnSpc>
            </a:pP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guaranteed and average response times</a:t>
            </a:r>
            <a:r>
              <a:rPr lang="en-US" sz="6000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6000" b="0" i="0" dirty="0">
                <a:solidFill>
                  <a:srgbClr val="000000"/>
                </a:solidFill>
                <a:effectLst/>
                <a:latin typeface="AdvP6975"/>
              </a:rPr>
              <a:t>For example, 95% of all requests must be processed in less than 4 s, and no requests must take more than 15 s.</a:t>
            </a:r>
            <a:r>
              <a:rPr lang="en-US" sz="60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8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108A-F59D-D789-B12C-0A603B21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5E3E-3644-6CB6-7A74-4E452DA7C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C - </a:t>
            </a:r>
            <a:r>
              <a:rPr lang="en-US" sz="2800" b="1" dirty="0"/>
              <a:t>Deadlines </a:t>
            </a:r>
          </a:p>
          <a:p>
            <a:pPr>
              <a:lnSpc>
                <a:spcPct val="120000"/>
              </a:lnSpc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weather forecasting system that took 36 h to produce the forecast for the next day!</a:t>
            </a:r>
            <a:r>
              <a:rPr lang="en-US" sz="2800" dirty="0"/>
              <a:t> :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AdvP6975"/>
              </a:rPr>
              <a:t>performance deadline</a:t>
            </a:r>
            <a:r>
              <a:rPr lang="en-US" sz="2800" b="1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transaction, request or message</a:t>
            </a:r>
            <a:r>
              <a:rPr lang="en-US" sz="2800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no generic workload measure, it depends entirely on what work the application is doing. </a:t>
            </a:r>
          </a:p>
          <a:p>
            <a:pPr>
              <a:lnSpc>
                <a:spcPct val="120000"/>
              </a:lnSpc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be precise about the exact 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AdvP6975"/>
              </a:rPr>
              <a:t>workload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 or 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AdvP696A"/>
              </a:rPr>
              <a:t>transaction mix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AdvP6975"/>
              </a:rPr>
              <a:t>,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defined in application specific terms, that you’re signing up for.</a:t>
            </a:r>
            <a:r>
              <a:rPr lang="en-US" sz="2800" dirty="0"/>
              <a:t> </a:t>
            </a:r>
            <a:r>
              <a:rPr lang="en-US" sz="2000" dirty="0"/>
              <a:t/>
            </a:r>
            <a:br>
              <a:rPr lang="en-US" sz="2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17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AC01-DD0C-BB4B-751E-1867D963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0C37-C767-CFFC-5E83-5BB254AA9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025328" cy="4667251"/>
          </a:xfrm>
        </p:spPr>
        <p:txBody>
          <a:bodyPr>
            <a:normAutofit fontScale="77500" lnSpcReduction="20000"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6A"/>
              </a:rPr>
              <a:t>How well a solution to some problem will work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AdvP696A"/>
              </a:rPr>
              <a:t>      when the 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AdvP696A"/>
              </a:rPr>
              <a:t>size of the problem increases</a:t>
            </a:r>
            <a:r>
              <a:rPr lang="en-US" sz="2400" b="1" i="1" dirty="0"/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AdvP6975"/>
              </a:rPr>
              <a:t>H</a:t>
            </a:r>
            <a:r>
              <a:rPr lang="en-US" sz="2400" b="0" i="0" dirty="0" smtClean="0">
                <a:solidFill>
                  <a:srgbClr val="000000"/>
                </a:solidFill>
                <a:effectLst/>
                <a:latin typeface="AdvP6975"/>
              </a:rPr>
              <a:t>ow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 design can cope with some aspect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dvP6975"/>
              </a:rPr>
              <a:t>    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of the application’s requirements increasing in size</a:t>
            </a:r>
            <a:r>
              <a:rPr lang="en-US" sz="2400" dirty="0"/>
              <a:t>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Here are some examples: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b="1" dirty="0"/>
              <a:t>A -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65"/>
              </a:rPr>
              <a:t>Request Load</a:t>
            </a:r>
            <a:r>
              <a:rPr lang="en-US" sz="2400" b="1" dirty="0"/>
              <a:t>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 scalable solution will then permit additional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     processing capacity to be deployed to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     increase throughput and decrease response time.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              -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adding more CPUs</a:t>
            </a:r>
            <a:r>
              <a:rPr lang="en-US" sz="2400" dirty="0">
                <a:solidFill>
                  <a:srgbClr val="0000FF"/>
                </a:solidFill>
                <a:latin typeface="AdvP6975"/>
              </a:rPr>
              <a:t> and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AdvP6975"/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  distributing the application on multiple machines (scale out).</a:t>
            </a:r>
            <a:r>
              <a:rPr lang="en-US" sz="24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9C26C-BE10-8B24-E0AF-14335B220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463" y="1027906"/>
            <a:ext cx="5476406" cy="433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1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24BF2-B900-56D1-8994-DBC352259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69A28-B0A8-5B99-A4F5-77684232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8425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100" b="0" i="0" dirty="0">
                <a:solidFill>
                  <a:srgbClr val="000000"/>
                </a:solidFill>
                <a:effectLst/>
                <a:latin typeface="AdvP6965"/>
              </a:rPr>
              <a:t>B. </a:t>
            </a:r>
            <a:r>
              <a:rPr lang="en-US" sz="3100" b="1" i="0" dirty="0">
                <a:solidFill>
                  <a:srgbClr val="000000"/>
                </a:solidFill>
                <a:effectLst/>
                <a:latin typeface="AdvP6965"/>
              </a:rPr>
              <a:t>Simultaneous Connections</a:t>
            </a:r>
            <a:r>
              <a:rPr lang="en-US" sz="3100" b="1" dirty="0"/>
              <a:t> : </a:t>
            </a:r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An architecture may be designed to support 1,000 concurrent users. How does the architecture respond if this number grows significantly. </a:t>
            </a:r>
          </a:p>
          <a:p>
            <a:pPr marL="0" indent="0">
              <a:buNone/>
            </a:pPr>
            <a:r>
              <a:rPr lang="en-US" sz="3100" b="0" i="0" dirty="0">
                <a:solidFill>
                  <a:srgbClr val="000000"/>
                </a:solidFill>
                <a:effectLst/>
                <a:latin typeface="AdvP6965"/>
              </a:rPr>
              <a:t>C. </a:t>
            </a:r>
            <a:r>
              <a:rPr lang="en-US" sz="3100" b="1" i="0" dirty="0">
                <a:solidFill>
                  <a:srgbClr val="000000"/>
                </a:solidFill>
                <a:effectLst/>
                <a:latin typeface="AdvP6965"/>
              </a:rPr>
              <a:t>Data Size</a:t>
            </a:r>
            <a:r>
              <a:rPr lang="en-US" sz="3100" b="1" dirty="0"/>
              <a:t> : </a:t>
            </a:r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In a nutshell, how does an application behave as the data it processes increases in size?</a:t>
            </a:r>
            <a:r>
              <a:rPr lang="en-US" sz="3100" dirty="0"/>
              <a:t> </a:t>
            </a:r>
          </a:p>
          <a:p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How well will the</a:t>
            </a:r>
            <a:r>
              <a:rPr lang="en-US" sz="3100" dirty="0">
                <a:solidFill>
                  <a:srgbClr val="000000"/>
                </a:solidFill>
                <a:latin typeface="AdvP6975"/>
              </a:rPr>
              <a:t> </a:t>
            </a:r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architecture react if the size of messages grows significantly? (Chat room )</a:t>
            </a:r>
          </a:p>
          <a:p>
            <a:pPr marL="0" indent="0">
              <a:buNone/>
            </a:pPr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D</a:t>
            </a:r>
            <a:r>
              <a:rPr lang="en-US" sz="3100" b="1" i="0" dirty="0">
                <a:solidFill>
                  <a:srgbClr val="000000"/>
                </a:solidFill>
                <a:effectLst/>
                <a:latin typeface="AdvP6975"/>
              </a:rPr>
              <a:t>. Deployment : </a:t>
            </a:r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How does the effort involved in deploying or modifying an application to an </a:t>
            </a:r>
            <a:r>
              <a:rPr lang="en-US" sz="3100" b="0" i="1" dirty="0">
                <a:solidFill>
                  <a:srgbClr val="000000"/>
                </a:solidFill>
                <a:effectLst/>
                <a:latin typeface="AdvP6975"/>
              </a:rPr>
              <a:t>increasing user base grow?</a:t>
            </a:r>
          </a:p>
          <a:p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 This would include effort for distribution, configuration and updating with new versions.</a:t>
            </a:r>
            <a:r>
              <a:rPr lang="en-US" sz="3100" dirty="0"/>
              <a:t> </a:t>
            </a:r>
          </a:p>
          <a:p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Automated</a:t>
            </a:r>
            <a:r>
              <a:rPr lang="en-US" sz="3100" dirty="0">
                <a:solidFill>
                  <a:srgbClr val="000000"/>
                </a:solidFill>
                <a:latin typeface="AdvP6975"/>
              </a:rPr>
              <a:t> </a:t>
            </a:r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mechanisms that can </a:t>
            </a:r>
            <a:r>
              <a:rPr lang="en-US" sz="3100" b="1" i="1" dirty="0">
                <a:solidFill>
                  <a:srgbClr val="000000"/>
                </a:solidFill>
                <a:effectLst/>
                <a:latin typeface="AdvP6975"/>
              </a:rPr>
              <a:t>dynamically deploy </a:t>
            </a:r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and configure an application to a new user, </a:t>
            </a:r>
          </a:p>
          <a:p>
            <a:r>
              <a:rPr lang="en-US" sz="3100" b="0" i="0" dirty="0">
                <a:solidFill>
                  <a:srgbClr val="000000"/>
                </a:solidFill>
                <a:effectLst/>
                <a:latin typeface="AdvP6975"/>
              </a:rPr>
              <a:t>capturing registration information in the process. 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200" dirty="0"/>
              <a:t/>
            </a:r>
            <a:br>
              <a:rPr lang="en-US" sz="1200" dirty="0"/>
            </a:br>
            <a:endParaRPr lang="en-US" sz="1800" b="0" i="0" dirty="0">
              <a:solidFill>
                <a:srgbClr val="000000"/>
              </a:solidFill>
              <a:effectLst/>
              <a:latin typeface="AdvP6975"/>
            </a:endParaRP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1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6743-7643-A961-D534-31ED14C5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18536-6018-37FC-7F40-27674127F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386" y="1679993"/>
            <a:ext cx="10515600" cy="5552080"/>
          </a:xfrm>
        </p:spPr>
        <p:txBody>
          <a:bodyPr>
            <a:normAutofit fontScale="77500" lnSpcReduction="20000"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AdvP6975"/>
              </a:rPr>
              <a:t>The more </a:t>
            </a:r>
            <a:r>
              <a:rPr lang="en-US" sz="3600" b="1" i="1" dirty="0">
                <a:solidFill>
                  <a:srgbClr val="000000"/>
                </a:solidFill>
                <a:effectLst/>
                <a:latin typeface="AdvP6975"/>
              </a:rPr>
              <a:t>flexibility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AdvP6975"/>
              </a:rPr>
              <a:t> that can be built into a design upfront, then the less painful and expensive subsequent changes will be</a:t>
            </a:r>
            <a:r>
              <a:rPr lang="en-US" sz="6200" dirty="0"/>
              <a:t> </a:t>
            </a:r>
          </a:p>
          <a:p>
            <a:r>
              <a:rPr lang="en-US" sz="3600" b="0" i="0" dirty="0">
                <a:solidFill>
                  <a:srgbClr val="000000"/>
                </a:solidFill>
                <a:effectLst/>
                <a:latin typeface="AdvP6975"/>
              </a:rPr>
              <a:t>how easy it may be to change an application to cater for </a:t>
            </a:r>
            <a:r>
              <a:rPr lang="en-US" sz="3600" b="1" i="1" dirty="0">
                <a:solidFill>
                  <a:srgbClr val="000000"/>
                </a:solidFill>
                <a:effectLst/>
                <a:latin typeface="AdvP6975"/>
              </a:rPr>
              <a:t>new functional and nonfunctional requirements. </a:t>
            </a:r>
          </a:p>
          <a:p>
            <a:r>
              <a:rPr lang="en-US" sz="3600" b="0" i="0" dirty="0">
                <a:solidFill>
                  <a:srgbClr val="000000"/>
                </a:solidFill>
                <a:effectLst/>
                <a:latin typeface="AdvP6975"/>
              </a:rPr>
              <a:t>Then, assessing modifiability requires the architect to assert likely change scenarios that capture how the requirements may evolve.</a:t>
            </a:r>
            <a:r>
              <a:rPr lang="en-US" sz="6200" dirty="0"/>
              <a:t> </a:t>
            </a:r>
          </a:p>
          <a:p>
            <a:r>
              <a:rPr lang="en-US" sz="3600" b="0" i="0" dirty="0">
                <a:solidFill>
                  <a:srgbClr val="000000"/>
                </a:solidFill>
                <a:effectLst/>
                <a:latin typeface="AdvP6975"/>
              </a:rPr>
              <a:t>Much of the time though, possible modifications will need to be elicited from application stakeholders, and drawn from the architect’s experience.</a:t>
            </a:r>
            <a:r>
              <a:rPr lang="en-US" sz="6200" dirty="0"/>
              <a:t> </a:t>
            </a:r>
            <a:r>
              <a:rPr lang="en-US" sz="2300" dirty="0"/>
              <a:t/>
            </a:r>
            <a:br>
              <a:rPr lang="en-US" sz="2300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9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3F91-B2EB-926A-49FF-1A4A350C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55582-324E-B21A-EE1B-CC3A5BDBB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5647"/>
          </a:xfrm>
        </p:spPr>
        <p:txBody>
          <a:bodyPr>
            <a:normAutofit fontScale="92500" lnSpcReduction="10000"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Finally, based on 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AdvP6975"/>
              </a:rPr>
              <a:t>cost, size or effort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estimates for the affected components, some useful quantification of the cost of a change can be made.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If a likely change appears difficult and complex to make, this may highlight a weakness in the architecture that might justify further consideration and  redesign.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While loosely coupled, easily modifiable architectures are generally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   “a good thing”  </a:t>
            </a:r>
            <a:endParaRPr lang="en-US" sz="5400" dirty="0"/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AdvP6975"/>
              </a:rPr>
              <a:t>Working closely with stakeholders can help elicit highly likely future requirements, and eliminate those which seem highly unlikely.</a:t>
            </a:r>
          </a:p>
          <a:p>
            <a:endParaRPr lang="en-US" sz="5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7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DF38-9A94-0D57-4BF4-EE90BC95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9409-CD91-BBFE-5E95-AFB21D42A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9949"/>
          </a:xfrm>
        </p:spPr>
        <p:txBody>
          <a:bodyPr>
            <a:normAutofit fontScale="92500"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AdvP696A"/>
              </a:rPr>
              <a:t>Authentication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Applications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can verify the identity of their users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and other applications with which they communicate.</a:t>
            </a: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AdvP696A"/>
              </a:rPr>
              <a:t>Authorization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Authenticated users and applications have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defined access rights to the resources of the system.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For example, some users may have read-only access to the application’s data, while others have read–write.</a:t>
            </a: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AdvP696A"/>
              </a:rPr>
              <a:t>Encryption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The messages sent to/from the application are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encrypted.</a:t>
            </a:r>
            <a:r>
              <a:rPr lang="en-US" sz="3600" b="1" dirty="0"/>
              <a:t> </a:t>
            </a: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AdvP696A"/>
              </a:rPr>
              <a:t>Nonrepudiation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: The sender of a message has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proof of delivery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and the receiver is assured of the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sender’s identity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. This means neither can subsequently refute their participation in the message exchange</a:t>
            </a:r>
            <a:r>
              <a:rPr lang="en-US" sz="3600" dirty="0"/>
              <a:t> </a:t>
            </a: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AdvP696A"/>
              </a:rPr>
              <a:t>Integrity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This ensures the contents of a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message are not altered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in transit</a:t>
            </a:r>
            <a:r>
              <a:rPr lang="en-US" sz="36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18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0248B-833E-9DEA-7E7A-C59E47AE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5BF2-7D61-56D8-776F-A2A27F692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09496"/>
          </a:xfrm>
        </p:spPr>
        <p:txBody>
          <a:bodyPr>
            <a:norm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The Secure Socket Layer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(SSL)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Public Key Infrastructures (PKI)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are commonly used in Internet applications to provide authentication, encryption and nonrepudiation.</a:t>
            </a:r>
            <a:r>
              <a:rPr lang="en-US" sz="3600" dirty="0"/>
              <a:t>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Authentication and authorization is supported in Java technologies using the Java Authentication and Authorization Service (JAAS). Operating systems and databases provide login-based security for authentication and authorization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0132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2BB1-E24A-3E1C-E51E-2E0758BCA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72A66-BE06-8220-BFDB-2524CD2EC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699437"/>
          </a:xfrm>
        </p:spPr>
        <p:txBody>
          <a:bodyPr>
            <a:normAutofit fontScale="92500" lnSpcReduction="10000"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Availability is related to an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application’s reliability</a:t>
            </a:r>
            <a:r>
              <a:rPr lang="en-US" sz="3800" b="1" dirty="0"/>
              <a:t>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If an application isn’t available for use when needed, then it’s unlikely to be fulfilling its functional requirements.</a:t>
            </a:r>
            <a:r>
              <a:rPr lang="en-US" sz="3800" dirty="0"/>
              <a:t> </a:t>
            </a: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Failures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 in applications cause them to be unavailable</a:t>
            </a:r>
            <a:r>
              <a:rPr lang="en-US" sz="3800" dirty="0"/>
              <a:t>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The length of time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any period of unavailability lasts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is determined by the amount of time it takes to detect failure and restart the system.</a:t>
            </a:r>
            <a:r>
              <a:rPr lang="en-US" sz="3800" dirty="0"/>
              <a:t>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automatically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detect failure and restart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the failed components.</a:t>
            </a: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Replicating components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 is a tried and tested strategy for high availability.</a:t>
            </a:r>
            <a:r>
              <a:rPr lang="en-US" sz="3800" dirty="0"/>
              <a:t> </a:t>
            </a:r>
            <a:br>
              <a:rPr lang="en-US" sz="3800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37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7469-97FF-C542-9108-4512091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5C6E4-185B-26E7-3A4E-C3951D96B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Integration is concerned with the ease with which an application can be usefully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incorporated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 into a broader application context.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dvP6975"/>
              </a:rPr>
              <a:t>The most widespread strategies for providing integration are through data integration or providing an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dvP6975"/>
              </a:rPr>
              <a:t>API.</a:t>
            </a:r>
            <a:r>
              <a:rPr lang="en-US" sz="3600" b="1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2651A-CB59-B64D-E4DF-8A669A198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80" y="3429000"/>
            <a:ext cx="6340840" cy="306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57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299B-5BC7-879F-216E-AADDF248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Quality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E686F-B340-7D03-F820-955C7E26C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dvP696A"/>
              </a:rPr>
              <a:t>Portability</a:t>
            </a:r>
            <a:r>
              <a:rPr lang="en-US" b="0" i="0" dirty="0">
                <a:solidFill>
                  <a:srgbClr val="000000"/>
                </a:solidFill>
                <a:effectLst/>
                <a:latin typeface="AdvP6975"/>
              </a:rPr>
              <a:t>: Can an application be easily executed on a different software/ hardware platform to the one it has been developed for?</a:t>
            </a:r>
            <a:r>
              <a:rPr lang="en-US" sz="4000" dirty="0"/>
              <a:t> </a:t>
            </a: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AdvP696A"/>
              </a:rPr>
              <a:t>Testability</a:t>
            </a:r>
            <a:r>
              <a:rPr lang="en-US" b="1" i="0" dirty="0">
                <a:solidFill>
                  <a:srgbClr val="000000"/>
                </a:solidFill>
                <a:effectLst/>
                <a:latin typeface="AdvP6975"/>
              </a:rPr>
              <a:t>: </a:t>
            </a:r>
            <a:r>
              <a:rPr lang="en-US" b="0" i="0" dirty="0">
                <a:solidFill>
                  <a:srgbClr val="000000"/>
                </a:solidFill>
                <a:effectLst/>
                <a:latin typeface="AdvP6975"/>
              </a:rPr>
              <a:t>How easy or difficult is an application to test? </a:t>
            </a: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AdvP696A"/>
              </a:rPr>
              <a:t>Supportability</a:t>
            </a:r>
            <a:r>
              <a:rPr lang="en-US" b="1" i="0" dirty="0">
                <a:solidFill>
                  <a:srgbClr val="000000"/>
                </a:solidFill>
                <a:effectLst/>
                <a:latin typeface="AdvP6975"/>
              </a:rPr>
              <a:t>: </a:t>
            </a:r>
            <a:r>
              <a:rPr lang="en-US" b="0" i="0" dirty="0">
                <a:solidFill>
                  <a:srgbClr val="000000"/>
                </a:solidFill>
                <a:effectLst/>
                <a:latin typeface="AdvP6975"/>
              </a:rPr>
              <a:t>This is a measure of how easy an application is to support once it is deployed.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23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1034</Words>
  <Application>Microsoft Office PowerPoint</Application>
  <PresentationFormat>Widescreen</PresentationFormat>
  <Paragraphs>88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AdvP6965</vt:lpstr>
      <vt:lpstr>AdvP696A</vt:lpstr>
      <vt:lpstr>AdvP6975</vt:lpstr>
      <vt:lpstr>Arial</vt:lpstr>
      <vt:lpstr>Calibri</vt:lpstr>
      <vt:lpstr>Calibri Light</vt:lpstr>
      <vt:lpstr>Office Theme</vt:lpstr>
      <vt:lpstr>Chapter Four </vt:lpstr>
      <vt:lpstr>Quality Attributes</vt:lpstr>
      <vt:lpstr>Performance </vt:lpstr>
      <vt:lpstr>Performance</vt:lpstr>
      <vt:lpstr>Performance</vt:lpstr>
      <vt:lpstr>Scalability</vt:lpstr>
      <vt:lpstr>Scalability</vt:lpstr>
      <vt:lpstr>Modifiability </vt:lpstr>
      <vt:lpstr>Modifiability</vt:lpstr>
      <vt:lpstr>Security </vt:lpstr>
      <vt:lpstr>Security</vt:lpstr>
      <vt:lpstr>Availability </vt:lpstr>
      <vt:lpstr>Integration </vt:lpstr>
      <vt:lpstr>Other Quality Attributes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Four </dc:title>
  <dc:creator>Abenezer Mamo</dc:creator>
  <cp:lastModifiedBy>Abena</cp:lastModifiedBy>
  <cp:revision>15</cp:revision>
  <dcterms:created xsi:type="dcterms:W3CDTF">2022-12-22T08:02:48Z</dcterms:created>
  <dcterms:modified xsi:type="dcterms:W3CDTF">2024-02-22T18:11:24Z</dcterms:modified>
</cp:coreProperties>
</file>