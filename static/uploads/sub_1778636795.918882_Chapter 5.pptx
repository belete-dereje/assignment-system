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257" r:id="rId2"/>
    <p:sldId id="283" r:id="rId3"/>
    <p:sldId id="258" r:id="rId4"/>
    <p:sldId id="263" r:id="rId5"/>
    <p:sldId id="264" r:id="rId6"/>
    <p:sldId id="265" r:id="rId7"/>
    <p:sldId id="269" r:id="rId8"/>
    <p:sldId id="270" r:id="rId9"/>
    <p:sldId id="275" r:id="rId10"/>
    <p:sldId id="276" r:id="rId11"/>
    <p:sldId id="277" r:id="rId12"/>
    <p:sldId id="278" r:id="rId13"/>
    <p:sldId id="279" r:id="rId14"/>
    <p:sldId id="280" r:id="rId15"/>
    <p:sldId id="281" r:id="rId16"/>
    <p:sldId id="282" r:id="rId17"/>
    <p:sldId id="260" r:id="rId18"/>
    <p:sldId id="261" r:id="rId19"/>
    <p:sldId id="262" r:id="rId20"/>
    <p:sldId id="284" r:id="rId21"/>
    <p:sldId id="285" r:id="rId22"/>
    <p:sldId id="291" r:id="rId23"/>
    <p:sldId id="292" r:id="rId24"/>
    <p:sldId id="293" r:id="rId25"/>
    <p:sldId id="294" r:id="rId26"/>
    <p:sldId id="295" r:id="rId27"/>
    <p:sldId id="296" r:id="rId28"/>
    <p:sldId id="337" r:id="rId29"/>
    <p:sldId id="338" r:id="rId30"/>
    <p:sldId id="306" r:id="rId31"/>
    <p:sldId id="334" r:id="rId32"/>
    <p:sldId id="307" r:id="rId33"/>
    <p:sldId id="308" r:id="rId34"/>
    <p:sldId id="309" r:id="rId35"/>
    <p:sldId id="310" r:id="rId36"/>
    <p:sldId id="311" r:id="rId37"/>
    <p:sldId id="312" r:id="rId38"/>
    <p:sldId id="335" r:id="rId39"/>
    <p:sldId id="313" r:id="rId40"/>
    <p:sldId id="316" r:id="rId41"/>
    <p:sldId id="317" r:id="rId42"/>
    <p:sldId id="318" r:id="rId43"/>
    <p:sldId id="319" r:id="rId44"/>
    <p:sldId id="320" r:id="rId45"/>
    <p:sldId id="321" r:id="rId46"/>
    <p:sldId id="332" r:id="rId47"/>
    <p:sldId id="322" r:id="rId48"/>
    <p:sldId id="331" r:id="rId49"/>
    <p:sldId id="339" r:id="rId50"/>
    <p:sldId id="340" r:id="rId51"/>
    <p:sldId id="342" r:id="rId52"/>
    <p:sldId id="343" r:id="rId53"/>
    <p:sldId id="305" r:id="rId54"/>
    <p:sldId id="345" r:id="rId55"/>
    <p:sldId id="346" r:id="rId56"/>
    <p:sldId id="347" r:id="rId57"/>
    <p:sldId id="348" r:id="rId58"/>
    <p:sldId id="349" r:id="rId59"/>
    <p:sldId id="350" r:id="rId60"/>
    <p:sldId id="351" r:id="rId61"/>
    <p:sldId id="352" r:id="rId62"/>
    <p:sldId id="353" r:id="rId63"/>
    <p:sldId id="354" r:id="rId64"/>
    <p:sldId id="355" r:id="rId65"/>
    <p:sldId id="356" r:id="rId66"/>
    <p:sldId id="357" r:id="rId67"/>
    <p:sldId id="358" r:id="rId68"/>
    <p:sldId id="359" r:id="rId69"/>
    <p:sldId id="361" r:id="rId70"/>
    <p:sldId id="362" r:id="rId71"/>
    <p:sldId id="363" r:id="rId72"/>
    <p:sldId id="364" r:id="rId73"/>
    <p:sldId id="365" r:id="rId74"/>
    <p:sldId id="366" r:id="rId75"/>
    <p:sldId id="367" r:id="rId76"/>
    <p:sldId id="286" r:id="rId77"/>
    <p:sldId id="368" r:id="rId78"/>
    <p:sldId id="369" r:id="rId79"/>
    <p:sldId id="383" r:id="rId80"/>
    <p:sldId id="287" r:id="rId81"/>
    <p:sldId id="384" r:id="rId82"/>
    <p:sldId id="288"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EB898-76EB-4DEB-83B7-72955BC6DD56}" type="datetimeFigureOut">
              <a:rPr lang="en-US" smtClean="0"/>
              <a:t>3/4/2024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E73C55-91D5-4FBD-BA0A-DDE5E98DDD7F}" type="slidenum">
              <a:rPr lang="en-US" smtClean="0"/>
              <a:t>‹#›</a:t>
            </a:fld>
            <a:endParaRPr lang="en-US"/>
          </a:p>
        </p:txBody>
      </p:sp>
    </p:spTree>
    <p:extLst>
      <p:ext uri="{BB962C8B-B14F-4D97-AF65-F5344CB8AC3E}">
        <p14:creationId xmlns:p14="http://schemas.microsoft.com/office/powerpoint/2010/main" val="188545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E73C55-91D5-4FBD-BA0A-DDE5E98DDD7F}" type="slidenum">
              <a:rPr lang="en-US" smtClean="0"/>
              <a:t>15</a:t>
            </a:fld>
            <a:endParaRPr lang="en-US"/>
          </a:p>
        </p:txBody>
      </p:sp>
    </p:spTree>
    <p:extLst>
      <p:ext uri="{BB962C8B-B14F-4D97-AF65-F5344CB8AC3E}">
        <p14:creationId xmlns:p14="http://schemas.microsoft.com/office/powerpoint/2010/main" val="1877107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63603522-CC87-4929-B43E-C9D42D041FA2}" type="slidenum">
              <a:rPr lang="en-US"/>
              <a:pPr/>
              <a:t>22</a:t>
            </a:fld>
            <a:endParaRPr 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B7E06FA4-94B0-40C2-A95C-D709E91BD36C}" type="slidenum">
              <a:rPr lang="en-US"/>
              <a:pPr/>
              <a:t>23</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educational</a:t>
            </a:r>
          </a:p>
          <a:p>
            <a:r>
              <a:rPr lang="en-US" sz="1200" kern="1200" baseline="0" dirty="0">
                <a:solidFill>
                  <a:schemeClr val="tx1"/>
                </a:solidFill>
                <a:latin typeface="+mn-lt"/>
                <a:ea typeface="+mn-ea"/>
                <a:cs typeface="+mn-cs"/>
              </a:rPr>
              <a:t>use consists of introducing people to the system. The people</a:t>
            </a:r>
          </a:p>
          <a:p>
            <a:r>
              <a:rPr lang="en-US" sz="1200" kern="1200" baseline="0" dirty="0">
                <a:solidFill>
                  <a:schemeClr val="tx1"/>
                </a:solidFill>
                <a:latin typeface="+mn-lt"/>
                <a:ea typeface="+mn-ea"/>
                <a:cs typeface="+mn-cs"/>
              </a:rPr>
              <a:t>may be new members of the team, external analysts, or</a:t>
            </a:r>
          </a:p>
          <a:p>
            <a:r>
              <a:rPr lang="en-US" sz="1200" kern="1200" baseline="0" dirty="0">
                <a:solidFill>
                  <a:schemeClr val="tx1"/>
                </a:solidFill>
                <a:latin typeface="+mn-lt"/>
                <a:ea typeface="+mn-ea"/>
                <a:cs typeface="+mn-cs"/>
              </a:rPr>
              <a:t>even a new architect. In many cases, the “new” person is the</a:t>
            </a:r>
          </a:p>
          <a:p>
            <a:r>
              <a:rPr lang="en-US" sz="1200" kern="1200" baseline="0" dirty="0">
                <a:solidFill>
                  <a:schemeClr val="tx1"/>
                </a:solidFill>
                <a:latin typeface="+mn-lt"/>
                <a:ea typeface="+mn-ea"/>
                <a:cs typeface="+mn-cs"/>
              </a:rPr>
              <a:t>customer to whom you’re showing your solution for the</a:t>
            </a:r>
          </a:p>
          <a:p>
            <a:r>
              <a:rPr lang="en-US" sz="1200" kern="1200" baseline="0" dirty="0">
                <a:solidFill>
                  <a:schemeClr val="tx1"/>
                </a:solidFill>
                <a:latin typeface="+mn-lt"/>
                <a:ea typeface="+mn-ea"/>
                <a:cs typeface="+mn-cs"/>
              </a:rPr>
              <a:t>first time, a presentation you hope will result in funding or</a:t>
            </a:r>
          </a:p>
          <a:p>
            <a:r>
              <a:rPr lang="en-US" sz="1200" kern="1200" baseline="0" dirty="0">
                <a:solidFill>
                  <a:schemeClr val="tx1"/>
                </a:solidFill>
                <a:latin typeface="+mn-lt"/>
                <a:ea typeface="+mn-ea"/>
                <a:cs typeface="+mn-cs"/>
              </a:rPr>
              <a:t>go-ahead approval.</a:t>
            </a:r>
          </a:p>
          <a:p>
            <a:endParaRPr lang="en-US" dirty="0"/>
          </a:p>
        </p:txBody>
      </p:sp>
      <p:sp>
        <p:nvSpPr>
          <p:cNvPr id="4" name="Slide Number Placeholder 3"/>
          <p:cNvSpPr>
            <a:spLocks noGrp="1"/>
          </p:cNvSpPr>
          <p:nvPr>
            <p:ph type="sldNum" sz="quarter" idx="10"/>
          </p:nvPr>
        </p:nvSpPr>
        <p:spPr/>
        <p:txBody>
          <a:bodyPr/>
          <a:lstStyle/>
          <a:p>
            <a:fld id="{FD64F61E-9F00-4AB3-AB9B-189081254FC4}" type="slidenum">
              <a:rPr lang="en-US" smtClean="0"/>
              <a:pPr/>
              <a:t>25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E73C55-91D5-4FBD-BA0A-DDE5E98DDD7F}" type="slidenum">
              <a:rPr lang="en-US" smtClean="0"/>
              <a:t>74</a:t>
            </a:fld>
            <a:endParaRPr lang="en-US"/>
          </a:p>
        </p:txBody>
      </p:sp>
    </p:spTree>
    <p:extLst>
      <p:ext uri="{BB962C8B-B14F-4D97-AF65-F5344CB8AC3E}">
        <p14:creationId xmlns:p14="http://schemas.microsoft.com/office/powerpoint/2010/main" val="3667118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2AF46-4937-437F-D886-D95E63EA58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EE904A-DE06-CAB5-DD91-94B784F8B1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829AF5-383D-1D6F-97A1-E28CD69B1533}"/>
              </a:ext>
            </a:extLst>
          </p:cNvPr>
          <p:cNvSpPr>
            <a:spLocks noGrp="1"/>
          </p:cNvSpPr>
          <p:nvPr>
            <p:ph type="dt" sz="half" idx="10"/>
          </p:nvPr>
        </p:nvSpPr>
        <p:spPr/>
        <p:txBody>
          <a:bodyPr/>
          <a:lstStyle/>
          <a:p>
            <a:fld id="{F1F96BA3-0125-45DE-82BC-5E2F2E2BB89B}" type="datetime1">
              <a:rPr lang="en-US" smtClean="0"/>
              <a:t>3/4/2024</a:t>
            </a:fld>
            <a:endParaRPr lang="en-US"/>
          </a:p>
        </p:txBody>
      </p:sp>
      <p:sp>
        <p:nvSpPr>
          <p:cNvPr id="5" name="Footer Placeholder 4">
            <a:extLst>
              <a:ext uri="{FF2B5EF4-FFF2-40B4-BE49-F238E27FC236}">
                <a16:creationId xmlns:a16="http://schemas.microsoft.com/office/drawing/2014/main" id="{8A3D9E3C-6A67-46C9-26F5-0A60E6E7B9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930DB1-08C1-DCDA-31E8-A44645F8B693}"/>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350220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27A75-C953-B584-A2EE-AE95CA6238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367AF9-58A1-CF3A-C138-8FE28B4133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D939CC-E173-CF85-D7ED-BE8589BE50EB}"/>
              </a:ext>
            </a:extLst>
          </p:cNvPr>
          <p:cNvSpPr>
            <a:spLocks noGrp="1"/>
          </p:cNvSpPr>
          <p:nvPr>
            <p:ph type="dt" sz="half" idx="10"/>
          </p:nvPr>
        </p:nvSpPr>
        <p:spPr/>
        <p:txBody>
          <a:bodyPr/>
          <a:lstStyle/>
          <a:p>
            <a:fld id="{C8491992-BBAD-420C-A435-586DDC451EC5}" type="datetime1">
              <a:rPr lang="en-US" smtClean="0"/>
              <a:t>3/4/2024</a:t>
            </a:fld>
            <a:endParaRPr lang="en-US"/>
          </a:p>
        </p:txBody>
      </p:sp>
      <p:sp>
        <p:nvSpPr>
          <p:cNvPr id="5" name="Footer Placeholder 4">
            <a:extLst>
              <a:ext uri="{FF2B5EF4-FFF2-40B4-BE49-F238E27FC236}">
                <a16:creationId xmlns:a16="http://schemas.microsoft.com/office/drawing/2014/main" id="{0A7CB2D6-6D4D-C75E-1156-18D8296DBA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E8DD51-EB5F-B001-264F-91BD2A0BC742}"/>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775826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E8BA-4D50-720B-007B-1B6FA43D9D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5764EF-9AA7-0374-BE72-A2776F71E9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A04EE4-4AD2-6D42-E875-A18B19DC690D}"/>
              </a:ext>
            </a:extLst>
          </p:cNvPr>
          <p:cNvSpPr>
            <a:spLocks noGrp="1"/>
          </p:cNvSpPr>
          <p:nvPr>
            <p:ph type="dt" sz="half" idx="10"/>
          </p:nvPr>
        </p:nvSpPr>
        <p:spPr/>
        <p:txBody>
          <a:bodyPr/>
          <a:lstStyle/>
          <a:p>
            <a:fld id="{84B5EA6C-750F-45DC-91FD-75387D4B758B}" type="datetime1">
              <a:rPr lang="en-US" smtClean="0"/>
              <a:t>3/4/2024</a:t>
            </a:fld>
            <a:endParaRPr lang="en-US"/>
          </a:p>
        </p:txBody>
      </p:sp>
      <p:sp>
        <p:nvSpPr>
          <p:cNvPr id="5" name="Footer Placeholder 4">
            <a:extLst>
              <a:ext uri="{FF2B5EF4-FFF2-40B4-BE49-F238E27FC236}">
                <a16:creationId xmlns:a16="http://schemas.microsoft.com/office/drawing/2014/main" id="{93699C57-B24F-ABD2-EC9E-BFE4D11E6B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0C71AD-5C1C-E864-87A5-1C1CC06F568E}"/>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3735658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0DC5-69AF-8A94-6A4A-23A79512A7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B0A8FB-74D6-00BC-D352-28433B369C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5E0C3E-C2A4-C249-23DE-10B01864AE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ABAE30-A468-6285-3929-A8B6A5AD9A1A}"/>
              </a:ext>
            </a:extLst>
          </p:cNvPr>
          <p:cNvSpPr>
            <a:spLocks noGrp="1"/>
          </p:cNvSpPr>
          <p:nvPr>
            <p:ph type="dt" sz="half" idx="10"/>
          </p:nvPr>
        </p:nvSpPr>
        <p:spPr/>
        <p:txBody>
          <a:bodyPr/>
          <a:lstStyle/>
          <a:p>
            <a:fld id="{BD4AF4E1-AAB5-4A4A-BA8B-59C7A7175945}" type="datetime1">
              <a:rPr lang="en-US" smtClean="0"/>
              <a:t>3/4/2024</a:t>
            </a:fld>
            <a:endParaRPr lang="en-US"/>
          </a:p>
        </p:txBody>
      </p:sp>
      <p:sp>
        <p:nvSpPr>
          <p:cNvPr id="6" name="Footer Placeholder 5">
            <a:extLst>
              <a:ext uri="{FF2B5EF4-FFF2-40B4-BE49-F238E27FC236}">
                <a16:creationId xmlns:a16="http://schemas.microsoft.com/office/drawing/2014/main" id="{DE251CBA-214B-F2AD-5824-87D9F7D6D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53AED3-E6F2-D924-8CDA-F1FF6FB4C134}"/>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2685333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818CF-8405-D497-544E-B94DC4A8C8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D924C8-BA71-31B1-FDD6-E2E51E9096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0A214D-3275-9A93-BB12-B2F7079379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EA530C-9C12-1137-FF21-9B9D71CBA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77FDA5-3B0D-7D1D-39BA-36E05C7585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104A1B-9CD4-C797-FC65-B5D8CBC0063C}"/>
              </a:ext>
            </a:extLst>
          </p:cNvPr>
          <p:cNvSpPr>
            <a:spLocks noGrp="1"/>
          </p:cNvSpPr>
          <p:nvPr>
            <p:ph type="dt" sz="half" idx="10"/>
          </p:nvPr>
        </p:nvSpPr>
        <p:spPr/>
        <p:txBody>
          <a:bodyPr/>
          <a:lstStyle/>
          <a:p>
            <a:fld id="{03D9B0C7-DEA7-407F-A724-F20544A141FF}" type="datetime1">
              <a:rPr lang="en-US" smtClean="0"/>
              <a:t>3/4/2024</a:t>
            </a:fld>
            <a:endParaRPr lang="en-US"/>
          </a:p>
        </p:txBody>
      </p:sp>
      <p:sp>
        <p:nvSpPr>
          <p:cNvPr id="8" name="Footer Placeholder 7">
            <a:extLst>
              <a:ext uri="{FF2B5EF4-FFF2-40B4-BE49-F238E27FC236}">
                <a16:creationId xmlns:a16="http://schemas.microsoft.com/office/drawing/2014/main" id="{97CE98AA-C179-BA05-7EDF-C9D5E0DCE3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6D8ACC-707C-C0E0-D793-5C4625F6F1B9}"/>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1513672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D0DB4-0923-C7EB-F3DD-BCCB5A7A6B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100EC1-CBE1-1318-2FE9-A6FC497181A0}"/>
              </a:ext>
            </a:extLst>
          </p:cNvPr>
          <p:cNvSpPr>
            <a:spLocks noGrp="1"/>
          </p:cNvSpPr>
          <p:nvPr>
            <p:ph type="dt" sz="half" idx="10"/>
          </p:nvPr>
        </p:nvSpPr>
        <p:spPr/>
        <p:txBody>
          <a:bodyPr/>
          <a:lstStyle/>
          <a:p>
            <a:fld id="{5799E4AD-B856-4462-BE00-1022A32760F7}" type="datetime1">
              <a:rPr lang="en-US" smtClean="0"/>
              <a:t>3/4/2024</a:t>
            </a:fld>
            <a:endParaRPr lang="en-US"/>
          </a:p>
        </p:txBody>
      </p:sp>
      <p:sp>
        <p:nvSpPr>
          <p:cNvPr id="4" name="Footer Placeholder 3">
            <a:extLst>
              <a:ext uri="{FF2B5EF4-FFF2-40B4-BE49-F238E27FC236}">
                <a16:creationId xmlns:a16="http://schemas.microsoft.com/office/drawing/2014/main" id="{1BD7C6EC-CD2D-2713-89EF-CDF2E95ED7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F9781B-F0D5-FE10-FB52-44700EBB54A3}"/>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3043185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A6B468-D80A-D62D-EFBF-F008A0CED0C1}"/>
              </a:ext>
            </a:extLst>
          </p:cNvPr>
          <p:cNvSpPr>
            <a:spLocks noGrp="1"/>
          </p:cNvSpPr>
          <p:nvPr>
            <p:ph type="dt" sz="half" idx="10"/>
          </p:nvPr>
        </p:nvSpPr>
        <p:spPr/>
        <p:txBody>
          <a:bodyPr/>
          <a:lstStyle/>
          <a:p>
            <a:fld id="{0C8DF04A-1EC5-4702-8BD0-F730898B9167}" type="datetime1">
              <a:rPr lang="en-US" smtClean="0"/>
              <a:t>3/4/2024</a:t>
            </a:fld>
            <a:endParaRPr lang="en-US"/>
          </a:p>
        </p:txBody>
      </p:sp>
      <p:sp>
        <p:nvSpPr>
          <p:cNvPr id="3" name="Footer Placeholder 2">
            <a:extLst>
              <a:ext uri="{FF2B5EF4-FFF2-40B4-BE49-F238E27FC236}">
                <a16:creationId xmlns:a16="http://schemas.microsoft.com/office/drawing/2014/main" id="{259F3C20-0705-C59F-90DE-42F78555AA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DC0C50-D87B-0715-AB64-8E051804CF91}"/>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1557368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15D1-FBCC-B904-A8EF-184688261A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7466A9-B0CD-2548-D291-8A6D93558D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3289CB-F669-C200-7298-15363BFBA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E1E28-DEA7-C292-A06D-D882ED7763DB}"/>
              </a:ext>
            </a:extLst>
          </p:cNvPr>
          <p:cNvSpPr>
            <a:spLocks noGrp="1"/>
          </p:cNvSpPr>
          <p:nvPr>
            <p:ph type="dt" sz="half" idx="10"/>
          </p:nvPr>
        </p:nvSpPr>
        <p:spPr/>
        <p:txBody>
          <a:bodyPr/>
          <a:lstStyle/>
          <a:p>
            <a:fld id="{447FF5F5-55BB-4EAF-928A-610BAEDFAFC7}" type="datetime1">
              <a:rPr lang="en-US" smtClean="0"/>
              <a:t>3/4/2024</a:t>
            </a:fld>
            <a:endParaRPr lang="en-US"/>
          </a:p>
        </p:txBody>
      </p:sp>
      <p:sp>
        <p:nvSpPr>
          <p:cNvPr id="6" name="Footer Placeholder 5">
            <a:extLst>
              <a:ext uri="{FF2B5EF4-FFF2-40B4-BE49-F238E27FC236}">
                <a16:creationId xmlns:a16="http://schemas.microsoft.com/office/drawing/2014/main" id="{94E0C726-38CF-7A34-1851-6A178FCB95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B641C8-325D-49FB-D35F-D4C77EC0E846}"/>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60542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E4885-7DA0-365C-41B4-E44BE3AA50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0D91ED-B510-45C2-74AE-AB2C52D727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B25EF2-8034-E663-6856-D470E26EAE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5D0BFE-D33D-5A8C-7E18-9F8AF3A74EF1}"/>
              </a:ext>
            </a:extLst>
          </p:cNvPr>
          <p:cNvSpPr>
            <a:spLocks noGrp="1"/>
          </p:cNvSpPr>
          <p:nvPr>
            <p:ph type="dt" sz="half" idx="10"/>
          </p:nvPr>
        </p:nvSpPr>
        <p:spPr/>
        <p:txBody>
          <a:bodyPr/>
          <a:lstStyle/>
          <a:p>
            <a:fld id="{E2D23F7A-9ED1-49EF-8523-8D1D6A38542C}" type="datetime1">
              <a:rPr lang="en-US" smtClean="0"/>
              <a:t>3/4/2024</a:t>
            </a:fld>
            <a:endParaRPr lang="en-US"/>
          </a:p>
        </p:txBody>
      </p:sp>
      <p:sp>
        <p:nvSpPr>
          <p:cNvPr id="6" name="Footer Placeholder 5">
            <a:extLst>
              <a:ext uri="{FF2B5EF4-FFF2-40B4-BE49-F238E27FC236}">
                <a16:creationId xmlns:a16="http://schemas.microsoft.com/office/drawing/2014/main" id="{E463452D-64F0-273D-59AD-40EF5F5D33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9308B-A5A7-1328-A323-1DD51906B5B3}"/>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2854765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B0F7-0120-B444-2DD1-D0D91A6384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9CFE25-252D-E308-9A73-58CA6D9DD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F8F13-36C4-2C80-313D-B5133A76C08B}"/>
              </a:ext>
            </a:extLst>
          </p:cNvPr>
          <p:cNvSpPr>
            <a:spLocks noGrp="1"/>
          </p:cNvSpPr>
          <p:nvPr>
            <p:ph type="dt" sz="half" idx="10"/>
          </p:nvPr>
        </p:nvSpPr>
        <p:spPr/>
        <p:txBody>
          <a:bodyPr/>
          <a:lstStyle/>
          <a:p>
            <a:fld id="{09DD56C1-E07C-44B6-9705-5F45FA9C0B3D}" type="datetime1">
              <a:rPr lang="en-US" smtClean="0"/>
              <a:t>3/4/2024</a:t>
            </a:fld>
            <a:endParaRPr lang="en-US"/>
          </a:p>
        </p:txBody>
      </p:sp>
      <p:sp>
        <p:nvSpPr>
          <p:cNvPr id="5" name="Footer Placeholder 4">
            <a:extLst>
              <a:ext uri="{FF2B5EF4-FFF2-40B4-BE49-F238E27FC236}">
                <a16:creationId xmlns:a16="http://schemas.microsoft.com/office/drawing/2014/main" id="{1413DD73-31E8-0ACE-04E5-CDF637EC8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46BBBA-8E6C-EF83-FCA4-A172484D27A8}"/>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3342473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DC74E5-2B05-9876-D263-63F346C75C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9CB619-E87A-6C7C-D5CA-9B5BBE5268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200F4D-7F49-EF1D-2E2D-7A2E17B8DA0D}"/>
              </a:ext>
            </a:extLst>
          </p:cNvPr>
          <p:cNvSpPr>
            <a:spLocks noGrp="1"/>
          </p:cNvSpPr>
          <p:nvPr>
            <p:ph type="dt" sz="half" idx="10"/>
          </p:nvPr>
        </p:nvSpPr>
        <p:spPr/>
        <p:txBody>
          <a:bodyPr/>
          <a:lstStyle/>
          <a:p>
            <a:fld id="{895B1DD6-E3C8-4185-BB0D-2D0BFC8A6678}" type="datetime1">
              <a:rPr lang="en-US" smtClean="0"/>
              <a:t>3/4/2024</a:t>
            </a:fld>
            <a:endParaRPr lang="en-US"/>
          </a:p>
        </p:txBody>
      </p:sp>
      <p:sp>
        <p:nvSpPr>
          <p:cNvPr id="5" name="Footer Placeholder 4">
            <a:extLst>
              <a:ext uri="{FF2B5EF4-FFF2-40B4-BE49-F238E27FC236}">
                <a16:creationId xmlns:a16="http://schemas.microsoft.com/office/drawing/2014/main" id="{F2A9427B-2265-729B-79AC-B535EDD000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6F454-584E-D5BF-5C8E-4E5100411254}"/>
              </a:ext>
            </a:extLst>
          </p:cNvPr>
          <p:cNvSpPr>
            <a:spLocks noGrp="1"/>
          </p:cNvSpPr>
          <p:nvPr>
            <p:ph type="sldNum" sz="quarter" idx="12"/>
          </p:nvPr>
        </p:nvSpPr>
        <p:spPr/>
        <p:txBody>
          <a:bodyPr/>
          <a:lstStyle/>
          <a:p>
            <a:fld id="{DC770A33-BA93-4D9C-A078-24603E326A18}" type="slidenum">
              <a:rPr lang="en-US" smtClean="0"/>
              <a:t>‹#›</a:t>
            </a:fld>
            <a:endParaRPr lang="en-US"/>
          </a:p>
        </p:txBody>
      </p:sp>
    </p:spTree>
    <p:extLst>
      <p:ext uri="{BB962C8B-B14F-4D97-AF65-F5344CB8AC3E}">
        <p14:creationId xmlns:p14="http://schemas.microsoft.com/office/powerpoint/2010/main" val="4040065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BD95F6-7B83-8391-E648-B8DD48648D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F1383A-182C-E761-A964-64F962A4D5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2305D-928E-F280-5220-8DBF029A27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B1F200-95B7-47E1-989C-49CDE36D52D0}" type="datetime1">
              <a:rPr lang="en-US" smtClean="0"/>
              <a:t>3/4/2024</a:t>
            </a:fld>
            <a:endParaRPr lang="en-US"/>
          </a:p>
        </p:txBody>
      </p:sp>
      <p:sp>
        <p:nvSpPr>
          <p:cNvPr id="5" name="Footer Placeholder 4">
            <a:extLst>
              <a:ext uri="{FF2B5EF4-FFF2-40B4-BE49-F238E27FC236}">
                <a16:creationId xmlns:a16="http://schemas.microsoft.com/office/drawing/2014/main" id="{E62FE6F1-3966-B949-D767-7940B47F68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C0775F-BF5D-C760-0005-19AD40728B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770A33-BA93-4D9C-A078-24603E326A18}" type="slidenum">
              <a:rPr lang="en-US" smtClean="0"/>
              <a:t>‹#›</a:t>
            </a:fld>
            <a:endParaRPr lang="en-US"/>
          </a:p>
        </p:txBody>
      </p:sp>
    </p:spTree>
    <p:extLst>
      <p:ext uri="{BB962C8B-B14F-4D97-AF65-F5344CB8AC3E}">
        <p14:creationId xmlns:p14="http://schemas.microsoft.com/office/powerpoint/2010/main" val="935775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C4E71-3A46-10E9-D65A-A8C64CC3BCDB}"/>
              </a:ext>
            </a:extLst>
          </p:cNvPr>
          <p:cNvSpPr>
            <a:spLocks noGrp="1"/>
          </p:cNvSpPr>
          <p:nvPr>
            <p:ph type="ctrTitle"/>
          </p:nvPr>
        </p:nvSpPr>
        <p:spPr/>
        <p:txBody>
          <a:bodyPr>
            <a:normAutofit/>
          </a:bodyPr>
          <a:lstStyle/>
          <a:p>
            <a:r>
              <a:rPr lang="en-US" sz="11500" dirty="0"/>
              <a:t>Chapter Five </a:t>
            </a:r>
          </a:p>
        </p:txBody>
      </p:sp>
      <p:sp>
        <p:nvSpPr>
          <p:cNvPr id="3" name="Subtitle 2">
            <a:extLst>
              <a:ext uri="{FF2B5EF4-FFF2-40B4-BE49-F238E27FC236}">
                <a16:creationId xmlns:a16="http://schemas.microsoft.com/office/drawing/2014/main" id="{D92FE31C-1B5F-A0FF-CA31-86D7BED45E74}"/>
              </a:ext>
            </a:extLst>
          </p:cNvPr>
          <p:cNvSpPr>
            <a:spLocks noGrp="1"/>
          </p:cNvSpPr>
          <p:nvPr>
            <p:ph type="subTitle" idx="1"/>
          </p:nvPr>
        </p:nvSpPr>
        <p:spPr/>
        <p:txBody>
          <a:bodyPr>
            <a:normAutofit/>
          </a:bodyPr>
          <a:lstStyle/>
          <a:p>
            <a:r>
              <a:rPr lang="en-US" sz="4400" b="1" dirty="0">
                <a:solidFill>
                  <a:srgbClr val="000000"/>
                </a:solidFill>
                <a:effectLst/>
                <a:ea typeface="Times New Roman" panose="02020603050405020304" pitchFamily="18" charset="0"/>
                <a:cs typeface="Times New Roman" panose="02020603050405020304" pitchFamily="18" charset="0"/>
              </a:rPr>
              <a:t>Architecture in The Life Cycle</a:t>
            </a:r>
            <a:r>
              <a:rPr lang="en-US" sz="6600" dirty="0"/>
              <a:t>                             </a:t>
            </a:r>
          </a:p>
          <a:p>
            <a:r>
              <a:rPr lang="en-US" sz="3200" dirty="0"/>
              <a:t>                      By: Abenezer Fantu </a:t>
            </a:r>
          </a:p>
        </p:txBody>
      </p:sp>
    </p:spTree>
    <p:extLst>
      <p:ext uri="{BB962C8B-B14F-4D97-AF65-F5344CB8AC3E}">
        <p14:creationId xmlns:p14="http://schemas.microsoft.com/office/powerpoint/2010/main" val="24467785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DDA64-614E-1198-0518-1B7614F415E5}"/>
              </a:ext>
            </a:extLst>
          </p:cNvPr>
          <p:cNvSpPr>
            <a:spLocks noGrp="1"/>
          </p:cNvSpPr>
          <p:nvPr>
            <p:ph type="title"/>
          </p:nvPr>
        </p:nvSpPr>
        <p:spPr/>
        <p:txBody>
          <a:bodyPr/>
          <a:lstStyle/>
          <a:p>
            <a:r>
              <a:rPr lang="en-US" dirty="0"/>
              <a:t>Chapter outline </a:t>
            </a:r>
          </a:p>
        </p:txBody>
      </p:sp>
      <p:sp>
        <p:nvSpPr>
          <p:cNvPr id="3" name="Content Placeholder 2">
            <a:extLst>
              <a:ext uri="{FF2B5EF4-FFF2-40B4-BE49-F238E27FC236}">
                <a16:creationId xmlns:a16="http://schemas.microsoft.com/office/drawing/2014/main" id="{FF358A70-C60F-A3C5-CE8B-FFDE9E032837}"/>
              </a:ext>
            </a:extLst>
          </p:cNvPr>
          <p:cNvSpPr>
            <a:spLocks noGrp="1"/>
          </p:cNvSpPr>
          <p:nvPr>
            <p:ph idx="1"/>
          </p:nvPr>
        </p:nvSpPr>
        <p:spPr/>
        <p:txBody>
          <a:bodyPr/>
          <a:lstStyle/>
          <a:p>
            <a:r>
              <a:rPr lang="en-US" dirty="0"/>
              <a:t>How Much Architecture? </a:t>
            </a:r>
          </a:p>
          <a:p>
            <a:r>
              <a:rPr lang="en-US" dirty="0"/>
              <a:t>Agility and Architecture Methods </a:t>
            </a:r>
          </a:p>
          <a:p>
            <a:r>
              <a:rPr lang="en-US" dirty="0"/>
              <a:t>A Brief Example of Agile Architecting </a:t>
            </a:r>
          </a:p>
          <a:p>
            <a:r>
              <a:rPr lang="en-US" dirty="0"/>
              <a:t>Guidelines for the Agile Architect </a:t>
            </a:r>
          </a:p>
          <a:p>
            <a:r>
              <a:rPr lang="en-US" dirty="0"/>
              <a:t>Summary</a:t>
            </a:r>
          </a:p>
          <a:p>
            <a:endParaRPr lang="en-US" dirty="0"/>
          </a:p>
        </p:txBody>
      </p:sp>
    </p:spTree>
    <p:extLst>
      <p:ext uri="{BB962C8B-B14F-4D97-AF65-F5344CB8AC3E}">
        <p14:creationId xmlns:p14="http://schemas.microsoft.com/office/powerpoint/2010/main" val="4426758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7110-061E-6B15-F8AD-B105FCAADA4B}"/>
              </a:ext>
            </a:extLst>
          </p:cNvPr>
          <p:cNvSpPr>
            <a:spLocks noGrp="1"/>
          </p:cNvSpPr>
          <p:nvPr>
            <p:ph type="title"/>
          </p:nvPr>
        </p:nvSpPr>
        <p:spPr>
          <a:xfrm>
            <a:off x="838200" y="0"/>
            <a:ext cx="10515600" cy="1325563"/>
          </a:xfrm>
        </p:spPr>
        <p:txBody>
          <a:bodyPr>
            <a:normAutofit/>
          </a:bodyPr>
          <a:lstStyle/>
          <a:p>
            <a:r>
              <a:rPr lang="en-US" sz="4800" dirty="0">
                <a:solidFill>
                  <a:srgbClr val="000000"/>
                </a:solidFill>
                <a:effectLst/>
                <a:latin typeface="+mn-lt"/>
                <a:ea typeface="Times New Roman" panose="02020603050405020304" pitchFamily="18" charset="0"/>
                <a:cs typeface="Times New Roman" panose="02020603050405020304" pitchFamily="18" charset="0"/>
              </a:rPr>
              <a:t>Agility</a:t>
            </a:r>
            <a:endParaRPr lang="en-US" sz="9600" dirty="0">
              <a:latin typeface="+mn-lt"/>
            </a:endParaRPr>
          </a:p>
        </p:txBody>
      </p:sp>
      <p:sp>
        <p:nvSpPr>
          <p:cNvPr id="3" name="Content Placeholder 2">
            <a:extLst>
              <a:ext uri="{FF2B5EF4-FFF2-40B4-BE49-F238E27FC236}">
                <a16:creationId xmlns:a16="http://schemas.microsoft.com/office/drawing/2014/main" id="{AFD9AAED-3CF0-DB72-02CB-2EBBF7208677}"/>
              </a:ext>
            </a:extLst>
          </p:cNvPr>
          <p:cNvSpPr>
            <a:spLocks noGrp="1"/>
          </p:cNvSpPr>
          <p:nvPr>
            <p:ph idx="1"/>
          </p:nvPr>
        </p:nvSpPr>
        <p:spPr>
          <a:xfrm>
            <a:off x="838200" y="1173552"/>
            <a:ext cx="10515600" cy="5354664"/>
          </a:xfrm>
        </p:spPr>
        <p:txBody>
          <a:bodyPr>
            <a:normAutofit lnSpcReduction="10000"/>
          </a:bodyPr>
          <a:lstStyle/>
          <a:p>
            <a:r>
              <a:rPr lang="en-US" dirty="0"/>
              <a:t>Agile processes were a response to a need for projects to</a:t>
            </a:r>
          </a:p>
          <a:p>
            <a:pPr lvl="1"/>
            <a:r>
              <a:rPr lang="en-US" dirty="0"/>
              <a:t>be more </a:t>
            </a:r>
            <a:r>
              <a:rPr lang="en-US" b="1" dirty="0"/>
              <a:t>responsive</a:t>
            </a:r>
            <a:r>
              <a:rPr lang="en-US" dirty="0"/>
              <a:t> to their stakeholders</a:t>
            </a:r>
          </a:p>
          <a:p>
            <a:pPr lvl="1"/>
            <a:r>
              <a:rPr lang="en-US" dirty="0"/>
              <a:t>be </a:t>
            </a:r>
            <a:r>
              <a:rPr lang="en-US" b="1" dirty="0"/>
              <a:t>quicker</a:t>
            </a:r>
            <a:r>
              <a:rPr lang="en-US" dirty="0"/>
              <a:t> to develop functionality that users care about</a:t>
            </a:r>
          </a:p>
          <a:p>
            <a:pPr lvl="1"/>
            <a:r>
              <a:rPr lang="en-US" dirty="0"/>
              <a:t>show more and </a:t>
            </a:r>
            <a:r>
              <a:rPr lang="en-US" b="1" dirty="0"/>
              <a:t>earlier progress </a:t>
            </a:r>
            <a:r>
              <a:rPr lang="en-US" dirty="0"/>
              <a:t>in a project’s life cycle </a:t>
            </a:r>
          </a:p>
          <a:p>
            <a:pPr lvl="1"/>
            <a:r>
              <a:rPr lang="en-US" dirty="0"/>
              <a:t>be less burdened by </a:t>
            </a:r>
            <a:r>
              <a:rPr lang="en-US" b="1" dirty="0"/>
              <a:t>documenting</a:t>
            </a:r>
            <a:r>
              <a:rPr lang="en-US" dirty="0"/>
              <a:t> aspects of a project that would inevitably change. </a:t>
            </a:r>
          </a:p>
          <a:p>
            <a:r>
              <a:rPr lang="en-US" dirty="0"/>
              <a:t>These needs are not in conflict with architecture.</a:t>
            </a:r>
          </a:p>
          <a:p>
            <a:r>
              <a:rPr lang="en-US" dirty="0"/>
              <a:t>The question for a software project is not “Should I do Agile or architecture?” Instead ask:</a:t>
            </a:r>
          </a:p>
          <a:p>
            <a:pPr lvl="1"/>
            <a:r>
              <a:rPr lang="en-US" dirty="0"/>
              <a:t>“</a:t>
            </a:r>
            <a:r>
              <a:rPr lang="en-US" b="1" dirty="0"/>
              <a:t>How much architecture </a:t>
            </a:r>
            <a:r>
              <a:rPr lang="en-US" dirty="0"/>
              <a:t>should I do up front versus how much should I defer until the project’s requirements have solidified somewhat?”</a:t>
            </a:r>
          </a:p>
          <a:p>
            <a:pPr lvl="1"/>
            <a:r>
              <a:rPr lang="en-US" dirty="0"/>
              <a:t>“How much of the architecture should I formally document, and when?” </a:t>
            </a:r>
          </a:p>
          <a:p>
            <a:r>
              <a:rPr lang="en-US" dirty="0"/>
              <a:t>Agile and architecture are happy companions for many software projects.</a:t>
            </a:r>
            <a:endParaRPr lang="en-AU" dirty="0"/>
          </a:p>
          <a:p>
            <a:pPr marL="0" indent="0">
              <a:buNone/>
            </a:pPr>
            <a:endParaRPr lang="en-US" dirty="0"/>
          </a:p>
        </p:txBody>
      </p:sp>
    </p:spTree>
    <p:extLst>
      <p:ext uri="{BB962C8B-B14F-4D97-AF65-F5344CB8AC3E}">
        <p14:creationId xmlns:p14="http://schemas.microsoft.com/office/powerpoint/2010/main" val="1617760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56481F-6213-2759-144C-16D5573D0717}"/>
              </a:ext>
            </a:extLst>
          </p:cNvPr>
          <p:cNvSpPr>
            <a:spLocks noGrp="1"/>
          </p:cNvSpPr>
          <p:nvPr>
            <p:ph type="title"/>
          </p:nvPr>
        </p:nvSpPr>
        <p:spPr>
          <a:xfrm>
            <a:off x="838200" y="617537"/>
            <a:ext cx="10515600" cy="1325563"/>
          </a:xfrm>
        </p:spPr>
        <p:txBody>
          <a:bodyPr/>
          <a:lstStyle/>
          <a:p>
            <a:r>
              <a:rPr lang="en-US" dirty="0"/>
              <a:t>Agile Manifesto</a:t>
            </a:r>
          </a:p>
        </p:txBody>
      </p:sp>
      <p:pic>
        <p:nvPicPr>
          <p:cNvPr id="5" name="Content Placeholder 4" descr="agile.tiff">
            <a:extLst>
              <a:ext uri="{FF2B5EF4-FFF2-40B4-BE49-F238E27FC236}">
                <a16:creationId xmlns:a16="http://schemas.microsoft.com/office/drawing/2014/main" id="{F45DFEC7-6320-2C6B-37BB-73C6D0B773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943100"/>
            <a:ext cx="7869836" cy="3573280"/>
          </a:xfrm>
          <a:prstGeom prst="rect">
            <a:avLst/>
          </a:prstGeom>
        </p:spPr>
      </p:pic>
    </p:spTree>
    <p:extLst>
      <p:ext uri="{BB962C8B-B14F-4D97-AF65-F5344CB8AC3E}">
        <p14:creationId xmlns:p14="http://schemas.microsoft.com/office/powerpoint/2010/main" val="43599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657CBC-7A5B-4644-545B-47DDD7687C5B}"/>
              </a:ext>
            </a:extLst>
          </p:cNvPr>
          <p:cNvSpPr>
            <a:spLocks noGrp="1"/>
          </p:cNvSpPr>
          <p:nvPr>
            <p:ph idx="1"/>
          </p:nvPr>
        </p:nvSpPr>
        <p:spPr>
          <a:xfrm>
            <a:off x="838200" y="858983"/>
            <a:ext cx="10515600" cy="5999018"/>
          </a:xfrm>
        </p:spPr>
        <p:txBody>
          <a:bodyPr>
            <a:normAutofit fontScale="70000" lnSpcReduction="20000"/>
          </a:bodyPr>
          <a:lstStyle/>
          <a:p>
            <a:pPr marL="514350" indent="-514350">
              <a:buFont typeface="+mj-lt"/>
              <a:buAutoNum type="arabicPeriod"/>
            </a:pPr>
            <a:r>
              <a:rPr lang="en-US" sz="2800" dirty="0"/>
              <a:t>Our highest </a:t>
            </a:r>
            <a:r>
              <a:rPr lang="en-US" sz="2800" b="1" dirty="0"/>
              <a:t>priority</a:t>
            </a:r>
            <a:r>
              <a:rPr lang="en-US" sz="2800" dirty="0"/>
              <a:t> is to </a:t>
            </a:r>
            <a:r>
              <a:rPr lang="en-US" sz="2800" b="1" dirty="0"/>
              <a:t>satisfy the customer </a:t>
            </a:r>
            <a:r>
              <a:rPr lang="en-US" sz="2800" dirty="0"/>
              <a:t>through </a:t>
            </a:r>
            <a:r>
              <a:rPr lang="en-US" sz="2800" b="1" dirty="0"/>
              <a:t>early and continuous delivery</a:t>
            </a:r>
            <a:r>
              <a:rPr lang="en-US" sz="2800" dirty="0"/>
              <a:t> of valuable software.</a:t>
            </a:r>
          </a:p>
          <a:p>
            <a:pPr marL="514350" indent="-514350">
              <a:buFont typeface="+mj-lt"/>
              <a:buAutoNum type="arabicPeriod"/>
            </a:pPr>
            <a:r>
              <a:rPr lang="en-US" sz="2800" b="1" dirty="0"/>
              <a:t>Welcome changing requirements, </a:t>
            </a:r>
            <a:r>
              <a:rPr lang="en-US" sz="2800" dirty="0"/>
              <a:t>even late in development. Agile processes harness change for the customer’s competitive advantage.</a:t>
            </a:r>
          </a:p>
          <a:p>
            <a:pPr marL="514350" indent="-514350">
              <a:buFont typeface="+mj-lt"/>
              <a:buAutoNum type="arabicPeriod"/>
            </a:pPr>
            <a:r>
              <a:rPr lang="en-US" sz="2800" dirty="0"/>
              <a:t>Deliver </a:t>
            </a:r>
            <a:r>
              <a:rPr lang="en-US" sz="2800" b="1" dirty="0"/>
              <a:t>working software </a:t>
            </a:r>
            <a:r>
              <a:rPr lang="en-US" sz="2800" dirty="0"/>
              <a:t>frequently, from a couple of weeks to a couple of months, with a preference to the shorter timescale.</a:t>
            </a:r>
          </a:p>
          <a:p>
            <a:pPr marL="514350" indent="-514350">
              <a:buFont typeface="+mj-lt"/>
              <a:buAutoNum type="arabicPeriod"/>
            </a:pPr>
            <a:r>
              <a:rPr lang="en-US" sz="2800" dirty="0"/>
              <a:t>Business people and developers must work together </a:t>
            </a:r>
            <a:r>
              <a:rPr lang="en-US" sz="2800" b="1" dirty="0"/>
              <a:t>daily</a:t>
            </a:r>
            <a:r>
              <a:rPr lang="en-US" sz="2800" dirty="0"/>
              <a:t> throughout the project.</a:t>
            </a:r>
          </a:p>
          <a:p>
            <a:pPr marL="514350" indent="-514350">
              <a:buFont typeface="+mj-lt"/>
              <a:buAutoNum type="arabicPeriod"/>
            </a:pPr>
            <a:r>
              <a:rPr lang="en-US" sz="2800" dirty="0"/>
              <a:t>Build projects around </a:t>
            </a:r>
            <a:r>
              <a:rPr lang="en-US" sz="2800" b="1" dirty="0"/>
              <a:t>motivated individuals. </a:t>
            </a:r>
            <a:r>
              <a:rPr lang="en-US" sz="2800" dirty="0"/>
              <a:t>Give them the environment and support they need, and trust them to get the job done.</a:t>
            </a:r>
          </a:p>
          <a:p>
            <a:pPr marL="514350" indent="-514350">
              <a:buFont typeface="+mj-lt"/>
              <a:buAutoNum type="arabicPeriod"/>
            </a:pPr>
            <a:r>
              <a:rPr lang="en-US" sz="2800" dirty="0"/>
              <a:t>The most efficient and effective method of conveying information to and within a development team is </a:t>
            </a:r>
            <a:r>
              <a:rPr lang="en-US" sz="2800" b="1" dirty="0"/>
              <a:t>face-to-face conversation.</a:t>
            </a:r>
          </a:p>
          <a:p>
            <a:pPr marL="514350" indent="-514350">
              <a:buFont typeface="+mj-lt"/>
              <a:buAutoNum type="arabicPeriod"/>
            </a:pPr>
            <a:r>
              <a:rPr lang="en-US" sz="2800" b="1" dirty="0"/>
              <a:t>Working software </a:t>
            </a:r>
            <a:r>
              <a:rPr lang="en-US" sz="2800" dirty="0"/>
              <a:t>is the primary measure of progress.</a:t>
            </a:r>
          </a:p>
          <a:p>
            <a:pPr marL="514350" indent="-514350">
              <a:buFont typeface="+mj-lt"/>
              <a:buAutoNum type="arabicPeriod"/>
            </a:pPr>
            <a:r>
              <a:rPr lang="en-US" sz="2800" dirty="0"/>
              <a:t>Agile processes promote </a:t>
            </a:r>
            <a:r>
              <a:rPr lang="en-US" sz="2800" b="1" dirty="0"/>
              <a:t>sustainable development</a:t>
            </a:r>
            <a:r>
              <a:rPr lang="en-US" sz="2800" dirty="0"/>
              <a:t>. The sponsors, developers, and users should be able to maintain a constant pace indefinitely.</a:t>
            </a:r>
          </a:p>
          <a:p>
            <a:pPr marL="514350" indent="-514350">
              <a:buFont typeface="+mj-lt"/>
              <a:buAutoNum type="arabicPeriod"/>
            </a:pPr>
            <a:r>
              <a:rPr lang="en-US" sz="2800" dirty="0"/>
              <a:t>Continuous attention to technical excellence and good design enhances agility.</a:t>
            </a:r>
          </a:p>
          <a:p>
            <a:pPr marL="514350" indent="-514350">
              <a:buFont typeface="+mj-lt"/>
              <a:buAutoNum type="arabicPeriod"/>
            </a:pPr>
            <a:r>
              <a:rPr lang="en-US" sz="2800" b="1" dirty="0"/>
              <a:t>Simplicity</a:t>
            </a:r>
            <a:r>
              <a:rPr lang="en-US" sz="2800" dirty="0"/>
              <a:t>—the art of maximizing the amount of work not done—is </a:t>
            </a:r>
            <a:r>
              <a:rPr lang="en-US" sz="2800" dirty="0" smtClean="0"/>
              <a:t>essential</a:t>
            </a:r>
            <a:r>
              <a:rPr lang="en-US" dirty="0" smtClean="0"/>
              <a:t>. </a:t>
            </a:r>
            <a:r>
              <a:rPr lang="en-US" b="1" i="1" dirty="0" smtClean="0"/>
              <a:t>“Ideas </a:t>
            </a:r>
            <a:r>
              <a:rPr lang="en-US" b="1" i="1" dirty="0"/>
              <a:t>are cheap, implementing those ideas is rarely cheap!”</a:t>
            </a:r>
            <a:r>
              <a:rPr lang="en-US" dirty="0"/>
              <a:t> </a:t>
            </a:r>
            <a:endParaRPr lang="en-US" sz="2800" dirty="0"/>
          </a:p>
          <a:p>
            <a:pPr marL="514350" indent="-514350">
              <a:buFont typeface="+mj-lt"/>
              <a:buAutoNum type="arabicPeriod"/>
            </a:pPr>
            <a:r>
              <a:rPr lang="en-US" sz="2800" dirty="0"/>
              <a:t>The best architectures, requirements, and designs emerge from self-organizing teams.</a:t>
            </a:r>
          </a:p>
          <a:p>
            <a:pPr marL="514350" indent="-514350">
              <a:buFont typeface="+mj-lt"/>
              <a:buAutoNum type="arabicPeriod"/>
            </a:pPr>
            <a:r>
              <a:rPr lang="en-US" sz="2800" dirty="0"/>
              <a:t>At regular intervals, the team reflects on how to become more effective, then tunes and adjusts its behavior accordingly.</a:t>
            </a:r>
          </a:p>
          <a:p>
            <a:endParaRPr lang="en-US" dirty="0"/>
          </a:p>
        </p:txBody>
      </p:sp>
      <p:sp>
        <p:nvSpPr>
          <p:cNvPr id="4" name="Title 1">
            <a:extLst>
              <a:ext uri="{FF2B5EF4-FFF2-40B4-BE49-F238E27FC236}">
                <a16:creationId xmlns:a16="http://schemas.microsoft.com/office/drawing/2014/main" id="{F62C90E6-0B9D-DF7B-0D67-FE2AC4E6EBF9}"/>
              </a:ext>
            </a:extLst>
          </p:cNvPr>
          <p:cNvSpPr>
            <a:spLocks noGrp="1"/>
          </p:cNvSpPr>
          <p:nvPr>
            <p:ph type="title"/>
          </p:nvPr>
        </p:nvSpPr>
        <p:spPr>
          <a:xfrm>
            <a:off x="838200" y="-219466"/>
            <a:ext cx="10515600" cy="1325563"/>
          </a:xfrm>
        </p:spPr>
        <p:txBody>
          <a:bodyPr>
            <a:normAutofit/>
          </a:bodyPr>
          <a:lstStyle/>
          <a:p>
            <a:r>
              <a:rPr lang="en-US" sz="4000" dirty="0"/>
              <a:t>Twelve Agile Principles</a:t>
            </a:r>
          </a:p>
        </p:txBody>
      </p:sp>
    </p:spTree>
    <p:extLst>
      <p:ext uri="{BB962C8B-B14F-4D97-AF65-F5344CB8AC3E}">
        <p14:creationId xmlns:p14="http://schemas.microsoft.com/office/powerpoint/2010/main" val="29306695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1254A1-0307-938F-EFDB-37DD49447C5E}"/>
              </a:ext>
            </a:extLst>
          </p:cNvPr>
          <p:cNvSpPr>
            <a:spLocks noGrp="1"/>
          </p:cNvSpPr>
          <p:nvPr>
            <p:ph idx="1"/>
          </p:nvPr>
        </p:nvSpPr>
        <p:spPr>
          <a:xfrm>
            <a:off x="838200" y="1825625"/>
            <a:ext cx="9999689" cy="4351338"/>
          </a:xfrm>
        </p:spPr>
        <p:txBody>
          <a:bodyPr/>
          <a:lstStyle/>
          <a:p>
            <a:r>
              <a:rPr lang="en-US" dirty="0"/>
              <a:t>These processes </a:t>
            </a:r>
            <a:r>
              <a:rPr lang="pl-PL" dirty="0"/>
              <a:t>were initially employed on small- to medium-sized projects with short time frames and enjoyed considerable success. </a:t>
            </a:r>
          </a:p>
          <a:p>
            <a:r>
              <a:rPr lang="pl-PL" dirty="0"/>
              <a:t>They were not often used for larger projects, particularly those with distributed development. </a:t>
            </a:r>
            <a:endParaRPr lang="en-US" dirty="0"/>
          </a:p>
          <a:p>
            <a:endParaRPr lang="en-US" dirty="0"/>
          </a:p>
        </p:txBody>
      </p:sp>
      <p:sp>
        <p:nvSpPr>
          <p:cNvPr id="4" name="Title 1">
            <a:extLst>
              <a:ext uri="{FF2B5EF4-FFF2-40B4-BE49-F238E27FC236}">
                <a16:creationId xmlns:a16="http://schemas.microsoft.com/office/drawing/2014/main" id="{A8391814-7A5B-A022-E749-6A279255188E}"/>
              </a:ext>
            </a:extLst>
          </p:cNvPr>
          <p:cNvSpPr txBox="1">
            <a:spLocks/>
          </p:cNvSpPr>
          <p:nvPr/>
        </p:nvSpPr>
        <p:spPr>
          <a:xfrm>
            <a:off x="1301384" y="681037"/>
            <a:ext cx="7715200" cy="7780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Agile</a:t>
            </a:r>
          </a:p>
        </p:txBody>
      </p:sp>
    </p:spTree>
    <p:extLst>
      <p:ext uri="{BB962C8B-B14F-4D97-AF65-F5344CB8AC3E}">
        <p14:creationId xmlns:p14="http://schemas.microsoft.com/office/powerpoint/2010/main" val="4078800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6F91-B374-3657-E912-FF02927FC269}"/>
              </a:ext>
            </a:extLst>
          </p:cNvPr>
          <p:cNvSpPr>
            <a:spLocks noGrp="1"/>
          </p:cNvSpPr>
          <p:nvPr>
            <p:ph type="title"/>
          </p:nvPr>
        </p:nvSpPr>
        <p:spPr/>
        <p:txBody>
          <a:bodyPr/>
          <a:lstStyle/>
          <a:p>
            <a:r>
              <a:rPr lang="en-US" dirty="0"/>
              <a:t>Agility and Documentation</a:t>
            </a:r>
          </a:p>
        </p:txBody>
      </p:sp>
      <p:sp>
        <p:nvSpPr>
          <p:cNvPr id="3" name="Content Placeholder 2">
            <a:extLst>
              <a:ext uri="{FF2B5EF4-FFF2-40B4-BE49-F238E27FC236}">
                <a16:creationId xmlns:a16="http://schemas.microsoft.com/office/drawing/2014/main" id="{2A08ACE0-ADAF-87D1-3501-67C672F8F158}"/>
              </a:ext>
            </a:extLst>
          </p:cNvPr>
          <p:cNvSpPr>
            <a:spLocks noGrp="1"/>
          </p:cNvSpPr>
          <p:nvPr>
            <p:ph idx="1"/>
          </p:nvPr>
        </p:nvSpPr>
        <p:spPr/>
        <p:txBody>
          <a:bodyPr/>
          <a:lstStyle/>
          <a:p>
            <a:r>
              <a:rPr lang="en-US" dirty="0"/>
              <a:t>Write for the reader!</a:t>
            </a:r>
          </a:p>
          <a:p>
            <a:r>
              <a:rPr lang="en-US" dirty="0"/>
              <a:t>If the reader doesn’t need it, don’t write it.</a:t>
            </a:r>
          </a:p>
          <a:p>
            <a:pPr lvl="1"/>
            <a:r>
              <a:rPr lang="en-US" dirty="0"/>
              <a:t>But remember that the reader may be a maintainer or other newcomer not yet on the project!</a:t>
            </a:r>
          </a:p>
          <a:p>
            <a:endParaRPr lang="en-US" dirty="0"/>
          </a:p>
        </p:txBody>
      </p:sp>
    </p:spTree>
    <p:extLst>
      <p:ext uri="{BB962C8B-B14F-4D97-AF65-F5344CB8AC3E}">
        <p14:creationId xmlns:p14="http://schemas.microsoft.com/office/powerpoint/2010/main" val="6165406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24F5-AAAD-D000-6001-04E74D89C9D8}"/>
              </a:ext>
            </a:extLst>
          </p:cNvPr>
          <p:cNvSpPr>
            <a:spLocks noGrp="1"/>
          </p:cNvSpPr>
          <p:nvPr>
            <p:ph type="title"/>
          </p:nvPr>
        </p:nvSpPr>
        <p:spPr/>
        <p:txBody>
          <a:bodyPr/>
          <a:lstStyle/>
          <a:p>
            <a:r>
              <a:rPr lang="en-US" dirty="0"/>
              <a:t>Agility and Architecture Evaluation</a:t>
            </a:r>
          </a:p>
        </p:txBody>
      </p:sp>
      <p:sp>
        <p:nvSpPr>
          <p:cNvPr id="3" name="Content Placeholder 2">
            <a:extLst>
              <a:ext uri="{FF2B5EF4-FFF2-40B4-BE49-F238E27FC236}">
                <a16:creationId xmlns:a16="http://schemas.microsoft.com/office/drawing/2014/main" id="{109A2D8B-E68D-F66D-54A8-9118A8821C06}"/>
              </a:ext>
            </a:extLst>
          </p:cNvPr>
          <p:cNvSpPr>
            <a:spLocks noGrp="1"/>
          </p:cNvSpPr>
          <p:nvPr>
            <p:ph idx="1"/>
          </p:nvPr>
        </p:nvSpPr>
        <p:spPr/>
        <p:txBody>
          <a:bodyPr/>
          <a:lstStyle/>
          <a:p>
            <a:r>
              <a:rPr lang="en-US" dirty="0"/>
              <a:t>Architecture evaluation work as part of an Agile process? Absolutely.</a:t>
            </a:r>
          </a:p>
          <a:p>
            <a:r>
              <a:rPr lang="en-US" b="1" i="1" dirty="0"/>
              <a:t>Meeting stakeholders’ important concerns</a:t>
            </a:r>
            <a:r>
              <a:rPr lang="en-US" dirty="0"/>
              <a:t> is a cornerstone of Agile philosophy.</a:t>
            </a:r>
          </a:p>
          <a:p>
            <a:r>
              <a:rPr lang="en-US" dirty="0"/>
              <a:t>Our approach to architecture evaluation is exemplified by the Architecture Tradeoff Analysis Method (ATAM).</a:t>
            </a:r>
          </a:p>
          <a:p>
            <a:pPr lvl="1"/>
            <a:r>
              <a:rPr lang="en-US" dirty="0"/>
              <a:t>ATAM does not endeavor to analyze all, or even most, of an architecture. </a:t>
            </a:r>
          </a:p>
          <a:p>
            <a:pPr lvl="1"/>
            <a:r>
              <a:rPr lang="en-US" dirty="0"/>
              <a:t>The focus is determined by a set of </a:t>
            </a:r>
            <a:r>
              <a:rPr lang="en-US" b="1" dirty="0"/>
              <a:t>quality attribute scenarios </a:t>
            </a:r>
            <a:r>
              <a:rPr lang="en-US" dirty="0"/>
              <a:t>that represent the most important of the concerns of the stakeholders. </a:t>
            </a:r>
          </a:p>
          <a:p>
            <a:r>
              <a:rPr lang="en-US" dirty="0"/>
              <a:t>It is easy to tailor a lightweight architecture evaluation.</a:t>
            </a:r>
          </a:p>
          <a:p>
            <a:endParaRPr lang="en-US" dirty="0"/>
          </a:p>
        </p:txBody>
      </p:sp>
    </p:spTree>
    <p:extLst>
      <p:ext uri="{BB962C8B-B14F-4D97-AF65-F5344CB8AC3E}">
        <p14:creationId xmlns:p14="http://schemas.microsoft.com/office/powerpoint/2010/main" val="29652589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73C3-4574-A38F-228C-3E79E92DBA24}"/>
              </a:ext>
            </a:extLst>
          </p:cNvPr>
          <p:cNvSpPr>
            <a:spLocks noGrp="1"/>
          </p:cNvSpPr>
          <p:nvPr>
            <p:ph type="title"/>
          </p:nvPr>
        </p:nvSpPr>
        <p:spPr>
          <a:xfrm>
            <a:off x="838200" y="110318"/>
            <a:ext cx="10515600" cy="1325563"/>
          </a:xfrm>
        </p:spPr>
        <p:txBody>
          <a:bodyPr/>
          <a:lstStyle/>
          <a:p>
            <a:r>
              <a:rPr lang="en-US" dirty="0"/>
              <a:t>Guidelines for the Agile Architect</a:t>
            </a:r>
          </a:p>
        </p:txBody>
      </p:sp>
      <p:sp>
        <p:nvSpPr>
          <p:cNvPr id="3" name="Content Placeholder 2">
            <a:extLst>
              <a:ext uri="{FF2B5EF4-FFF2-40B4-BE49-F238E27FC236}">
                <a16:creationId xmlns:a16="http://schemas.microsoft.com/office/drawing/2014/main" id="{1CEF0112-65DC-41EC-3332-85073E9D7EA7}"/>
              </a:ext>
            </a:extLst>
          </p:cNvPr>
          <p:cNvSpPr>
            <a:spLocks noGrp="1"/>
          </p:cNvSpPr>
          <p:nvPr>
            <p:ph idx="1"/>
          </p:nvPr>
        </p:nvSpPr>
        <p:spPr>
          <a:xfrm>
            <a:off x="838200" y="1435881"/>
            <a:ext cx="10515600" cy="6134152"/>
          </a:xfrm>
        </p:spPr>
        <p:txBody>
          <a:bodyPr/>
          <a:lstStyle/>
          <a:p>
            <a:pPr>
              <a:spcBef>
                <a:spcPts val="0"/>
              </a:spcBef>
            </a:pPr>
            <a:r>
              <a:rPr lang="en-US" dirty="0"/>
              <a:t>Barry Boehm and colleagues have developed the Incremental Commitment Model to blend agility and architecture.</a:t>
            </a:r>
          </a:p>
          <a:p>
            <a:pPr>
              <a:spcBef>
                <a:spcPts val="0"/>
              </a:spcBef>
            </a:pPr>
            <a:r>
              <a:rPr lang="en-US" dirty="0"/>
              <a:t>This model is based upon the following principles:</a:t>
            </a:r>
          </a:p>
          <a:p>
            <a:pPr lvl="1">
              <a:spcBef>
                <a:spcPts val="0"/>
              </a:spcBef>
            </a:pPr>
            <a:r>
              <a:rPr lang="en-US" dirty="0"/>
              <a:t>Commitment and accountability of success-critical stakeholders</a:t>
            </a:r>
          </a:p>
          <a:p>
            <a:pPr lvl="1">
              <a:spcBef>
                <a:spcPts val="0"/>
              </a:spcBef>
            </a:pPr>
            <a:r>
              <a:rPr lang="en-US" dirty="0"/>
              <a:t>Stakeholder “satisficing” (meeting an acceptability threshold) based on success-based negotiations and tradeoffs</a:t>
            </a:r>
          </a:p>
          <a:p>
            <a:pPr lvl="1">
              <a:spcBef>
                <a:spcPts val="0"/>
              </a:spcBef>
            </a:pPr>
            <a:r>
              <a:rPr lang="en-US" dirty="0"/>
              <a:t>Incremental and evolutionary growth of system definition and stakeholder commitment</a:t>
            </a:r>
          </a:p>
          <a:p>
            <a:pPr lvl="1">
              <a:spcBef>
                <a:spcPts val="0"/>
              </a:spcBef>
            </a:pPr>
            <a:r>
              <a:rPr lang="en-US" dirty="0"/>
              <a:t>Iterative system development and definition</a:t>
            </a:r>
          </a:p>
          <a:p>
            <a:pPr lvl="1">
              <a:spcBef>
                <a:spcPts val="0"/>
              </a:spcBef>
            </a:pPr>
            <a:r>
              <a:rPr lang="en-US" dirty="0"/>
              <a:t>Interleaved system definition and development allowing early fielding of core capabilities, continual adaptation to change, and timely growth of complex systems without waiting for every requirement and subsystem to be defined</a:t>
            </a:r>
          </a:p>
          <a:p>
            <a:pPr lvl="1">
              <a:spcBef>
                <a:spcPts val="0"/>
              </a:spcBef>
            </a:pPr>
            <a:r>
              <a:rPr lang="en-US" dirty="0"/>
              <a:t>Risk management—risk-driven anchor point milestones, which are key to synchronizing and stabilizing all of this concurrent activity</a:t>
            </a:r>
          </a:p>
          <a:p>
            <a:endParaRPr lang="en-US" dirty="0"/>
          </a:p>
        </p:txBody>
      </p:sp>
    </p:spTree>
    <p:extLst>
      <p:ext uri="{BB962C8B-B14F-4D97-AF65-F5344CB8AC3E}">
        <p14:creationId xmlns:p14="http://schemas.microsoft.com/office/powerpoint/2010/main" val="6899948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47C9C-972B-332A-6CDC-52532AC25E5C}"/>
              </a:ext>
            </a:extLst>
          </p:cNvPr>
          <p:cNvSpPr>
            <a:spLocks noGrp="1"/>
          </p:cNvSpPr>
          <p:nvPr>
            <p:ph type="title"/>
          </p:nvPr>
        </p:nvSpPr>
        <p:spPr/>
        <p:txBody>
          <a:bodyPr/>
          <a:lstStyle/>
          <a:p>
            <a:r>
              <a:rPr lang="en-US" dirty="0"/>
              <a:t>Final Advise</a:t>
            </a:r>
          </a:p>
        </p:txBody>
      </p:sp>
      <p:sp>
        <p:nvSpPr>
          <p:cNvPr id="3" name="Content Placeholder 2">
            <a:extLst>
              <a:ext uri="{FF2B5EF4-FFF2-40B4-BE49-F238E27FC236}">
                <a16:creationId xmlns:a16="http://schemas.microsoft.com/office/drawing/2014/main" id="{CCC5915B-AE38-E881-6F55-D47B817D3AB4}"/>
              </a:ext>
            </a:extLst>
          </p:cNvPr>
          <p:cNvSpPr>
            <a:spLocks noGrp="1"/>
          </p:cNvSpPr>
          <p:nvPr>
            <p:ph idx="1"/>
          </p:nvPr>
        </p:nvSpPr>
        <p:spPr/>
        <p:txBody>
          <a:bodyPr>
            <a:normAutofit fontScale="92500"/>
          </a:bodyPr>
          <a:lstStyle/>
          <a:p>
            <a:r>
              <a:rPr lang="en-US" dirty="0"/>
              <a:t>If you are building a large, complex system with relatively stable and well-understood requirements and/or distributed development, doing a large amount of architecture work up front will pay off.</a:t>
            </a:r>
          </a:p>
          <a:p>
            <a:r>
              <a:rPr lang="en-US" dirty="0"/>
              <a:t>On larger projects with </a:t>
            </a:r>
            <a:r>
              <a:rPr lang="en-US" i="1" dirty="0"/>
              <a:t>unstable</a:t>
            </a:r>
            <a:r>
              <a:rPr lang="en-US" dirty="0"/>
              <a:t> requirements, start by quickly designing a candidate architecture even if it leaves out many details. </a:t>
            </a:r>
          </a:p>
          <a:p>
            <a:pPr lvl="1"/>
            <a:r>
              <a:rPr lang="en-US" dirty="0"/>
              <a:t>Be prepared to change and elaborate this architecture as circumstances dictate, as you perform your spikes and experiments, and as functional and quality attribute requirements emerge and solidify. </a:t>
            </a:r>
          </a:p>
          <a:p>
            <a:r>
              <a:rPr lang="en-US" dirty="0"/>
              <a:t>On smaller projects with uncertain requirements, at least try to get agreement on the major patterns to be employed.  Don’t spend too much time on architecture design, documentation, or analysis up front.</a:t>
            </a:r>
          </a:p>
          <a:p>
            <a:endParaRPr lang="en-US" dirty="0"/>
          </a:p>
        </p:txBody>
      </p:sp>
    </p:spTree>
    <p:extLst>
      <p:ext uri="{BB962C8B-B14F-4D97-AF65-F5344CB8AC3E}">
        <p14:creationId xmlns:p14="http://schemas.microsoft.com/office/powerpoint/2010/main" val="17463232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5181-EEF6-579B-F517-4518A477CBF9}"/>
              </a:ext>
            </a:extLst>
          </p:cNvPr>
          <p:cNvSpPr>
            <a:spLocks noGrp="1"/>
          </p:cNvSpPr>
          <p:nvPr>
            <p:ph type="title"/>
          </p:nvPr>
        </p:nvSpPr>
        <p:spPr/>
        <p:txBody>
          <a:bodyPr/>
          <a:lstStyle/>
          <a:p>
            <a:r>
              <a:rPr lang="en-US" dirty="0"/>
              <a:t>Summary </a:t>
            </a:r>
          </a:p>
        </p:txBody>
      </p:sp>
      <p:sp>
        <p:nvSpPr>
          <p:cNvPr id="3" name="Content Placeholder 2">
            <a:extLst>
              <a:ext uri="{FF2B5EF4-FFF2-40B4-BE49-F238E27FC236}">
                <a16:creationId xmlns:a16="http://schemas.microsoft.com/office/drawing/2014/main" id="{A36B0EB0-FE4E-3FE0-7BE0-5A9C376C2176}"/>
              </a:ext>
            </a:extLst>
          </p:cNvPr>
          <p:cNvSpPr>
            <a:spLocks noGrp="1"/>
          </p:cNvSpPr>
          <p:nvPr>
            <p:ph idx="1"/>
          </p:nvPr>
        </p:nvSpPr>
        <p:spPr/>
        <p:txBody>
          <a:bodyPr>
            <a:normAutofit fontScale="92500" lnSpcReduction="10000"/>
          </a:bodyPr>
          <a:lstStyle/>
          <a:p>
            <a:r>
              <a:rPr lang="en-US" sz="2800" dirty="0"/>
              <a:t>The Agile Manifesto and principles value </a:t>
            </a:r>
            <a:r>
              <a:rPr lang="en-US" sz="2800" dirty="0" smtClean="0"/>
              <a:t>close-knit/strongly matching </a:t>
            </a:r>
            <a:r>
              <a:rPr lang="en-US" sz="2800" dirty="0"/>
              <a:t>teams, with continuous, frequent delivery of working software. </a:t>
            </a:r>
          </a:p>
          <a:p>
            <a:r>
              <a:rPr lang="en-US" sz="2800" dirty="0"/>
              <a:t>Agile processes were initially employed on small- to medium-sized projects with short time frames. They were </a:t>
            </a:r>
            <a:r>
              <a:rPr lang="en-US" sz="2800" dirty="0" smtClean="0"/>
              <a:t>seldom/infrequently </a:t>
            </a:r>
            <a:r>
              <a:rPr lang="en-US" sz="2800" dirty="0"/>
              <a:t>used for larger projects, particularly with distributed development.</a:t>
            </a:r>
          </a:p>
          <a:p>
            <a:r>
              <a:rPr lang="en-US" sz="2800" dirty="0"/>
              <a:t>Large-scale successful projects need a blend of agile and architecture.</a:t>
            </a:r>
          </a:p>
          <a:p>
            <a:r>
              <a:rPr lang="en-US" sz="2800" dirty="0"/>
              <a:t>Agile architects take a middle ground, proposing an initial architecture and running with that, until its technical debt becomes too great, at which point they need to refactor.</a:t>
            </a:r>
          </a:p>
          <a:p>
            <a:r>
              <a:rPr lang="pl-PL" sz="2800" dirty="0"/>
              <a:t>Boehm and Turner found that projects have a “sweet spot” where up-front architecture planning pays off.</a:t>
            </a:r>
          </a:p>
          <a:p>
            <a:endParaRPr lang="en-US" dirty="0"/>
          </a:p>
        </p:txBody>
      </p:sp>
    </p:spTree>
    <p:extLst>
      <p:ext uri="{BB962C8B-B14F-4D97-AF65-F5344CB8AC3E}">
        <p14:creationId xmlns:p14="http://schemas.microsoft.com/office/powerpoint/2010/main" val="1688422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D73D9-5A3A-F301-1F57-ED220D18B23F}"/>
              </a:ext>
            </a:extLst>
          </p:cNvPr>
          <p:cNvSpPr>
            <a:spLocks noGrp="1"/>
          </p:cNvSpPr>
          <p:nvPr>
            <p:ph type="title"/>
          </p:nvPr>
        </p:nvSpPr>
        <p:spPr>
          <a:xfrm>
            <a:off x="838200" y="-129551"/>
            <a:ext cx="10515600" cy="1325563"/>
          </a:xfrm>
        </p:spPr>
        <p:txBody>
          <a:bodyPr/>
          <a:lstStyle/>
          <a:p>
            <a:r>
              <a:rPr lang="en-US" dirty="0"/>
              <a:t>Architecture and Requirement </a:t>
            </a:r>
          </a:p>
        </p:txBody>
      </p:sp>
      <p:sp>
        <p:nvSpPr>
          <p:cNvPr id="3" name="Content Placeholder 2">
            <a:extLst>
              <a:ext uri="{FF2B5EF4-FFF2-40B4-BE49-F238E27FC236}">
                <a16:creationId xmlns:a16="http://schemas.microsoft.com/office/drawing/2014/main" id="{8B82F58C-A3B7-C668-969A-AB1AAF232898}"/>
              </a:ext>
            </a:extLst>
          </p:cNvPr>
          <p:cNvSpPr>
            <a:spLocks noGrp="1"/>
          </p:cNvSpPr>
          <p:nvPr>
            <p:ph idx="1"/>
          </p:nvPr>
        </p:nvSpPr>
        <p:spPr>
          <a:xfrm>
            <a:off x="838200" y="817612"/>
            <a:ext cx="10515600" cy="4351338"/>
          </a:xfrm>
        </p:spPr>
        <p:txBody>
          <a:bodyPr/>
          <a:lstStyle/>
          <a:p>
            <a:r>
              <a:rPr lang="en-US" sz="1800" b="1" i="0" dirty="0">
                <a:solidFill>
                  <a:srgbClr val="242021"/>
                </a:solidFill>
                <a:effectLst/>
                <a:latin typeface="Helvetica-Bold"/>
              </a:rPr>
              <a:t>Sniffing Out ASR (architecturally significant requirements) from a requirements document</a:t>
            </a:r>
            <a:r>
              <a:rPr lang="en-US" dirty="0"/>
              <a:t> </a:t>
            </a:r>
            <a:br>
              <a:rPr lang="en-US" dirty="0"/>
            </a:br>
            <a:endParaRPr lang="en-US" dirty="0"/>
          </a:p>
        </p:txBody>
      </p:sp>
      <p:pic>
        <p:nvPicPr>
          <p:cNvPr id="5" name="Picture 4">
            <a:extLst>
              <a:ext uri="{FF2B5EF4-FFF2-40B4-BE49-F238E27FC236}">
                <a16:creationId xmlns:a16="http://schemas.microsoft.com/office/drawing/2014/main" id="{EE03A49E-E77B-B4E8-27ED-D6B85C6D8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3652" y="1314296"/>
            <a:ext cx="7450111" cy="5543704"/>
          </a:xfrm>
          <a:prstGeom prst="rect">
            <a:avLst/>
          </a:prstGeom>
        </p:spPr>
      </p:pic>
    </p:spTree>
    <p:extLst>
      <p:ext uri="{BB962C8B-B14F-4D97-AF65-F5344CB8AC3E}">
        <p14:creationId xmlns:p14="http://schemas.microsoft.com/office/powerpoint/2010/main" val="18275557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AEA34-E24C-0872-C31A-16B151FC8524}"/>
              </a:ext>
            </a:extLst>
          </p:cNvPr>
          <p:cNvSpPr>
            <a:spLocks noGrp="1"/>
          </p:cNvSpPr>
          <p:nvPr>
            <p:ph type="title"/>
          </p:nvPr>
        </p:nvSpPr>
        <p:spPr/>
        <p:txBody>
          <a:bodyPr/>
          <a:lstStyle/>
          <a:p>
            <a:r>
              <a:rPr lang="en-US" dirty="0"/>
              <a:t>Architecture and Requirement </a:t>
            </a:r>
          </a:p>
        </p:txBody>
      </p:sp>
      <p:sp>
        <p:nvSpPr>
          <p:cNvPr id="3" name="Content Placeholder 2">
            <a:extLst>
              <a:ext uri="{FF2B5EF4-FFF2-40B4-BE49-F238E27FC236}">
                <a16:creationId xmlns:a16="http://schemas.microsoft.com/office/drawing/2014/main" id="{79E4D352-B260-0E10-04F6-B07620BF3D98}"/>
              </a:ext>
            </a:extLst>
          </p:cNvPr>
          <p:cNvSpPr>
            <a:spLocks noGrp="1"/>
          </p:cNvSpPr>
          <p:nvPr>
            <p:ph idx="1"/>
          </p:nvPr>
        </p:nvSpPr>
        <p:spPr/>
        <p:txBody>
          <a:bodyPr>
            <a:normAutofit fontScale="47500" lnSpcReduction="20000"/>
          </a:bodyPr>
          <a:lstStyle/>
          <a:p>
            <a:r>
              <a:rPr lang="en-US" sz="5100" b="1" i="0" dirty="0">
                <a:solidFill>
                  <a:srgbClr val="242021"/>
                </a:solidFill>
                <a:effectLst/>
              </a:rPr>
              <a:t>Gathering </a:t>
            </a:r>
            <a:r>
              <a:rPr lang="en-US" sz="5100" b="1" dirty="0">
                <a:solidFill>
                  <a:srgbClr val="242021"/>
                </a:solidFill>
              </a:rPr>
              <a:t>A</a:t>
            </a:r>
            <a:r>
              <a:rPr lang="en-US" sz="5100" b="1" i="0" dirty="0">
                <a:solidFill>
                  <a:srgbClr val="242021"/>
                </a:solidFill>
                <a:effectLst/>
              </a:rPr>
              <a:t>SR s by Interviewing Stakeholders</a:t>
            </a:r>
            <a:r>
              <a:rPr lang="en-US" sz="6500" dirty="0"/>
              <a:t> </a:t>
            </a:r>
            <a:br>
              <a:rPr lang="en-US" sz="6500" dirty="0"/>
            </a:br>
            <a:r>
              <a:rPr lang="en-US" sz="6500" dirty="0"/>
              <a:t>- </a:t>
            </a:r>
            <a:r>
              <a:rPr lang="en-US" sz="5100" b="0" i="0" dirty="0">
                <a:solidFill>
                  <a:srgbClr val="242021"/>
                </a:solidFill>
                <a:effectLst/>
              </a:rPr>
              <a:t>One such method is the Quality Attribute Workshop (QAW), described in the sidebar. Fr</a:t>
            </a:r>
            <a:r>
              <a:rPr lang="en-US" sz="5100" dirty="0">
                <a:solidFill>
                  <a:srgbClr val="242021"/>
                </a:solidFill>
              </a:rPr>
              <a:t>om book...</a:t>
            </a:r>
          </a:p>
          <a:p>
            <a:r>
              <a:rPr lang="en-US" sz="5100" b="1" dirty="0">
                <a:solidFill>
                  <a:srgbClr val="242021"/>
                </a:solidFill>
              </a:rPr>
              <a:t>Gathering ASRs by understanding business goals (basic intention, reason or concerns)</a:t>
            </a:r>
          </a:p>
          <a:p>
            <a:pPr>
              <a:buFontTx/>
              <a:buChar char="-"/>
            </a:pPr>
            <a:r>
              <a:rPr lang="en-US" sz="5100" b="0" i="1" dirty="0">
                <a:solidFill>
                  <a:srgbClr val="242021"/>
                </a:solidFill>
                <a:effectLst/>
              </a:rPr>
              <a:t>Business goals often lead to quality attribute requirements.</a:t>
            </a:r>
            <a:r>
              <a:rPr lang="en-US" sz="6500" dirty="0"/>
              <a:t> </a:t>
            </a:r>
          </a:p>
          <a:p>
            <a:pPr>
              <a:buFontTx/>
              <a:buChar char="-"/>
            </a:pPr>
            <a:r>
              <a:rPr lang="en-US" sz="5100" b="0" i="1" dirty="0">
                <a:solidFill>
                  <a:srgbClr val="242021"/>
                </a:solidFill>
                <a:effectLst/>
              </a:rPr>
              <a:t>Business goals may directly affect the architecture without precipitating</a:t>
            </a:r>
            <a:br>
              <a:rPr lang="en-US" sz="5100" b="0" i="1" dirty="0">
                <a:solidFill>
                  <a:srgbClr val="242021"/>
                </a:solidFill>
                <a:effectLst/>
              </a:rPr>
            </a:br>
            <a:r>
              <a:rPr lang="en-US" sz="5100" b="0" i="1" dirty="0">
                <a:solidFill>
                  <a:srgbClr val="242021"/>
                </a:solidFill>
                <a:effectLst/>
              </a:rPr>
              <a:t>a quality attribute requirement at all.</a:t>
            </a:r>
            <a:r>
              <a:rPr lang="en-US" sz="6500" dirty="0"/>
              <a:t> (non architectural solutions)</a:t>
            </a:r>
          </a:p>
          <a:p>
            <a:pPr>
              <a:buFontTx/>
              <a:buChar char="-"/>
            </a:pPr>
            <a:r>
              <a:rPr lang="en-US" sz="5100" b="0" i="1" dirty="0">
                <a:solidFill>
                  <a:srgbClr val="242021"/>
                </a:solidFill>
                <a:effectLst/>
              </a:rPr>
              <a:t>No influence at all. </a:t>
            </a:r>
          </a:p>
          <a:p>
            <a:pPr marL="0" indent="0">
              <a:buNone/>
            </a:pP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813552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8662-4319-E5CF-03CB-6A57D463F083}"/>
              </a:ext>
            </a:extLst>
          </p:cNvPr>
          <p:cNvSpPr>
            <a:spLocks noGrp="1"/>
          </p:cNvSpPr>
          <p:nvPr>
            <p:ph type="title"/>
          </p:nvPr>
        </p:nvSpPr>
        <p:spPr/>
        <p:txBody>
          <a:bodyPr/>
          <a:lstStyle/>
          <a:p>
            <a:r>
              <a:rPr lang="en-US" dirty="0"/>
              <a:t>Continued... </a:t>
            </a:r>
          </a:p>
        </p:txBody>
      </p:sp>
      <p:sp>
        <p:nvSpPr>
          <p:cNvPr id="3" name="Content Placeholder 2">
            <a:extLst>
              <a:ext uri="{FF2B5EF4-FFF2-40B4-BE49-F238E27FC236}">
                <a16:creationId xmlns:a16="http://schemas.microsoft.com/office/drawing/2014/main" id="{4BBA2010-035A-51C4-5A8C-B7CE0F06299E}"/>
              </a:ext>
            </a:extLst>
          </p:cNvPr>
          <p:cNvSpPr>
            <a:spLocks noGrp="1"/>
          </p:cNvSpPr>
          <p:nvPr>
            <p:ph idx="1"/>
          </p:nvPr>
        </p:nvSpPr>
        <p:spPr/>
        <p:txBody>
          <a:bodyPr>
            <a:normAutofit fontScale="70000" lnSpcReduction="20000"/>
          </a:bodyPr>
          <a:lstStyle/>
          <a:p>
            <a:r>
              <a:rPr lang="en-US" sz="4600" dirty="0"/>
              <a:t>Capturing ASRs in a utility tree </a:t>
            </a:r>
          </a:p>
          <a:p>
            <a:r>
              <a:rPr lang="en-US" sz="3100" b="0" i="1" dirty="0">
                <a:solidFill>
                  <a:srgbClr val="242021"/>
                </a:solidFill>
                <a:effectLst/>
              </a:rPr>
              <a:t>ASRs : A profound impact on the architecture</a:t>
            </a:r>
            <a:r>
              <a:rPr lang="en-US" sz="4600" dirty="0"/>
              <a:t> and </a:t>
            </a:r>
            <a:r>
              <a:rPr lang="en-US" sz="3100" b="0" i="1" dirty="0">
                <a:solidFill>
                  <a:srgbClr val="242021"/>
                </a:solidFill>
                <a:effectLst/>
              </a:rPr>
              <a:t>A high business or mission value</a:t>
            </a:r>
            <a:r>
              <a:rPr lang="en-US" sz="4600" dirty="0"/>
              <a:t> </a:t>
            </a:r>
          </a:p>
          <a:p>
            <a:r>
              <a:rPr lang="en-US" sz="3100" b="0" i="0" dirty="0">
                <a:solidFill>
                  <a:srgbClr val="242021"/>
                </a:solidFill>
                <a:effectLst/>
              </a:rPr>
              <a:t>Under each </a:t>
            </a:r>
            <a:r>
              <a:rPr lang="en-US" sz="3100" b="1" i="0" dirty="0">
                <a:solidFill>
                  <a:srgbClr val="242021"/>
                </a:solidFill>
                <a:effectLst/>
              </a:rPr>
              <a:t>refinement,</a:t>
            </a:r>
            <a:r>
              <a:rPr lang="en-US" sz="3100" b="0" i="0" dirty="0">
                <a:solidFill>
                  <a:srgbClr val="242021"/>
                </a:solidFill>
                <a:effectLst/>
              </a:rPr>
              <a:t> record the appropriate ASRs (usually expressed as QA scenarios)</a:t>
            </a:r>
            <a:r>
              <a:rPr lang="en-US" sz="4600" dirty="0"/>
              <a:t> </a:t>
            </a:r>
          </a:p>
          <a:p>
            <a:pPr marL="0" indent="0">
              <a:buNone/>
            </a:pPr>
            <a:r>
              <a:rPr lang="en-US" sz="4600" dirty="0"/>
              <a:t>e.g. </a:t>
            </a:r>
            <a:r>
              <a:rPr lang="en-US" sz="3100" b="0" i="0" dirty="0">
                <a:solidFill>
                  <a:srgbClr val="242021"/>
                </a:solidFill>
                <a:effectLst/>
              </a:rPr>
              <a:t>performance might be decomposed into “data latency” and “transaction throughput.” Or it might be decomposed into “user wait time” and “time to refresh web page.</a:t>
            </a:r>
            <a:r>
              <a:rPr lang="en-US" sz="4600" dirty="0"/>
              <a:t> </a:t>
            </a:r>
          </a:p>
          <a:p>
            <a:r>
              <a:rPr lang="en-US" sz="3100" b="0" i="0" dirty="0">
                <a:solidFill>
                  <a:srgbClr val="242021"/>
                </a:solidFill>
                <a:effectLst/>
              </a:rPr>
              <a:t>Once the ASRs are recorded and placed in the tree, you can now evaluate them against the two criteria we listed above:</a:t>
            </a:r>
            <a:r>
              <a:rPr lang="en-US" sz="4600" dirty="0"/>
              <a:t> </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454379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09726-A53E-D014-764F-23EE405F95BC}"/>
              </a:ext>
            </a:extLst>
          </p:cNvPr>
          <p:cNvSpPr>
            <a:spLocks noGrp="1"/>
          </p:cNvSpPr>
          <p:nvPr>
            <p:ph type="title"/>
          </p:nvPr>
        </p:nvSpPr>
        <p:spPr>
          <a:xfrm>
            <a:off x="838200" y="157422"/>
            <a:ext cx="10515600" cy="1325563"/>
          </a:xfrm>
        </p:spPr>
        <p:txBody>
          <a:bodyPr/>
          <a:lstStyle/>
          <a:p>
            <a:r>
              <a:rPr lang="en-US" dirty="0"/>
              <a:t>Continued... </a:t>
            </a:r>
          </a:p>
        </p:txBody>
      </p:sp>
      <p:sp>
        <p:nvSpPr>
          <p:cNvPr id="3" name="Content Placeholder 2">
            <a:extLst>
              <a:ext uri="{FF2B5EF4-FFF2-40B4-BE49-F238E27FC236}">
                <a16:creationId xmlns:a16="http://schemas.microsoft.com/office/drawing/2014/main" id="{384B0F43-3EB7-0747-47C9-0209B4442B74}"/>
              </a:ext>
            </a:extLst>
          </p:cNvPr>
          <p:cNvSpPr>
            <a:spLocks noGrp="1"/>
          </p:cNvSpPr>
          <p:nvPr>
            <p:ph idx="1"/>
          </p:nvPr>
        </p:nvSpPr>
        <p:spPr>
          <a:xfrm>
            <a:off x="838200" y="1482985"/>
            <a:ext cx="10515600" cy="5032375"/>
          </a:xfrm>
        </p:spPr>
        <p:txBody>
          <a:bodyPr>
            <a:normAutofit lnSpcReduction="10000"/>
          </a:bodyPr>
          <a:lstStyle/>
          <a:p>
            <a:r>
              <a:rPr lang="en-US" sz="2400" b="0" i="0" dirty="0">
                <a:solidFill>
                  <a:srgbClr val="242021"/>
                </a:solidFill>
                <a:effectLst/>
              </a:rPr>
              <a:t>Architectures are driven by </a:t>
            </a:r>
            <a:r>
              <a:rPr lang="en-US" sz="2400" b="1" i="0" dirty="0">
                <a:solidFill>
                  <a:srgbClr val="242021"/>
                </a:solidFill>
                <a:effectLst/>
              </a:rPr>
              <a:t>architecturally significant requirements</a:t>
            </a:r>
            <a:r>
              <a:rPr lang="en-US" sz="2400" b="0" i="0" dirty="0">
                <a:solidFill>
                  <a:srgbClr val="242021"/>
                </a:solidFill>
                <a:effectLst/>
              </a:rPr>
              <a:t>: requirements that will have profound effects on the architecture. </a:t>
            </a:r>
          </a:p>
          <a:p>
            <a:r>
              <a:rPr lang="en-US" sz="2400" b="0" i="0" dirty="0">
                <a:solidFill>
                  <a:srgbClr val="242021"/>
                </a:solidFill>
                <a:effectLst/>
              </a:rPr>
              <a:t>Architecturally significant requirements may be captured from </a:t>
            </a:r>
            <a:r>
              <a:rPr lang="en-US" sz="2400" b="0" i="1" dirty="0">
                <a:solidFill>
                  <a:srgbClr val="242021"/>
                </a:solidFill>
                <a:effectLst/>
              </a:rPr>
              <a:t>requirements documents</a:t>
            </a:r>
            <a:r>
              <a:rPr lang="en-US" sz="2400" b="0" i="0" dirty="0">
                <a:solidFill>
                  <a:srgbClr val="242021"/>
                </a:solidFill>
                <a:effectLst/>
              </a:rPr>
              <a:t>, by </a:t>
            </a:r>
            <a:r>
              <a:rPr lang="en-US" sz="2400" b="1" i="1" dirty="0">
                <a:solidFill>
                  <a:srgbClr val="242021"/>
                </a:solidFill>
                <a:effectLst/>
              </a:rPr>
              <a:t>interviewing stakeholders</a:t>
            </a:r>
            <a:r>
              <a:rPr lang="en-US" sz="2400" b="0" i="0" dirty="0">
                <a:solidFill>
                  <a:srgbClr val="242021"/>
                </a:solidFill>
                <a:effectLst/>
              </a:rPr>
              <a:t>, or by </a:t>
            </a:r>
            <a:r>
              <a:rPr lang="en-US" sz="2400" b="1" i="1" dirty="0">
                <a:solidFill>
                  <a:srgbClr val="242021"/>
                </a:solidFill>
                <a:effectLst/>
              </a:rPr>
              <a:t>conducting a Quality Attribute Workshop</a:t>
            </a:r>
            <a:r>
              <a:rPr lang="en-US" sz="2400" b="1" i="0" dirty="0">
                <a:solidFill>
                  <a:srgbClr val="242021"/>
                </a:solidFill>
                <a:effectLst/>
              </a:rPr>
              <a:t>.</a:t>
            </a:r>
            <a:r>
              <a:rPr lang="en-US" sz="2400" b="1" dirty="0"/>
              <a:t> </a:t>
            </a:r>
          </a:p>
          <a:p>
            <a:r>
              <a:rPr lang="en-US" sz="2400" b="0" i="0" dirty="0">
                <a:solidFill>
                  <a:srgbClr val="242021"/>
                </a:solidFill>
                <a:effectLst/>
              </a:rPr>
              <a:t>In gathering these requirements, we should be mindful of the </a:t>
            </a:r>
            <a:r>
              <a:rPr lang="en-US" sz="2400" b="1" i="1" dirty="0">
                <a:solidFill>
                  <a:srgbClr val="242021"/>
                </a:solidFill>
                <a:effectLst/>
              </a:rPr>
              <a:t>business goals</a:t>
            </a:r>
            <a:r>
              <a:rPr lang="en-US" sz="2400" b="1" i="0" dirty="0">
                <a:solidFill>
                  <a:srgbClr val="242021"/>
                </a:solidFill>
                <a:effectLst/>
              </a:rPr>
              <a:t> </a:t>
            </a:r>
            <a:r>
              <a:rPr lang="en-US" sz="2400" b="0" i="0" dirty="0">
                <a:solidFill>
                  <a:srgbClr val="242021"/>
                </a:solidFill>
                <a:effectLst/>
              </a:rPr>
              <a:t>of the organization.</a:t>
            </a:r>
          </a:p>
          <a:p>
            <a:r>
              <a:rPr lang="en-US" sz="2400" b="0" i="0" dirty="0">
                <a:solidFill>
                  <a:srgbClr val="242021"/>
                </a:solidFill>
                <a:effectLst/>
              </a:rPr>
              <a:t>Business goals can be expressed in a </a:t>
            </a:r>
            <a:r>
              <a:rPr lang="en-US" sz="2400" b="1" i="1" dirty="0">
                <a:solidFill>
                  <a:srgbClr val="242021"/>
                </a:solidFill>
                <a:effectLst/>
              </a:rPr>
              <a:t>common, structured form </a:t>
            </a:r>
            <a:r>
              <a:rPr lang="en-US" sz="2400" b="0" i="0" dirty="0">
                <a:solidFill>
                  <a:srgbClr val="242021"/>
                </a:solidFill>
                <a:effectLst/>
              </a:rPr>
              <a:t>and represented as </a:t>
            </a:r>
            <a:r>
              <a:rPr lang="en-US" sz="2400" b="1" i="0" dirty="0">
                <a:solidFill>
                  <a:srgbClr val="242021"/>
                </a:solidFill>
                <a:effectLst/>
              </a:rPr>
              <a:t>scenarios</a:t>
            </a:r>
            <a:r>
              <a:rPr lang="en-US" sz="2400" b="0" i="0" dirty="0">
                <a:solidFill>
                  <a:srgbClr val="242021"/>
                </a:solidFill>
                <a:effectLst/>
              </a:rPr>
              <a:t>. </a:t>
            </a:r>
          </a:p>
          <a:p>
            <a:r>
              <a:rPr lang="en-US" sz="2400" b="0" i="0" dirty="0" smtClean="0">
                <a:solidFill>
                  <a:srgbClr val="242021"/>
                </a:solidFill>
                <a:effectLst/>
              </a:rPr>
              <a:t>A </a:t>
            </a:r>
            <a:r>
              <a:rPr lang="en-US" sz="2400" b="0" i="0" dirty="0">
                <a:solidFill>
                  <a:srgbClr val="242021"/>
                </a:solidFill>
                <a:effectLst/>
              </a:rPr>
              <a:t>useful representation of quality attribute requirements is in a utility tree. The utility tree helps to capture these requirements in a structured form, starting from coarse, abstract notions of quality attributes and gradually refining them.</a:t>
            </a: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38382504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C610-8DB3-E83E-030B-13B547520F2A}"/>
              </a:ext>
            </a:extLst>
          </p:cNvPr>
          <p:cNvSpPr>
            <a:spLocks noGrp="1"/>
          </p:cNvSpPr>
          <p:nvPr>
            <p:ph type="title"/>
          </p:nvPr>
        </p:nvSpPr>
        <p:spPr/>
        <p:txBody>
          <a:bodyPr/>
          <a:lstStyle/>
          <a:p>
            <a:r>
              <a:rPr lang="en-US" dirty="0"/>
              <a:t>Designing an Architecture </a:t>
            </a:r>
          </a:p>
        </p:txBody>
      </p:sp>
      <p:sp>
        <p:nvSpPr>
          <p:cNvPr id="3" name="Content Placeholder 2">
            <a:extLst>
              <a:ext uri="{FF2B5EF4-FFF2-40B4-BE49-F238E27FC236}">
                <a16:creationId xmlns:a16="http://schemas.microsoft.com/office/drawing/2014/main" id="{E76F4F05-DB5E-7CC1-A369-088C967C6EAB}"/>
              </a:ext>
            </a:extLst>
          </p:cNvPr>
          <p:cNvSpPr>
            <a:spLocks noGrp="1"/>
          </p:cNvSpPr>
          <p:nvPr>
            <p:ph idx="1"/>
          </p:nvPr>
        </p:nvSpPr>
        <p:spPr>
          <a:xfrm>
            <a:off x="838200" y="1825624"/>
            <a:ext cx="10515600" cy="6224093"/>
          </a:xfrm>
        </p:spPr>
        <p:txBody>
          <a:bodyPr>
            <a:normAutofit fontScale="85000" lnSpcReduction="20000"/>
          </a:bodyPr>
          <a:lstStyle/>
          <a:p>
            <a:r>
              <a:rPr lang="en-US" sz="4400" dirty="0">
                <a:latin typeface="Calibri body "/>
              </a:rPr>
              <a:t>Design Strategy </a:t>
            </a:r>
          </a:p>
          <a:p>
            <a:pPr marL="0" indent="0">
              <a:buNone/>
            </a:pPr>
            <a:r>
              <a:rPr lang="en-US" sz="4400" dirty="0">
                <a:latin typeface="Calibri body "/>
              </a:rPr>
              <a:t> -  </a:t>
            </a:r>
            <a:r>
              <a:rPr lang="en-US" sz="2900" b="1" dirty="0">
                <a:latin typeface="Calibri body "/>
              </a:rPr>
              <a:t>Decomposition</a:t>
            </a:r>
            <a:r>
              <a:rPr lang="en-US" sz="4400" dirty="0">
                <a:latin typeface="Calibri body "/>
              </a:rPr>
              <a:t> : </a:t>
            </a:r>
            <a:r>
              <a:rPr lang="en-US" sz="2500" b="0" i="0" dirty="0">
                <a:solidFill>
                  <a:srgbClr val="242021"/>
                </a:solidFill>
                <a:effectLst/>
                <a:latin typeface="Calibri body "/>
              </a:rPr>
              <a:t>decomposition of a component in a </a:t>
            </a:r>
            <a:r>
              <a:rPr lang="en-US" sz="2500" b="1" i="0" dirty="0">
                <a:solidFill>
                  <a:srgbClr val="242021"/>
                </a:solidFill>
                <a:effectLst/>
                <a:latin typeface="Calibri body "/>
              </a:rPr>
              <a:t>components-and-connectors (C&amp;C) </a:t>
            </a:r>
            <a:r>
              <a:rPr lang="en-US" sz="2500" b="0" i="0" dirty="0">
                <a:solidFill>
                  <a:srgbClr val="242021"/>
                </a:solidFill>
                <a:effectLst/>
                <a:latin typeface="Calibri body "/>
              </a:rPr>
              <a:t>pattern and into its subcomponents. </a:t>
            </a:r>
          </a:p>
          <a:p>
            <a:pPr>
              <a:buFontTx/>
              <a:buChar char="-"/>
            </a:pPr>
            <a:r>
              <a:rPr lang="en-US" sz="2500" b="0" i="0" dirty="0">
                <a:solidFill>
                  <a:srgbClr val="242021"/>
                </a:solidFill>
                <a:effectLst/>
                <a:latin typeface="Calibri body "/>
              </a:rPr>
              <a:t>For example, a user interface implemented using the model-view-controller (MVC) pattern would be decomposed into a number of components for the model, one or </a:t>
            </a:r>
            <a:r>
              <a:rPr lang="en-US" sz="3300" b="0" i="0" dirty="0">
                <a:solidFill>
                  <a:srgbClr val="242021"/>
                </a:solidFill>
                <a:effectLst/>
                <a:latin typeface="Calibri body "/>
              </a:rPr>
              <a:t>more</a:t>
            </a:r>
            <a:r>
              <a:rPr lang="en-US" sz="2500" b="0" i="0" dirty="0">
                <a:solidFill>
                  <a:srgbClr val="242021"/>
                </a:solidFill>
                <a:effectLst/>
                <a:latin typeface="Calibri body "/>
              </a:rPr>
              <a:t> views, and one or more controllers.</a:t>
            </a:r>
            <a:r>
              <a:rPr lang="en-US" sz="4400" dirty="0">
                <a:latin typeface="Calibri body "/>
              </a:rPr>
              <a:t> </a:t>
            </a:r>
          </a:p>
          <a:p>
            <a:pPr marL="0" indent="0">
              <a:buNone/>
            </a:pPr>
            <a:r>
              <a:rPr lang="en-US" sz="2500" b="1" dirty="0">
                <a:solidFill>
                  <a:srgbClr val="242021"/>
                </a:solidFill>
                <a:latin typeface="Calibri body "/>
              </a:rPr>
              <a:t> - D</a:t>
            </a:r>
            <a:r>
              <a:rPr lang="en-US" sz="2500" b="1" i="0" dirty="0">
                <a:solidFill>
                  <a:srgbClr val="242021"/>
                </a:solidFill>
                <a:effectLst/>
                <a:latin typeface="Calibri body "/>
              </a:rPr>
              <a:t>esigning to architecturally Significant requirements</a:t>
            </a:r>
            <a:r>
              <a:rPr lang="en-US" sz="4400" dirty="0">
                <a:latin typeface="Calibri body "/>
              </a:rPr>
              <a:t> </a:t>
            </a:r>
            <a:br>
              <a:rPr lang="en-US" sz="4400" dirty="0">
                <a:latin typeface="Calibri body "/>
              </a:rPr>
            </a:br>
            <a:r>
              <a:rPr lang="en-US" sz="4400" dirty="0">
                <a:latin typeface="Calibri body "/>
              </a:rPr>
              <a:t>   - </a:t>
            </a:r>
            <a:r>
              <a:rPr lang="en-US" sz="2500" b="0" i="1" dirty="0">
                <a:solidFill>
                  <a:srgbClr val="242021"/>
                </a:solidFill>
                <a:effectLst/>
                <a:latin typeface="Calibri body "/>
              </a:rPr>
              <a:t>What about the non-ASR requirements?</a:t>
            </a:r>
            <a:r>
              <a:rPr lang="en-US" sz="4400" dirty="0">
                <a:latin typeface="Calibri body "/>
              </a:rPr>
              <a:t> </a:t>
            </a:r>
          </a:p>
          <a:p>
            <a:pPr marL="0" indent="0">
              <a:buNone/>
            </a:pPr>
            <a:r>
              <a:rPr lang="en-US" sz="4400" dirty="0">
                <a:latin typeface="Calibri body "/>
              </a:rPr>
              <a:t>   - </a:t>
            </a:r>
            <a:r>
              <a:rPr lang="en-US" sz="2500" b="0" i="0" dirty="0">
                <a:solidFill>
                  <a:srgbClr val="242021"/>
                </a:solidFill>
                <a:effectLst/>
                <a:latin typeface="Calibri body "/>
              </a:rPr>
              <a:t>(a) You can still meet the other requirements. (b) You can meet the other requirements with a </a:t>
            </a:r>
            <a:r>
              <a:rPr lang="en-US" sz="2500" b="1" i="0" dirty="0">
                <a:solidFill>
                  <a:srgbClr val="242021"/>
                </a:solidFill>
                <a:effectLst/>
                <a:latin typeface="Calibri body "/>
              </a:rPr>
              <a:t>slight adjustment of the existing design</a:t>
            </a:r>
            <a:r>
              <a:rPr lang="en-US" sz="2500" b="0" i="0" dirty="0">
                <a:solidFill>
                  <a:srgbClr val="242021"/>
                </a:solidFill>
                <a:effectLst/>
                <a:latin typeface="Calibri body "/>
              </a:rPr>
              <a:t>, and this slight adjustment does not keep the higher priority</a:t>
            </a:r>
            <a:r>
              <a:rPr lang="en-US" sz="4400" dirty="0">
                <a:latin typeface="Calibri body "/>
              </a:rPr>
              <a:t> </a:t>
            </a:r>
            <a:r>
              <a:rPr lang="en-US" sz="2500" b="0" i="0" dirty="0">
                <a:solidFill>
                  <a:srgbClr val="242021"/>
                </a:solidFill>
                <a:effectLst/>
                <a:latin typeface="Calibri body "/>
              </a:rPr>
              <a:t>requirements from being met. (c) You cannot meet the other requirements under the current design.</a:t>
            </a:r>
            <a:r>
              <a:rPr lang="en-US" sz="4400" dirty="0">
                <a:latin typeface="Calibri body "/>
              </a:rPr>
              <a:t> </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1743086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DB77-AE62-B9B2-E783-08D2E4F000C3}"/>
              </a:ext>
            </a:extLst>
          </p:cNvPr>
          <p:cNvSpPr>
            <a:spLocks noGrp="1"/>
          </p:cNvSpPr>
          <p:nvPr>
            <p:ph type="title"/>
          </p:nvPr>
        </p:nvSpPr>
        <p:spPr/>
        <p:txBody>
          <a:bodyPr/>
          <a:lstStyle/>
          <a:p>
            <a:r>
              <a:rPr lang="en-US" dirty="0"/>
              <a:t>Continued... </a:t>
            </a:r>
          </a:p>
        </p:txBody>
      </p:sp>
      <p:sp>
        <p:nvSpPr>
          <p:cNvPr id="3" name="Content Placeholder 2">
            <a:extLst>
              <a:ext uri="{FF2B5EF4-FFF2-40B4-BE49-F238E27FC236}">
                <a16:creationId xmlns:a16="http://schemas.microsoft.com/office/drawing/2014/main" id="{6AD676F7-D22E-B5E2-BD2E-BB5DA2643374}"/>
              </a:ext>
            </a:extLst>
          </p:cNvPr>
          <p:cNvSpPr>
            <a:spLocks noGrp="1"/>
          </p:cNvSpPr>
          <p:nvPr>
            <p:ph idx="1"/>
          </p:nvPr>
        </p:nvSpPr>
        <p:spPr/>
        <p:txBody>
          <a:bodyPr>
            <a:normAutofit fontScale="92500" lnSpcReduction="20000"/>
          </a:bodyPr>
          <a:lstStyle/>
          <a:p>
            <a:r>
              <a:rPr lang="en-US" sz="3000" b="0" i="1" dirty="0">
                <a:solidFill>
                  <a:srgbClr val="242021"/>
                </a:solidFill>
                <a:effectLst/>
                <a:latin typeface="Times-Italic"/>
              </a:rPr>
              <a:t>Existing systems</a:t>
            </a:r>
            <a:r>
              <a:rPr lang="en-US" sz="4300" dirty="0"/>
              <a:t> </a:t>
            </a:r>
          </a:p>
          <a:p>
            <a:r>
              <a:rPr lang="en-US" sz="3000" b="0" i="1" dirty="0">
                <a:solidFill>
                  <a:srgbClr val="242021"/>
                </a:solidFill>
                <a:effectLst/>
                <a:latin typeface="Times-Italic"/>
              </a:rPr>
              <a:t>Frameworks.</a:t>
            </a:r>
            <a:r>
              <a:rPr lang="en-US" sz="4300" dirty="0"/>
              <a:t> </a:t>
            </a:r>
          </a:p>
          <a:p>
            <a:r>
              <a:rPr lang="en-US" sz="3000" b="0" i="1" dirty="0">
                <a:solidFill>
                  <a:srgbClr val="242021"/>
                </a:solidFill>
                <a:effectLst/>
                <a:latin typeface="Times-Italic"/>
              </a:rPr>
              <a:t>Patterns and tactics</a:t>
            </a:r>
            <a:r>
              <a:rPr lang="en-US" sz="4300" dirty="0"/>
              <a:t> </a:t>
            </a:r>
          </a:p>
          <a:p>
            <a:r>
              <a:rPr lang="en-US" sz="3000" b="0" i="1" dirty="0">
                <a:solidFill>
                  <a:srgbClr val="242021"/>
                </a:solidFill>
                <a:effectLst/>
                <a:latin typeface="Times-Italic"/>
              </a:rPr>
              <a:t>Domain decomposition</a:t>
            </a:r>
            <a:r>
              <a:rPr lang="en-US" sz="4300" dirty="0"/>
              <a:t> </a:t>
            </a:r>
          </a:p>
          <a:p>
            <a:r>
              <a:rPr lang="en-US" sz="3000" b="0" i="1" dirty="0">
                <a:solidFill>
                  <a:srgbClr val="242021"/>
                </a:solidFill>
                <a:effectLst/>
                <a:latin typeface="Times-Italic"/>
              </a:rPr>
              <a:t>Design checklists</a:t>
            </a:r>
            <a:r>
              <a:rPr lang="en-US" sz="4300" dirty="0"/>
              <a:t> </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2073778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A602-4325-CDA2-2212-942CF879A16C}"/>
              </a:ext>
            </a:extLst>
          </p:cNvPr>
          <p:cNvSpPr>
            <a:spLocks noGrp="1"/>
          </p:cNvSpPr>
          <p:nvPr>
            <p:ph type="title"/>
          </p:nvPr>
        </p:nvSpPr>
        <p:spPr/>
        <p:txBody>
          <a:bodyPr/>
          <a:lstStyle/>
          <a:p>
            <a:r>
              <a:rPr lang="en-US" dirty="0"/>
              <a:t>The Attribute-Driven Design Methods</a:t>
            </a:r>
          </a:p>
        </p:txBody>
      </p:sp>
      <p:sp>
        <p:nvSpPr>
          <p:cNvPr id="3" name="Content Placeholder 2">
            <a:extLst>
              <a:ext uri="{FF2B5EF4-FFF2-40B4-BE49-F238E27FC236}">
                <a16:creationId xmlns:a16="http://schemas.microsoft.com/office/drawing/2014/main" id="{D018C106-41FF-C4E6-168F-718815FC5B67}"/>
              </a:ext>
            </a:extLst>
          </p:cNvPr>
          <p:cNvSpPr>
            <a:spLocks noGrp="1"/>
          </p:cNvSpPr>
          <p:nvPr>
            <p:ph idx="1"/>
          </p:nvPr>
        </p:nvSpPr>
        <p:spPr/>
        <p:txBody>
          <a:bodyPr/>
          <a:lstStyle/>
          <a:p>
            <a:r>
              <a:rPr lang="en-US" sz="1800" b="0" i="0" dirty="0">
                <a:solidFill>
                  <a:srgbClr val="242021"/>
                </a:solidFill>
                <a:effectLst/>
                <a:latin typeface="ZapfDingbats"/>
              </a:rPr>
              <a:t> </a:t>
            </a:r>
            <a:r>
              <a:rPr lang="en-US" sz="1800" b="0" i="0" dirty="0">
                <a:solidFill>
                  <a:srgbClr val="242021"/>
                </a:solidFill>
                <a:effectLst/>
                <a:latin typeface="Times-Roman-Identity-H"/>
              </a:rPr>
              <a:t>Choose </a:t>
            </a:r>
            <a:r>
              <a:rPr lang="en-US" sz="1800" b="1" i="0" dirty="0">
                <a:solidFill>
                  <a:srgbClr val="242021"/>
                </a:solidFill>
                <a:effectLst/>
                <a:latin typeface="Times-Roman-Identity-H"/>
              </a:rPr>
              <a:t>a part of the system </a:t>
            </a:r>
            <a:r>
              <a:rPr lang="en-US" sz="1800" b="0" i="0" dirty="0">
                <a:solidFill>
                  <a:srgbClr val="242021"/>
                </a:solidFill>
                <a:effectLst/>
                <a:latin typeface="Times-Roman-Identity-H"/>
              </a:rPr>
              <a:t>to design.</a:t>
            </a:r>
            <a:endParaRPr lang="en-US" sz="1800" dirty="0">
              <a:solidFill>
                <a:srgbClr val="242021"/>
              </a:solidFill>
              <a:latin typeface="Times-Roman-Identity-H"/>
            </a:endParaRPr>
          </a:p>
          <a:p>
            <a:r>
              <a:rPr lang="en-US" sz="1800" b="0" i="0" dirty="0">
                <a:solidFill>
                  <a:srgbClr val="242021"/>
                </a:solidFill>
                <a:effectLst/>
                <a:latin typeface="ZapfDingbats"/>
              </a:rPr>
              <a:t> </a:t>
            </a:r>
            <a:r>
              <a:rPr lang="en-US" sz="1800" b="0" i="0" dirty="0">
                <a:solidFill>
                  <a:srgbClr val="242021"/>
                </a:solidFill>
                <a:effectLst/>
                <a:latin typeface="Times-Roman-Identity-H"/>
              </a:rPr>
              <a:t>Marshal all the architecturally significant requirements for that part.</a:t>
            </a:r>
            <a:endParaRPr lang="en-US" sz="1800" dirty="0">
              <a:solidFill>
                <a:srgbClr val="242021"/>
              </a:solidFill>
              <a:latin typeface="Times-Roman-Identity-H"/>
            </a:endParaRPr>
          </a:p>
          <a:p>
            <a:r>
              <a:rPr lang="en-US" sz="1800" b="0" i="0" dirty="0">
                <a:solidFill>
                  <a:srgbClr val="242021"/>
                </a:solidFill>
                <a:effectLst/>
                <a:latin typeface="Times-Roman-Identity-H"/>
              </a:rPr>
              <a:t>Create and test a design for that part</a:t>
            </a:r>
            <a:r>
              <a:rPr lang="en-US" dirty="0"/>
              <a:t> </a:t>
            </a:r>
            <a:br>
              <a:rPr lang="en-US" dirty="0"/>
            </a:br>
            <a:r>
              <a:rPr lang="en-US" dirty="0"/>
              <a:t>Inputs of ADD </a:t>
            </a:r>
          </a:p>
          <a:p>
            <a:r>
              <a:rPr lang="en-US" sz="1800" b="1" i="0" dirty="0">
                <a:solidFill>
                  <a:srgbClr val="242021"/>
                </a:solidFill>
                <a:effectLst/>
                <a:latin typeface="Times-Roman-Identity-H"/>
              </a:rPr>
              <a:t>ASRs and context description</a:t>
            </a:r>
            <a:r>
              <a:rPr lang="en-US" b="1" dirty="0"/>
              <a:t> </a:t>
            </a:r>
            <a:r>
              <a:rPr lang="en-US" dirty="0"/>
              <a:t/>
            </a:r>
            <a:br>
              <a:rPr lang="en-US" dirty="0"/>
            </a:br>
            <a:r>
              <a:rPr lang="en-US" dirty="0"/>
              <a:t>- </a:t>
            </a:r>
            <a:r>
              <a:rPr lang="en-US" sz="1800" b="0" i="0" dirty="0">
                <a:solidFill>
                  <a:srgbClr val="242021"/>
                </a:solidFill>
                <a:effectLst/>
                <a:latin typeface="Times-Roman-Identity-H"/>
              </a:rPr>
              <a:t> </a:t>
            </a:r>
            <a:r>
              <a:rPr lang="en-US" sz="1800" b="0" i="1" dirty="0">
                <a:solidFill>
                  <a:srgbClr val="242021"/>
                </a:solidFill>
                <a:effectLst/>
                <a:latin typeface="Times-Italic"/>
              </a:rPr>
              <a:t>What are the boundaries of the system being designed?</a:t>
            </a:r>
            <a:r>
              <a:rPr lang="en-US" dirty="0"/>
              <a:t> </a:t>
            </a:r>
          </a:p>
          <a:p>
            <a:pPr marL="0" indent="0">
              <a:buNone/>
            </a:pPr>
            <a:r>
              <a:rPr lang="en-US" dirty="0"/>
              <a:t>   - </a:t>
            </a:r>
            <a:r>
              <a:rPr lang="en-US" sz="1800" b="0" i="1" dirty="0">
                <a:solidFill>
                  <a:srgbClr val="242021"/>
                </a:solidFill>
                <a:effectLst/>
                <a:latin typeface="Times-Italic"/>
              </a:rPr>
              <a:t>What are the external systems, devices, users, and environmental conditions</a:t>
            </a:r>
            <a:br>
              <a:rPr lang="en-US" sz="1800" b="0" i="1" dirty="0">
                <a:solidFill>
                  <a:srgbClr val="242021"/>
                </a:solidFill>
                <a:effectLst/>
                <a:latin typeface="Times-Italic"/>
              </a:rPr>
            </a:br>
            <a:r>
              <a:rPr lang="en-US" sz="1800" b="0" i="1" dirty="0">
                <a:solidFill>
                  <a:srgbClr val="242021"/>
                </a:solidFill>
                <a:effectLst/>
                <a:latin typeface="Times-Italic"/>
              </a:rPr>
              <a:t>with which the system being designed must interact?</a:t>
            </a:r>
            <a:r>
              <a:rPr lang="en-US" dirty="0"/>
              <a:t> </a:t>
            </a:r>
            <a:br>
              <a:rPr lang="en-US" dirty="0"/>
            </a:br>
            <a:r>
              <a:rPr lang="en-US" dirty="0"/>
              <a:t/>
            </a:r>
            <a:br>
              <a:rPr lang="en-US" dirty="0"/>
            </a:br>
            <a:endParaRPr lang="en-US" dirty="0"/>
          </a:p>
        </p:txBody>
      </p:sp>
    </p:spTree>
    <p:extLst>
      <p:ext uri="{BB962C8B-B14F-4D97-AF65-F5344CB8AC3E}">
        <p14:creationId xmlns:p14="http://schemas.microsoft.com/office/powerpoint/2010/main" val="32928410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8ED4-B539-3B09-C5FA-01FAE46FBA13}"/>
              </a:ext>
            </a:extLst>
          </p:cNvPr>
          <p:cNvSpPr>
            <a:spLocks noGrp="1"/>
          </p:cNvSpPr>
          <p:nvPr>
            <p:ph type="title"/>
          </p:nvPr>
        </p:nvSpPr>
        <p:spPr/>
        <p:txBody>
          <a:bodyPr/>
          <a:lstStyle/>
          <a:p>
            <a:r>
              <a:rPr lang="en-US" dirty="0"/>
              <a:t>Continued... </a:t>
            </a:r>
          </a:p>
        </p:txBody>
      </p:sp>
      <p:sp>
        <p:nvSpPr>
          <p:cNvPr id="3" name="Content Placeholder 2">
            <a:extLst>
              <a:ext uri="{FF2B5EF4-FFF2-40B4-BE49-F238E27FC236}">
                <a16:creationId xmlns:a16="http://schemas.microsoft.com/office/drawing/2014/main" id="{6BD963F1-6C72-EC4F-F8CD-3B6F40304848}"/>
              </a:ext>
            </a:extLst>
          </p:cNvPr>
          <p:cNvSpPr>
            <a:spLocks noGrp="1"/>
          </p:cNvSpPr>
          <p:nvPr>
            <p:ph idx="1"/>
          </p:nvPr>
        </p:nvSpPr>
        <p:spPr>
          <a:xfrm>
            <a:off x="838200" y="1825624"/>
            <a:ext cx="10515600" cy="5489576"/>
          </a:xfrm>
        </p:spPr>
        <p:txBody>
          <a:bodyPr>
            <a:normAutofit lnSpcReduction="10000"/>
          </a:bodyPr>
          <a:lstStyle/>
          <a:p>
            <a:pPr marL="0" indent="0">
              <a:buNone/>
            </a:pPr>
            <a:r>
              <a:rPr lang="en-US" dirty="0"/>
              <a:t>   Output of ADD</a:t>
            </a:r>
          </a:p>
          <a:p>
            <a:pPr>
              <a:buFontTx/>
              <a:buChar char="-"/>
            </a:pPr>
            <a:r>
              <a:rPr lang="en-US" sz="1800" dirty="0">
                <a:solidFill>
                  <a:srgbClr val="242021"/>
                </a:solidFill>
                <a:latin typeface="Times-Roman-Identity-H"/>
              </a:rPr>
              <a:t>S</a:t>
            </a:r>
            <a:r>
              <a:rPr lang="en-US" sz="1800" b="0" i="0" dirty="0">
                <a:solidFill>
                  <a:srgbClr val="242021"/>
                </a:solidFill>
                <a:effectLst/>
                <a:latin typeface="Times-Roman-Identity-H"/>
              </a:rPr>
              <a:t>ketches of architectural views.</a:t>
            </a:r>
            <a:r>
              <a:rPr lang="en-US" dirty="0"/>
              <a:t> </a:t>
            </a:r>
          </a:p>
          <a:p>
            <a:pPr marL="0" indent="0">
              <a:buNone/>
            </a:pPr>
            <a:r>
              <a:rPr lang="en-US" dirty="0"/>
              <a:t>  The steps of ADD</a:t>
            </a:r>
          </a:p>
          <a:p>
            <a:pPr marL="0" indent="0">
              <a:lnSpc>
                <a:spcPct val="150000"/>
              </a:lnSpc>
              <a:buNone/>
            </a:pPr>
            <a:r>
              <a:rPr lang="en-US" dirty="0"/>
              <a:t>- </a:t>
            </a:r>
            <a:r>
              <a:rPr lang="en-US" sz="1800" b="0" i="0" dirty="0">
                <a:solidFill>
                  <a:srgbClr val="242021"/>
                </a:solidFill>
                <a:effectLst/>
                <a:latin typeface="Times-Roman-Identity-H"/>
              </a:rPr>
              <a:t>ADD is a five-step method:</a:t>
            </a:r>
            <a:br>
              <a:rPr lang="en-US" sz="1800" b="0" i="0" dirty="0">
                <a:solidFill>
                  <a:srgbClr val="242021"/>
                </a:solidFill>
                <a:effectLst/>
                <a:latin typeface="Times-Roman-Identity-H"/>
              </a:rPr>
            </a:br>
            <a:r>
              <a:rPr lang="en-US" sz="1800" b="0" i="0" dirty="0">
                <a:solidFill>
                  <a:srgbClr val="242021"/>
                </a:solidFill>
                <a:effectLst/>
                <a:latin typeface="Times-Roman-Identity-H"/>
              </a:rPr>
              <a:t>1. Choose an element of the system to design.</a:t>
            </a:r>
            <a:br>
              <a:rPr lang="en-US" sz="1800" b="0" i="0" dirty="0">
                <a:solidFill>
                  <a:srgbClr val="242021"/>
                </a:solidFill>
                <a:effectLst/>
                <a:latin typeface="Times-Roman-Identity-H"/>
              </a:rPr>
            </a:br>
            <a:r>
              <a:rPr lang="en-US" sz="1800" b="0" i="0" dirty="0">
                <a:solidFill>
                  <a:srgbClr val="242021"/>
                </a:solidFill>
                <a:effectLst/>
                <a:latin typeface="Times-Roman-Identity-H"/>
              </a:rPr>
              <a:t>2. Identify the ASRs for the chosen element.</a:t>
            </a:r>
            <a:br>
              <a:rPr lang="en-US" sz="1800" b="0" i="0" dirty="0">
                <a:solidFill>
                  <a:srgbClr val="242021"/>
                </a:solidFill>
                <a:effectLst/>
                <a:latin typeface="Times-Roman-Identity-H"/>
              </a:rPr>
            </a:br>
            <a:r>
              <a:rPr lang="en-US" sz="1800" b="0" i="0" dirty="0">
                <a:solidFill>
                  <a:srgbClr val="242021"/>
                </a:solidFill>
                <a:effectLst/>
                <a:latin typeface="Times-Roman-Identity-H"/>
              </a:rPr>
              <a:t>3. Generate a design solution for the chosen element.</a:t>
            </a:r>
            <a:br>
              <a:rPr lang="en-US" sz="1800" b="0" i="0" dirty="0">
                <a:solidFill>
                  <a:srgbClr val="242021"/>
                </a:solidFill>
                <a:effectLst/>
                <a:latin typeface="Times-Roman-Identity-H"/>
              </a:rPr>
            </a:br>
            <a:r>
              <a:rPr lang="en-US" sz="1800" b="0" i="0" dirty="0">
                <a:solidFill>
                  <a:srgbClr val="242021"/>
                </a:solidFill>
                <a:effectLst/>
                <a:latin typeface="Times-Roman-Identity-H"/>
              </a:rPr>
              <a:t>4. Inventory remaining requirements and select the input for the next iteration.</a:t>
            </a:r>
            <a:br>
              <a:rPr lang="en-US" sz="1800" b="0" i="0" dirty="0">
                <a:solidFill>
                  <a:srgbClr val="242021"/>
                </a:solidFill>
                <a:effectLst/>
                <a:latin typeface="Times-Roman-Identity-H"/>
              </a:rPr>
            </a:br>
            <a:r>
              <a:rPr lang="en-US" sz="1800" b="0" i="0" dirty="0">
                <a:solidFill>
                  <a:srgbClr val="242021"/>
                </a:solidFill>
                <a:effectLst/>
                <a:latin typeface="Times-Roman-Identity-H"/>
              </a:rPr>
              <a:t>5. Repeat steps 1–4 until all the ASRs have been satisfied.</a:t>
            </a:r>
            <a:r>
              <a:rPr lang="en-US" dirty="0"/>
              <a:t> </a:t>
            </a:r>
            <a:br>
              <a:rPr lang="en-US" dirty="0"/>
            </a:br>
            <a:r>
              <a:rPr lang="en-US" dirty="0"/>
              <a:t/>
            </a:r>
            <a:br>
              <a:rPr lang="en-US" dirty="0"/>
            </a:br>
            <a:endParaRPr lang="en-US" dirty="0"/>
          </a:p>
        </p:txBody>
      </p:sp>
    </p:spTree>
    <p:extLst>
      <p:ext uri="{BB962C8B-B14F-4D97-AF65-F5344CB8AC3E}">
        <p14:creationId xmlns:p14="http://schemas.microsoft.com/office/powerpoint/2010/main" val="3988221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61C9-AAD3-E04E-5059-C3244534BA33}"/>
              </a:ext>
            </a:extLst>
          </p:cNvPr>
          <p:cNvSpPr>
            <a:spLocks noGrp="1"/>
          </p:cNvSpPr>
          <p:nvPr>
            <p:ph type="title"/>
          </p:nvPr>
        </p:nvSpPr>
        <p:spPr/>
        <p:txBody>
          <a:bodyPr/>
          <a:lstStyle/>
          <a:p>
            <a:r>
              <a:rPr lang="en-US" dirty="0"/>
              <a:t>Continued... </a:t>
            </a:r>
          </a:p>
        </p:txBody>
      </p:sp>
      <p:sp>
        <p:nvSpPr>
          <p:cNvPr id="3" name="Content Placeholder 2">
            <a:extLst>
              <a:ext uri="{FF2B5EF4-FFF2-40B4-BE49-F238E27FC236}">
                <a16:creationId xmlns:a16="http://schemas.microsoft.com/office/drawing/2014/main" id="{1445498C-E564-C393-CB10-9010B408F43A}"/>
              </a:ext>
            </a:extLst>
          </p:cNvPr>
          <p:cNvSpPr>
            <a:spLocks noGrp="1"/>
          </p:cNvSpPr>
          <p:nvPr>
            <p:ph idx="1"/>
          </p:nvPr>
        </p:nvSpPr>
        <p:spPr>
          <a:xfrm>
            <a:off x="838200" y="1690688"/>
            <a:ext cx="10515600" cy="5519555"/>
          </a:xfrm>
        </p:spPr>
        <p:txBody>
          <a:bodyPr>
            <a:normAutofit lnSpcReduction="10000"/>
          </a:bodyPr>
          <a:lstStyle/>
          <a:p>
            <a:pPr marL="0" indent="0">
              <a:buNone/>
            </a:pPr>
            <a:r>
              <a:rPr lang="en-US" sz="1800" dirty="0">
                <a:solidFill>
                  <a:srgbClr val="242021"/>
                </a:solidFill>
              </a:rPr>
              <a:t>1. </a:t>
            </a:r>
            <a:r>
              <a:rPr lang="en-US" sz="1800" b="0" i="0" dirty="0">
                <a:solidFill>
                  <a:srgbClr val="242021"/>
                </a:solidFill>
                <a:effectLst/>
              </a:rPr>
              <a:t>Choose the element of the system to design. For green-field designs, the </a:t>
            </a:r>
            <a:r>
              <a:rPr lang="en-US" sz="1800" b="1" i="0" dirty="0">
                <a:solidFill>
                  <a:srgbClr val="242021"/>
                </a:solidFill>
                <a:effectLst/>
              </a:rPr>
              <a:t>“part” </a:t>
            </a:r>
            <a:r>
              <a:rPr lang="en-US" sz="1800" b="0" i="0" dirty="0">
                <a:solidFill>
                  <a:srgbClr val="242021"/>
                </a:solidFill>
                <a:effectLst/>
              </a:rPr>
              <a:t>to begin with is simply </a:t>
            </a:r>
            <a:r>
              <a:rPr lang="en-US" sz="1800" b="1" i="0" dirty="0">
                <a:solidFill>
                  <a:srgbClr val="242021"/>
                </a:solidFill>
                <a:effectLst/>
              </a:rPr>
              <a:t>the entire system. </a:t>
            </a:r>
          </a:p>
          <a:p>
            <a:pPr>
              <a:buFontTx/>
              <a:buChar char="-"/>
            </a:pPr>
            <a:r>
              <a:rPr lang="en-US" sz="1800" b="0" i="0" dirty="0">
                <a:solidFill>
                  <a:srgbClr val="242021"/>
                </a:solidFill>
                <a:effectLst/>
              </a:rPr>
              <a:t>For designs that are already partially completed (either by external constraints or by previous iterations</a:t>
            </a:r>
            <a:r>
              <a:rPr lang="en-US" sz="1800" dirty="0">
                <a:solidFill>
                  <a:srgbClr val="242021"/>
                </a:solidFill>
              </a:rPr>
              <a:t> </a:t>
            </a:r>
            <a:r>
              <a:rPr lang="en-US" sz="1800" b="0" i="0" dirty="0">
                <a:solidFill>
                  <a:srgbClr val="242021"/>
                </a:solidFill>
                <a:effectLst/>
              </a:rPr>
              <a:t>through ADD), the part is an element that </a:t>
            </a:r>
            <a:r>
              <a:rPr lang="en-US" sz="1800" b="1" i="0" dirty="0">
                <a:solidFill>
                  <a:srgbClr val="242021"/>
                </a:solidFill>
                <a:effectLst/>
              </a:rPr>
              <a:t>is not yet designed.</a:t>
            </a:r>
            <a:endParaRPr lang="en-US" dirty="0"/>
          </a:p>
          <a:p>
            <a:pPr marL="0" indent="0">
              <a:buNone/>
            </a:pPr>
            <a:r>
              <a:rPr lang="en-US" sz="2200" dirty="0"/>
              <a:t>2. </a:t>
            </a:r>
            <a:r>
              <a:rPr lang="en-US" sz="1800" i="0" dirty="0">
                <a:solidFill>
                  <a:srgbClr val="242021"/>
                </a:solidFill>
                <a:effectLst/>
              </a:rPr>
              <a:t>Identify the </a:t>
            </a:r>
            <a:r>
              <a:rPr lang="en-US" sz="1800" b="1" i="0" dirty="0">
                <a:solidFill>
                  <a:srgbClr val="242021"/>
                </a:solidFill>
                <a:effectLst/>
              </a:rPr>
              <a:t>ASRs</a:t>
            </a:r>
            <a:r>
              <a:rPr lang="en-US" sz="1800" i="0" dirty="0">
                <a:solidFill>
                  <a:srgbClr val="242021"/>
                </a:solidFill>
                <a:effectLst/>
              </a:rPr>
              <a:t> for the chosen element.</a:t>
            </a:r>
            <a:r>
              <a:rPr lang="en-US" dirty="0"/>
              <a:t> </a:t>
            </a:r>
          </a:p>
          <a:p>
            <a:pPr marL="0" indent="0">
              <a:buNone/>
            </a:pPr>
            <a:r>
              <a:rPr lang="en-US" sz="2200" dirty="0"/>
              <a:t>3</a:t>
            </a:r>
            <a:r>
              <a:rPr lang="en-US" dirty="0"/>
              <a:t>. </a:t>
            </a:r>
            <a:r>
              <a:rPr lang="en-US" sz="1800" i="0" dirty="0">
                <a:solidFill>
                  <a:srgbClr val="242021"/>
                </a:solidFill>
                <a:effectLst/>
              </a:rPr>
              <a:t>Generate a </a:t>
            </a:r>
            <a:r>
              <a:rPr lang="en-US" sz="1800" b="1" i="0" dirty="0">
                <a:solidFill>
                  <a:srgbClr val="242021"/>
                </a:solidFill>
                <a:effectLst/>
              </a:rPr>
              <a:t>design solution </a:t>
            </a:r>
            <a:r>
              <a:rPr lang="en-US" sz="1800" i="0" dirty="0">
                <a:solidFill>
                  <a:srgbClr val="242021"/>
                </a:solidFill>
                <a:effectLst/>
              </a:rPr>
              <a:t>for the chosen element, using design collateral such as existing systems, frameworks, patterns and tactics, and the design checklists</a:t>
            </a:r>
            <a:r>
              <a:rPr lang="en-US" dirty="0"/>
              <a:t> </a:t>
            </a:r>
          </a:p>
          <a:p>
            <a:pPr marL="0" indent="0">
              <a:buNone/>
            </a:pPr>
            <a:r>
              <a:rPr lang="en-US" sz="2200" dirty="0"/>
              <a:t>4</a:t>
            </a:r>
            <a:r>
              <a:rPr lang="en-US" b="1" dirty="0"/>
              <a:t>. </a:t>
            </a:r>
            <a:r>
              <a:rPr lang="en-US" sz="1800" b="1" i="0" dirty="0">
                <a:solidFill>
                  <a:srgbClr val="242021"/>
                </a:solidFill>
                <a:effectLst/>
              </a:rPr>
              <a:t>Verify and refine requirements </a:t>
            </a:r>
            <a:r>
              <a:rPr lang="en-US" sz="1800" b="0" i="0" dirty="0">
                <a:solidFill>
                  <a:srgbClr val="242021"/>
                </a:solidFill>
                <a:effectLst/>
              </a:rPr>
              <a:t>and generate input for the next iteration. </a:t>
            </a:r>
          </a:p>
          <a:p>
            <a:pPr marL="0" indent="0">
              <a:buNone/>
            </a:pPr>
            <a:r>
              <a:rPr lang="en-US" sz="1800" b="0" i="0" dirty="0">
                <a:solidFill>
                  <a:srgbClr val="242021"/>
                </a:solidFill>
                <a:effectLst/>
              </a:rPr>
              <a:t>- Either the design in step 3 will satisfy all of the chosen element’s ASRs or it won’t. </a:t>
            </a:r>
          </a:p>
          <a:p>
            <a:pPr marL="0" indent="0">
              <a:buNone/>
            </a:pPr>
            <a:r>
              <a:rPr lang="en-US" sz="1800" b="0" i="0" dirty="0">
                <a:solidFill>
                  <a:srgbClr val="242021"/>
                </a:solidFill>
                <a:effectLst/>
              </a:rPr>
              <a:t>- If it doesn’t, then either they can be allocated to elements that will be elaborated in future iterations of ADD, or the existing design is inadequate and we must backtrack. </a:t>
            </a:r>
          </a:p>
          <a:p>
            <a:pPr marL="0" indent="0">
              <a:buNone/>
            </a:pPr>
            <a:r>
              <a:rPr lang="en-US" sz="1800" b="0" i="0" dirty="0">
                <a:solidFill>
                  <a:srgbClr val="242021"/>
                </a:solidFill>
                <a:effectLst/>
              </a:rPr>
              <a:t>- Furthermore, </a:t>
            </a:r>
            <a:r>
              <a:rPr lang="en-US" sz="1800" b="1" i="0" dirty="0">
                <a:solidFill>
                  <a:srgbClr val="242021"/>
                </a:solidFill>
                <a:effectLst/>
              </a:rPr>
              <a:t>non-ASR requirements </a:t>
            </a:r>
            <a:r>
              <a:rPr lang="en-US" sz="1800" b="0" i="0" dirty="0">
                <a:solidFill>
                  <a:srgbClr val="242021"/>
                </a:solidFill>
                <a:effectLst/>
              </a:rPr>
              <a:t>will either be satisfied, allocated to children, or indicated as not achievable.</a:t>
            </a:r>
            <a:r>
              <a:rPr lang="en-US" dirty="0"/>
              <a:t> </a:t>
            </a:r>
            <a:br>
              <a:rPr lang="en-US" dirty="0"/>
            </a:br>
            <a:r>
              <a:rPr lang="en-US" dirty="0"/>
              <a:t/>
            </a:r>
            <a:br>
              <a:rPr lang="en-US" dirty="0"/>
            </a:br>
            <a:endParaRPr lang="en-US" dirty="0"/>
          </a:p>
        </p:txBody>
      </p:sp>
    </p:spTree>
    <p:extLst>
      <p:ext uri="{BB962C8B-B14F-4D97-AF65-F5344CB8AC3E}">
        <p14:creationId xmlns:p14="http://schemas.microsoft.com/office/powerpoint/2010/main" val="6593323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1961-FFD5-1F67-3C0D-9620DA0DB1E6}"/>
              </a:ext>
            </a:extLst>
          </p:cNvPr>
          <p:cNvSpPr>
            <a:spLocks noGrp="1"/>
          </p:cNvSpPr>
          <p:nvPr>
            <p:ph type="title"/>
          </p:nvPr>
        </p:nvSpPr>
        <p:spPr/>
        <p:txBody>
          <a:bodyPr/>
          <a:lstStyle/>
          <a:p>
            <a:r>
              <a:rPr lang="en-US" dirty="0"/>
              <a:t>Continued... </a:t>
            </a:r>
          </a:p>
        </p:txBody>
      </p:sp>
      <p:sp>
        <p:nvSpPr>
          <p:cNvPr id="3" name="Content Placeholder 2">
            <a:extLst>
              <a:ext uri="{FF2B5EF4-FFF2-40B4-BE49-F238E27FC236}">
                <a16:creationId xmlns:a16="http://schemas.microsoft.com/office/drawing/2014/main" id="{4586F6B0-5523-1B9E-5B74-A50A3AD7C018}"/>
              </a:ext>
            </a:extLst>
          </p:cNvPr>
          <p:cNvSpPr>
            <a:spLocks noGrp="1"/>
          </p:cNvSpPr>
          <p:nvPr>
            <p:ph idx="1"/>
          </p:nvPr>
        </p:nvSpPr>
        <p:spPr/>
        <p:txBody>
          <a:bodyPr/>
          <a:lstStyle/>
          <a:p>
            <a:pPr marL="0" indent="0">
              <a:buNone/>
            </a:pPr>
            <a:r>
              <a:rPr lang="en-US" sz="1800" b="0" i="0" dirty="0">
                <a:solidFill>
                  <a:srgbClr val="242021"/>
                </a:solidFill>
                <a:effectLst/>
                <a:latin typeface="Times-Roman-Identity-H"/>
              </a:rPr>
              <a:t>5. Repeat steps 1–4 until all the ASRs have been satisfied, or until the architecture has been elaborated sufficiently for the implementers to use it.</a:t>
            </a:r>
            <a:r>
              <a:rPr lang="en-US" dirty="0"/>
              <a:t> </a:t>
            </a:r>
            <a:br>
              <a:rPr lang="en-US" dirty="0"/>
            </a:br>
            <a:endParaRPr lang="en-US" dirty="0"/>
          </a:p>
        </p:txBody>
      </p:sp>
    </p:spTree>
    <p:extLst>
      <p:ext uri="{BB962C8B-B14F-4D97-AF65-F5344CB8AC3E}">
        <p14:creationId xmlns:p14="http://schemas.microsoft.com/office/powerpoint/2010/main" val="27687260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r>
              <a:rPr lang="en-US" dirty="0"/>
              <a:t/>
            </a:r>
            <a:br>
              <a:rPr lang="en-US" dirty="0"/>
            </a:br>
            <a:r>
              <a:rPr lang="en-US" dirty="0"/>
              <a:t>Documenting Software Architectures</a:t>
            </a:r>
            <a:br>
              <a:rPr lang="en-US" dirty="0"/>
            </a:br>
            <a:endParaRPr lang="en-US" dirty="0"/>
          </a:p>
        </p:txBody>
      </p:sp>
      <p:sp>
        <p:nvSpPr>
          <p:cNvPr id="4099" name="Rectangle 3"/>
          <p:cNvSpPr>
            <a:spLocks noGrp="1" noChangeArrowheads="1"/>
          </p:cNvSpPr>
          <p:nvPr>
            <p:ph idx="1"/>
          </p:nvPr>
        </p:nvSpPr>
        <p:spPr/>
        <p:txBody>
          <a:bodyPr>
            <a:normAutofit/>
          </a:bodyPr>
          <a:lstStyle/>
          <a:p>
            <a:pPr marL="0" indent="0">
              <a:buNone/>
            </a:pPr>
            <a:r>
              <a:rPr lang="en-US" sz="4000" dirty="0"/>
              <a:t>Outline</a:t>
            </a:r>
          </a:p>
          <a:p>
            <a:r>
              <a:rPr lang="en-US" dirty="0"/>
              <a:t>Uses of documentations</a:t>
            </a:r>
          </a:p>
          <a:p>
            <a:r>
              <a:rPr lang="en-US" dirty="0"/>
              <a:t>Views</a:t>
            </a:r>
          </a:p>
          <a:p>
            <a:r>
              <a:rPr lang="en-US" dirty="0"/>
              <a:t>Categorizes of views</a:t>
            </a:r>
          </a:p>
          <a:p>
            <a:r>
              <a:rPr lang="en-US" dirty="0"/>
              <a:t>Stakeholder needs</a:t>
            </a:r>
          </a:p>
          <a:p>
            <a:r>
              <a:rPr lang="en-US" dirty="0"/>
              <a:t>Seven rules for document  </a:t>
            </a:r>
          </a:p>
          <a:p>
            <a:pPr eaLnBrk="1" hangingPunct="1">
              <a:lnSpc>
                <a:spcPct val="90000"/>
              </a:lnSpc>
            </a:pPr>
            <a:endParaRPr lang="en-GB"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Introduction</a:t>
            </a:r>
          </a:p>
        </p:txBody>
      </p:sp>
      <p:sp>
        <p:nvSpPr>
          <p:cNvPr id="5123" name="Rectangle 3"/>
          <p:cNvSpPr>
            <a:spLocks noGrp="1" noChangeArrowheads="1"/>
          </p:cNvSpPr>
          <p:nvPr>
            <p:ph idx="1"/>
          </p:nvPr>
        </p:nvSpPr>
        <p:spPr/>
        <p:txBody>
          <a:bodyPr>
            <a:normAutofit/>
          </a:bodyPr>
          <a:lstStyle/>
          <a:p>
            <a:r>
              <a:rPr lang="en-GB" dirty="0"/>
              <a:t>The software architecture plays a central role in system development.</a:t>
            </a:r>
          </a:p>
          <a:p>
            <a:r>
              <a:rPr lang="en-GB" dirty="0"/>
              <a:t>It is a </a:t>
            </a:r>
            <a:r>
              <a:rPr lang="en-GB" b="1" dirty="0"/>
              <a:t>blueprint</a:t>
            </a:r>
            <a:r>
              <a:rPr lang="en-GB" dirty="0"/>
              <a:t> for both the system and the project developing it.</a:t>
            </a:r>
          </a:p>
          <a:p>
            <a:r>
              <a:rPr lang="en-GB" dirty="0"/>
              <a:t>It defines work assignments.</a:t>
            </a:r>
          </a:p>
          <a:p>
            <a:r>
              <a:rPr lang="en-GB" dirty="0"/>
              <a:t>It is the primary carrier of system qualities.</a:t>
            </a:r>
          </a:p>
          <a:p>
            <a:pPr lvl="1">
              <a:buNone/>
            </a:pPr>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Uses of Architectural Documentation</a:t>
            </a:r>
          </a:p>
        </p:txBody>
      </p:sp>
      <p:sp>
        <p:nvSpPr>
          <p:cNvPr id="6147" name="Content Placeholder 2"/>
          <p:cNvSpPr>
            <a:spLocks noGrp="1"/>
          </p:cNvSpPr>
          <p:nvPr>
            <p:ph idx="1"/>
          </p:nvPr>
        </p:nvSpPr>
        <p:spPr/>
        <p:txBody>
          <a:bodyPr>
            <a:normAutofit/>
          </a:bodyPr>
          <a:lstStyle/>
          <a:p>
            <a:r>
              <a:rPr lang="en-US" dirty="0"/>
              <a:t>A perfect architecture is useless if no one understands it or if key stakeholders misunderstand it</a:t>
            </a:r>
          </a:p>
          <a:p>
            <a:r>
              <a:rPr lang="en-US" dirty="0"/>
              <a:t>Documentation is a crucial part of producing a good architecture</a:t>
            </a:r>
          </a:p>
          <a:p>
            <a:r>
              <a:rPr lang="en-US" dirty="0"/>
              <a:t>Document should be</a:t>
            </a:r>
          </a:p>
          <a:p>
            <a:pPr lvl="1"/>
            <a:r>
              <a:rPr lang="en-US" dirty="0"/>
              <a:t>sufficiently </a:t>
            </a:r>
            <a:r>
              <a:rPr lang="en-US" b="1" dirty="0"/>
              <a:t>abstract</a:t>
            </a:r>
            <a:r>
              <a:rPr lang="en-US" dirty="0"/>
              <a:t> to be quickly understood by new employees </a:t>
            </a:r>
          </a:p>
          <a:p>
            <a:pPr lvl="1"/>
            <a:r>
              <a:rPr lang="en-US" dirty="0"/>
              <a:t>sufficiently </a:t>
            </a:r>
            <a:r>
              <a:rPr lang="en-US" b="1" dirty="0"/>
              <a:t>detailed</a:t>
            </a:r>
            <a:r>
              <a:rPr lang="en-US" dirty="0"/>
              <a:t> to serve as a blueprint for analysis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Uses of Architectural Documentation</a:t>
            </a:r>
          </a:p>
        </p:txBody>
      </p:sp>
      <p:sp>
        <p:nvSpPr>
          <p:cNvPr id="3" name="Content Placeholder 2"/>
          <p:cNvSpPr>
            <a:spLocks noGrp="1"/>
          </p:cNvSpPr>
          <p:nvPr>
            <p:ph idx="1"/>
          </p:nvPr>
        </p:nvSpPr>
        <p:spPr/>
        <p:txBody>
          <a:bodyPr/>
          <a:lstStyle/>
          <a:p>
            <a:pPr>
              <a:buNone/>
            </a:pPr>
            <a:r>
              <a:rPr lang="en-US" dirty="0"/>
              <a:t>	Architecture documentation has three main uses</a:t>
            </a:r>
          </a:p>
          <a:p>
            <a:pPr lvl="1"/>
            <a:r>
              <a:rPr lang="en-US" dirty="0"/>
              <a:t>Architecture serves as a means of </a:t>
            </a:r>
            <a:r>
              <a:rPr lang="en-US" b="1" dirty="0"/>
              <a:t>education</a:t>
            </a:r>
          </a:p>
          <a:p>
            <a:pPr lvl="1"/>
            <a:r>
              <a:rPr lang="en-US" dirty="0"/>
              <a:t>Architecture serves as a primary vehicle for </a:t>
            </a:r>
            <a:r>
              <a:rPr lang="en-US" b="1" dirty="0"/>
              <a:t>communication among stakeholders</a:t>
            </a:r>
          </a:p>
          <a:p>
            <a:pPr lvl="1"/>
            <a:r>
              <a:rPr lang="en-US" dirty="0"/>
              <a:t>Architecture serves as the basis for system </a:t>
            </a:r>
            <a:r>
              <a:rPr lang="en-US" b="1" dirty="0"/>
              <a:t>analysis and construction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r>
              <a:rPr lang="en-US" dirty="0"/>
              <a:t>Who Use the Architectural Documentation</a:t>
            </a:r>
          </a:p>
        </p:txBody>
      </p:sp>
      <p:graphicFrame>
        <p:nvGraphicFramePr>
          <p:cNvPr id="6" name="Table 5"/>
          <p:cNvGraphicFramePr>
            <a:graphicFrameLocks noGrp="1"/>
          </p:cNvGraphicFramePr>
          <p:nvPr>
            <p:extLst>
              <p:ext uri="{D42A27DB-BD31-4B8C-83A1-F6EECF244321}">
                <p14:modId xmlns:p14="http://schemas.microsoft.com/office/powerpoint/2010/main" val="3357117157"/>
              </p:ext>
            </p:extLst>
          </p:nvPr>
        </p:nvGraphicFramePr>
        <p:xfrm>
          <a:off x="1790700" y="1354765"/>
          <a:ext cx="8610600" cy="5138110"/>
        </p:xfrm>
        <a:graphic>
          <a:graphicData uri="http://schemas.openxmlformats.org/drawingml/2006/table">
            <a:tbl>
              <a:tblPr firstRow="1" bandRow="1">
                <a:tableStyleId>{5C22544A-7EE6-4342-B048-85BDC9FD1C3A}</a:tableStyleId>
              </a:tblPr>
              <a:tblGrid>
                <a:gridCol w="1643842">
                  <a:extLst>
                    <a:ext uri="{9D8B030D-6E8A-4147-A177-3AD203B41FA5}">
                      <a16:colId xmlns:a16="http://schemas.microsoft.com/office/drawing/2014/main" val="20000"/>
                    </a:ext>
                  </a:extLst>
                </a:gridCol>
                <a:gridCol w="3232958">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308634">
                <a:tc>
                  <a:txBody>
                    <a:bodyPr/>
                    <a:lstStyle/>
                    <a:p>
                      <a:r>
                        <a:rPr lang="en-US" dirty="0"/>
                        <a:t>Role</a:t>
                      </a:r>
                    </a:p>
                  </a:txBody>
                  <a:tcPr/>
                </a:tc>
                <a:tc>
                  <a:txBody>
                    <a:bodyPr/>
                    <a:lstStyle/>
                    <a:p>
                      <a:r>
                        <a:rPr lang="en-US" dirty="0"/>
                        <a:t>Description</a:t>
                      </a:r>
                    </a:p>
                  </a:txBody>
                  <a:tcPr/>
                </a:tc>
                <a:tc>
                  <a:txBody>
                    <a:bodyPr/>
                    <a:lstStyle/>
                    <a:p>
                      <a:r>
                        <a:rPr lang="en-US" dirty="0"/>
                        <a:t>Uses</a:t>
                      </a:r>
                    </a:p>
                  </a:txBody>
                  <a:tcPr/>
                </a:tc>
                <a:extLst>
                  <a:ext uri="{0D108BD9-81ED-4DB2-BD59-A6C34878D82A}">
                    <a16:rowId xmlns:a16="http://schemas.microsoft.com/office/drawing/2014/main" val="10000"/>
                  </a:ext>
                </a:extLst>
              </a:tr>
              <a:tr h="1040664">
                <a:tc>
                  <a:txBody>
                    <a:bodyPr/>
                    <a:lstStyle/>
                    <a:p>
                      <a:r>
                        <a:rPr lang="en-US" sz="1600" kern="1200" baseline="0" dirty="0">
                          <a:solidFill>
                            <a:schemeClr val="dk1"/>
                          </a:solidFill>
                          <a:latin typeface="+mn-lt"/>
                          <a:ea typeface="+mn-ea"/>
                          <a:cs typeface="+mn-cs"/>
                        </a:rPr>
                        <a:t>Analyst</a:t>
                      </a:r>
                      <a:endParaRPr lang="en-US" sz="1600" dirty="0"/>
                    </a:p>
                  </a:txBody>
                  <a:tcPr/>
                </a:tc>
                <a:tc>
                  <a:txBody>
                    <a:bodyPr/>
                    <a:lstStyle/>
                    <a:p>
                      <a:r>
                        <a:rPr lang="en-US" sz="1600" kern="1200" baseline="0" dirty="0">
                          <a:solidFill>
                            <a:schemeClr val="dk1"/>
                          </a:solidFill>
                          <a:latin typeface="+mn-lt"/>
                          <a:ea typeface="+mn-ea"/>
                          <a:cs typeface="+mn-cs"/>
                        </a:rPr>
                        <a:t>Responsible for analyzing the</a:t>
                      </a:r>
                    </a:p>
                    <a:p>
                      <a:r>
                        <a:rPr lang="en-US" sz="1600" kern="1200" baseline="0" dirty="0">
                          <a:solidFill>
                            <a:schemeClr val="dk1"/>
                          </a:solidFill>
                          <a:latin typeface="+mn-lt"/>
                          <a:ea typeface="+mn-ea"/>
                          <a:cs typeface="+mn-cs"/>
                        </a:rPr>
                        <a:t>architecture to make sure it meets certain critical quality attribute requirements.</a:t>
                      </a:r>
                      <a:endParaRPr lang="en-US" sz="1600" dirty="0"/>
                    </a:p>
                  </a:txBody>
                  <a:tcPr/>
                </a:tc>
                <a:tc>
                  <a:txBody>
                    <a:bodyPr/>
                    <a:lstStyle/>
                    <a:p>
                      <a:r>
                        <a:rPr lang="en-US" sz="1600" kern="1200" baseline="0" dirty="0">
                          <a:solidFill>
                            <a:schemeClr val="dk1"/>
                          </a:solidFill>
                          <a:latin typeface="+mn-lt"/>
                          <a:ea typeface="+mn-ea"/>
                          <a:cs typeface="+mn-cs"/>
                        </a:rPr>
                        <a:t>Analyzing </a:t>
                      </a:r>
                      <a:r>
                        <a:rPr lang="en-US" sz="1600" b="1" kern="1200" baseline="0" dirty="0">
                          <a:solidFill>
                            <a:schemeClr val="dk1"/>
                          </a:solidFill>
                          <a:latin typeface="+mn-lt"/>
                          <a:ea typeface="+mn-ea"/>
                          <a:cs typeface="+mn-cs"/>
                        </a:rPr>
                        <a:t>satisfaction of quality</a:t>
                      </a:r>
                    </a:p>
                    <a:p>
                      <a:r>
                        <a:rPr lang="en-US" sz="1600" b="1" kern="1200" baseline="0" dirty="0">
                          <a:solidFill>
                            <a:schemeClr val="dk1"/>
                          </a:solidFill>
                          <a:latin typeface="+mn-lt"/>
                          <a:ea typeface="+mn-ea"/>
                          <a:cs typeface="+mn-cs"/>
                        </a:rPr>
                        <a:t>attribute requirements </a:t>
                      </a:r>
                      <a:r>
                        <a:rPr lang="en-US" sz="1600" kern="1200" baseline="0" dirty="0">
                          <a:solidFill>
                            <a:schemeClr val="dk1"/>
                          </a:solidFill>
                          <a:latin typeface="+mn-lt"/>
                          <a:ea typeface="+mn-ea"/>
                          <a:cs typeface="+mn-cs"/>
                        </a:rPr>
                        <a:t>of the system based on its architecture.</a:t>
                      </a:r>
                      <a:endParaRPr lang="en-US" sz="1600" dirty="0"/>
                    </a:p>
                  </a:txBody>
                  <a:tcPr/>
                </a:tc>
                <a:extLst>
                  <a:ext uri="{0D108BD9-81ED-4DB2-BD59-A6C34878D82A}">
                    <a16:rowId xmlns:a16="http://schemas.microsoft.com/office/drawing/2014/main" val="10001"/>
                  </a:ext>
                </a:extLst>
              </a:tr>
              <a:tr h="1042639">
                <a:tc>
                  <a:txBody>
                    <a:bodyPr/>
                    <a:lstStyle/>
                    <a:p>
                      <a:r>
                        <a:rPr lang="en-US" sz="1600" kern="1200" baseline="0" dirty="0">
                          <a:solidFill>
                            <a:schemeClr val="dk1"/>
                          </a:solidFill>
                          <a:latin typeface="+mn-lt"/>
                          <a:ea typeface="+mn-ea"/>
                          <a:cs typeface="+mn-cs"/>
                        </a:rPr>
                        <a:t>Architect</a:t>
                      </a:r>
                      <a:endParaRPr lang="en-US" sz="1600" dirty="0"/>
                    </a:p>
                  </a:txBody>
                  <a:tcPr/>
                </a:tc>
                <a:tc>
                  <a:txBody>
                    <a:bodyPr/>
                    <a:lstStyle/>
                    <a:p>
                      <a:r>
                        <a:rPr lang="en-US" sz="1600" kern="1200" baseline="0" dirty="0">
                          <a:solidFill>
                            <a:schemeClr val="dk1"/>
                          </a:solidFill>
                          <a:latin typeface="+mn-lt"/>
                          <a:ea typeface="+mn-ea"/>
                          <a:cs typeface="+mn-cs"/>
                        </a:rPr>
                        <a:t>Responsible for the development of the architecture and its  documentation.</a:t>
                      </a:r>
                      <a:endParaRPr lang="en-US" sz="1600" dirty="0"/>
                    </a:p>
                  </a:txBody>
                  <a:tcPr/>
                </a:tc>
                <a:tc>
                  <a:txBody>
                    <a:bodyPr/>
                    <a:lstStyle/>
                    <a:p>
                      <a:r>
                        <a:rPr lang="en-US" sz="1600" kern="1200" baseline="0" dirty="0">
                          <a:solidFill>
                            <a:schemeClr val="dk1"/>
                          </a:solidFill>
                          <a:latin typeface="+mn-lt"/>
                          <a:ea typeface="+mn-ea"/>
                          <a:cs typeface="+mn-cs"/>
                        </a:rPr>
                        <a:t>Negotiating and making trade-offs among competing requirements and design approaches.</a:t>
                      </a:r>
                      <a:endParaRPr lang="en-US" sz="1600" dirty="0"/>
                    </a:p>
                  </a:txBody>
                  <a:tcPr/>
                </a:tc>
                <a:extLst>
                  <a:ext uri="{0D108BD9-81ED-4DB2-BD59-A6C34878D82A}">
                    <a16:rowId xmlns:a16="http://schemas.microsoft.com/office/drawing/2014/main" val="10002"/>
                  </a:ext>
                </a:extLst>
              </a:tr>
              <a:tr h="797312">
                <a:tc>
                  <a:txBody>
                    <a:bodyPr/>
                    <a:lstStyle/>
                    <a:p>
                      <a:r>
                        <a:rPr lang="en-US" sz="1600" kern="1200" baseline="0" dirty="0">
                          <a:solidFill>
                            <a:schemeClr val="dk1"/>
                          </a:solidFill>
                          <a:latin typeface="+mn-lt"/>
                          <a:ea typeface="+mn-ea"/>
                          <a:cs typeface="+mn-cs"/>
                        </a:rPr>
                        <a:t>Business</a:t>
                      </a:r>
                    </a:p>
                    <a:p>
                      <a:r>
                        <a:rPr lang="en-US" sz="1600" kern="1200" baseline="0" dirty="0">
                          <a:solidFill>
                            <a:schemeClr val="dk1"/>
                          </a:solidFill>
                          <a:latin typeface="+mn-lt"/>
                          <a:ea typeface="+mn-ea"/>
                          <a:cs typeface="+mn-cs"/>
                        </a:rPr>
                        <a:t>manager</a:t>
                      </a:r>
                      <a:endParaRPr lang="en-US" sz="1600" dirty="0"/>
                    </a:p>
                  </a:txBody>
                  <a:tcPr/>
                </a:tc>
                <a:tc>
                  <a:txBody>
                    <a:bodyPr/>
                    <a:lstStyle/>
                    <a:p>
                      <a:r>
                        <a:rPr lang="en-US" sz="1600" kern="1200" baseline="0" dirty="0">
                          <a:solidFill>
                            <a:schemeClr val="dk1"/>
                          </a:solidFill>
                          <a:latin typeface="+mn-lt"/>
                          <a:ea typeface="+mn-ea"/>
                          <a:cs typeface="+mn-cs"/>
                        </a:rPr>
                        <a:t>Responsible for the functioning of</a:t>
                      </a:r>
                    </a:p>
                    <a:p>
                      <a:r>
                        <a:rPr lang="en-US" sz="1600" kern="1200" baseline="0" dirty="0">
                          <a:solidFill>
                            <a:schemeClr val="dk1"/>
                          </a:solidFill>
                          <a:latin typeface="+mn-lt"/>
                          <a:ea typeface="+mn-ea"/>
                          <a:cs typeface="+mn-cs"/>
                        </a:rPr>
                        <a:t>the business/organizational entity</a:t>
                      </a:r>
                    </a:p>
                    <a:p>
                      <a:r>
                        <a:rPr lang="en-US" sz="1600" kern="1200" baseline="0" dirty="0">
                          <a:solidFill>
                            <a:schemeClr val="dk1"/>
                          </a:solidFill>
                          <a:latin typeface="+mn-lt"/>
                          <a:ea typeface="+mn-ea"/>
                          <a:cs typeface="+mn-cs"/>
                        </a:rPr>
                        <a:t>that owns the system.</a:t>
                      </a:r>
                      <a:endParaRPr lang="en-US" sz="1600" dirty="0"/>
                    </a:p>
                  </a:txBody>
                  <a:tcPr/>
                </a:tc>
                <a:tc>
                  <a:txBody>
                    <a:bodyPr/>
                    <a:lstStyle/>
                    <a:p>
                      <a:r>
                        <a:rPr lang="en-US" sz="1600" kern="1200" baseline="0" dirty="0">
                          <a:solidFill>
                            <a:schemeClr val="dk1"/>
                          </a:solidFill>
                          <a:latin typeface="+mn-lt"/>
                          <a:ea typeface="+mn-ea"/>
                          <a:cs typeface="+mn-cs"/>
                        </a:rPr>
                        <a:t>Understanding the ability of the</a:t>
                      </a:r>
                    </a:p>
                    <a:p>
                      <a:r>
                        <a:rPr lang="en-US" sz="1600" kern="1200" baseline="0" dirty="0">
                          <a:solidFill>
                            <a:schemeClr val="dk1"/>
                          </a:solidFill>
                          <a:latin typeface="+mn-lt"/>
                          <a:ea typeface="+mn-ea"/>
                          <a:cs typeface="+mn-cs"/>
                        </a:rPr>
                        <a:t>architecture to meet business goals.</a:t>
                      </a:r>
                      <a:endParaRPr lang="en-US" sz="1600" dirty="0"/>
                    </a:p>
                  </a:txBody>
                  <a:tcPr/>
                </a:tc>
                <a:extLst>
                  <a:ext uri="{0D108BD9-81ED-4DB2-BD59-A6C34878D82A}">
                    <a16:rowId xmlns:a16="http://schemas.microsoft.com/office/drawing/2014/main" val="10003"/>
                  </a:ext>
                </a:extLst>
              </a:tr>
              <a:tr h="1839951">
                <a:tc>
                  <a:txBody>
                    <a:bodyPr/>
                    <a:lstStyle/>
                    <a:p>
                      <a:r>
                        <a:rPr lang="en-US" sz="1600" kern="1200" baseline="0" dirty="0">
                          <a:solidFill>
                            <a:schemeClr val="dk1"/>
                          </a:solidFill>
                          <a:latin typeface="+mn-lt"/>
                          <a:ea typeface="+mn-ea"/>
                          <a:cs typeface="+mn-cs"/>
                        </a:rPr>
                        <a:t>Customer</a:t>
                      </a:r>
                      <a:endParaRPr lang="en-US" sz="1600" dirty="0"/>
                    </a:p>
                  </a:txBody>
                  <a:tcPr/>
                </a:tc>
                <a:tc>
                  <a:txBody>
                    <a:bodyPr/>
                    <a:lstStyle/>
                    <a:p>
                      <a:r>
                        <a:rPr lang="en-US" sz="1600" kern="1200" baseline="0" dirty="0">
                          <a:solidFill>
                            <a:schemeClr val="dk1"/>
                          </a:solidFill>
                          <a:latin typeface="+mn-lt"/>
                          <a:ea typeface="+mn-ea"/>
                          <a:cs typeface="+mn-cs"/>
                        </a:rPr>
                        <a:t>Pays for the system and ensures</a:t>
                      </a:r>
                    </a:p>
                    <a:p>
                      <a:r>
                        <a:rPr lang="en-US" sz="1600" kern="1200" baseline="0" dirty="0">
                          <a:solidFill>
                            <a:schemeClr val="dk1"/>
                          </a:solidFill>
                          <a:latin typeface="+mn-lt"/>
                          <a:ea typeface="+mn-ea"/>
                          <a:cs typeface="+mn-cs"/>
                        </a:rPr>
                        <a:t>its delivery.</a:t>
                      </a:r>
                      <a:endParaRPr lang="en-US" sz="1600" dirty="0"/>
                    </a:p>
                  </a:txBody>
                  <a:tcPr/>
                </a:tc>
                <a:tc>
                  <a:txBody>
                    <a:bodyPr/>
                    <a:lstStyle/>
                    <a:p>
                      <a:r>
                        <a:rPr lang="en-US" sz="1600" kern="1200" baseline="0" dirty="0">
                          <a:solidFill>
                            <a:schemeClr val="dk1"/>
                          </a:solidFill>
                          <a:latin typeface="+mn-lt"/>
                          <a:ea typeface="+mn-ea"/>
                          <a:cs typeface="+mn-cs"/>
                        </a:rPr>
                        <a:t>Assuring required functionality and quality will be delivered, gauging progress, estimating cost, and setting expectations for what will be delivered, when, and for how much.</a:t>
                      </a:r>
                      <a:endParaRPr lang="en-US" sz="1600"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dirty="0"/>
              <a:t>Who Use the Architectural Documentation</a:t>
            </a:r>
          </a:p>
        </p:txBody>
      </p:sp>
      <p:graphicFrame>
        <p:nvGraphicFramePr>
          <p:cNvPr id="5" name="Table 4"/>
          <p:cNvGraphicFramePr>
            <a:graphicFrameLocks noGrp="1"/>
          </p:cNvGraphicFramePr>
          <p:nvPr>
            <p:extLst>
              <p:ext uri="{D42A27DB-BD31-4B8C-83A1-F6EECF244321}">
                <p14:modId xmlns:p14="http://schemas.microsoft.com/office/powerpoint/2010/main" val="2047086781"/>
              </p:ext>
            </p:extLst>
          </p:nvPr>
        </p:nvGraphicFramePr>
        <p:xfrm>
          <a:off x="1790700" y="1193976"/>
          <a:ext cx="8610600" cy="5162374"/>
        </p:xfrm>
        <a:graphic>
          <a:graphicData uri="http://schemas.openxmlformats.org/drawingml/2006/table">
            <a:tbl>
              <a:tblPr firstRow="1" bandRow="1">
                <a:tableStyleId>{5C22544A-7EE6-4342-B048-85BDC9FD1C3A}</a:tableStyleId>
              </a:tblPr>
              <a:tblGrid>
                <a:gridCol w="1643842">
                  <a:extLst>
                    <a:ext uri="{9D8B030D-6E8A-4147-A177-3AD203B41FA5}">
                      <a16:colId xmlns:a16="http://schemas.microsoft.com/office/drawing/2014/main" val="20000"/>
                    </a:ext>
                  </a:extLst>
                </a:gridCol>
                <a:gridCol w="2928158">
                  <a:extLst>
                    <a:ext uri="{9D8B030D-6E8A-4147-A177-3AD203B41FA5}">
                      <a16:colId xmlns:a16="http://schemas.microsoft.com/office/drawing/2014/main" val="20001"/>
                    </a:ext>
                  </a:extLst>
                </a:gridCol>
                <a:gridCol w="4038600">
                  <a:extLst>
                    <a:ext uri="{9D8B030D-6E8A-4147-A177-3AD203B41FA5}">
                      <a16:colId xmlns:a16="http://schemas.microsoft.com/office/drawing/2014/main" val="20002"/>
                    </a:ext>
                  </a:extLst>
                </a:gridCol>
              </a:tblGrid>
              <a:tr h="293405">
                <a:tc>
                  <a:txBody>
                    <a:bodyPr/>
                    <a:lstStyle/>
                    <a:p>
                      <a:r>
                        <a:rPr lang="en-US" dirty="0"/>
                        <a:t>Role</a:t>
                      </a:r>
                    </a:p>
                  </a:txBody>
                  <a:tcPr/>
                </a:tc>
                <a:tc>
                  <a:txBody>
                    <a:bodyPr/>
                    <a:lstStyle/>
                    <a:p>
                      <a:r>
                        <a:rPr lang="en-US" dirty="0"/>
                        <a:t>Description</a:t>
                      </a:r>
                    </a:p>
                  </a:txBody>
                  <a:tcPr/>
                </a:tc>
                <a:tc>
                  <a:txBody>
                    <a:bodyPr/>
                    <a:lstStyle/>
                    <a:p>
                      <a:r>
                        <a:rPr lang="en-US" dirty="0"/>
                        <a:t>Uses</a:t>
                      </a:r>
                    </a:p>
                  </a:txBody>
                  <a:tcPr/>
                </a:tc>
                <a:extLst>
                  <a:ext uri="{0D108BD9-81ED-4DB2-BD59-A6C34878D82A}">
                    <a16:rowId xmlns:a16="http://schemas.microsoft.com/office/drawing/2014/main" val="10000"/>
                  </a:ext>
                </a:extLst>
              </a:tr>
              <a:tr h="1173620">
                <a:tc>
                  <a:txBody>
                    <a:bodyPr/>
                    <a:lstStyle/>
                    <a:p>
                      <a:r>
                        <a:rPr lang="en-US" sz="1600" kern="1200" baseline="0" dirty="0">
                          <a:solidFill>
                            <a:schemeClr val="dk1"/>
                          </a:solidFill>
                          <a:latin typeface="+mn-lt"/>
                          <a:ea typeface="+mn-ea"/>
                          <a:cs typeface="+mn-cs"/>
                        </a:rPr>
                        <a:t>Deployer</a:t>
                      </a:r>
                      <a:endParaRPr lang="en-US" sz="1600" dirty="0"/>
                    </a:p>
                  </a:txBody>
                  <a:tcPr/>
                </a:tc>
                <a:tc>
                  <a:txBody>
                    <a:bodyPr/>
                    <a:lstStyle/>
                    <a:p>
                      <a:r>
                        <a:rPr lang="en-US" sz="1600" kern="1200" baseline="0" dirty="0">
                          <a:solidFill>
                            <a:schemeClr val="dk1"/>
                          </a:solidFill>
                          <a:latin typeface="+mn-lt"/>
                          <a:ea typeface="+mn-ea"/>
                          <a:cs typeface="+mn-cs"/>
                        </a:rPr>
                        <a:t>Responsible for accepting the</a:t>
                      </a:r>
                    </a:p>
                    <a:p>
                      <a:r>
                        <a:rPr lang="en-US" sz="1600" kern="1200" baseline="0" dirty="0">
                          <a:solidFill>
                            <a:schemeClr val="dk1"/>
                          </a:solidFill>
                          <a:latin typeface="+mn-lt"/>
                          <a:ea typeface="+mn-ea"/>
                          <a:cs typeface="+mn-cs"/>
                        </a:rPr>
                        <a:t>completed system from the development effort and  deploying it, making it operational</a:t>
                      </a:r>
                      <a:endParaRPr lang="en-US" sz="1600" dirty="0"/>
                    </a:p>
                  </a:txBody>
                  <a:tcPr/>
                </a:tc>
                <a:tc>
                  <a:txBody>
                    <a:bodyPr/>
                    <a:lstStyle/>
                    <a:p>
                      <a:r>
                        <a:rPr lang="en-US" sz="1600" kern="1200" baseline="0" dirty="0">
                          <a:solidFill>
                            <a:schemeClr val="dk1"/>
                          </a:solidFill>
                          <a:latin typeface="+mn-lt"/>
                          <a:ea typeface="+mn-ea"/>
                          <a:cs typeface="+mn-cs"/>
                        </a:rPr>
                        <a:t>Understanding the architectural elements that are delivered and to be</a:t>
                      </a:r>
                    </a:p>
                    <a:p>
                      <a:r>
                        <a:rPr lang="en-US" sz="1600" kern="1200" baseline="0" dirty="0">
                          <a:solidFill>
                            <a:schemeClr val="dk1"/>
                          </a:solidFill>
                          <a:latin typeface="+mn-lt"/>
                          <a:ea typeface="+mn-ea"/>
                          <a:cs typeface="+mn-cs"/>
                        </a:rPr>
                        <a:t>installed at the customer’s or end</a:t>
                      </a:r>
                    </a:p>
                    <a:p>
                      <a:r>
                        <a:rPr lang="en-US" sz="1600" kern="1200" baseline="0" dirty="0">
                          <a:solidFill>
                            <a:schemeClr val="dk1"/>
                          </a:solidFill>
                          <a:latin typeface="+mn-lt"/>
                          <a:ea typeface="+mn-ea"/>
                          <a:cs typeface="+mn-cs"/>
                        </a:rPr>
                        <a:t>user’s site, and their overall responsibility toward system function.</a:t>
                      </a:r>
                      <a:endParaRPr lang="en-US" sz="1600" dirty="0"/>
                    </a:p>
                  </a:txBody>
                  <a:tcPr/>
                </a:tc>
                <a:extLst>
                  <a:ext uri="{0D108BD9-81ED-4DB2-BD59-A6C34878D82A}">
                    <a16:rowId xmlns:a16="http://schemas.microsoft.com/office/drawing/2014/main" val="10001"/>
                  </a:ext>
                </a:extLst>
              </a:tr>
              <a:tr h="836383">
                <a:tc>
                  <a:txBody>
                    <a:bodyPr/>
                    <a:lstStyle/>
                    <a:p>
                      <a:r>
                        <a:rPr lang="en-US" sz="1600" kern="1200" baseline="0" dirty="0">
                          <a:solidFill>
                            <a:schemeClr val="dk1"/>
                          </a:solidFill>
                          <a:latin typeface="+mn-lt"/>
                          <a:ea typeface="+mn-ea"/>
                          <a:cs typeface="+mn-cs"/>
                        </a:rPr>
                        <a:t>Designer</a:t>
                      </a:r>
                      <a:endParaRPr lang="en-US" sz="1600" dirty="0"/>
                    </a:p>
                  </a:txBody>
                  <a:tcPr/>
                </a:tc>
                <a:tc>
                  <a:txBody>
                    <a:bodyPr/>
                    <a:lstStyle/>
                    <a:p>
                      <a:r>
                        <a:rPr lang="en-US" sz="1600" kern="1200" baseline="0" dirty="0">
                          <a:solidFill>
                            <a:schemeClr val="dk1"/>
                          </a:solidFill>
                          <a:latin typeface="+mn-lt"/>
                          <a:ea typeface="+mn-ea"/>
                          <a:cs typeface="+mn-cs"/>
                        </a:rPr>
                        <a:t>Responsible for systems and/or</a:t>
                      </a:r>
                    </a:p>
                    <a:p>
                      <a:r>
                        <a:rPr lang="en-US" sz="1600" kern="1200" baseline="0" dirty="0">
                          <a:solidFill>
                            <a:schemeClr val="dk1"/>
                          </a:solidFill>
                          <a:latin typeface="+mn-lt"/>
                          <a:ea typeface="+mn-ea"/>
                          <a:cs typeface="+mn-cs"/>
                        </a:rPr>
                        <a:t>software design</a:t>
                      </a:r>
                      <a:endParaRPr lang="en-US" sz="1600" dirty="0"/>
                    </a:p>
                  </a:txBody>
                  <a:tcPr/>
                </a:tc>
                <a:tc>
                  <a:txBody>
                    <a:bodyPr/>
                    <a:lstStyle/>
                    <a:p>
                      <a:r>
                        <a:rPr lang="en-US" sz="1600" kern="1200" baseline="0" dirty="0">
                          <a:solidFill>
                            <a:schemeClr val="dk1"/>
                          </a:solidFill>
                          <a:latin typeface="+mn-lt"/>
                          <a:ea typeface="+mn-ea"/>
                          <a:cs typeface="+mn-cs"/>
                        </a:rPr>
                        <a:t>Understanding the architectural elements</a:t>
                      </a:r>
                    </a:p>
                    <a:p>
                      <a:r>
                        <a:rPr lang="en-US" sz="1600" kern="1200" baseline="0" dirty="0">
                          <a:solidFill>
                            <a:schemeClr val="dk1"/>
                          </a:solidFill>
                          <a:latin typeface="+mn-lt"/>
                          <a:ea typeface="+mn-ea"/>
                          <a:cs typeface="+mn-cs"/>
                        </a:rPr>
                        <a:t>that are designed</a:t>
                      </a:r>
                      <a:endParaRPr lang="en-US" sz="1600" dirty="0"/>
                    </a:p>
                  </a:txBody>
                  <a:tcPr/>
                </a:tc>
                <a:extLst>
                  <a:ext uri="{0D108BD9-81ED-4DB2-BD59-A6C34878D82A}">
                    <a16:rowId xmlns:a16="http://schemas.microsoft.com/office/drawing/2014/main" val="10002"/>
                  </a:ext>
                </a:extLst>
              </a:tr>
              <a:tr h="1173620">
                <a:tc>
                  <a:txBody>
                    <a:bodyPr/>
                    <a:lstStyle/>
                    <a:p>
                      <a:r>
                        <a:rPr lang="en-US" sz="1600" kern="1200" baseline="0" dirty="0">
                          <a:solidFill>
                            <a:schemeClr val="dk1"/>
                          </a:solidFill>
                          <a:latin typeface="+mn-lt"/>
                          <a:ea typeface="+mn-ea"/>
                          <a:cs typeface="+mn-cs"/>
                        </a:rPr>
                        <a:t>Implementer</a:t>
                      </a:r>
                      <a:endParaRPr lang="en-US" sz="1600" dirty="0"/>
                    </a:p>
                  </a:txBody>
                  <a:tcPr/>
                </a:tc>
                <a:tc>
                  <a:txBody>
                    <a:bodyPr/>
                    <a:lstStyle/>
                    <a:p>
                      <a:r>
                        <a:rPr lang="en-US" sz="1600" kern="1200" baseline="0" dirty="0">
                          <a:solidFill>
                            <a:schemeClr val="dk1"/>
                          </a:solidFill>
                          <a:latin typeface="+mn-lt"/>
                          <a:ea typeface="+mn-ea"/>
                          <a:cs typeface="+mn-cs"/>
                        </a:rPr>
                        <a:t>Responsible for the development of specific elements according to</a:t>
                      </a:r>
                    </a:p>
                    <a:p>
                      <a:r>
                        <a:rPr lang="en-US" sz="1600" kern="1200" baseline="0" dirty="0">
                          <a:solidFill>
                            <a:schemeClr val="dk1"/>
                          </a:solidFill>
                          <a:latin typeface="+mn-lt"/>
                          <a:ea typeface="+mn-ea"/>
                          <a:cs typeface="+mn-cs"/>
                        </a:rPr>
                        <a:t>designs, requirements, and the</a:t>
                      </a:r>
                    </a:p>
                    <a:p>
                      <a:r>
                        <a:rPr lang="en-US" sz="1600" kern="1200" baseline="0" dirty="0">
                          <a:solidFill>
                            <a:schemeClr val="dk1"/>
                          </a:solidFill>
                          <a:latin typeface="+mn-lt"/>
                          <a:ea typeface="+mn-ea"/>
                          <a:cs typeface="+mn-cs"/>
                        </a:rPr>
                        <a:t>architecture.</a:t>
                      </a:r>
                      <a:endParaRPr lang="en-US" sz="1600" dirty="0"/>
                    </a:p>
                  </a:txBody>
                  <a:tcPr/>
                </a:tc>
                <a:tc>
                  <a:txBody>
                    <a:bodyPr/>
                    <a:lstStyle/>
                    <a:p>
                      <a:r>
                        <a:rPr lang="en-US" sz="1600" kern="1200" baseline="0" dirty="0">
                          <a:solidFill>
                            <a:schemeClr val="dk1"/>
                          </a:solidFill>
                          <a:latin typeface="+mn-lt"/>
                          <a:ea typeface="+mn-ea"/>
                          <a:cs typeface="+mn-cs"/>
                        </a:rPr>
                        <a:t>Understanding inviolable constraints</a:t>
                      </a:r>
                    </a:p>
                    <a:p>
                      <a:r>
                        <a:rPr lang="en-US" sz="1600" kern="1200" baseline="0" dirty="0">
                          <a:solidFill>
                            <a:schemeClr val="dk1"/>
                          </a:solidFill>
                          <a:latin typeface="+mn-lt"/>
                          <a:ea typeface="+mn-ea"/>
                          <a:cs typeface="+mn-cs"/>
                        </a:rPr>
                        <a:t>and exploitable freedoms on development activities.</a:t>
                      </a:r>
                      <a:endParaRPr lang="en-US" sz="1600" dirty="0"/>
                    </a:p>
                  </a:txBody>
                  <a:tcPr/>
                </a:tc>
                <a:extLst>
                  <a:ext uri="{0D108BD9-81ED-4DB2-BD59-A6C34878D82A}">
                    <a16:rowId xmlns:a16="http://schemas.microsoft.com/office/drawing/2014/main" val="10003"/>
                  </a:ext>
                </a:extLst>
              </a:tr>
              <a:tr h="1475971">
                <a:tc>
                  <a:txBody>
                    <a:bodyPr/>
                    <a:lstStyle/>
                    <a:p>
                      <a:r>
                        <a:rPr lang="en-US" sz="1600" kern="1200" baseline="0" dirty="0">
                          <a:solidFill>
                            <a:schemeClr val="dk1"/>
                          </a:solidFill>
                          <a:latin typeface="+mn-lt"/>
                          <a:ea typeface="+mn-ea"/>
                          <a:cs typeface="+mn-cs"/>
                        </a:rPr>
                        <a:t>Integrator</a:t>
                      </a:r>
                      <a:endParaRPr lang="en-US" sz="1600" dirty="0"/>
                    </a:p>
                  </a:txBody>
                  <a:tcPr/>
                </a:tc>
                <a:tc>
                  <a:txBody>
                    <a:bodyPr/>
                    <a:lstStyle/>
                    <a:p>
                      <a:r>
                        <a:rPr lang="en-US" sz="1600" kern="1200" baseline="0" dirty="0">
                          <a:solidFill>
                            <a:schemeClr val="dk1"/>
                          </a:solidFill>
                          <a:latin typeface="+mn-lt"/>
                          <a:ea typeface="+mn-ea"/>
                          <a:cs typeface="+mn-cs"/>
                        </a:rPr>
                        <a:t>Responsible for taking individual</a:t>
                      </a:r>
                    </a:p>
                    <a:p>
                      <a:r>
                        <a:rPr lang="en-US" sz="1600" kern="1200" baseline="0" dirty="0">
                          <a:solidFill>
                            <a:schemeClr val="dk1"/>
                          </a:solidFill>
                          <a:latin typeface="+mn-lt"/>
                          <a:ea typeface="+mn-ea"/>
                          <a:cs typeface="+mn-cs"/>
                        </a:rPr>
                        <a:t>components and integrating them, according to the architecture and</a:t>
                      </a:r>
                    </a:p>
                    <a:p>
                      <a:r>
                        <a:rPr lang="en-US" sz="1600" kern="1200" baseline="0" dirty="0">
                          <a:solidFill>
                            <a:schemeClr val="dk1"/>
                          </a:solidFill>
                          <a:latin typeface="+mn-lt"/>
                          <a:ea typeface="+mn-ea"/>
                          <a:cs typeface="+mn-cs"/>
                        </a:rPr>
                        <a:t>system designs.</a:t>
                      </a:r>
                      <a:endParaRPr lang="en-US" sz="1600" dirty="0"/>
                    </a:p>
                  </a:txBody>
                  <a:tcPr/>
                </a:tc>
                <a:tc>
                  <a:txBody>
                    <a:bodyPr/>
                    <a:lstStyle/>
                    <a:p>
                      <a:r>
                        <a:rPr lang="en-US" sz="1600" kern="1200" baseline="0" dirty="0">
                          <a:solidFill>
                            <a:schemeClr val="dk1"/>
                          </a:solidFill>
                          <a:latin typeface="+mn-lt"/>
                          <a:ea typeface="+mn-ea"/>
                          <a:cs typeface="+mn-cs"/>
                        </a:rPr>
                        <a:t>Producing integration plans and procedures, and locating the source of integration failures.</a:t>
                      </a:r>
                      <a:endParaRPr lang="en-US" sz="1600"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Notations for Architecture Documentation</a:t>
            </a:r>
          </a:p>
        </p:txBody>
      </p:sp>
      <p:sp>
        <p:nvSpPr>
          <p:cNvPr id="3" name="Content Placeholder 2"/>
          <p:cNvSpPr>
            <a:spLocks noGrp="1"/>
          </p:cNvSpPr>
          <p:nvPr>
            <p:ph idx="1"/>
          </p:nvPr>
        </p:nvSpPr>
        <p:spPr/>
        <p:txBody>
          <a:bodyPr/>
          <a:lstStyle/>
          <a:p>
            <a:r>
              <a:rPr lang="en-US" dirty="0"/>
              <a:t>Informal notations</a:t>
            </a:r>
          </a:p>
          <a:p>
            <a:r>
              <a:rPr lang="en-US" dirty="0"/>
              <a:t>Semiformal notations</a:t>
            </a:r>
          </a:p>
          <a:p>
            <a:r>
              <a:rPr lang="en-US" dirty="0"/>
              <a:t>Formal notations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Views</a:t>
            </a:r>
          </a:p>
        </p:txBody>
      </p:sp>
      <p:sp>
        <p:nvSpPr>
          <p:cNvPr id="3" name="Content Placeholder 2"/>
          <p:cNvSpPr>
            <a:spLocks noGrp="1"/>
          </p:cNvSpPr>
          <p:nvPr>
            <p:ph idx="1"/>
          </p:nvPr>
        </p:nvSpPr>
        <p:spPr/>
        <p:txBody>
          <a:bodyPr>
            <a:normAutofit/>
          </a:bodyPr>
          <a:lstStyle/>
          <a:p>
            <a:r>
              <a:rPr lang="en-US" dirty="0"/>
              <a:t>A view is a </a:t>
            </a:r>
            <a:r>
              <a:rPr lang="en-US" i="1" dirty="0">
                <a:solidFill>
                  <a:schemeClr val="accent6">
                    <a:lumMod val="75000"/>
                  </a:schemeClr>
                </a:solidFill>
              </a:rPr>
              <a:t>representation</a:t>
            </a:r>
            <a:r>
              <a:rPr lang="en-US" dirty="0"/>
              <a:t> of a coherent set of architectural elements, as written by and read by system stakeholders.</a:t>
            </a:r>
          </a:p>
          <a:p>
            <a:r>
              <a:rPr lang="en-US" dirty="0"/>
              <a:t>There are many views for an architecture.</a:t>
            </a:r>
          </a:p>
          <a:p>
            <a:r>
              <a:rPr lang="en-US" dirty="0"/>
              <a:t>Documenting an architecture is a matter of documenting the </a:t>
            </a:r>
            <a:r>
              <a:rPr lang="en-US" b="1" dirty="0"/>
              <a:t>relevant views </a:t>
            </a:r>
            <a:r>
              <a:rPr lang="en-US" dirty="0"/>
              <a:t>and then </a:t>
            </a:r>
            <a:r>
              <a:rPr lang="en-US" b="1" dirty="0"/>
              <a:t>adding documentation that applies to more than one view</a:t>
            </a:r>
            <a:r>
              <a:rPr lang="en-US" dirty="0"/>
              <a:t>.</a:t>
            </a:r>
          </a:p>
          <a:p>
            <a:endParaRPr lang="en-US" dirty="0"/>
          </a:p>
          <a:p>
            <a:pPr lvl="1"/>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View Styles</a:t>
            </a:r>
          </a:p>
        </p:txBody>
      </p:sp>
      <p:sp>
        <p:nvSpPr>
          <p:cNvPr id="3" name="Content Placeholder 2"/>
          <p:cNvSpPr>
            <a:spLocks noGrp="1"/>
          </p:cNvSpPr>
          <p:nvPr>
            <p:ph idx="1"/>
          </p:nvPr>
        </p:nvSpPr>
        <p:spPr/>
        <p:txBody>
          <a:bodyPr/>
          <a:lstStyle/>
          <a:p>
            <a:r>
              <a:rPr lang="en-US" dirty="0"/>
              <a:t>Module views</a:t>
            </a:r>
          </a:p>
          <a:p>
            <a:r>
              <a:rPr lang="en-US" dirty="0"/>
              <a:t>Component-and-connector </a:t>
            </a:r>
            <a:r>
              <a:rPr lang="en-US"/>
              <a:t>(C&amp;C) views</a:t>
            </a:r>
            <a:endParaRPr lang="en-US" dirty="0"/>
          </a:p>
          <a:p>
            <a:r>
              <a:rPr lang="en-US" dirty="0"/>
              <a:t>Allocation views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Views</a:t>
            </a:r>
          </a:p>
        </p:txBody>
      </p:sp>
      <p:sp>
        <p:nvSpPr>
          <p:cNvPr id="3" name="Content Placeholder 2"/>
          <p:cNvSpPr>
            <a:spLocks noGrp="1"/>
          </p:cNvSpPr>
          <p:nvPr>
            <p:ph idx="1"/>
          </p:nvPr>
        </p:nvSpPr>
        <p:spPr/>
        <p:txBody>
          <a:bodyPr/>
          <a:lstStyle/>
          <a:p>
            <a:r>
              <a:rPr lang="en-US" dirty="0"/>
              <a:t>A module is an implementation unit that provides a coherent set of responsibilities (examples: classes, layers,…)</a:t>
            </a:r>
          </a:p>
          <a:p>
            <a:r>
              <a:rPr lang="en-US" dirty="0"/>
              <a:t>It is unlikely that the documentation of any software architecture can be complete without at least one module view</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Views</a:t>
            </a:r>
          </a:p>
        </p:txBody>
      </p:sp>
      <p:pic>
        <p:nvPicPr>
          <p:cNvPr id="1026" name="Picture 2"/>
          <p:cNvPicPr>
            <a:picLocks noChangeAspect="1" noChangeArrowheads="1"/>
          </p:cNvPicPr>
          <p:nvPr/>
        </p:nvPicPr>
        <p:blipFill>
          <a:blip r:embed="rId2" cstate="print"/>
          <a:srcRect/>
          <a:stretch>
            <a:fillRect/>
          </a:stretch>
        </p:blipFill>
        <p:spPr bwMode="auto">
          <a:xfrm>
            <a:off x="1932474" y="1396584"/>
            <a:ext cx="8327052" cy="4648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View Styles</a:t>
            </a:r>
          </a:p>
        </p:txBody>
      </p:sp>
      <p:sp>
        <p:nvSpPr>
          <p:cNvPr id="3" name="Content Placeholder 2"/>
          <p:cNvSpPr>
            <a:spLocks noGrp="1"/>
          </p:cNvSpPr>
          <p:nvPr>
            <p:ph idx="1"/>
          </p:nvPr>
        </p:nvSpPr>
        <p:spPr/>
        <p:txBody>
          <a:bodyPr/>
          <a:lstStyle/>
          <a:p>
            <a:r>
              <a:rPr lang="en-US" dirty="0"/>
              <a:t>Decomposition</a:t>
            </a:r>
          </a:p>
          <a:p>
            <a:r>
              <a:rPr lang="en-US" dirty="0"/>
              <a:t>Uses</a:t>
            </a:r>
          </a:p>
          <a:p>
            <a:r>
              <a:rPr lang="en-US" dirty="0"/>
              <a:t>Generalization</a:t>
            </a:r>
          </a:p>
          <a:p>
            <a:r>
              <a:rPr lang="en-US" dirty="0"/>
              <a:t>Layers</a:t>
            </a:r>
          </a:p>
          <a:p>
            <a:r>
              <a:rPr lang="en-US" dirty="0"/>
              <a:t>Aspects</a:t>
            </a:r>
          </a:p>
          <a:p>
            <a:r>
              <a:rPr lang="en-US" dirty="0"/>
              <a:t>Data model</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Notations  for Module Views</a:t>
            </a:r>
          </a:p>
        </p:txBody>
      </p:sp>
      <p:sp>
        <p:nvSpPr>
          <p:cNvPr id="3" name="Content Placeholder 2"/>
          <p:cNvSpPr>
            <a:spLocks noGrp="1"/>
          </p:cNvSpPr>
          <p:nvPr>
            <p:ph idx="1"/>
          </p:nvPr>
        </p:nvSpPr>
        <p:spPr/>
        <p:txBody>
          <a:bodyPr/>
          <a:lstStyle/>
          <a:p>
            <a:r>
              <a:rPr lang="en-US" dirty="0"/>
              <a:t>Informal notations</a:t>
            </a:r>
          </a:p>
          <a:p>
            <a:r>
              <a:rPr lang="en-US" dirty="0"/>
              <a:t>Dependency Structure Matrix</a:t>
            </a:r>
          </a:p>
          <a:p>
            <a:r>
              <a:rPr lang="en-US" dirty="0"/>
              <a:t>UML</a:t>
            </a:r>
          </a:p>
          <a:p>
            <a:r>
              <a:rPr lang="en-US" dirty="0"/>
              <a:t>Entity-Relationship Diagram</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 Structure Matrix</a:t>
            </a:r>
          </a:p>
        </p:txBody>
      </p:sp>
      <p:pic>
        <p:nvPicPr>
          <p:cNvPr id="4099" name="Picture 3"/>
          <p:cNvPicPr>
            <a:picLocks noChangeAspect="1" noChangeArrowheads="1"/>
          </p:cNvPicPr>
          <p:nvPr/>
        </p:nvPicPr>
        <p:blipFill>
          <a:blip r:embed="rId2" cstate="print"/>
          <a:srcRect/>
          <a:stretch>
            <a:fillRect/>
          </a:stretch>
        </p:blipFill>
        <p:spPr bwMode="auto">
          <a:xfrm>
            <a:off x="2743200" y="1381594"/>
            <a:ext cx="6172200" cy="47143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Notations in UML</a:t>
            </a:r>
          </a:p>
        </p:txBody>
      </p:sp>
      <p:pic>
        <p:nvPicPr>
          <p:cNvPr id="2050" name="Picture 2"/>
          <p:cNvPicPr>
            <a:picLocks noChangeAspect="1" noChangeArrowheads="1"/>
          </p:cNvPicPr>
          <p:nvPr/>
        </p:nvPicPr>
        <p:blipFill>
          <a:blip r:embed="rId2" cstate="print"/>
          <a:srcRect/>
          <a:stretch>
            <a:fillRect/>
          </a:stretch>
        </p:blipFill>
        <p:spPr bwMode="auto">
          <a:xfrm>
            <a:off x="2514600" y="1447800"/>
            <a:ext cx="7635658"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905"/>
            <a:ext cx="10515600" cy="1325563"/>
          </a:xfrm>
        </p:spPr>
        <p:txBody>
          <a:bodyPr/>
          <a:lstStyle/>
          <a:p>
            <a:r>
              <a:rPr lang="en-US" dirty="0"/>
              <a:t>Module Relations in UML</a:t>
            </a:r>
          </a:p>
        </p:txBody>
      </p:sp>
      <p:pic>
        <p:nvPicPr>
          <p:cNvPr id="3074" name="Picture 2"/>
          <p:cNvPicPr>
            <a:picLocks noChangeAspect="1" noChangeArrowheads="1"/>
          </p:cNvPicPr>
          <p:nvPr/>
        </p:nvPicPr>
        <p:blipFill>
          <a:blip r:embed="rId2" cstate="print"/>
          <a:srcRect/>
          <a:stretch>
            <a:fillRect/>
          </a:stretch>
        </p:blipFill>
        <p:spPr bwMode="auto">
          <a:xfrm>
            <a:off x="2781300" y="1063623"/>
            <a:ext cx="6629400" cy="53951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Component-and-connector Views</a:t>
            </a:r>
          </a:p>
        </p:txBody>
      </p:sp>
      <p:sp>
        <p:nvSpPr>
          <p:cNvPr id="3" name="Content Placeholder 2"/>
          <p:cNvSpPr>
            <a:spLocks noGrp="1"/>
          </p:cNvSpPr>
          <p:nvPr>
            <p:ph idx="1"/>
          </p:nvPr>
        </p:nvSpPr>
        <p:spPr/>
        <p:txBody>
          <a:bodyPr/>
          <a:lstStyle/>
          <a:p>
            <a:r>
              <a:rPr lang="en-US" dirty="0"/>
              <a:t>Component-and-connector views show elements that have some runtime presence such as processes, objects, clients, and servers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dirty="0"/>
              <a:t>Component-and-connector Views</a:t>
            </a:r>
          </a:p>
        </p:txBody>
      </p:sp>
      <p:grpSp>
        <p:nvGrpSpPr>
          <p:cNvPr id="3" name="Group 6"/>
          <p:cNvGrpSpPr/>
          <p:nvPr/>
        </p:nvGrpSpPr>
        <p:grpSpPr>
          <a:xfrm>
            <a:off x="1866900" y="1010714"/>
            <a:ext cx="8458200" cy="5528198"/>
            <a:chOff x="381000" y="838200"/>
            <a:chExt cx="8458200" cy="5528198"/>
          </a:xfrm>
        </p:grpSpPr>
        <p:pic>
          <p:nvPicPr>
            <p:cNvPr id="5122" name="Picture 2"/>
            <p:cNvPicPr>
              <a:picLocks noChangeAspect="1" noChangeArrowheads="1"/>
            </p:cNvPicPr>
            <p:nvPr/>
          </p:nvPicPr>
          <p:blipFill>
            <a:blip r:embed="rId2" cstate="print"/>
            <a:srcRect/>
            <a:stretch>
              <a:fillRect/>
            </a:stretch>
          </p:blipFill>
          <p:spPr bwMode="auto">
            <a:xfrm>
              <a:off x="381000" y="838200"/>
              <a:ext cx="8458200" cy="436890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381000" y="5105400"/>
              <a:ext cx="8077200" cy="1260998"/>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C&amp;C Views in UML</a:t>
            </a:r>
          </a:p>
        </p:txBody>
      </p:sp>
      <p:pic>
        <p:nvPicPr>
          <p:cNvPr id="6146" name="Picture 2"/>
          <p:cNvPicPr>
            <a:picLocks noChangeAspect="1" noChangeArrowheads="1"/>
          </p:cNvPicPr>
          <p:nvPr/>
        </p:nvPicPr>
        <p:blipFill>
          <a:blip r:embed="rId2" cstate="print"/>
          <a:srcRect/>
          <a:stretch>
            <a:fillRect/>
          </a:stretch>
        </p:blipFill>
        <p:spPr bwMode="auto">
          <a:xfrm>
            <a:off x="2209801" y="1524000"/>
            <a:ext cx="8001000" cy="36326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569"/>
            <a:ext cx="10515600" cy="1325563"/>
          </a:xfrm>
        </p:spPr>
        <p:txBody>
          <a:bodyPr/>
          <a:lstStyle/>
          <a:p>
            <a:r>
              <a:rPr lang="en-US" dirty="0"/>
              <a:t>Allocation Views</a:t>
            </a:r>
          </a:p>
        </p:txBody>
      </p:sp>
      <p:pic>
        <p:nvPicPr>
          <p:cNvPr id="7170" name="Picture 2"/>
          <p:cNvPicPr>
            <a:picLocks noChangeAspect="1" noChangeArrowheads="1"/>
          </p:cNvPicPr>
          <p:nvPr/>
        </p:nvPicPr>
        <p:blipFill>
          <a:blip r:embed="rId2" cstate="print"/>
          <a:srcRect/>
          <a:stretch>
            <a:fillRect/>
          </a:stretch>
        </p:blipFill>
        <p:spPr bwMode="auto">
          <a:xfrm>
            <a:off x="3048000" y="1018778"/>
            <a:ext cx="5867400" cy="5453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Allocation View Styles</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lstStyle/>
          <a:p>
            <a:r>
              <a:rPr lang="en-US" dirty="0"/>
              <a:t>Deployment</a:t>
            </a:r>
          </a:p>
          <a:p>
            <a:r>
              <a:rPr lang="en-US" dirty="0"/>
              <a:t>Install </a:t>
            </a:r>
          </a:p>
          <a:p>
            <a:r>
              <a:rPr lang="en-US" dirty="0"/>
              <a:t>Work assignment</a:t>
            </a: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Notations for Allocation Views</a:t>
            </a:r>
          </a:p>
        </p:txBody>
      </p:sp>
      <p:sp>
        <p:nvSpPr>
          <p:cNvPr id="3" name="Content Placeholder 2"/>
          <p:cNvSpPr>
            <a:spLocks noGrp="1"/>
          </p:cNvSpPr>
          <p:nvPr>
            <p:ph idx="1"/>
          </p:nvPr>
        </p:nvSpPr>
        <p:spPr/>
        <p:txBody>
          <a:bodyPr/>
          <a:lstStyle/>
          <a:p>
            <a:r>
              <a:rPr lang="en-US" dirty="0"/>
              <a:t>Informal notations</a:t>
            </a:r>
          </a:p>
          <a:p>
            <a:r>
              <a:rPr lang="en-US" dirty="0"/>
              <a:t>Formal notations</a:t>
            </a:r>
          </a:p>
          <a:p>
            <a:r>
              <a:rPr lang="en-US" dirty="0"/>
              <a:t>UML</a:t>
            </a:r>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346"/>
            <a:ext cx="10515600" cy="1325563"/>
          </a:xfrm>
        </p:spPr>
        <p:txBody>
          <a:bodyPr>
            <a:normAutofit/>
          </a:bodyPr>
          <a:lstStyle/>
          <a:p>
            <a:r>
              <a:rPr lang="en-US" dirty="0"/>
              <a:t>Informal notations</a:t>
            </a:r>
          </a:p>
        </p:txBody>
      </p:sp>
      <p:pic>
        <p:nvPicPr>
          <p:cNvPr id="8194" name="Picture 2"/>
          <p:cNvPicPr>
            <a:picLocks noChangeAspect="1" noChangeArrowheads="1"/>
          </p:cNvPicPr>
          <p:nvPr/>
        </p:nvPicPr>
        <p:blipFill>
          <a:blip r:embed="rId2" cstate="print"/>
          <a:srcRect/>
          <a:stretch>
            <a:fillRect/>
          </a:stretch>
        </p:blipFill>
        <p:spPr bwMode="auto">
          <a:xfrm>
            <a:off x="2667000" y="914401"/>
            <a:ext cx="7086600" cy="53641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Notations</a:t>
            </a:r>
          </a:p>
        </p:txBody>
      </p:sp>
      <p:pic>
        <p:nvPicPr>
          <p:cNvPr id="9218" name="Picture 2"/>
          <p:cNvPicPr>
            <a:picLocks noChangeAspect="1" noChangeArrowheads="1"/>
          </p:cNvPicPr>
          <p:nvPr/>
        </p:nvPicPr>
        <p:blipFill>
          <a:blip r:embed="rId2" cstate="print"/>
          <a:srcRect/>
          <a:stretch>
            <a:fillRect/>
          </a:stretch>
        </p:blipFill>
        <p:spPr bwMode="auto">
          <a:xfrm>
            <a:off x="2590800" y="1295400"/>
            <a:ext cx="6477000" cy="40436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Documenting Architectures</a:t>
            </a:r>
          </a:p>
        </p:txBody>
      </p:sp>
      <p:sp>
        <p:nvSpPr>
          <p:cNvPr id="10243" name="Content Placeholder 2"/>
          <p:cNvSpPr>
            <a:spLocks noGrp="1"/>
          </p:cNvSpPr>
          <p:nvPr>
            <p:ph idx="1"/>
          </p:nvPr>
        </p:nvSpPr>
        <p:spPr/>
        <p:txBody>
          <a:bodyPr>
            <a:normAutofit/>
          </a:bodyPr>
          <a:lstStyle/>
          <a:p>
            <a:r>
              <a:rPr lang="en-US" sz="3000" dirty="0"/>
              <a:t>Documenting an architecture is a matter of documenting the </a:t>
            </a:r>
            <a:r>
              <a:rPr lang="en-US" sz="3000" b="1" dirty="0"/>
              <a:t>relevant views </a:t>
            </a:r>
            <a:r>
              <a:rPr lang="en-US" sz="3000" dirty="0"/>
              <a:t>and then adding documentation that applies to more than one view.</a:t>
            </a:r>
          </a:p>
          <a:p>
            <a:r>
              <a:rPr lang="en-US" sz="3000" dirty="0"/>
              <a:t>The principle for documenting an architecture</a:t>
            </a:r>
          </a:p>
          <a:p>
            <a:pPr lvl="1"/>
            <a:r>
              <a:rPr lang="en-US" dirty="0"/>
              <a:t>Choosing the relevant views</a:t>
            </a:r>
          </a:p>
          <a:p>
            <a:pPr lvl="1"/>
            <a:r>
              <a:rPr lang="en-US" dirty="0"/>
              <a:t>Documenting a view</a:t>
            </a:r>
          </a:p>
          <a:p>
            <a:pPr lvl="1"/>
            <a:r>
              <a:rPr lang="en-US" dirty="0"/>
              <a:t>Documenting information that applies to more than one view</a:t>
            </a:r>
          </a:p>
          <a:p>
            <a:pPr lvl="1"/>
            <a:endParaRPr lang="en-US" sz="26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Views</a:t>
            </a:r>
          </a:p>
        </p:txBody>
      </p:sp>
      <p:sp>
        <p:nvSpPr>
          <p:cNvPr id="3" name="Content Placeholder 2"/>
          <p:cNvSpPr>
            <a:spLocks noGrp="1"/>
          </p:cNvSpPr>
          <p:nvPr>
            <p:ph idx="1"/>
          </p:nvPr>
        </p:nvSpPr>
        <p:spPr/>
        <p:txBody>
          <a:bodyPr>
            <a:normAutofit/>
          </a:bodyPr>
          <a:lstStyle/>
          <a:p>
            <a:r>
              <a:rPr lang="en-US" dirty="0"/>
              <a:t>Determine which views are required, when to create them, and how much detail to include</a:t>
            </a:r>
          </a:p>
          <a:p>
            <a:r>
              <a:rPr lang="en-US" dirty="0"/>
              <a:t>Information needed</a:t>
            </a:r>
          </a:p>
          <a:p>
            <a:pPr lvl="1"/>
            <a:r>
              <a:rPr lang="en-US" dirty="0"/>
              <a:t>What people, and with what skills, are available</a:t>
            </a:r>
          </a:p>
          <a:p>
            <a:pPr lvl="1"/>
            <a:r>
              <a:rPr lang="en-US" dirty="0"/>
              <a:t>With which standards you have to comply</a:t>
            </a:r>
          </a:p>
          <a:p>
            <a:pPr lvl="1"/>
            <a:r>
              <a:rPr lang="en-US" dirty="0"/>
              <a:t>What budget is on hand</a:t>
            </a:r>
          </a:p>
          <a:p>
            <a:pPr lvl="1"/>
            <a:r>
              <a:rPr lang="en-US" dirty="0"/>
              <a:t>What the schedule is</a:t>
            </a:r>
          </a:p>
          <a:p>
            <a:pPr lvl="1"/>
            <a:r>
              <a:rPr lang="en-US" dirty="0"/>
              <a:t>What the information needs of the important stakeholders are</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322"/>
            <a:ext cx="10515600" cy="1325563"/>
          </a:xfrm>
        </p:spPr>
        <p:txBody>
          <a:bodyPr/>
          <a:lstStyle/>
          <a:p>
            <a:r>
              <a:rPr lang="en-US" dirty="0"/>
              <a:t>Summary of needs </a:t>
            </a:r>
          </a:p>
        </p:txBody>
      </p:sp>
      <p:pic>
        <p:nvPicPr>
          <p:cNvPr id="14338" name="Picture 2"/>
          <p:cNvPicPr>
            <a:picLocks noChangeAspect="1" noChangeArrowheads="1"/>
          </p:cNvPicPr>
          <p:nvPr/>
        </p:nvPicPr>
        <p:blipFill>
          <a:blip r:embed="rId2" cstate="print"/>
          <a:srcRect/>
          <a:stretch>
            <a:fillRect/>
          </a:stretch>
        </p:blipFill>
        <p:spPr bwMode="auto">
          <a:xfrm>
            <a:off x="2362200" y="1030126"/>
            <a:ext cx="7620000" cy="548933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dirty="0"/>
              <a:t>Documenting a View</a:t>
            </a:r>
          </a:p>
        </p:txBody>
      </p:sp>
      <p:sp>
        <p:nvSpPr>
          <p:cNvPr id="13315" name="Content Placeholder 2"/>
          <p:cNvSpPr>
            <a:spLocks noGrp="1"/>
          </p:cNvSpPr>
          <p:nvPr>
            <p:ph idx="1"/>
          </p:nvPr>
        </p:nvSpPr>
        <p:spPr/>
        <p:txBody>
          <a:bodyPr>
            <a:normAutofit/>
          </a:bodyPr>
          <a:lstStyle/>
          <a:p>
            <a:r>
              <a:rPr lang="en-US" dirty="0"/>
              <a:t>A primary presentation, usually graphical, that depicts the </a:t>
            </a:r>
            <a:r>
              <a:rPr lang="en-US" b="1" dirty="0"/>
              <a:t>primary elements and relations of the view</a:t>
            </a:r>
          </a:p>
          <a:p>
            <a:r>
              <a:rPr lang="en-US" dirty="0"/>
              <a:t>An element catalog that explains and defines the </a:t>
            </a:r>
            <a:r>
              <a:rPr lang="en-US" b="1" dirty="0"/>
              <a:t>elements shown in the view and lists their properties</a:t>
            </a:r>
          </a:p>
          <a:p>
            <a:r>
              <a:rPr lang="en-US" dirty="0"/>
              <a:t>A context diagram shows how the system or portion of the system depicted in this view </a:t>
            </a:r>
            <a:r>
              <a:rPr lang="en-US" b="1" dirty="0"/>
              <a:t>relates to its environment</a:t>
            </a:r>
          </a:p>
          <a:p>
            <a:r>
              <a:rPr lang="en-US" dirty="0"/>
              <a:t>A variability guide explaining </a:t>
            </a:r>
            <a:r>
              <a:rPr lang="en-US" b="1" dirty="0"/>
              <a:t>any variation points </a:t>
            </a:r>
            <a:r>
              <a:rPr lang="en-US" dirty="0"/>
              <a:t>that are a part of the architecture shown in this view</a:t>
            </a:r>
          </a:p>
          <a:p>
            <a:r>
              <a:rPr lang="en-US" dirty="0"/>
              <a:t>Rationale explains </a:t>
            </a:r>
            <a:r>
              <a:rPr lang="en-US" b="1" dirty="0"/>
              <a:t>why</a:t>
            </a:r>
            <a:r>
              <a:rPr lang="en-US" dirty="0"/>
              <a:t> the design is as it is</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Documentation across views</a:t>
            </a:r>
          </a:p>
        </p:txBody>
      </p:sp>
      <p:sp>
        <p:nvSpPr>
          <p:cNvPr id="3" name="Content Placeholder 2"/>
          <p:cNvSpPr>
            <a:spLocks noGrp="1"/>
          </p:cNvSpPr>
          <p:nvPr>
            <p:ph idx="1"/>
          </p:nvPr>
        </p:nvSpPr>
        <p:spPr/>
        <p:txBody>
          <a:bodyPr>
            <a:normAutofit/>
          </a:bodyPr>
          <a:lstStyle/>
          <a:p>
            <a:r>
              <a:rPr lang="en-US" dirty="0"/>
              <a:t>An introduction to the entire package, including a reader’s guide that helps a stakeholder find a desired piece of information quickly</a:t>
            </a:r>
          </a:p>
          <a:p>
            <a:r>
              <a:rPr lang="en-US" dirty="0"/>
              <a:t>Information describing how the views relate to one another, and to the system as a whole</a:t>
            </a:r>
          </a:p>
          <a:p>
            <a:r>
              <a:rPr lang="en-US" dirty="0"/>
              <a:t>Constraints and rationale for the overall architecture</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Seven Rules for Sound Documentation</a:t>
            </a:r>
          </a:p>
        </p:txBody>
      </p:sp>
      <p:sp>
        <p:nvSpPr>
          <p:cNvPr id="3" name="Content Placeholder 2"/>
          <p:cNvSpPr>
            <a:spLocks noGrp="1"/>
          </p:cNvSpPr>
          <p:nvPr>
            <p:ph idx="1"/>
          </p:nvPr>
        </p:nvSpPr>
        <p:spPr/>
        <p:txBody>
          <a:bodyPr>
            <a:normAutofit fontScale="92500"/>
          </a:bodyPr>
          <a:lstStyle/>
          <a:p>
            <a:pPr marL="514350" indent="-514350">
              <a:buFont typeface="+mj-lt"/>
              <a:buAutoNum type="arabicPeriod"/>
            </a:pPr>
            <a:r>
              <a:rPr lang="en-US" dirty="0"/>
              <a:t>Write documentation from the reader’s point of view</a:t>
            </a:r>
          </a:p>
          <a:p>
            <a:pPr marL="971550" lvl="1" indent="-514350"/>
            <a:r>
              <a:rPr lang="en-US" dirty="0"/>
              <a:t>Find out who your readers are, what they know, and what they expect of the document.</a:t>
            </a:r>
          </a:p>
          <a:p>
            <a:pPr marL="971550" lvl="1" indent="-514350"/>
            <a:r>
              <a:rPr lang="en-US" dirty="0"/>
              <a:t>Avoid unnecessary insider jargon</a:t>
            </a:r>
          </a:p>
          <a:p>
            <a:pPr marL="514350" indent="-514350">
              <a:buFont typeface="+mj-lt"/>
              <a:buAutoNum type="arabicPeriod"/>
            </a:pPr>
            <a:r>
              <a:rPr lang="en-US" dirty="0"/>
              <a:t>Avoid unnecessary repetition</a:t>
            </a:r>
          </a:p>
          <a:p>
            <a:pPr marL="514350" indent="-514350">
              <a:buFont typeface="+mj-lt"/>
              <a:buAutoNum type="arabicPeriod"/>
            </a:pPr>
            <a:r>
              <a:rPr lang="en-US" dirty="0"/>
              <a:t>Avoid ambiguity (explain your notation)</a:t>
            </a:r>
          </a:p>
          <a:p>
            <a:pPr marL="514350" indent="-514350">
              <a:buFont typeface="+mj-lt"/>
              <a:buAutoNum type="arabicPeriod"/>
            </a:pPr>
            <a:r>
              <a:rPr lang="en-US" dirty="0"/>
              <a:t>Use a standard organization</a:t>
            </a:r>
          </a:p>
          <a:p>
            <a:pPr lvl="1"/>
            <a:r>
              <a:rPr lang="en-US" dirty="0"/>
              <a:t>It helps the reader navigate the document and find specific information quickly</a:t>
            </a:r>
          </a:p>
          <a:p>
            <a:pPr lvl="1"/>
            <a:r>
              <a:rPr lang="en-US" dirty="0"/>
              <a:t>It also helps the document writer plan and organize the contents.</a:t>
            </a:r>
          </a:p>
          <a:p>
            <a:pPr lvl="1"/>
            <a:r>
              <a:rPr lang="en-US" dirty="0"/>
              <a:t>It reveals what work remains to be done by the number of sections labeled “TBD”</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Seven Rules for Sound Documentation</a:t>
            </a:r>
          </a:p>
        </p:txBody>
      </p:sp>
      <p:sp>
        <p:nvSpPr>
          <p:cNvPr id="3" name="Content Placeholder 2"/>
          <p:cNvSpPr>
            <a:spLocks noGrp="1"/>
          </p:cNvSpPr>
          <p:nvPr>
            <p:ph idx="1"/>
          </p:nvPr>
        </p:nvSpPr>
        <p:spPr/>
        <p:txBody>
          <a:bodyPr/>
          <a:lstStyle/>
          <a:p>
            <a:pPr marL="514350" indent="-514350">
              <a:buFont typeface="+mj-lt"/>
              <a:buAutoNum type="arabicPeriod" startAt="5"/>
            </a:pPr>
            <a:r>
              <a:rPr lang="en-US" dirty="0"/>
              <a:t>Record rationale</a:t>
            </a:r>
          </a:p>
          <a:p>
            <a:pPr marL="514350" indent="-514350">
              <a:buFont typeface="+mj-lt"/>
              <a:buAutoNum type="arabicPeriod" startAt="5"/>
            </a:pPr>
            <a:r>
              <a:rPr lang="en-US" dirty="0"/>
              <a:t>Keep documentation current but not too current</a:t>
            </a:r>
          </a:p>
          <a:p>
            <a:pPr marL="514350" indent="-514350">
              <a:buFont typeface="+mj-lt"/>
              <a:buAutoNum type="arabicPeriod" startAt="5"/>
            </a:pPr>
            <a:r>
              <a:rPr lang="en-US" dirty="0"/>
              <a:t>Review documentation for fitness of purpose</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Uses of documentations</a:t>
            </a:r>
          </a:p>
          <a:p>
            <a:r>
              <a:rPr lang="en-US" dirty="0"/>
              <a:t>Views</a:t>
            </a:r>
          </a:p>
          <a:p>
            <a:r>
              <a:rPr lang="en-US" dirty="0"/>
              <a:t>Categorizes of views</a:t>
            </a:r>
          </a:p>
          <a:p>
            <a:r>
              <a:rPr lang="en-US" dirty="0"/>
              <a:t>Stakeholder needs</a:t>
            </a:r>
          </a:p>
          <a:p>
            <a:r>
              <a:rPr lang="en-US" dirty="0"/>
              <a:t>Seven rules for document  </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Architecture, Implementation, and Testing</a:t>
            </a:r>
          </a:p>
        </p:txBody>
      </p:sp>
      <p:sp>
        <p:nvSpPr>
          <p:cNvPr id="3" name="Content Placeholder 2"/>
          <p:cNvSpPr>
            <a:spLocks noGrp="1"/>
          </p:cNvSpPr>
          <p:nvPr>
            <p:ph idx="1"/>
          </p:nvPr>
        </p:nvSpPr>
        <p:spPr/>
        <p:txBody>
          <a:bodyPr/>
          <a:lstStyle/>
          <a:p>
            <a:r>
              <a:rPr lang="en-US" sz="3200" dirty="0"/>
              <a:t>Architecture and Implementation </a:t>
            </a:r>
          </a:p>
          <a:p>
            <a:r>
              <a:rPr lang="en-US" sz="3200" dirty="0"/>
              <a:t>Architecture and Testing </a:t>
            </a:r>
          </a:p>
          <a:p>
            <a:r>
              <a:rPr lang="en-US" sz="3200" dirty="0"/>
              <a:t>Summary</a:t>
            </a:r>
          </a:p>
        </p:txBody>
      </p:sp>
    </p:spTree>
    <p:extLst>
      <p:ext uri="{BB962C8B-B14F-4D97-AF65-F5344CB8AC3E}">
        <p14:creationId xmlns:p14="http://schemas.microsoft.com/office/powerpoint/2010/main" val="229394080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 and Implementation</a:t>
            </a:r>
          </a:p>
        </p:txBody>
      </p:sp>
      <p:sp>
        <p:nvSpPr>
          <p:cNvPr id="3" name="Content Placeholder 2"/>
          <p:cNvSpPr>
            <a:spLocks noGrp="1"/>
          </p:cNvSpPr>
          <p:nvPr>
            <p:ph idx="1"/>
          </p:nvPr>
        </p:nvSpPr>
        <p:spPr/>
        <p:txBody>
          <a:bodyPr/>
          <a:lstStyle/>
          <a:p>
            <a:r>
              <a:rPr lang="en-US" dirty="0"/>
              <a:t>Four techniques to help keep the code and the architecture consistent:</a:t>
            </a:r>
          </a:p>
          <a:p>
            <a:pPr lvl="1"/>
            <a:r>
              <a:rPr lang="en-US" dirty="0"/>
              <a:t>Embedding the design in the code</a:t>
            </a:r>
          </a:p>
          <a:p>
            <a:pPr lvl="1"/>
            <a:r>
              <a:rPr lang="en-US" dirty="0"/>
              <a:t>Frameworks</a:t>
            </a:r>
          </a:p>
          <a:p>
            <a:pPr lvl="1"/>
            <a:r>
              <a:rPr lang="en-US" dirty="0"/>
              <a:t>Code templates</a:t>
            </a:r>
          </a:p>
          <a:p>
            <a:pPr lvl="1"/>
            <a:r>
              <a:rPr lang="en-US" dirty="0"/>
              <a:t>Keeping code and architecture consistent (i.e. avoiding “architecture erosion”)</a:t>
            </a:r>
          </a:p>
        </p:txBody>
      </p:sp>
    </p:spTree>
    <p:extLst>
      <p:ext uri="{BB962C8B-B14F-4D97-AF65-F5344CB8AC3E}">
        <p14:creationId xmlns:p14="http://schemas.microsoft.com/office/powerpoint/2010/main" val="65341575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eaLnBrk="1" latinLnBrk="0" hangingPunct="1"/>
            <a:r>
              <a:rPr lang="en-US" dirty="0"/>
              <a:t>Embedding the Design in the Code</a:t>
            </a:r>
          </a:p>
        </p:txBody>
      </p:sp>
      <p:sp>
        <p:nvSpPr>
          <p:cNvPr id="3" name="Content Placeholder 2"/>
          <p:cNvSpPr>
            <a:spLocks noGrp="1"/>
          </p:cNvSpPr>
          <p:nvPr>
            <p:ph idx="1"/>
          </p:nvPr>
        </p:nvSpPr>
        <p:spPr/>
        <p:txBody>
          <a:bodyPr>
            <a:normAutofit/>
          </a:bodyPr>
          <a:lstStyle/>
          <a:p>
            <a:r>
              <a:rPr lang="en-US" dirty="0"/>
              <a:t>Architecture</a:t>
            </a:r>
            <a:r>
              <a:rPr lang="en-US" baseline="0" dirty="0"/>
              <a:t> acts as a blueprint for implementation. This means</a:t>
            </a:r>
          </a:p>
          <a:p>
            <a:pPr lvl="1"/>
            <a:r>
              <a:rPr lang="en-US" dirty="0"/>
              <a:t>Implementers know what architectural structure they are implementing.</a:t>
            </a:r>
            <a:r>
              <a:rPr lang="en-US" baseline="0" dirty="0"/>
              <a:t> E.g. layer, pub/sub, MVC</a:t>
            </a:r>
            <a:r>
              <a:rPr lang="en-US" dirty="0"/>
              <a:t>, broker, </a:t>
            </a:r>
            <a:r>
              <a:rPr lang="en-US" baseline="0" dirty="0"/>
              <a:t>…</a:t>
            </a:r>
          </a:p>
          <a:p>
            <a:pPr lvl="1"/>
            <a:r>
              <a:rPr lang="en-US" dirty="0"/>
              <a:t>They can document the </a:t>
            </a:r>
            <a:r>
              <a:rPr lang="en-US" b="1" dirty="0"/>
              <a:t>architectural structure in the code</a:t>
            </a:r>
            <a:r>
              <a:rPr lang="en-US" b="1" baseline="0" dirty="0"/>
              <a:t> as comments</a:t>
            </a:r>
            <a:r>
              <a:rPr lang="en-US" baseline="0" dirty="0"/>
              <a:t>. Then anyone picking up the code will know some of the constraints.</a:t>
            </a:r>
          </a:p>
          <a:p>
            <a:pPr lvl="1"/>
            <a:r>
              <a:rPr lang="en-US" baseline="0" dirty="0"/>
              <a:t>Projects should have conventions about how to do this. Then tools can automatically relate the code and the architecture.</a:t>
            </a:r>
            <a:endParaRPr lang="en-US" dirty="0"/>
          </a:p>
        </p:txBody>
      </p:sp>
    </p:spTree>
    <p:extLst>
      <p:ext uri="{BB962C8B-B14F-4D97-AF65-F5344CB8AC3E}">
        <p14:creationId xmlns:p14="http://schemas.microsoft.com/office/powerpoint/2010/main" val="258828186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eaLnBrk="1" latinLnBrk="0" hangingPunct="1"/>
            <a:r>
              <a:rPr lang="en-US" dirty="0"/>
              <a:t>Frameworks</a:t>
            </a:r>
          </a:p>
        </p:txBody>
      </p:sp>
      <p:sp>
        <p:nvSpPr>
          <p:cNvPr id="3" name="Content Placeholder 2"/>
          <p:cNvSpPr>
            <a:spLocks noGrp="1"/>
          </p:cNvSpPr>
          <p:nvPr>
            <p:ph idx="1"/>
          </p:nvPr>
        </p:nvSpPr>
        <p:spPr/>
        <p:txBody>
          <a:bodyPr>
            <a:normAutofit/>
          </a:bodyPr>
          <a:lstStyle/>
          <a:p>
            <a:r>
              <a:rPr lang="en-US" dirty="0"/>
              <a:t>A framework is a reusable set of classes organized around a particular theme. </a:t>
            </a:r>
          </a:p>
          <a:p>
            <a:r>
              <a:rPr lang="en-US" dirty="0"/>
              <a:t>A programmer uses the services provided by a framework.</a:t>
            </a:r>
          </a:p>
          <a:p>
            <a:r>
              <a:rPr lang="en-US" dirty="0"/>
              <a:t>Examples are</a:t>
            </a:r>
          </a:p>
          <a:p>
            <a:pPr lvl="1"/>
            <a:r>
              <a:rPr lang="en-US" dirty="0"/>
              <a:t>Ruby on Rails is based on MVC is designed for web applications. It offers the ability to gather information from the web server, talk to or query the database, and render templates.</a:t>
            </a:r>
          </a:p>
          <a:p>
            <a:pPr lvl="1"/>
            <a:r>
              <a:rPr lang="en-US" dirty="0"/>
              <a:t>AUTOSAR is designed for the computers inside of automobiles.</a:t>
            </a:r>
          </a:p>
        </p:txBody>
      </p:sp>
    </p:spTree>
    <p:extLst>
      <p:ext uri="{BB962C8B-B14F-4D97-AF65-F5344CB8AC3E}">
        <p14:creationId xmlns:p14="http://schemas.microsoft.com/office/powerpoint/2010/main" val="489997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3736" y="681037"/>
            <a:ext cx="7715200" cy="778098"/>
          </a:xfrm>
        </p:spPr>
        <p:txBody>
          <a:bodyPr>
            <a:normAutofit/>
          </a:bodyPr>
          <a:lstStyle/>
          <a:p>
            <a:pPr rtl="0" eaLnBrk="1" latinLnBrk="0" hangingPunct="1"/>
            <a:r>
              <a:rPr lang="en-US" dirty="0"/>
              <a:t>Code Templates</a:t>
            </a:r>
          </a:p>
        </p:txBody>
      </p:sp>
      <p:sp>
        <p:nvSpPr>
          <p:cNvPr id="3" name="Content Placeholder 2"/>
          <p:cNvSpPr>
            <a:spLocks noGrp="1"/>
          </p:cNvSpPr>
          <p:nvPr>
            <p:ph idx="1"/>
          </p:nvPr>
        </p:nvSpPr>
        <p:spPr/>
        <p:txBody>
          <a:bodyPr>
            <a:normAutofit fontScale="85000" lnSpcReduction="20000"/>
          </a:bodyPr>
          <a:lstStyle/>
          <a:p>
            <a:r>
              <a:rPr lang="en-US" sz="4000" dirty="0"/>
              <a:t>A code template is collection of code within which the programmer provides application specific portions.</a:t>
            </a:r>
          </a:p>
          <a:p>
            <a:r>
              <a:rPr lang="en-US" sz="4000" dirty="0"/>
              <a:t>The example below implements a failover protocol:</a:t>
            </a:r>
          </a:p>
          <a:p>
            <a:pPr marL="400050" lvl="1" indent="0">
              <a:buNone/>
            </a:pPr>
            <a:r>
              <a:rPr lang="en-US" sz="3600" i="1" dirty="0"/>
              <a:t>In the event that a failure is detected in a critical-application component, a switchover occurs as follows:</a:t>
            </a:r>
          </a:p>
          <a:p>
            <a:pPr marL="914400" lvl="1" indent="-514350">
              <a:buFont typeface="+mj-lt"/>
              <a:buAutoNum type="arabicPeriod"/>
            </a:pPr>
            <a:r>
              <a:rPr lang="en-US" dirty="0"/>
              <a:t>A secondary copy, executing in parallel in background on a different processor,</a:t>
            </a:r>
            <a:r>
              <a:rPr lang="en-US" baseline="0" dirty="0"/>
              <a:t> </a:t>
            </a:r>
            <a:r>
              <a:rPr lang="en-US" dirty="0"/>
              <a:t>is promoted to the new primary.</a:t>
            </a:r>
          </a:p>
          <a:p>
            <a:pPr marL="914400" lvl="1" indent="-514350">
              <a:buFont typeface="+mj-lt"/>
              <a:buAutoNum type="arabicPeriod"/>
            </a:pPr>
            <a:r>
              <a:rPr lang="en-US" dirty="0"/>
              <a:t>The new primary reconstitutes with the application’s clients </a:t>
            </a:r>
          </a:p>
          <a:p>
            <a:pPr marL="914400" lvl="1" indent="-514350">
              <a:buFont typeface="+mj-lt"/>
              <a:buAutoNum type="arabicPeriod"/>
            </a:pPr>
            <a:r>
              <a:rPr lang="en-US" dirty="0"/>
              <a:t>A new secondary is started to serve as a backup for the new primary. </a:t>
            </a:r>
          </a:p>
          <a:p>
            <a:pPr marL="914400" lvl="1" indent="-514350">
              <a:buFont typeface="+mj-lt"/>
              <a:buAutoNum type="arabicPeriod"/>
            </a:pPr>
            <a:r>
              <a:rPr lang="en-US" dirty="0"/>
              <a:t>The newly started secondary announces itself to the new primary.</a:t>
            </a:r>
          </a:p>
          <a:p>
            <a:pPr marL="400050" lvl="1" indent="0">
              <a:buNone/>
            </a:pPr>
            <a:r>
              <a:rPr lang="en-US" sz="3400" i="1" dirty="0"/>
              <a:t>If failure is detected within a secondary, a new one is started on some other processor. </a:t>
            </a:r>
          </a:p>
        </p:txBody>
      </p:sp>
    </p:spTree>
    <p:extLst>
      <p:ext uri="{BB962C8B-B14F-4D97-AF65-F5344CB8AC3E}">
        <p14:creationId xmlns:p14="http://schemas.microsoft.com/office/powerpoint/2010/main" val="40921107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Process:</a:t>
            </a:r>
          </a:p>
          <a:p>
            <a:pPr lvl="1"/>
            <a:r>
              <a:rPr lang="en-US" baseline="0" dirty="0"/>
              <a:t>Use the code template for every critical component that must have a hot standby.</a:t>
            </a:r>
          </a:p>
          <a:p>
            <a:pPr lvl="1"/>
            <a:r>
              <a:rPr lang="en-US" baseline="0" dirty="0"/>
              <a:t>Place application specific code in fixed places within the template.</a:t>
            </a:r>
          </a:p>
        </p:txBody>
      </p:sp>
      <p:sp>
        <p:nvSpPr>
          <p:cNvPr id="6" name="Title 1"/>
          <p:cNvSpPr>
            <a:spLocks noGrp="1"/>
          </p:cNvSpPr>
          <p:nvPr>
            <p:ph type="title"/>
          </p:nvPr>
        </p:nvSpPr>
        <p:spPr>
          <a:xfrm>
            <a:off x="2509667" y="681037"/>
            <a:ext cx="7715200" cy="778098"/>
          </a:xfrm>
        </p:spPr>
        <p:txBody>
          <a:bodyPr>
            <a:normAutofit/>
          </a:bodyPr>
          <a:lstStyle/>
          <a:p>
            <a:pPr rtl="0" eaLnBrk="1" latinLnBrk="0" hangingPunct="1"/>
            <a:r>
              <a:rPr lang="en-US" dirty="0"/>
              <a:t>Code Templates</a:t>
            </a:r>
          </a:p>
        </p:txBody>
      </p:sp>
    </p:spTree>
    <p:extLst>
      <p:ext uri="{BB962C8B-B14F-4D97-AF65-F5344CB8AC3E}">
        <p14:creationId xmlns:p14="http://schemas.microsoft.com/office/powerpoint/2010/main" val="5015721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Code Templates</a:t>
            </a:r>
          </a:p>
        </p:txBody>
      </p:sp>
      <p:sp>
        <p:nvSpPr>
          <p:cNvPr id="3" name="Content Placeholder 2"/>
          <p:cNvSpPr>
            <a:spLocks noGrp="1"/>
          </p:cNvSpPr>
          <p:nvPr>
            <p:ph idx="1"/>
          </p:nvPr>
        </p:nvSpPr>
        <p:spPr/>
        <p:txBody>
          <a:bodyPr/>
          <a:lstStyle/>
          <a:p>
            <a:r>
              <a:rPr lang="en-US" dirty="0"/>
              <a:t>Components</a:t>
            </a:r>
            <a:r>
              <a:rPr lang="en-US" baseline="0" dirty="0"/>
              <a:t> with similar properties behave in a similar fashion.</a:t>
            </a:r>
          </a:p>
          <a:p>
            <a:r>
              <a:rPr lang="en-US" baseline="0" dirty="0"/>
              <a:t>Template only needs to be debugged once</a:t>
            </a:r>
            <a:r>
              <a:rPr lang="en-US" baseline="0" dirty="0" smtClean="0"/>
              <a:t>.</a:t>
            </a:r>
            <a:endParaRPr lang="en-US" baseline="0" dirty="0"/>
          </a:p>
        </p:txBody>
      </p:sp>
    </p:spTree>
    <p:extLst>
      <p:ext uri="{BB962C8B-B14F-4D97-AF65-F5344CB8AC3E}">
        <p14:creationId xmlns:p14="http://schemas.microsoft.com/office/powerpoint/2010/main" val="17208992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Keeping Code and Architecture Consistent </a:t>
            </a:r>
          </a:p>
        </p:txBody>
      </p:sp>
      <p:sp>
        <p:nvSpPr>
          <p:cNvPr id="3" name="Content Placeholder 2"/>
          <p:cNvSpPr>
            <a:spLocks noGrp="1"/>
          </p:cNvSpPr>
          <p:nvPr>
            <p:ph idx="1"/>
          </p:nvPr>
        </p:nvSpPr>
        <p:spPr/>
        <p:txBody>
          <a:bodyPr/>
          <a:lstStyle/>
          <a:p>
            <a:pPr lvl="0" rtl="0" eaLnBrk="1" latinLnBrk="0" hangingPunct="1"/>
            <a:r>
              <a:rPr lang="en-US" dirty="0">
                <a:effectLst/>
              </a:rPr>
              <a:t>The implementation will drift away from the documented architecture.</a:t>
            </a:r>
          </a:p>
          <a:p>
            <a:pPr lvl="0" rtl="0" eaLnBrk="1" latinLnBrk="0" hangingPunct="1"/>
            <a:r>
              <a:rPr lang="en-US" dirty="0">
                <a:effectLst/>
              </a:rPr>
              <a:t>Implementers</a:t>
            </a:r>
            <a:r>
              <a:rPr lang="en-US" baseline="0" dirty="0">
                <a:effectLst/>
              </a:rPr>
              <a:t> may make decisions that are not consistent either with each other or with the architecture.</a:t>
            </a:r>
          </a:p>
          <a:p>
            <a:pPr lvl="0" rtl="0" eaLnBrk="1" latinLnBrk="0" hangingPunct="1"/>
            <a:r>
              <a:rPr lang="en-US" dirty="0"/>
              <a:t>The architecture may not have foreseen all eventualities that come up.</a:t>
            </a:r>
          </a:p>
        </p:txBody>
      </p:sp>
    </p:spTree>
    <p:extLst>
      <p:ext uri="{BB962C8B-B14F-4D97-AF65-F5344CB8AC3E}">
        <p14:creationId xmlns:p14="http://schemas.microsoft.com/office/powerpoint/2010/main" val="38234393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Preventing Architecture Erosion</a:t>
            </a:r>
          </a:p>
        </p:txBody>
      </p:sp>
      <p:sp>
        <p:nvSpPr>
          <p:cNvPr id="3" name="Content Placeholder 2"/>
          <p:cNvSpPr>
            <a:spLocks noGrp="1"/>
          </p:cNvSpPr>
          <p:nvPr>
            <p:ph idx="1"/>
          </p:nvPr>
        </p:nvSpPr>
        <p:spPr/>
        <p:txBody>
          <a:bodyPr/>
          <a:lstStyle/>
          <a:p>
            <a:pPr lvl="0" rtl="0" eaLnBrk="1" latinLnBrk="0" hangingPunct="1"/>
            <a:r>
              <a:rPr lang="en-US" dirty="0">
                <a:effectLst/>
              </a:rPr>
              <a:t>Use tools to enforce architectural</a:t>
            </a:r>
            <a:r>
              <a:rPr lang="en-US" baseline="0" dirty="0">
                <a:effectLst/>
              </a:rPr>
              <a:t> constraints.</a:t>
            </a:r>
          </a:p>
          <a:p>
            <a:pPr lvl="1" rtl="0" eaLnBrk="1" latinLnBrk="0" hangingPunct="1"/>
            <a:r>
              <a:rPr lang="en-US" baseline="0" dirty="0">
                <a:effectLst/>
              </a:rPr>
              <a:t>can have architecture rules added that are enforced during a build or check in.</a:t>
            </a:r>
          </a:p>
          <a:p>
            <a:pPr lvl="0" rtl="0" eaLnBrk="1" latinLnBrk="0" hangingPunct="1"/>
            <a:r>
              <a:rPr lang="en-US" dirty="0">
                <a:effectLst/>
              </a:rPr>
              <a:t>Mark documentation as out of date when </a:t>
            </a:r>
            <a:r>
              <a:rPr lang="en-US" b="1" dirty="0">
                <a:effectLst/>
              </a:rPr>
              <a:t>erosion occurs</a:t>
            </a:r>
            <a:r>
              <a:rPr lang="en-US" dirty="0">
                <a:effectLst/>
              </a:rPr>
              <a:t>. Will give more credence to remaining portion.</a:t>
            </a:r>
          </a:p>
          <a:p>
            <a:pPr lvl="0" rtl="0" eaLnBrk="1" latinLnBrk="0" hangingPunct="1"/>
            <a:r>
              <a:rPr lang="en-US" dirty="0">
                <a:effectLst/>
              </a:rPr>
              <a:t>Schedule documentation/code synchronization times.</a:t>
            </a:r>
          </a:p>
        </p:txBody>
      </p:sp>
    </p:spTree>
    <p:extLst>
      <p:ext uri="{BB962C8B-B14F-4D97-AF65-F5344CB8AC3E}">
        <p14:creationId xmlns:p14="http://schemas.microsoft.com/office/powerpoint/2010/main" val="6346164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and Testing</a:t>
            </a:r>
          </a:p>
        </p:txBody>
      </p:sp>
      <p:sp>
        <p:nvSpPr>
          <p:cNvPr id="3" name="Content Placeholder 2"/>
          <p:cNvSpPr>
            <a:spLocks noGrp="1"/>
          </p:cNvSpPr>
          <p:nvPr>
            <p:ph idx="1"/>
          </p:nvPr>
        </p:nvSpPr>
        <p:spPr/>
        <p:txBody>
          <a:bodyPr/>
          <a:lstStyle/>
          <a:p>
            <a:r>
              <a:rPr lang="en-US" dirty="0"/>
              <a:t>Unit test</a:t>
            </a:r>
          </a:p>
          <a:p>
            <a:r>
              <a:rPr lang="en-US" dirty="0"/>
              <a:t>Integration test</a:t>
            </a:r>
          </a:p>
          <a:p>
            <a:r>
              <a:rPr lang="en-US" dirty="0"/>
              <a:t>Network effects</a:t>
            </a:r>
          </a:p>
          <a:p>
            <a:r>
              <a:rPr lang="en-US" dirty="0"/>
              <a:t>Test activities </a:t>
            </a:r>
          </a:p>
        </p:txBody>
      </p:sp>
    </p:spTree>
    <p:extLst>
      <p:ext uri="{BB962C8B-B14F-4D97-AF65-F5344CB8AC3E}">
        <p14:creationId xmlns:p14="http://schemas.microsoft.com/office/powerpoint/2010/main" val="14103698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a:t>
            </a:r>
          </a:p>
        </p:txBody>
      </p:sp>
      <p:sp>
        <p:nvSpPr>
          <p:cNvPr id="3" name="Content Placeholder 2"/>
          <p:cNvSpPr>
            <a:spLocks noGrp="1"/>
          </p:cNvSpPr>
          <p:nvPr>
            <p:ph idx="1"/>
          </p:nvPr>
        </p:nvSpPr>
        <p:spPr/>
        <p:txBody>
          <a:bodyPr>
            <a:normAutofit lnSpcReduction="10000"/>
          </a:bodyPr>
          <a:lstStyle/>
          <a:p>
            <a:r>
              <a:rPr lang="en-US" dirty="0"/>
              <a:t>Architecture defines the </a:t>
            </a:r>
            <a:r>
              <a:rPr lang="en-US" b="1" dirty="0"/>
              <a:t>units that are to be tested</a:t>
            </a:r>
            <a:r>
              <a:rPr lang="en-US" dirty="0"/>
              <a:t>. They are components or modules.</a:t>
            </a:r>
          </a:p>
          <a:p>
            <a:r>
              <a:rPr lang="en-US" dirty="0"/>
              <a:t>Architecture defines the responsibilities and interactions of the units.</a:t>
            </a:r>
          </a:p>
          <a:p>
            <a:r>
              <a:rPr lang="en-US" dirty="0"/>
              <a:t>Test harness (</a:t>
            </a:r>
            <a:r>
              <a:rPr lang="en-US" sz="1800" b="0" i="0" dirty="0">
                <a:solidFill>
                  <a:srgbClr val="202124"/>
                </a:solidFill>
                <a:effectLst/>
                <a:latin typeface="arial" panose="020B0604020202020204" pitchFamily="34" charset="0"/>
              </a:rPr>
              <a:t>collection of software and test data </a:t>
            </a:r>
            <a:r>
              <a:rPr lang="en-US" dirty="0"/>
              <a:t>) will drive the element to be tested. The test harness can test:</a:t>
            </a:r>
          </a:p>
          <a:p>
            <a:pPr lvl="1"/>
            <a:r>
              <a:rPr lang="en-US" dirty="0"/>
              <a:t>Responsibilities for functional correctness</a:t>
            </a:r>
          </a:p>
          <a:p>
            <a:pPr lvl="1"/>
            <a:r>
              <a:rPr lang="en-US" dirty="0"/>
              <a:t>Performance through synthetic loads</a:t>
            </a:r>
          </a:p>
          <a:p>
            <a:pPr lvl="1"/>
            <a:r>
              <a:rPr lang="en-US" dirty="0"/>
              <a:t>Availability through fault injection. i.e. what happens if a component on which the component</a:t>
            </a:r>
            <a:r>
              <a:rPr lang="en-US" baseline="0" dirty="0"/>
              <a:t> being tested does not respond.</a:t>
            </a:r>
          </a:p>
          <a:p>
            <a:pPr lvl="0"/>
            <a:r>
              <a:rPr lang="en-US" baseline="0" dirty="0"/>
              <a:t>Modifiability requirements can also be tested by assigning changes to test teams.</a:t>
            </a:r>
          </a:p>
        </p:txBody>
      </p:sp>
    </p:spTree>
    <p:extLst>
      <p:ext uri="{BB962C8B-B14F-4D97-AF65-F5344CB8AC3E}">
        <p14:creationId xmlns:p14="http://schemas.microsoft.com/office/powerpoint/2010/main" val="39370773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Integration Test</a:t>
            </a:r>
          </a:p>
        </p:txBody>
      </p:sp>
      <p:sp>
        <p:nvSpPr>
          <p:cNvPr id="3" name="Content Placeholder 2"/>
          <p:cNvSpPr>
            <a:spLocks noGrp="1"/>
          </p:cNvSpPr>
          <p:nvPr>
            <p:ph idx="1"/>
          </p:nvPr>
        </p:nvSpPr>
        <p:spPr/>
        <p:txBody>
          <a:bodyPr/>
          <a:lstStyle/>
          <a:p>
            <a:r>
              <a:rPr lang="en-US" dirty="0"/>
              <a:t>As with unit test, integration test can test functionality,</a:t>
            </a:r>
            <a:r>
              <a:rPr lang="en-US" baseline="0" dirty="0"/>
              <a:t> performance, availability, and security.</a:t>
            </a:r>
          </a:p>
          <a:p>
            <a:r>
              <a:rPr lang="en-US" baseline="0" dirty="0"/>
              <a:t>Security can be tested by having the test harness execute various attack scenarios.</a:t>
            </a:r>
          </a:p>
          <a:p>
            <a:r>
              <a:rPr lang="en-US" baseline="0" dirty="0"/>
              <a:t>Systems may degrade after being run for a long time if resources are not freed</a:t>
            </a:r>
            <a:r>
              <a:rPr lang="en-US" dirty="0"/>
              <a:t> </a:t>
            </a:r>
            <a:r>
              <a:rPr lang="en-US" baseline="0" dirty="0"/>
              <a:t>or a configuration</a:t>
            </a:r>
            <a:r>
              <a:rPr lang="en-US" dirty="0"/>
              <a:t> is incorrectly specified. </a:t>
            </a:r>
          </a:p>
        </p:txBody>
      </p:sp>
    </p:spTree>
    <p:extLst>
      <p:ext uri="{BB962C8B-B14F-4D97-AF65-F5344CB8AC3E}">
        <p14:creationId xmlns:p14="http://schemas.microsoft.com/office/powerpoint/2010/main" val="30874591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062"/>
            <a:ext cx="10515600" cy="1325563"/>
          </a:xfrm>
        </p:spPr>
        <p:txBody>
          <a:bodyPr/>
          <a:lstStyle/>
          <a:p>
            <a:r>
              <a:rPr lang="en-US" dirty="0"/>
              <a:t>Network Effects</a:t>
            </a:r>
          </a:p>
        </p:txBody>
      </p:sp>
      <p:sp>
        <p:nvSpPr>
          <p:cNvPr id="3" name="Content Placeholder 2"/>
          <p:cNvSpPr>
            <a:spLocks noGrp="1"/>
          </p:cNvSpPr>
          <p:nvPr>
            <p:ph idx="1"/>
          </p:nvPr>
        </p:nvSpPr>
        <p:spPr>
          <a:xfrm>
            <a:off x="1981200" y="1196753"/>
            <a:ext cx="8229600" cy="4857403"/>
          </a:xfrm>
        </p:spPr>
        <p:txBody>
          <a:bodyPr>
            <a:noAutofit/>
          </a:bodyPr>
          <a:lstStyle/>
          <a:p>
            <a:pPr>
              <a:spcBef>
                <a:spcPts val="0"/>
              </a:spcBef>
            </a:pPr>
            <a:r>
              <a:rPr lang="en-US" sz="2600" dirty="0"/>
              <a:t>Suppose an error causes a 2% performance degradation.</a:t>
            </a:r>
          </a:p>
          <a:p>
            <a:pPr lvl="1">
              <a:spcBef>
                <a:spcPts val="0"/>
              </a:spcBef>
            </a:pPr>
            <a:r>
              <a:rPr lang="en-US" sz="2200" dirty="0"/>
              <a:t>This is within normal variation if using one server</a:t>
            </a:r>
          </a:p>
          <a:p>
            <a:pPr lvl="1">
              <a:spcBef>
                <a:spcPts val="0"/>
              </a:spcBef>
            </a:pPr>
            <a:r>
              <a:rPr lang="en-US" sz="2200" dirty="0"/>
              <a:t>May cause severe degradation if system is deployed to thousands of servers.</a:t>
            </a:r>
          </a:p>
          <a:p>
            <a:pPr>
              <a:spcBef>
                <a:spcPts val="0"/>
              </a:spcBef>
            </a:pPr>
            <a:r>
              <a:rPr lang="en-US" sz="2600" dirty="0"/>
              <a:t>Configuration errors are common during installation and can lead to network effects. i.e. routing a message through an intermediary rather than directly will introduce latency.</a:t>
            </a:r>
          </a:p>
          <a:p>
            <a:pPr>
              <a:spcBef>
                <a:spcPts val="0"/>
              </a:spcBef>
            </a:pPr>
            <a:r>
              <a:rPr lang="en-US" sz="2600" dirty="0"/>
              <a:t>Network effects are best found through self-aware systems, i.e. system monitors itself and makes values available externally.</a:t>
            </a:r>
          </a:p>
        </p:txBody>
      </p:sp>
    </p:spTree>
    <p:extLst>
      <p:ext uri="{BB962C8B-B14F-4D97-AF65-F5344CB8AC3E}">
        <p14:creationId xmlns:p14="http://schemas.microsoft.com/office/powerpoint/2010/main" val="6765322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Activities</a:t>
            </a:r>
          </a:p>
        </p:txBody>
      </p:sp>
      <p:sp>
        <p:nvSpPr>
          <p:cNvPr id="3" name="Content Placeholder 2"/>
          <p:cNvSpPr>
            <a:spLocks noGrp="1"/>
          </p:cNvSpPr>
          <p:nvPr>
            <p:ph idx="1"/>
          </p:nvPr>
        </p:nvSpPr>
        <p:spPr/>
        <p:txBody>
          <a:bodyPr>
            <a:normAutofit/>
          </a:bodyPr>
          <a:lstStyle/>
          <a:p>
            <a:r>
              <a:rPr lang="en-US" dirty="0"/>
              <a:t>The architect should be actively involved in</a:t>
            </a:r>
          </a:p>
          <a:p>
            <a:pPr lvl="1"/>
            <a:r>
              <a:rPr lang="en-US" b="1" dirty="0"/>
              <a:t>Test planning</a:t>
            </a:r>
            <a:r>
              <a:rPr lang="en-US" dirty="0"/>
              <a:t>, since the architect knows the sensitive areas of the system.</a:t>
            </a:r>
          </a:p>
          <a:p>
            <a:pPr lvl="1"/>
            <a:r>
              <a:rPr lang="en-US" b="1" dirty="0"/>
              <a:t>Test development</a:t>
            </a:r>
            <a:r>
              <a:rPr lang="en-US" dirty="0"/>
              <a:t>. Test</a:t>
            </a:r>
            <a:r>
              <a:rPr lang="en-US" baseline="0" dirty="0"/>
              <a:t> driven development is a technique where the next increment of the system is developed to satisfy a predetermined test.</a:t>
            </a:r>
          </a:p>
          <a:p>
            <a:pPr lvl="1"/>
            <a:r>
              <a:rPr lang="en-US" b="1" baseline="0" dirty="0"/>
              <a:t>Test interpretation.</a:t>
            </a:r>
            <a:r>
              <a:rPr lang="en-US" baseline="0" dirty="0"/>
              <a:t> The architect knows what various monitored values should be and is best equipped to interpret test results.</a:t>
            </a:r>
          </a:p>
          <a:p>
            <a:pPr lvl="1"/>
            <a:r>
              <a:rPr lang="en-US" b="1" baseline="0" dirty="0"/>
              <a:t>Test harness creation</a:t>
            </a:r>
            <a:r>
              <a:rPr lang="en-US" baseline="0" dirty="0"/>
              <a:t>. The test harness has to intimately interact with the system and this requires architecture knowledge. </a:t>
            </a:r>
          </a:p>
          <a:p>
            <a:pPr marL="457200" lvl="1" indent="0">
              <a:buNone/>
            </a:pPr>
            <a:r>
              <a:rPr lang="en-US" dirty="0"/>
              <a:t>- </a:t>
            </a:r>
            <a:r>
              <a:rPr lang="en-US" sz="1800" b="1" i="0" dirty="0">
                <a:solidFill>
                  <a:srgbClr val="202124"/>
                </a:solidFill>
                <a:effectLst/>
              </a:rPr>
              <a:t>a collection of software and test data used by developers to unit test software models during development</a:t>
            </a:r>
            <a:r>
              <a:rPr lang="en-US" sz="1800" b="0" i="0" dirty="0">
                <a:solidFill>
                  <a:srgbClr val="202124"/>
                </a:solidFill>
                <a:effectLst/>
              </a:rPr>
              <a:t>. </a:t>
            </a:r>
            <a:endParaRPr lang="en-US" baseline="0" dirty="0"/>
          </a:p>
        </p:txBody>
      </p:sp>
    </p:spTree>
    <p:extLst>
      <p:ext uri="{BB962C8B-B14F-4D97-AF65-F5344CB8AC3E}">
        <p14:creationId xmlns:p14="http://schemas.microsoft.com/office/powerpoint/2010/main" val="25801874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92500" lnSpcReduction="10000"/>
          </a:bodyPr>
          <a:lstStyle/>
          <a:p>
            <a:r>
              <a:rPr lang="en-US" dirty="0"/>
              <a:t>Implementation</a:t>
            </a:r>
          </a:p>
          <a:p>
            <a:pPr lvl="1"/>
            <a:r>
              <a:rPr lang="en-US" dirty="0"/>
              <a:t>Implementation</a:t>
            </a:r>
            <a:r>
              <a:rPr lang="en-US" baseline="0" dirty="0"/>
              <a:t> activities can embed architecture knowledge in the code</a:t>
            </a:r>
          </a:p>
          <a:p>
            <a:pPr lvl="1"/>
            <a:r>
              <a:rPr lang="en-US" baseline="0" dirty="0"/>
              <a:t>Templates can be used for critical sections that reoccur</a:t>
            </a:r>
          </a:p>
          <a:p>
            <a:pPr lvl="1" rtl="0" eaLnBrk="1" latinLnBrk="0" hangingPunct="1"/>
            <a:r>
              <a:rPr lang="en-US" sz="2800" dirty="0"/>
              <a:t>Architecture erosion can be prevented through use of tools and management processes</a:t>
            </a:r>
            <a:endParaRPr lang="en-US" baseline="0" dirty="0"/>
          </a:p>
          <a:p>
            <a:pPr rtl="0" eaLnBrk="1" latinLnBrk="0" hangingPunct="1"/>
            <a:r>
              <a:rPr lang="en-US" sz="3200" dirty="0"/>
              <a:t>Testing</a:t>
            </a:r>
          </a:p>
          <a:p>
            <a:pPr lvl="1" rtl="0" eaLnBrk="1" latinLnBrk="0" hangingPunct="1"/>
            <a:r>
              <a:rPr lang="en-US" sz="2800" dirty="0"/>
              <a:t>Unit and integration tests depend on architectural knowledge and a test harness.</a:t>
            </a:r>
            <a:endParaRPr lang="en-US" dirty="0">
              <a:effectLst/>
            </a:endParaRPr>
          </a:p>
          <a:p>
            <a:pPr lvl="1" rtl="0" eaLnBrk="1" latinLnBrk="0" hangingPunct="1"/>
            <a:r>
              <a:rPr lang="en-US" sz="2800" dirty="0"/>
              <a:t>Network effects are difficult to discover when deploying a system to 1000s of servers.</a:t>
            </a:r>
            <a:endParaRPr lang="en-US" dirty="0">
              <a:effectLst/>
            </a:endParaRPr>
          </a:p>
          <a:p>
            <a:pPr lvl="1" rtl="0" eaLnBrk="1" latinLnBrk="0" hangingPunct="1"/>
            <a:r>
              <a:rPr lang="en-US" sz="2800" dirty="0"/>
              <a:t>The architect should be involved in a wide variety of test activities.</a:t>
            </a:r>
            <a:endParaRPr lang="en-US" dirty="0">
              <a:effectLst/>
            </a:endParaRPr>
          </a:p>
          <a:p>
            <a:pPr marL="0" indent="0">
              <a:buNone/>
            </a:pPr>
            <a:endParaRPr lang="en-US" dirty="0"/>
          </a:p>
        </p:txBody>
      </p:sp>
    </p:spTree>
    <p:extLst>
      <p:ext uri="{BB962C8B-B14F-4D97-AF65-F5344CB8AC3E}">
        <p14:creationId xmlns:p14="http://schemas.microsoft.com/office/powerpoint/2010/main" val="33359940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Architecture Reconstruction and Conformance</a:t>
            </a:r>
            <a:endParaRPr lang="en-US" dirty="0"/>
          </a:p>
        </p:txBody>
      </p:sp>
      <p:sp>
        <p:nvSpPr>
          <p:cNvPr id="3" name="Content Placeholder 2"/>
          <p:cNvSpPr>
            <a:spLocks noGrp="1"/>
          </p:cNvSpPr>
          <p:nvPr>
            <p:ph idx="1"/>
          </p:nvPr>
        </p:nvSpPr>
        <p:spPr/>
        <p:txBody>
          <a:bodyPr>
            <a:normAutofit/>
          </a:bodyPr>
          <a:lstStyle/>
          <a:p>
            <a:pPr marL="0" indent="0">
              <a:buNone/>
            </a:pPr>
            <a:r>
              <a:rPr lang="en-US" sz="3600" dirty="0"/>
              <a:t>Outline </a:t>
            </a:r>
          </a:p>
          <a:p>
            <a:r>
              <a:rPr lang="en-US" dirty="0"/>
              <a:t>Architecture Reconstruction Process</a:t>
            </a:r>
          </a:p>
          <a:p>
            <a:r>
              <a:rPr lang="en-US" dirty="0"/>
              <a:t>Raw View Extraction</a:t>
            </a:r>
          </a:p>
          <a:p>
            <a:r>
              <a:rPr lang="en-US" dirty="0"/>
              <a:t>Database Construction</a:t>
            </a:r>
          </a:p>
          <a:p>
            <a:r>
              <a:rPr lang="pl-PL" dirty="0" err="1"/>
              <a:t>View</a:t>
            </a:r>
            <a:r>
              <a:rPr lang="pl-PL" dirty="0"/>
              <a:t> </a:t>
            </a:r>
            <a:r>
              <a:rPr lang="pl-PL" dirty="0" err="1"/>
              <a:t>Fusion</a:t>
            </a:r>
            <a:endParaRPr lang="pl-PL" dirty="0"/>
          </a:p>
          <a:p>
            <a:r>
              <a:rPr lang="pl-PL" dirty="0"/>
              <a:t>Architecture Analysis: </a:t>
            </a:r>
            <a:r>
              <a:rPr lang="pl-PL" dirty="0" err="1"/>
              <a:t>Finding</a:t>
            </a:r>
            <a:r>
              <a:rPr lang="pl-PL" dirty="0"/>
              <a:t> </a:t>
            </a:r>
            <a:r>
              <a:rPr lang="pl-PL" dirty="0" err="1"/>
              <a:t>Violations</a:t>
            </a:r>
            <a:endParaRPr lang="pl-PL" dirty="0"/>
          </a:p>
          <a:p>
            <a:r>
              <a:rPr lang="nl-NL" dirty="0" err="1"/>
              <a:t>Guidelines</a:t>
            </a:r>
            <a:endParaRPr lang="nl-NL" dirty="0"/>
          </a:p>
          <a:p>
            <a:r>
              <a:rPr lang="nl-NL" dirty="0"/>
              <a:t>Summary</a:t>
            </a:r>
            <a:endParaRPr lang="en-US" dirty="0"/>
          </a:p>
        </p:txBody>
      </p:sp>
    </p:spTree>
    <p:extLst>
      <p:ext uri="{BB962C8B-B14F-4D97-AF65-F5344CB8AC3E}">
        <p14:creationId xmlns:p14="http://schemas.microsoft.com/office/powerpoint/2010/main" val="28660112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Why Reconstruction?</a:t>
            </a:r>
          </a:p>
        </p:txBody>
      </p:sp>
      <p:sp>
        <p:nvSpPr>
          <p:cNvPr id="3" name="Content Placeholder 2"/>
          <p:cNvSpPr>
            <a:spLocks noGrp="1"/>
          </p:cNvSpPr>
          <p:nvPr>
            <p:ph idx="1"/>
          </p:nvPr>
        </p:nvSpPr>
        <p:spPr>
          <a:xfrm>
            <a:off x="1981200" y="1268760"/>
            <a:ext cx="8229600" cy="5112568"/>
          </a:xfrm>
        </p:spPr>
        <p:txBody>
          <a:bodyPr>
            <a:normAutofit lnSpcReduction="10000"/>
          </a:bodyPr>
          <a:lstStyle/>
          <a:p>
            <a:r>
              <a:rPr lang="en-US" dirty="0"/>
              <a:t>Suppose you have been given responsibility for a system that already exists, but you do not know its architecture. </a:t>
            </a:r>
          </a:p>
          <a:p>
            <a:pPr lvl="1"/>
            <a:r>
              <a:rPr lang="en-US" dirty="0"/>
              <a:t>Perhaps the </a:t>
            </a:r>
            <a:r>
              <a:rPr lang="en-US" b="1" dirty="0">
                <a:solidFill>
                  <a:srgbClr val="FF0000"/>
                </a:solidFill>
              </a:rPr>
              <a:t>architecture was never recorded </a:t>
            </a:r>
            <a:r>
              <a:rPr lang="en-US" dirty="0"/>
              <a:t>by the original developers, now long gone. </a:t>
            </a:r>
          </a:p>
          <a:p>
            <a:pPr lvl="1"/>
            <a:r>
              <a:rPr lang="en-US" dirty="0"/>
              <a:t>Perhaps it was recorded but the documentation has been </a:t>
            </a:r>
            <a:r>
              <a:rPr lang="en-US" dirty="0">
                <a:solidFill>
                  <a:srgbClr val="FF0000"/>
                </a:solidFill>
              </a:rPr>
              <a:t>lost</a:t>
            </a:r>
            <a:r>
              <a:rPr lang="en-US" dirty="0"/>
              <a:t>. </a:t>
            </a:r>
          </a:p>
          <a:p>
            <a:pPr lvl="1"/>
            <a:r>
              <a:rPr lang="en-US" dirty="0"/>
              <a:t>Perhaps it was recorded but the documentation is no </a:t>
            </a:r>
            <a:r>
              <a:rPr lang="en-US" dirty="0">
                <a:solidFill>
                  <a:srgbClr val="FF0000"/>
                </a:solidFill>
              </a:rPr>
              <a:t>longer synchronized</a:t>
            </a:r>
            <a:r>
              <a:rPr lang="en-US" dirty="0"/>
              <a:t> with the system after a series of changes. </a:t>
            </a:r>
          </a:p>
          <a:p>
            <a:r>
              <a:rPr lang="en-US" dirty="0"/>
              <a:t>How do you maintain such a system? </a:t>
            </a:r>
          </a:p>
          <a:p>
            <a:r>
              <a:rPr lang="en-US" dirty="0"/>
              <a:t>How do you manage its evolution to maintain the quality attributes that its architecture has provided?</a:t>
            </a:r>
          </a:p>
          <a:p>
            <a:endParaRPr lang="en-AU" dirty="0"/>
          </a:p>
        </p:txBody>
      </p:sp>
    </p:spTree>
    <p:extLst>
      <p:ext uri="{BB962C8B-B14F-4D97-AF65-F5344CB8AC3E}">
        <p14:creationId xmlns:p14="http://schemas.microsoft.com/office/powerpoint/2010/main" val="15545346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Purposes of Reconstruction</a:t>
            </a:r>
          </a:p>
        </p:txBody>
      </p:sp>
      <p:sp>
        <p:nvSpPr>
          <p:cNvPr id="3" name="Content Placeholder 2"/>
          <p:cNvSpPr>
            <a:spLocks noGrp="1"/>
          </p:cNvSpPr>
          <p:nvPr>
            <p:ph idx="1"/>
          </p:nvPr>
        </p:nvSpPr>
        <p:spPr/>
        <p:txBody>
          <a:bodyPr>
            <a:normAutofit/>
          </a:bodyPr>
          <a:lstStyle/>
          <a:p>
            <a:r>
              <a:rPr lang="en-US" dirty="0"/>
              <a:t>To document an architecture where the </a:t>
            </a:r>
            <a:r>
              <a:rPr lang="en-US" b="1" i="1" dirty="0"/>
              <a:t>documentation never existed </a:t>
            </a:r>
            <a:r>
              <a:rPr lang="en-US" dirty="0"/>
              <a:t>or where it has become hopelessly </a:t>
            </a:r>
            <a:r>
              <a:rPr lang="en-US" b="1" dirty="0"/>
              <a:t>out of date </a:t>
            </a:r>
          </a:p>
          <a:p>
            <a:r>
              <a:rPr lang="en-US" dirty="0"/>
              <a:t>To ensure conformance between the </a:t>
            </a:r>
            <a:r>
              <a:rPr lang="en-US" b="1" i="1" dirty="0"/>
              <a:t>as-built</a:t>
            </a:r>
            <a:r>
              <a:rPr lang="en-US" i="1" dirty="0"/>
              <a:t> </a:t>
            </a:r>
            <a:r>
              <a:rPr lang="en-US" dirty="0"/>
              <a:t>architecture and the </a:t>
            </a:r>
            <a:r>
              <a:rPr lang="en-US" b="1" i="1" dirty="0"/>
              <a:t>as-designed</a:t>
            </a:r>
            <a:r>
              <a:rPr lang="en-US" i="1" dirty="0"/>
              <a:t> </a:t>
            </a:r>
            <a:r>
              <a:rPr lang="en-US" dirty="0"/>
              <a:t>architecture.</a:t>
            </a:r>
          </a:p>
          <a:p>
            <a:r>
              <a:rPr lang="en-US" dirty="0"/>
              <a:t>In architecture reconstruction, the as-built architecture is </a:t>
            </a:r>
            <a:r>
              <a:rPr lang="en-US" dirty="0">
                <a:solidFill>
                  <a:srgbClr val="FF0000"/>
                </a:solidFill>
              </a:rPr>
              <a:t>reverse-engineered</a:t>
            </a:r>
            <a:r>
              <a:rPr lang="en-US" dirty="0"/>
              <a:t> from existing system artifacts. </a:t>
            </a:r>
          </a:p>
          <a:p>
            <a:endParaRPr lang="en-US" dirty="0"/>
          </a:p>
        </p:txBody>
      </p:sp>
    </p:spTree>
    <p:extLst>
      <p:ext uri="{BB962C8B-B14F-4D97-AF65-F5344CB8AC3E}">
        <p14:creationId xmlns:p14="http://schemas.microsoft.com/office/powerpoint/2010/main" val="33292151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Reconstructing Mappings</a:t>
            </a:r>
          </a:p>
        </p:txBody>
      </p:sp>
      <p:sp>
        <p:nvSpPr>
          <p:cNvPr id="3" name="Content Placeholder 2"/>
          <p:cNvSpPr>
            <a:spLocks noGrp="1"/>
          </p:cNvSpPr>
          <p:nvPr>
            <p:ph idx="1"/>
          </p:nvPr>
        </p:nvSpPr>
        <p:spPr/>
        <p:txBody>
          <a:bodyPr>
            <a:normAutofit/>
          </a:bodyPr>
          <a:lstStyle/>
          <a:p>
            <a:r>
              <a:rPr lang="en-US" dirty="0"/>
              <a:t>When a system is initially developed, its architectural </a:t>
            </a:r>
            <a:r>
              <a:rPr lang="en-US" dirty="0">
                <a:solidFill>
                  <a:srgbClr val="FF0000"/>
                </a:solidFill>
              </a:rPr>
              <a:t>elements are mapped</a:t>
            </a:r>
            <a:r>
              <a:rPr lang="en-US" dirty="0"/>
              <a:t> to specific implementation elements: functions, classes, files, objects, and so forth. </a:t>
            </a:r>
          </a:p>
          <a:p>
            <a:r>
              <a:rPr lang="en-US" dirty="0"/>
              <a:t>When we reconstruct those architectural elements, we need to apply the inverses of the original mappings:</a:t>
            </a:r>
          </a:p>
          <a:p>
            <a:pPr lvl="1"/>
            <a:r>
              <a:rPr lang="en-US" dirty="0"/>
              <a:t>Use automated and semi-automated extraction </a:t>
            </a:r>
            <a:r>
              <a:rPr lang="en-US" b="1" dirty="0"/>
              <a:t>tools</a:t>
            </a:r>
          </a:p>
          <a:p>
            <a:pPr lvl="1"/>
            <a:r>
              <a:rPr lang="en-US" dirty="0" smtClean="0"/>
              <a:t>Probe/explore the </a:t>
            </a:r>
            <a:r>
              <a:rPr lang="en-US" dirty="0"/>
              <a:t>original design intent of the architect.</a:t>
            </a:r>
          </a:p>
          <a:p>
            <a:pPr lvl="1"/>
            <a:r>
              <a:rPr lang="en-US" dirty="0"/>
              <a:t>Typically we use a combination of both techniques</a:t>
            </a:r>
          </a:p>
          <a:p>
            <a:endParaRPr lang="en-US" dirty="0"/>
          </a:p>
        </p:txBody>
      </p:sp>
    </p:spTree>
    <p:extLst>
      <p:ext uri="{BB962C8B-B14F-4D97-AF65-F5344CB8AC3E}">
        <p14:creationId xmlns:p14="http://schemas.microsoft.com/office/powerpoint/2010/main" val="6914228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for Reconstruction</a:t>
            </a:r>
          </a:p>
        </p:txBody>
      </p:sp>
      <p:sp>
        <p:nvSpPr>
          <p:cNvPr id="3" name="Content Placeholder 2"/>
          <p:cNvSpPr>
            <a:spLocks noGrp="1"/>
          </p:cNvSpPr>
          <p:nvPr>
            <p:ph idx="1"/>
          </p:nvPr>
        </p:nvSpPr>
        <p:spPr>
          <a:xfrm>
            <a:off x="838200" y="1825625"/>
            <a:ext cx="10515600" cy="4667250"/>
          </a:xfrm>
        </p:spPr>
        <p:txBody>
          <a:bodyPr>
            <a:normAutofit/>
          </a:bodyPr>
          <a:lstStyle/>
          <a:p>
            <a:r>
              <a:rPr lang="en-US" dirty="0"/>
              <a:t>Architecture reconstruction is a </a:t>
            </a:r>
            <a:r>
              <a:rPr lang="en-US" b="1" dirty="0"/>
              <a:t>tool-intensive </a:t>
            </a:r>
            <a:r>
              <a:rPr lang="en-US" dirty="0"/>
              <a:t>activity. </a:t>
            </a:r>
          </a:p>
          <a:p>
            <a:pPr lvl="1"/>
            <a:r>
              <a:rPr lang="en-US" dirty="0"/>
              <a:t>Tools </a:t>
            </a:r>
            <a:r>
              <a:rPr lang="en-US" b="1" dirty="0"/>
              <a:t>extract</a:t>
            </a:r>
            <a:r>
              <a:rPr lang="en-US" dirty="0"/>
              <a:t> information about the system, typically by scouring the source code.</a:t>
            </a:r>
          </a:p>
          <a:p>
            <a:pPr lvl="1"/>
            <a:r>
              <a:rPr lang="en-US" dirty="0"/>
              <a:t>They may also </a:t>
            </a:r>
            <a:r>
              <a:rPr lang="en-US" b="1" dirty="0"/>
              <a:t>analyze</a:t>
            </a:r>
            <a:r>
              <a:rPr lang="en-US" dirty="0"/>
              <a:t> other artifacts as well, such as build scripts or traces from running systems. </a:t>
            </a:r>
          </a:p>
          <a:p>
            <a:pPr lvl="1"/>
            <a:r>
              <a:rPr lang="en-US" dirty="0"/>
              <a:t>We need tools that aid in building and aggregating the architectural </a:t>
            </a:r>
            <a:r>
              <a:rPr lang="en-US" b="1" dirty="0"/>
              <a:t>abstractions</a:t>
            </a:r>
            <a:r>
              <a:rPr lang="en-US" dirty="0"/>
              <a:t> that we need.</a:t>
            </a:r>
          </a:p>
          <a:p>
            <a:pPr lvl="1"/>
            <a:r>
              <a:rPr lang="en-US" dirty="0"/>
              <a:t>If our tools are usable and accurate, the end result is an architectural representation that aids the architect in reasoning about the system. </a:t>
            </a:r>
            <a:endParaRPr lang="en-US" dirty="0" smtClean="0"/>
          </a:p>
          <a:p>
            <a:pPr lvl="1"/>
            <a:r>
              <a:rPr lang="en-US" i="1" dirty="0" smtClean="0"/>
              <a:t>Understand for Java(UFJ), JDepend, Enterprise Architect, ARMIN (Architectural Reconstruction and </a:t>
            </a:r>
            <a:r>
              <a:rPr lang="en-US" i="1" dirty="0" err="1" smtClean="0"/>
              <a:t>MINing</a:t>
            </a:r>
            <a:r>
              <a:rPr lang="en-US" i="1" dirty="0" smtClean="0"/>
              <a:t>), Structural Analysis for Java.</a:t>
            </a:r>
            <a:endParaRPr lang="en-US" i="1" dirty="0"/>
          </a:p>
        </p:txBody>
      </p:sp>
    </p:spTree>
    <p:extLst>
      <p:ext uri="{BB962C8B-B14F-4D97-AF65-F5344CB8AC3E}">
        <p14:creationId xmlns:p14="http://schemas.microsoft.com/office/powerpoint/2010/main" val="15523365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 not Just Tools</a:t>
            </a:r>
          </a:p>
        </p:txBody>
      </p:sp>
      <p:sp>
        <p:nvSpPr>
          <p:cNvPr id="3" name="Content Placeholder 2"/>
          <p:cNvSpPr>
            <a:spLocks noGrp="1"/>
          </p:cNvSpPr>
          <p:nvPr>
            <p:ph idx="1"/>
          </p:nvPr>
        </p:nvSpPr>
        <p:spPr/>
        <p:txBody>
          <a:bodyPr>
            <a:normAutofit lnSpcReduction="10000"/>
          </a:bodyPr>
          <a:lstStyle/>
          <a:p>
            <a:r>
              <a:rPr lang="en-US" dirty="0"/>
              <a:t>Architecture reconstruction tools are not a panacea/full remedy.  </a:t>
            </a:r>
          </a:p>
          <a:p>
            <a:pPr lvl="1"/>
            <a:r>
              <a:rPr lang="en-US" dirty="0"/>
              <a:t>It may not be possible to generate a useful architectural representation. </a:t>
            </a:r>
          </a:p>
          <a:p>
            <a:pPr lvl="1"/>
            <a:r>
              <a:rPr lang="en-US" dirty="0">
                <a:solidFill>
                  <a:srgbClr val="FF0000"/>
                </a:solidFill>
              </a:rPr>
              <a:t>Not all </a:t>
            </a:r>
            <a:r>
              <a:rPr lang="en-US" dirty="0"/>
              <a:t>aspects of architecture are easy to automatically extract. </a:t>
            </a:r>
          </a:p>
          <a:p>
            <a:pPr lvl="1"/>
            <a:r>
              <a:rPr lang="en-US" dirty="0"/>
              <a:t>E.g., there is no programming language construct in any major programming language for “layer” or “connector” or other architectural elements; we can’t simply pick these out of a source code file. </a:t>
            </a:r>
          </a:p>
          <a:p>
            <a:r>
              <a:rPr lang="en-US" dirty="0"/>
              <a:t>Architecture reconstruction is an </a:t>
            </a:r>
            <a:r>
              <a:rPr lang="en-US" b="1" dirty="0"/>
              <a:t>interpretive, interactive, and iterative </a:t>
            </a:r>
            <a:r>
              <a:rPr lang="en-US" dirty="0"/>
              <a:t>process involving many activities; it is not automatic. </a:t>
            </a:r>
          </a:p>
          <a:p>
            <a:r>
              <a:rPr lang="en-US" dirty="0"/>
              <a:t>It requires the skills and attention of both the reverse-engineering expert and, in the best case, the architect (or someone who has substantial knowledge of the architecture). </a:t>
            </a:r>
          </a:p>
        </p:txBody>
      </p:sp>
    </p:spTree>
    <p:extLst>
      <p:ext uri="{BB962C8B-B14F-4D97-AF65-F5344CB8AC3E}">
        <p14:creationId xmlns:p14="http://schemas.microsoft.com/office/powerpoint/2010/main" val="2965189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Reconstruction Workbenches</a:t>
            </a:r>
          </a:p>
        </p:txBody>
      </p:sp>
      <p:sp>
        <p:nvSpPr>
          <p:cNvPr id="3" name="Content Placeholder 2"/>
          <p:cNvSpPr>
            <a:spLocks noGrp="1"/>
          </p:cNvSpPr>
          <p:nvPr>
            <p:ph idx="1"/>
          </p:nvPr>
        </p:nvSpPr>
        <p:spPr/>
        <p:txBody>
          <a:bodyPr>
            <a:normAutofit/>
          </a:bodyPr>
          <a:lstStyle/>
          <a:p>
            <a:r>
              <a:rPr lang="en-US" dirty="0"/>
              <a:t>An architecture reconstruction </a:t>
            </a:r>
            <a:r>
              <a:rPr lang="en-US" i="1" dirty="0"/>
              <a:t>workbench</a:t>
            </a:r>
            <a:r>
              <a:rPr lang="en-US" dirty="0"/>
              <a:t> should be open (making it easy to </a:t>
            </a:r>
            <a:r>
              <a:rPr lang="en-US" b="1" dirty="0"/>
              <a:t>integrate new tools as required</a:t>
            </a:r>
            <a:r>
              <a:rPr lang="en-US" dirty="0"/>
              <a:t>) and provide an integration framework whereby new tools that are added to the tool set do not impact the existing tools or data unnecessarily. </a:t>
            </a:r>
          </a:p>
          <a:p>
            <a:endParaRPr lang="en-US" dirty="0"/>
          </a:p>
        </p:txBody>
      </p:sp>
    </p:spTree>
    <p:extLst>
      <p:ext uri="{BB962C8B-B14F-4D97-AF65-F5344CB8AC3E}">
        <p14:creationId xmlns:p14="http://schemas.microsoft.com/office/powerpoint/2010/main" val="35461406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Reconstruction Phases</a:t>
            </a:r>
          </a:p>
        </p:txBody>
      </p:sp>
      <p:sp>
        <p:nvSpPr>
          <p:cNvPr id="3" name="Content Placeholder 2"/>
          <p:cNvSpPr>
            <a:spLocks noGrp="1"/>
          </p:cNvSpPr>
          <p:nvPr>
            <p:ph idx="1"/>
          </p:nvPr>
        </p:nvSpPr>
        <p:spPr/>
        <p:txBody>
          <a:bodyPr>
            <a:normAutofit fontScale="92500"/>
          </a:bodyPr>
          <a:lstStyle/>
          <a:p>
            <a:pPr marL="514350" indent="-514350">
              <a:buFont typeface="+mj-lt"/>
              <a:buAutoNum type="arabicPeriod"/>
            </a:pPr>
            <a:r>
              <a:rPr lang="en-US" i="1" dirty="0"/>
              <a:t>Raw view extraction.</a:t>
            </a:r>
            <a:r>
              <a:rPr lang="en-US" dirty="0"/>
              <a:t> </a:t>
            </a:r>
          </a:p>
          <a:p>
            <a:pPr marL="914400" lvl="1" indent="-514350"/>
            <a:r>
              <a:rPr lang="en-US" b="1" dirty="0"/>
              <a:t>Raw information</a:t>
            </a:r>
            <a:r>
              <a:rPr lang="en-US" dirty="0"/>
              <a:t> about the architecture is obtained from various sources, primarily source code, execution traces, and build scripts. </a:t>
            </a:r>
          </a:p>
          <a:p>
            <a:pPr marL="914400" lvl="1" indent="-514350"/>
            <a:r>
              <a:rPr lang="en-US" dirty="0"/>
              <a:t>Each of these sets of raw information is called a </a:t>
            </a:r>
            <a:r>
              <a:rPr lang="en-US" b="1" dirty="0"/>
              <a:t>view</a:t>
            </a:r>
            <a:r>
              <a:rPr lang="en-US" b="1" dirty="0" smtClean="0"/>
              <a:t>.</a:t>
            </a:r>
          </a:p>
          <a:p>
            <a:pPr marL="914400" lvl="1" indent="-514350"/>
            <a:r>
              <a:rPr lang="en-US" dirty="0"/>
              <a:t>S</a:t>
            </a:r>
            <a:r>
              <a:rPr lang="en-US" dirty="0" smtClean="0"/>
              <a:t>ource </a:t>
            </a:r>
            <a:r>
              <a:rPr lang="en-US" b="1" dirty="0"/>
              <a:t>artifacts</a:t>
            </a:r>
            <a:r>
              <a:rPr lang="en-US" dirty="0"/>
              <a:t> (code, header files, build files, and so on) and other artifacts (e.g., execution traces), you can identify and capture the elements of interest within the system (e.g., files, functions, variables) and their relationships to obtain several base system views. </a:t>
            </a:r>
            <a:endParaRPr lang="en-US" b="1" dirty="0"/>
          </a:p>
          <a:p>
            <a:pPr marL="514350" indent="-514350">
              <a:buFont typeface="+mj-lt"/>
              <a:buAutoNum type="arabicPeriod"/>
            </a:pPr>
            <a:r>
              <a:rPr lang="en-US" i="1" dirty="0"/>
              <a:t>Database construction.</a:t>
            </a:r>
            <a:r>
              <a:rPr lang="en-US" dirty="0"/>
              <a:t> </a:t>
            </a:r>
          </a:p>
          <a:p>
            <a:pPr marL="914400" lvl="1" indent="-514350"/>
            <a:r>
              <a:rPr lang="en-US" dirty="0"/>
              <a:t>Convert the raw extracted information into a </a:t>
            </a:r>
            <a:r>
              <a:rPr lang="en-US" b="1" dirty="0"/>
              <a:t>standard form</a:t>
            </a:r>
          </a:p>
          <a:p>
            <a:pPr marL="914400" lvl="1" indent="-514350"/>
            <a:r>
              <a:rPr lang="en-US" dirty="0"/>
              <a:t>Use that to populate a reconstruction database. </a:t>
            </a:r>
          </a:p>
          <a:p>
            <a:pPr marL="914400" lvl="1" indent="-514350"/>
            <a:r>
              <a:rPr lang="en-US" dirty="0"/>
              <a:t>We will use the database to generate authoritative architecture documentation.</a:t>
            </a:r>
          </a:p>
        </p:txBody>
      </p:sp>
    </p:spTree>
    <p:extLst>
      <p:ext uri="{BB962C8B-B14F-4D97-AF65-F5344CB8AC3E}">
        <p14:creationId xmlns:p14="http://schemas.microsoft.com/office/powerpoint/2010/main" val="32369246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Reconstruction Phases</a:t>
            </a:r>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startAt="3"/>
            </a:pPr>
            <a:r>
              <a:rPr lang="en-US" sz="3400" i="1" dirty="0"/>
              <a:t>View fusion and manipulation.</a:t>
            </a:r>
            <a:r>
              <a:rPr lang="en-US" sz="3400" dirty="0"/>
              <a:t> </a:t>
            </a:r>
          </a:p>
          <a:p>
            <a:pPr marL="914400" lvl="1" indent="-514350"/>
            <a:r>
              <a:rPr lang="en-US" b="1" dirty="0"/>
              <a:t>Combines the various views</a:t>
            </a:r>
            <a:r>
              <a:rPr lang="en-US" dirty="0"/>
              <a:t> of the information stored in the database. </a:t>
            </a:r>
          </a:p>
          <a:p>
            <a:pPr marL="914400" lvl="1" indent="-514350"/>
            <a:r>
              <a:rPr lang="en-US" dirty="0"/>
              <a:t>Individual views may not contain complete or fully accurate information. View fusion can improve the overall accuracy. </a:t>
            </a:r>
          </a:p>
          <a:p>
            <a:pPr marL="914400" lvl="1" indent="-514350"/>
            <a:r>
              <a:rPr lang="en-US" dirty="0"/>
              <a:t>Example: a static view extracted from source code might miss dynamically bound information such as calling relationships. This could then be combined with a dynamic view from an execution trace, which will capture all dynamically bound calling information, but which may not provide complete coverage.</a:t>
            </a:r>
          </a:p>
          <a:p>
            <a:pPr marL="514350" indent="-514350">
              <a:buFont typeface="+mj-lt"/>
              <a:buAutoNum type="arabicPeriod" startAt="3"/>
            </a:pPr>
            <a:r>
              <a:rPr lang="en-US" sz="3400" i="1" dirty="0"/>
              <a:t>Architecture analysis.</a:t>
            </a:r>
            <a:r>
              <a:rPr lang="en-US" sz="3400" dirty="0"/>
              <a:t> </a:t>
            </a:r>
          </a:p>
          <a:p>
            <a:pPr marL="914400" lvl="1" indent="-514350"/>
            <a:r>
              <a:rPr lang="en-US" dirty="0"/>
              <a:t>View fusion will result in </a:t>
            </a:r>
            <a:r>
              <a:rPr lang="en-US" b="1" dirty="0"/>
              <a:t>a set of hypotheses</a:t>
            </a:r>
            <a:r>
              <a:rPr lang="en-US" dirty="0"/>
              <a:t> about the architecture. These hypotheses take the form of architectural elements (such as layers) and the constraints and relationships among them. These hypotheses need to be tested to see if they are correct.  </a:t>
            </a:r>
          </a:p>
          <a:p>
            <a:pPr marL="914400" lvl="1" indent="-514350"/>
            <a:r>
              <a:rPr lang="en-US" dirty="0"/>
              <a:t>If not, repeat earlier steps.</a:t>
            </a:r>
          </a:p>
        </p:txBody>
      </p:sp>
    </p:spTree>
    <p:extLst>
      <p:ext uri="{BB962C8B-B14F-4D97-AF65-F5344CB8AC3E}">
        <p14:creationId xmlns:p14="http://schemas.microsoft.com/office/powerpoint/2010/main" val="18197716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Reconstruction Phases</a:t>
            </a:r>
          </a:p>
        </p:txBody>
      </p:sp>
      <p:pic>
        <p:nvPicPr>
          <p:cNvPr id="6" name="Picture 5" descr="extrcatio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9527" y="1335683"/>
            <a:ext cx="6252946" cy="5157192"/>
          </a:xfrm>
          <a:prstGeom prst="rect">
            <a:avLst/>
          </a:prstGeom>
        </p:spPr>
      </p:pic>
    </p:spTree>
    <p:extLst>
      <p:ext uri="{BB962C8B-B14F-4D97-AF65-F5344CB8AC3E}">
        <p14:creationId xmlns:p14="http://schemas.microsoft.com/office/powerpoint/2010/main" val="9365707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a:t>
            </a:r>
          </a:p>
        </p:txBody>
      </p:sp>
      <p:sp>
        <p:nvSpPr>
          <p:cNvPr id="3" name="Content Placeholder 2"/>
          <p:cNvSpPr>
            <a:spLocks noGrp="1"/>
          </p:cNvSpPr>
          <p:nvPr>
            <p:ph idx="1"/>
          </p:nvPr>
        </p:nvSpPr>
        <p:spPr/>
        <p:txBody>
          <a:bodyPr>
            <a:normAutofit/>
          </a:bodyPr>
          <a:lstStyle/>
          <a:p>
            <a:r>
              <a:rPr lang="en-US" dirty="0"/>
              <a:t>Have a goal and a set of objectives or questions in mind before undertaking an architecture reconstruction project. </a:t>
            </a:r>
          </a:p>
          <a:p>
            <a:r>
              <a:rPr lang="en-US" dirty="0"/>
              <a:t>Obtain some representation, however coarse, of the system before beginning the detailed reconstruction process. This representation serves several purposes, including the following:</a:t>
            </a:r>
          </a:p>
          <a:p>
            <a:pPr lvl="1"/>
            <a:r>
              <a:rPr lang="en-US" dirty="0"/>
              <a:t>It identifies what information needs to be extracted from the system.</a:t>
            </a:r>
          </a:p>
          <a:p>
            <a:pPr lvl="1"/>
            <a:r>
              <a:rPr lang="en-US" dirty="0"/>
              <a:t>It guides the reconstructor in determining what to look for in the architecture and what views to generate.</a:t>
            </a:r>
          </a:p>
          <a:p>
            <a:r>
              <a:rPr lang="en-US" dirty="0"/>
              <a:t>Identifying layers is a good place to start.</a:t>
            </a:r>
          </a:p>
        </p:txBody>
      </p:sp>
    </p:spTree>
    <p:extLst>
      <p:ext uri="{BB962C8B-B14F-4D97-AF65-F5344CB8AC3E}">
        <p14:creationId xmlns:p14="http://schemas.microsoft.com/office/powerpoint/2010/main" val="14542180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a:t>
            </a:r>
          </a:p>
        </p:txBody>
      </p:sp>
      <p:sp>
        <p:nvSpPr>
          <p:cNvPr id="3" name="Content Placeholder 2"/>
          <p:cNvSpPr>
            <a:spLocks noGrp="1"/>
          </p:cNvSpPr>
          <p:nvPr>
            <p:ph idx="1"/>
          </p:nvPr>
        </p:nvSpPr>
        <p:spPr/>
        <p:txBody>
          <a:bodyPr>
            <a:normAutofit/>
          </a:bodyPr>
          <a:lstStyle/>
          <a:p>
            <a:r>
              <a:rPr lang="en-US" dirty="0"/>
              <a:t>The existing documentation for a system may not accurately reflect the system as it is implemented. Therefore it may be necessary to disregard the existing documentation.</a:t>
            </a:r>
          </a:p>
          <a:p>
            <a:r>
              <a:rPr lang="en-US" dirty="0"/>
              <a:t>Tools can support the reconstruction effort and shorten the reconstruction process, but they cannot do an entire reconstruction effort automatically. </a:t>
            </a:r>
          </a:p>
          <a:p>
            <a:pPr lvl="1"/>
            <a:r>
              <a:rPr lang="en-US" dirty="0"/>
              <a:t>The work involved in the effort requires the involvement of people (architects, maintainers, and developers) who are familiar with the system. </a:t>
            </a:r>
          </a:p>
          <a:p>
            <a:endParaRPr lang="en-US" dirty="0"/>
          </a:p>
        </p:txBody>
      </p:sp>
    </p:spTree>
    <p:extLst>
      <p:ext uri="{BB962C8B-B14F-4D97-AF65-F5344CB8AC3E}">
        <p14:creationId xmlns:p14="http://schemas.microsoft.com/office/powerpoint/2010/main" val="25957123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sz="2400" dirty="0"/>
              <a:t>Architecture reconstruction and architecture conformance are crucial tools in the architect’s toolbox to ensure that a system is built the way it was designed, and that it evolves in a way that is consistent with its creators’ intentions. </a:t>
            </a:r>
          </a:p>
          <a:p>
            <a:r>
              <a:rPr lang="en-US" sz="2400" dirty="0"/>
              <a:t>The results of architectural reconstruction can be used in several ways:</a:t>
            </a:r>
          </a:p>
          <a:p>
            <a:pPr lvl="1"/>
            <a:r>
              <a:rPr lang="en-US" sz="1800" dirty="0"/>
              <a:t>If no documentation exists or if it is seriously out of date, the recovered architectural representation can be used as a basis for documenting the architecture.</a:t>
            </a:r>
          </a:p>
          <a:p>
            <a:pPr lvl="1"/>
            <a:r>
              <a:rPr lang="en-US" sz="1800" dirty="0"/>
              <a:t>It can be used to recover the as-built architecture, or to check conformance against an “as-designed” architecture. </a:t>
            </a:r>
          </a:p>
          <a:p>
            <a:pPr lvl="1"/>
            <a:r>
              <a:rPr lang="en-US" sz="1800" dirty="0"/>
              <a:t>The reconstruction can be used as the basis for analyzing the architecture or as a starting point for reengineering the system to a new desired architecture. </a:t>
            </a:r>
          </a:p>
          <a:p>
            <a:pPr lvl="1"/>
            <a:r>
              <a:rPr lang="en-US" sz="1800" dirty="0"/>
              <a:t>The representation can be used to identify elements for reuse or to establish an architecture-based software product line.</a:t>
            </a:r>
          </a:p>
        </p:txBody>
      </p:sp>
    </p:spTree>
    <p:extLst>
      <p:ext uri="{BB962C8B-B14F-4D97-AF65-F5344CB8AC3E}">
        <p14:creationId xmlns:p14="http://schemas.microsoft.com/office/powerpoint/2010/main" val="33220897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pPr marL="0" indent="0">
              <a:buNone/>
            </a:pPr>
            <a:r>
              <a:rPr lang="en-US" sz="2400" dirty="0"/>
              <a:t>The software architecture reconstruction process comprises the following phases:</a:t>
            </a:r>
          </a:p>
          <a:p>
            <a:pPr marL="971550" lvl="1" indent="-514350">
              <a:buFont typeface="+mj-lt"/>
              <a:buAutoNum type="arabicPeriod"/>
            </a:pPr>
            <a:r>
              <a:rPr lang="en-US" i="1" dirty="0"/>
              <a:t>Raw view extraction</a:t>
            </a:r>
            <a:endParaRPr lang="en-US" dirty="0"/>
          </a:p>
          <a:p>
            <a:pPr marL="971550" lvl="1" indent="-514350">
              <a:buFont typeface="+mj-lt"/>
              <a:buAutoNum type="arabicPeriod"/>
            </a:pPr>
            <a:r>
              <a:rPr lang="en-US" i="1" dirty="0"/>
              <a:t>Database construction</a:t>
            </a:r>
            <a:endParaRPr lang="en-US" dirty="0"/>
          </a:p>
          <a:p>
            <a:pPr marL="971550" lvl="1" indent="-514350">
              <a:buFont typeface="+mj-lt"/>
              <a:buAutoNum type="arabicPeriod"/>
            </a:pPr>
            <a:r>
              <a:rPr lang="en-US" i="1" dirty="0"/>
              <a:t>View fusion</a:t>
            </a:r>
            <a:endParaRPr lang="en-US" dirty="0"/>
          </a:p>
          <a:p>
            <a:pPr marL="971550" lvl="1" indent="-514350">
              <a:buFont typeface="+mj-lt"/>
              <a:buAutoNum type="arabicPeriod"/>
            </a:pPr>
            <a:r>
              <a:rPr lang="en-US" i="1" dirty="0"/>
              <a:t>Architecture analysis</a:t>
            </a:r>
            <a:endParaRPr lang="en-US" dirty="0"/>
          </a:p>
        </p:txBody>
      </p:sp>
    </p:spTree>
    <p:extLst>
      <p:ext uri="{BB962C8B-B14F-4D97-AF65-F5344CB8AC3E}">
        <p14:creationId xmlns:p14="http://schemas.microsoft.com/office/powerpoint/2010/main" val="648023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1110</TotalTime>
  <Words>4406</Words>
  <Application>Microsoft Office PowerPoint</Application>
  <PresentationFormat>Widescreen</PresentationFormat>
  <Paragraphs>466</Paragraphs>
  <Slides>82</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82</vt:i4>
      </vt:variant>
    </vt:vector>
  </HeadingPairs>
  <TitlesOfParts>
    <vt:vector size="93" baseType="lpstr">
      <vt:lpstr>Arial</vt:lpstr>
      <vt:lpstr>Arial</vt:lpstr>
      <vt:lpstr>Calibri</vt:lpstr>
      <vt:lpstr>Calibri body </vt:lpstr>
      <vt:lpstr>Calibri Light</vt:lpstr>
      <vt:lpstr>Helvetica-Bold</vt:lpstr>
      <vt:lpstr>Times New Roman</vt:lpstr>
      <vt:lpstr>Times-Italic</vt:lpstr>
      <vt:lpstr>Times-Roman-Identity-H</vt:lpstr>
      <vt:lpstr>ZapfDingbats</vt:lpstr>
      <vt:lpstr>Office Theme</vt:lpstr>
      <vt:lpstr>Chapter Five </vt:lpstr>
      <vt:lpstr>Chapter outline </vt:lpstr>
      <vt:lpstr>Agility</vt:lpstr>
      <vt:lpstr>Agile Manifesto</vt:lpstr>
      <vt:lpstr>Twelve Agile Principles</vt:lpstr>
      <vt:lpstr>PowerPoint Presentation</vt:lpstr>
      <vt:lpstr>Agility and Documentation</vt:lpstr>
      <vt:lpstr>Agility and Architecture Evaluation</vt:lpstr>
      <vt:lpstr>Guidelines for the Agile Architect</vt:lpstr>
      <vt:lpstr>Final Advise</vt:lpstr>
      <vt:lpstr>Summary </vt:lpstr>
      <vt:lpstr>Architecture and Requirement </vt:lpstr>
      <vt:lpstr>Architecture and Requirement </vt:lpstr>
      <vt:lpstr>Continued... </vt:lpstr>
      <vt:lpstr>Continued... </vt:lpstr>
      <vt:lpstr>Designing an Architecture </vt:lpstr>
      <vt:lpstr>Continued... </vt:lpstr>
      <vt:lpstr>The Attribute-Driven Design Methods</vt:lpstr>
      <vt:lpstr>Continued... </vt:lpstr>
      <vt:lpstr>Continued... </vt:lpstr>
      <vt:lpstr>Continued... </vt:lpstr>
      <vt:lpstr> Documenting Software Architectures </vt:lpstr>
      <vt:lpstr>Introduction</vt:lpstr>
      <vt:lpstr>Uses of Architectural Documentation</vt:lpstr>
      <vt:lpstr>Uses of Architectural Documentation</vt:lpstr>
      <vt:lpstr>Who Use the Architectural Documentation</vt:lpstr>
      <vt:lpstr>Who Use the Architectural Documentation</vt:lpstr>
      <vt:lpstr>Notations for Architecture Documentation</vt:lpstr>
      <vt:lpstr>Views</vt:lpstr>
      <vt:lpstr>Categories of View Styles</vt:lpstr>
      <vt:lpstr>Module Views</vt:lpstr>
      <vt:lpstr>Module Views</vt:lpstr>
      <vt:lpstr>Module View Styles</vt:lpstr>
      <vt:lpstr>Notations  for Module Views</vt:lpstr>
      <vt:lpstr>Dependency Structure Matrix</vt:lpstr>
      <vt:lpstr>Module Notations in UML</vt:lpstr>
      <vt:lpstr>Module Relations in UML</vt:lpstr>
      <vt:lpstr>Component-and-connector Views</vt:lpstr>
      <vt:lpstr>Component-and-connector Views</vt:lpstr>
      <vt:lpstr>C&amp;C Views in UML</vt:lpstr>
      <vt:lpstr>Allocation Views</vt:lpstr>
      <vt:lpstr>        Allocation View Styles        </vt:lpstr>
      <vt:lpstr>Notations for Allocation Views</vt:lpstr>
      <vt:lpstr>Informal notations</vt:lpstr>
      <vt:lpstr>UML Notations</vt:lpstr>
      <vt:lpstr>Documenting Architectures</vt:lpstr>
      <vt:lpstr>Choosing the Views</vt:lpstr>
      <vt:lpstr>Summary of needs </vt:lpstr>
      <vt:lpstr>Documenting a View</vt:lpstr>
      <vt:lpstr>Documentation across views</vt:lpstr>
      <vt:lpstr>Seven Rules for Sound Documentation</vt:lpstr>
      <vt:lpstr>Seven Rules for Sound Documentation</vt:lpstr>
      <vt:lpstr>Summary</vt:lpstr>
      <vt:lpstr>Architecture, Implementation, and Testing</vt:lpstr>
      <vt:lpstr>Architecture and Implementation</vt:lpstr>
      <vt:lpstr>Embedding the Design in the Code</vt:lpstr>
      <vt:lpstr>Frameworks</vt:lpstr>
      <vt:lpstr>Code Templates</vt:lpstr>
      <vt:lpstr>Code Templates</vt:lpstr>
      <vt:lpstr>Advantages of Code Templates</vt:lpstr>
      <vt:lpstr>Keeping Code and Architecture Consistent </vt:lpstr>
      <vt:lpstr>Preventing Architecture Erosion</vt:lpstr>
      <vt:lpstr>Architecture and Testing</vt:lpstr>
      <vt:lpstr>Unit Test</vt:lpstr>
      <vt:lpstr>Integration Test</vt:lpstr>
      <vt:lpstr>Network Effects</vt:lpstr>
      <vt:lpstr>Test Activities</vt:lpstr>
      <vt:lpstr>Summary</vt:lpstr>
      <vt:lpstr>Architecture Reconstruction and Conformance</vt:lpstr>
      <vt:lpstr>Why Reconstruction?</vt:lpstr>
      <vt:lpstr>Purposes of Reconstruction</vt:lpstr>
      <vt:lpstr>Reconstructing Mappings</vt:lpstr>
      <vt:lpstr>Tools for Reconstruction</vt:lpstr>
      <vt:lpstr>…but not Just Tools</vt:lpstr>
      <vt:lpstr>Reconstruction Workbenches</vt:lpstr>
      <vt:lpstr>Reconstruction Phases</vt:lpstr>
      <vt:lpstr>Reconstruction Phases</vt:lpstr>
      <vt:lpstr>Reconstruction Phases</vt:lpstr>
      <vt:lpstr>Guidelines</vt:lpstr>
      <vt:lpstr>Guidelines</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Five </dc:title>
  <dc:creator>Abenezer Mamo</dc:creator>
  <cp:lastModifiedBy>Abena</cp:lastModifiedBy>
  <cp:revision>52</cp:revision>
  <dcterms:created xsi:type="dcterms:W3CDTF">2022-12-23T18:34:47Z</dcterms:created>
  <dcterms:modified xsi:type="dcterms:W3CDTF">2024-03-04T18:21:05Z</dcterms:modified>
</cp:coreProperties>
</file>