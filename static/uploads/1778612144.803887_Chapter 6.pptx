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7" r:id="rId2"/>
    <p:sldId id="260" r:id="rId3"/>
    <p:sldId id="261" r:id="rId4"/>
    <p:sldId id="262" r:id="rId5"/>
    <p:sldId id="264" r:id="rId6"/>
    <p:sldId id="265" r:id="rId7"/>
    <p:sldId id="266" r:id="rId8"/>
    <p:sldId id="267" r:id="rId9"/>
    <p:sldId id="268" r:id="rId10"/>
    <p:sldId id="270" r:id="rId11"/>
    <p:sldId id="271" r:id="rId12"/>
    <p:sldId id="302" r:id="rId13"/>
    <p:sldId id="272" r:id="rId14"/>
    <p:sldId id="269"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1" r:id="rId43"/>
    <p:sldId id="258"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4" r:id="rId64"/>
    <p:sldId id="325" r:id="rId65"/>
    <p:sldId id="326" r:id="rId66"/>
    <p:sldId id="327" r:id="rId67"/>
    <p:sldId id="328" r:id="rId68"/>
    <p:sldId id="329" r:id="rId69"/>
    <p:sldId id="330" r:id="rId70"/>
    <p:sldId id="331" r:id="rId71"/>
    <p:sldId id="332" r:id="rId72"/>
    <p:sldId id="339" r:id="rId73"/>
    <p:sldId id="333" r:id="rId74"/>
    <p:sldId id="340"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393D49-E0CB-4675-83D9-C9BCC0B95AC2}" type="datetimeFigureOut">
              <a:rPr lang="en-US" smtClean="0"/>
              <a:t>3/21/2024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BDC818-7407-4252-87B0-418237B3DE94}" type="slidenum">
              <a:rPr lang="en-US" smtClean="0"/>
              <a:t>‹#›</a:t>
            </a:fld>
            <a:endParaRPr lang="en-US"/>
          </a:p>
        </p:txBody>
      </p:sp>
    </p:spTree>
    <p:extLst>
      <p:ext uri="{BB962C8B-B14F-4D97-AF65-F5344CB8AC3E}">
        <p14:creationId xmlns:p14="http://schemas.microsoft.com/office/powerpoint/2010/main" val="2488442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74DE-D82F-18B4-1641-04E603A4D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781A07-6F76-915D-4DF1-818CEE3096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750F58-60B0-24FE-CBB0-B85927B4EFFF}"/>
              </a:ext>
            </a:extLst>
          </p:cNvPr>
          <p:cNvSpPr>
            <a:spLocks noGrp="1"/>
          </p:cNvSpPr>
          <p:nvPr>
            <p:ph type="dt" sz="half" idx="10"/>
          </p:nvPr>
        </p:nvSpPr>
        <p:spPr/>
        <p:txBody>
          <a:bodyPr/>
          <a:lstStyle/>
          <a:p>
            <a:fld id="{212949A5-661E-4585-BD7E-3CF3257AC295}" type="datetime1">
              <a:rPr lang="en-US" smtClean="0"/>
              <a:t>3/21/2024</a:t>
            </a:fld>
            <a:endParaRPr lang="en-US"/>
          </a:p>
        </p:txBody>
      </p:sp>
      <p:sp>
        <p:nvSpPr>
          <p:cNvPr id="5" name="Footer Placeholder 4">
            <a:extLst>
              <a:ext uri="{FF2B5EF4-FFF2-40B4-BE49-F238E27FC236}">
                <a16:creationId xmlns:a16="http://schemas.microsoft.com/office/drawing/2014/main" id="{45097309-60B4-FC91-F3C0-E95B27E8470A}"/>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6" name="Slide Number Placeholder 5">
            <a:extLst>
              <a:ext uri="{FF2B5EF4-FFF2-40B4-BE49-F238E27FC236}">
                <a16:creationId xmlns:a16="http://schemas.microsoft.com/office/drawing/2014/main" id="{DBF59101-CA89-03D7-E98F-148347FF23A5}"/>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2821732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2A546-3336-D3E9-7BFA-AF5AB7D450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AF2C4B-49C8-63B7-E3B3-8B6EC7858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A24B7-5622-E6AA-E659-8E84478AC4AC}"/>
              </a:ext>
            </a:extLst>
          </p:cNvPr>
          <p:cNvSpPr>
            <a:spLocks noGrp="1"/>
          </p:cNvSpPr>
          <p:nvPr>
            <p:ph type="dt" sz="half" idx="10"/>
          </p:nvPr>
        </p:nvSpPr>
        <p:spPr/>
        <p:txBody>
          <a:bodyPr/>
          <a:lstStyle/>
          <a:p>
            <a:fld id="{0B37904A-BB41-4C6A-AE48-D5017DA8FEB3}" type="datetime1">
              <a:rPr lang="en-US" smtClean="0"/>
              <a:t>3/21/2024</a:t>
            </a:fld>
            <a:endParaRPr lang="en-US"/>
          </a:p>
        </p:txBody>
      </p:sp>
      <p:sp>
        <p:nvSpPr>
          <p:cNvPr id="5" name="Footer Placeholder 4">
            <a:extLst>
              <a:ext uri="{FF2B5EF4-FFF2-40B4-BE49-F238E27FC236}">
                <a16:creationId xmlns:a16="http://schemas.microsoft.com/office/drawing/2014/main" id="{25A49C41-35F1-C423-A5E3-8B30DF74B289}"/>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6" name="Slide Number Placeholder 5">
            <a:extLst>
              <a:ext uri="{FF2B5EF4-FFF2-40B4-BE49-F238E27FC236}">
                <a16:creationId xmlns:a16="http://schemas.microsoft.com/office/drawing/2014/main" id="{EB080965-D91E-90BE-BAB2-D374C67BA88E}"/>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2657429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F3A93-CDF2-3B83-39CF-6EBC94DD94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C54D70-4E44-EF7B-DE52-C5AAED7934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8A1385-9921-DC96-73D4-CE3371F8C3FA}"/>
              </a:ext>
            </a:extLst>
          </p:cNvPr>
          <p:cNvSpPr>
            <a:spLocks noGrp="1"/>
          </p:cNvSpPr>
          <p:nvPr>
            <p:ph type="dt" sz="half" idx="10"/>
          </p:nvPr>
        </p:nvSpPr>
        <p:spPr/>
        <p:txBody>
          <a:bodyPr/>
          <a:lstStyle/>
          <a:p>
            <a:fld id="{FF5CED79-D164-4578-8069-595703E5713A}" type="datetime1">
              <a:rPr lang="en-US" smtClean="0"/>
              <a:t>3/21/2024</a:t>
            </a:fld>
            <a:endParaRPr lang="en-US"/>
          </a:p>
        </p:txBody>
      </p:sp>
      <p:sp>
        <p:nvSpPr>
          <p:cNvPr id="5" name="Footer Placeholder 4">
            <a:extLst>
              <a:ext uri="{FF2B5EF4-FFF2-40B4-BE49-F238E27FC236}">
                <a16:creationId xmlns:a16="http://schemas.microsoft.com/office/drawing/2014/main" id="{DB5669D9-F943-00DB-2283-D586B5F292DF}"/>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6" name="Slide Number Placeholder 5">
            <a:extLst>
              <a:ext uri="{FF2B5EF4-FFF2-40B4-BE49-F238E27FC236}">
                <a16:creationId xmlns:a16="http://schemas.microsoft.com/office/drawing/2014/main" id="{EABDE245-06BF-65A2-1367-E94F884F7C68}"/>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390640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DDBEF-CA80-2EC9-2512-6126A1D2F6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D684FD-E58D-DE50-4150-4947CB566A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88A98E-DCC5-A3B4-42EA-E8755B9BB6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D35014-25B0-CBF5-479E-D3D7F538CEE3}"/>
              </a:ext>
            </a:extLst>
          </p:cNvPr>
          <p:cNvSpPr>
            <a:spLocks noGrp="1"/>
          </p:cNvSpPr>
          <p:nvPr>
            <p:ph type="dt" sz="half" idx="10"/>
          </p:nvPr>
        </p:nvSpPr>
        <p:spPr/>
        <p:txBody>
          <a:bodyPr/>
          <a:lstStyle/>
          <a:p>
            <a:fld id="{30B2E752-FE49-4CBA-996B-2623B5BD16FA}" type="datetime1">
              <a:rPr lang="en-US" smtClean="0"/>
              <a:t>3/21/2024</a:t>
            </a:fld>
            <a:endParaRPr lang="en-US"/>
          </a:p>
        </p:txBody>
      </p:sp>
      <p:sp>
        <p:nvSpPr>
          <p:cNvPr id="6" name="Footer Placeholder 5">
            <a:extLst>
              <a:ext uri="{FF2B5EF4-FFF2-40B4-BE49-F238E27FC236}">
                <a16:creationId xmlns:a16="http://schemas.microsoft.com/office/drawing/2014/main" id="{4707AEA5-EDD0-9842-94D4-30AA5A9A2831}"/>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7" name="Slide Number Placeholder 6">
            <a:extLst>
              <a:ext uri="{FF2B5EF4-FFF2-40B4-BE49-F238E27FC236}">
                <a16:creationId xmlns:a16="http://schemas.microsoft.com/office/drawing/2014/main" id="{24ABB5AD-1563-C945-35B2-9CC0BE285BF5}"/>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3935722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0F1F9-359C-5FA9-A5B1-22E8CA9680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73419F-9109-EE9F-55D9-F051A88EA8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B6F830-6C12-8D10-5DB2-6559076E6E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4970A8-D8F7-2FA3-93E0-195E5CF7D9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39684F-6169-EF3D-1840-844ACC59EA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9C2FB4-F7A0-4763-D4ED-378CC3E4E847}"/>
              </a:ext>
            </a:extLst>
          </p:cNvPr>
          <p:cNvSpPr>
            <a:spLocks noGrp="1"/>
          </p:cNvSpPr>
          <p:nvPr>
            <p:ph type="dt" sz="half" idx="10"/>
          </p:nvPr>
        </p:nvSpPr>
        <p:spPr/>
        <p:txBody>
          <a:bodyPr/>
          <a:lstStyle/>
          <a:p>
            <a:fld id="{953146C6-C5D4-427E-802A-4D6EEC1430C4}" type="datetime1">
              <a:rPr lang="en-US" smtClean="0"/>
              <a:t>3/21/2024</a:t>
            </a:fld>
            <a:endParaRPr lang="en-US"/>
          </a:p>
        </p:txBody>
      </p:sp>
      <p:sp>
        <p:nvSpPr>
          <p:cNvPr id="8" name="Footer Placeholder 7">
            <a:extLst>
              <a:ext uri="{FF2B5EF4-FFF2-40B4-BE49-F238E27FC236}">
                <a16:creationId xmlns:a16="http://schemas.microsoft.com/office/drawing/2014/main" id="{407DC351-BB0F-5628-6BCC-25D1CEECCE22}"/>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9" name="Slide Number Placeholder 8">
            <a:extLst>
              <a:ext uri="{FF2B5EF4-FFF2-40B4-BE49-F238E27FC236}">
                <a16:creationId xmlns:a16="http://schemas.microsoft.com/office/drawing/2014/main" id="{925531C2-439B-9AA4-56BD-B3E41CFF0810}"/>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3730820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EEBA3-90E0-B4C0-B4A2-DBDCCAD56A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318CEE-EC0F-3262-0BA0-824D4149B8BB}"/>
              </a:ext>
            </a:extLst>
          </p:cNvPr>
          <p:cNvSpPr>
            <a:spLocks noGrp="1"/>
          </p:cNvSpPr>
          <p:nvPr>
            <p:ph type="dt" sz="half" idx="10"/>
          </p:nvPr>
        </p:nvSpPr>
        <p:spPr/>
        <p:txBody>
          <a:bodyPr/>
          <a:lstStyle/>
          <a:p>
            <a:fld id="{DD4BC4D9-D9B2-4AAE-910E-A1B2BA606337}" type="datetime1">
              <a:rPr lang="en-US" smtClean="0"/>
              <a:t>3/21/2024</a:t>
            </a:fld>
            <a:endParaRPr lang="en-US"/>
          </a:p>
        </p:txBody>
      </p:sp>
      <p:sp>
        <p:nvSpPr>
          <p:cNvPr id="4" name="Footer Placeholder 3">
            <a:extLst>
              <a:ext uri="{FF2B5EF4-FFF2-40B4-BE49-F238E27FC236}">
                <a16:creationId xmlns:a16="http://schemas.microsoft.com/office/drawing/2014/main" id="{8E5CE51E-F37B-998B-E5B1-7FAEEBDD09B4}"/>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5" name="Slide Number Placeholder 4">
            <a:extLst>
              <a:ext uri="{FF2B5EF4-FFF2-40B4-BE49-F238E27FC236}">
                <a16:creationId xmlns:a16="http://schemas.microsoft.com/office/drawing/2014/main" id="{E6A853E8-2056-E239-13BC-870A382E1216}"/>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4230175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025AA1-8EF5-D08D-FD3A-247079A1AFC6}"/>
              </a:ext>
            </a:extLst>
          </p:cNvPr>
          <p:cNvSpPr>
            <a:spLocks noGrp="1"/>
          </p:cNvSpPr>
          <p:nvPr>
            <p:ph type="dt" sz="half" idx="10"/>
          </p:nvPr>
        </p:nvSpPr>
        <p:spPr/>
        <p:txBody>
          <a:bodyPr/>
          <a:lstStyle/>
          <a:p>
            <a:fld id="{30465CCD-CDDA-4B2B-8C1E-D261318BC265}" type="datetime1">
              <a:rPr lang="en-US" smtClean="0"/>
              <a:t>3/21/2024</a:t>
            </a:fld>
            <a:endParaRPr lang="en-US"/>
          </a:p>
        </p:txBody>
      </p:sp>
      <p:sp>
        <p:nvSpPr>
          <p:cNvPr id="3" name="Footer Placeholder 2">
            <a:extLst>
              <a:ext uri="{FF2B5EF4-FFF2-40B4-BE49-F238E27FC236}">
                <a16:creationId xmlns:a16="http://schemas.microsoft.com/office/drawing/2014/main" id="{08BBB3D6-858A-551F-357A-CC5FF60B7C80}"/>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4" name="Slide Number Placeholder 3">
            <a:extLst>
              <a:ext uri="{FF2B5EF4-FFF2-40B4-BE49-F238E27FC236}">
                <a16:creationId xmlns:a16="http://schemas.microsoft.com/office/drawing/2014/main" id="{A4B57A9E-B984-05CA-196F-F42FD7F0BFE1}"/>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2875125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C0BF8-01CE-7BEE-9718-A7E521880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12C648-DFC9-9AB2-EE20-1B303C6891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83AE40-8727-AA5B-DB9B-2F5A441E15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6EA53A-B159-B18F-83F6-63461669F056}"/>
              </a:ext>
            </a:extLst>
          </p:cNvPr>
          <p:cNvSpPr>
            <a:spLocks noGrp="1"/>
          </p:cNvSpPr>
          <p:nvPr>
            <p:ph type="dt" sz="half" idx="10"/>
          </p:nvPr>
        </p:nvSpPr>
        <p:spPr/>
        <p:txBody>
          <a:bodyPr/>
          <a:lstStyle/>
          <a:p>
            <a:fld id="{DFD1FDB7-57F8-42CA-9E50-0D77EAF91DA7}" type="datetime1">
              <a:rPr lang="en-US" smtClean="0"/>
              <a:t>3/21/2024</a:t>
            </a:fld>
            <a:endParaRPr lang="en-US"/>
          </a:p>
        </p:txBody>
      </p:sp>
      <p:sp>
        <p:nvSpPr>
          <p:cNvPr id="6" name="Footer Placeholder 5">
            <a:extLst>
              <a:ext uri="{FF2B5EF4-FFF2-40B4-BE49-F238E27FC236}">
                <a16:creationId xmlns:a16="http://schemas.microsoft.com/office/drawing/2014/main" id="{29CDDF96-B3EF-ED64-7FF5-DF7F6B1EA7BD}"/>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7" name="Slide Number Placeholder 6">
            <a:extLst>
              <a:ext uri="{FF2B5EF4-FFF2-40B4-BE49-F238E27FC236}">
                <a16:creationId xmlns:a16="http://schemas.microsoft.com/office/drawing/2014/main" id="{E64059B8-24DD-6D4B-CC9A-B38A85BA1B49}"/>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4092151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E996B-D4F6-1CB7-EC06-7B4DE2B84D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7B565F-695A-C39E-2CC9-2D6234A2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B33126-10E0-675D-CF68-E20E8471D5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90D5DE-7253-16E2-4414-A97A5F35FAD2}"/>
              </a:ext>
            </a:extLst>
          </p:cNvPr>
          <p:cNvSpPr>
            <a:spLocks noGrp="1"/>
          </p:cNvSpPr>
          <p:nvPr>
            <p:ph type="dt" sz="half" idx="10"/>
          </p:nvPr>
        </p:nvSpPr>
        <p:spPr/>
        <p:txBody>
          <a:bodyPr/>
          <a:lstStyle/>
          <a:p>
            <a:fld id="{32362E96-F668-4EB2-B315-3A720E7C8A1A}" type="datetime1">
              <a:rPr lang="en-US" smtClean="0"/>
              <a:t>3/21/2024</a:t>
            </a:fld>
            <a:endParaRPr lang="en-US"/>
          </a:p>
        </p:txBody>
      </p:sp>
      <p:sp>
        <p:nvSpPr>
          <p:cNvPr id="6" name="Footer Placeholder 5">
            <a:extLst>
              <a:ext uri="{FF2B5EF4-FFF2-40B4-BE49-F238E27FC236}">
                <a16:creationId xmlns:a16="http://schemas.microsoft.com/office/drawing/2014/main" id="{9DA3C913-2DAE-A117-C265-06D8DF22F306}"/>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7" name="Slide Number Placeholder 6">
            <a:extLst>
              <a:ext uri="{FF2B5EF4-FFF2-40B4-BE49-F238E27FC236}">
                <a16:creationId xmlns:a16="http://schemas.microsoft.com/office/drawing/2014/main" id="{5FE619B9-8164-940E-B5FA-2EF4270A4CE8}"/>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3696833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5B56E-DC5C-99BB-A363-B5389BBAA0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B07CA-D4FE-0051-E1CD-EFECE2AB1D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31151D-6903-8D77-36E1-83979339C0FF}"/>
              </a:ext>
            </a:extLst>
          </p:cNvPr>
          <p:cNvSpPr>
            <a:spLocks noGrp="1"/>
          </p:cNvSpPr>
          <p:nvPr>
            <p:ph type="dt" sz="half" idx="10"/>
          </p:nvPr>
        </p:nvSpPr>
        <p:spPr/>
        <p:txBody>
          <a:bodyPr/>
          <a:lstStyle/>
          <a:p>
            <a:fld id="{C7183F38-8014-44A3-81E3-EB7555D38584}" type="datetime1">
              <a:rPr lang="en-US" smtClean="0"/>
              <a:t>3/21/2024</a:t>
            </a:fld>
            <a:endParaRPr lang="en-US"/>
          </a:p>
        </p:txBody>
      </p:sp>
      <p:sp>
        <p:nvSpPr>
          <p:cNvPr id="5" name="Footer Placeholder 4">
            <a:extLst>
              <a:ext uri="{FF2B5EF4-FFF2-40B4-BE49-F238E27FC236}">
                <a16:creationId xmlns:a16="http://schemas.microsoft.com/office/drawing/2014/main" id="{A6C5FE4B-6F7A-D200-03E8-3BE1B4EF39F9}"/>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6" name="Slide Number Placeholder 5">
            <a:extLst>
              <a:ext uri="{FF2B5EF4-FFF2-40B4-BE49-F238E27FC236}">
                <a16:creationId xmlns:a16="http://schemas.microsoft.com/office/drawing/2014/main" id="{A456DB63-6BFD-BE9F-7E08-C819B714BF78}"/>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2980192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C229C3-7C1D-7475-BFF1-0F3ED25102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589997-37AF-1FFB-FEE7-B0B4F5B104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EF65FD-1794-53FF-FC2B-3D6FD121B82D}"/>
              </a:ext>
            </a:extLst>
          </p:cNvPr>
          <p:cNvSpPr>
            <a:spLocks noGrp="1"/>
          </p:cNvSpPr>
          <p:nvPr>
            <p:ph type="dt" sz="half" idx="10"/>
          </p:nvPr>
        </p:nvSpPr>
        <p:spPr/>
        <p:txBody>
          <a:bodyPr/>
          <a:lstStyle/>
          <a:p>
            <a:fld id="{258E2FED-C54D-4486-9697-318E9B65088A}" type="datetime1">
              <a:rPr lang="en-US" smtClean="0"/>
              <a:t>3/21/2024</a:t>
            </a:fld>
            <a:endParaRPr lang="en-US"/>
          </a:p>
        </p:txBody>
      </p:sp>
      <p:sp>
        <p:nvSpPr>
          <p:cNvPr id="5" name="Footer Placeholder 4">
            <a:extLst>
              <a:ext uri="{FF2B5EF4-FFF2-40B4-BE49-F238E27FC236}">
                <a16:creationId xmlns:a16="http://schemas.microsoft.com/office/drawing/2014/main" id="{FC63E723-1681-ED02-F014-E720D20B70FB}"/>
              </a:ext>
            </a:extLst>
          </p:cNvPr>
          <p:cNvSpPr>
            <a:spLocks noGrp="1"/>
          </p:cNvSpPr>
          <p:nvPr>
            <p:ph type="ftr" sz="quarter" idx="11"/>
          </p:nvPr>
        </p:nvSpPr>
        <p:spPr/>
        <p:txBody>
          <a:bodyPr/>
          <a:lstStyle/>
          <a:p>
            <a:r>
              <a:rPr lang="en-US"/>
              <a:t>© Len Bass, Paul Clements, Rick Kazman, distributed under Creative Commons Attribution License</a:t>
            </a:r>
          </a:p>
        </p:txBody>
      </p:sp>
      <p:sp>
        <p:nvSpPr>
          <p:cNvPr id="6" name="Slide Number Placeholder 5">
            <a:extLst>
              <a:ext uri="{FF2B5EF4-FFF2-40B4-BE49-F238E27FC236}">
                <a16:creationId xmlns:a16="http://schemas.microsoft.com/office/drawing/2014/main" id="{91EE3866-A960-45E0-8FCA-831990F45A61}"/>
              </a:ext>
            </a:extLst>
          </p:cNvPr>
          <p:cNvSpPr>
            <a:spLocks noGrp="1"/>
          </p:cNvSpPr>
          <p:nvPr>
            <p:ph type="sldNum" sz="quarter" idx="12"/>
          </p:nvPr>
        </p:nvSpPr>
        <p:spPr/>
        <p:txBody>
          <a:bodyPr/>
          <a:lstStyle/>
          <a:p>
            <a:fld id="{ED15BBF7-D0D0-45F0-A661-F27485DCF038}" type="slidenum">
              <a:rPr lang="en-US" smtClean="0"/>
              <a:t>‹#›</a:t>
            </a:fld>
            <a:endParaRPr lang="en-US"/>
          </a:p>
        </p:txBody>
      </p:sp>
    </p:spTree>
    <p:extLst>
      <p:ext uri="{BB962C8B-B14F-4D97-AF65-F5344CB8AC3E}">
        <p14:creationId xmlns:p14="http://schemas.microsoft.com/office/powerpoint/2010/main" val="3005394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6FC92-0E86-C359-61A0-F2E5C33661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CD6EC7-BBA4-2D8F-D73B-60CD7F4052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894AC6-BF10-C4B5-C617-255E1B8CD2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20ECD0-8579-44C6-91D8-1B78D4B09E0B}" type="datetime1">
              <a:rPr lang="en-US" smtClean="0"/>
              <a:t>3/21/2024</a:t>
            </a:fld>
            <a:endParaRPr lang="en-US"/>
          </a:p>
        </p:txBody>
      </p:sp>
      <p:sp>
        <p:nvSpPr>
          <p:cNvPr id="5" name="Footer Placeholder 4">
            <a:extLst>
              <a:ext uri="{FF2B5EF4-FFF2-40B4-BE49-F238E27FC236}">
                <a16:creationId xmlns:a16="http://schemas.microsoft.com/office/drawing/2014/main" id="{7D3EF06C-DACB-9246-81A7-06C0F0E8DF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Len Bass, Paul Clements, Rick Kazman, distributed under Creative Commons Attribution License</a:t>
            </a:r>
          </a:p>
        </p:txBody>
      </p:sp>
      <p:sp>
        <p:nvSpPr>
          <p:cNvPr id="6" name="Slide Number Placeholder 5">
            <a:extLst>
              <a:ext uri="{FF2B5EF4-FFF2-40B4-BE49-F238E27FC236}">
                <a16:creationId xmlns:a16="http://schemas.microsoft.com/office/drawing/2014/main" id="{DDF223A5-C49C-51F5-05DF-EB663A3221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15BBF7-D0D0-45F0-A661-F27485DCF038}" type="slidenum">
              <a:rPr lang="en-US" smtClean="0"/>
              <a:t>‹#›</a:t>
            </a:fld>
            <a:endParaRPr lang="en-US"/>
          </a:p>
        </p:txBody>
      </p:sp>
    </p:spTree>
    <p:extLst>
      <p:ext uri="{BB962C8B-B14F-4D97-AF65-F5344CB8AC3E}">
        <p14:creationId xmlns:p14="http://schemas.microsoft.com/office/powerpoint/2010/main" val="25920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C4E71-3A46-10E9-D65A-A8C64CC3BCDB}"/>
              </a:ext>
            </a:extLst>
          </p:cNvPr>
          <p:cNvSpPr>
            <a:spLocks noGrp="1"/>
          </p:cNvSpPr>
          <p:nvPr>
            <p:ph type="ctrTitle"/>
          </p:nvPr>
        </p:nvSpPr>
        <p:spPr/>
        <p:txBody>
          <a:bodyPr>
            <a:normAutofit/>
          </a:bodyPr>
          <a:lstStyle/>
          <a:p>
            <a:r>
              <a:rPr lang="en-US" sz="8800" dirty="0"/>
              <a:t>Chapter Six </a:t>
            </a:r>
          </a:p>
        </p:txBody>
      </p:sp>
      <p:sp>
        <p:nvSpPr>
          <p:cNvPr id="3" name="Subtitle 2">
            <a:extLst>
              <a:ext uri="{FF2B5EF4-FFF2-40B4-BE49-F238E27FC236}">
                <a16:creationId xmlns:a16="http://schemas.microsoft.com/office/drawing/2014/main" id="{D92FE31C-1B5F-A0FF-CA31-86D7BED45E74}"/>
              </a:ext>
            </a:extLst>
          </p:cNvPr>
          <p:cNvSpPr>
            <a:spLocks noGrp="1"/>
          </p:cNvSpPr>
          <p:nvPr>
            <p:ph type="subTitle" idx="1"/>
          </p:nvPr>
        </p:nvSpPr>
        <p:spPr/>
        <p:txBody>
          <a:bodyPr>
            <a:normAutofit/>
          </a:bodyPr>
          <a:lstStyle/>
          <a:p>
            <a:r>
              <a:rPr lang="en-US" sz="4400" dirty="0"/>
              <a:t>Architecture and Business  </a:t>
            </a:r>
          </a:p>
          <a:p>
            <a:r>
              <a:rPr lang="en-US" sz="3200" dirty="0"/>
              <a:t>                                                   By: Abenezer Fantu </a:t>
            </a:r>
          </a:p>
        </p:txBody>
      </p:sp>
    </p:spTree>
    <p:extLst>
      <p:ext uri="{BB962C8B-B14F-4D97-AF65-F5344CB8AC3E}">
        <p14:creationId xmlns:p14="http://schemas.microsoft.com/office/powerpoint/2010/main" val="2446778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Economic Analysis of Architectures</a:t>
            </a:r>
            <a:endParaRPr lang="en-US" dirty="0"/>
          </a:p>
        </p:txBody>
      </p:sp>
      <p:sp>
        <p:nvSpPr>
          <p:cNvPr id="3" name="Content Placeholder 2"/>
          <p:cNvSpPr>
            <a:spLocks noGrp="1"/>
          </p:cNvSpPr>
          <p:nvPr>
            <p:ph idx="1"/>
          </p:nvPr>
        </p:nvSpPr>
        <p:spPr/>
        <p:txBody>
          <a:bodyPr>
            <a:normAutofit/>
          </a:bodyPr>
          <a:lstStyle/>
          <a:p>
            <a:pPr marL="0" indent="0">
              <a:buNone/>
            </a:pPr>
            <a:r>
              <a:rPr lang="en-US" dirty="0"/>
              <a:t> Outline </a:t>
            </a:r>
          </a:p>
          <a:p>
            <a:r>
              <a:rPr lang="en-US" dirty="0"/>
              <a:t>Decision-Making Context </a:t>
            </a:r>
          </a:p>
          <a:p>
            <a:r>
              <a:rPr lang="en-US" dirty="0"/>
              <a:t>The Basis for the Economic Analyses </a:t>
            </a:r>
          </a:p>
          <a:p>
            <a:r>
              <a:rPr lang="en-US" dirty="0"/>
              <a:t>Putting Theory into Practice: The CBAM</a:t>
            </a:r>
          </a:p>
          <a:p>
            <a:r>
              <a:rPr lang="en-US" dirty="0"/>
              <a:t>Case Study: The NASA ECS Project</a:t>
            </a:r>
          </a:p>
          <a:p>
            <a:r>
              <a:rPr lang="en-US" dirty="0"/>
              <a:t>Summary</a:t>
            </a:r>
          </a:p>
        </p:txBody>
      </p:sp>
    </p:spTree>
    <p:extLst>
      <p:ext uri="{BB962C8B-B14F-4D97-AF65-F5344CB8AC3E}">
        <p14:creationId xmlns:p14="http://schemas.microsoft.com/office/powerpoint/2010/main" val="2866011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Decision-making Context</a:t>
            </a:r>
          </a:p>
        </p:txBody>
      </p:sp>
      <p:sp>
        <p:nvSpPr>
          <p:cNvPr id="6" name="Content Placeholder 5"/>
          <p:cNvSpPr>
            <a:spLocks noGrp="1"/>
          </p:cNvSpPr>
          <p:nvPr>
            <p:ph idx="1"/>
          </p:nvPr>
        </p:nvSpPr>
        <p:spPr/>
        <p:txBody>
          <a:bodyPr>
            <a:normAutofit/>
          </a:bodyPr>
          <a:lstStyle/>
          <a:p>
            <a:r>
              <a:rPr lang="en-US" sz="2400" dirty="0"/>
              <a:t>The quality attributes achieved by architecture decisions have economic implications in terms of the </a:t>
            </a:r>
            <a:r>
              <a:rPr lang="en-US" sz="2400" b="1" dirty="0"/>
              <a:t>benefits (</a:t>
            </a:r>
            <a:r>
              <a:rPr lang="en-US" sz="2400" b="1" i="1" dirty="0"/>
              <a:t>utility</a:t>
            </a:r>
            <a:r>
              <a:rPr lang="en-US" sz="2400" b="1" dirty="0"/>
              <a:t>) </a:t>
            </a:r>
            <a:r>
              <a:rPr lang="en-US" sz="2400" dirty="0"/>
              <a:t>that can be derived from those decisions.</a:t>
            </a:r>
          </a:p>
          <a:p>
            <a:r>
              <a:rPr lang="en-US" sz="2400" dirty="0"/>
              <a:t>This interplay between the </a:t>
            </a:r>
            <a:r>
              <a:rPr lang="en-US" sz="2400" dirty="0">
                <a:solidFill>
                  <a:srgbClr val="FF0000"/>
                </a:solidFill>
              </a:rPr>
              <a:t>costs and the benefits</a:t>
            </a:r>
            <a:r>
              <a:rPr lang="en-US" sz="2400" dirty="0"/>
              <a:t> of architectural decisions guides (and torments) the architect. </a:t>
            </a:r>
          </a:p>
        </p:txBody>
      </p:sp>
      <p:pic>
        <p:nvPicPr>
          <p:cNvPr id="4" name="Picture 3" descr="Bas_fig_23.1_3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4190" y="3638346"/>
            <a:ext cx="8264885" cy="3024336"/>
          </a:xfrm>
          <a:prstGeom prst="rect">
            <a:avLst/>
          </a:prstGeom>
        </p:spPr>
      </p:pic>
    </p:spTree>
    <p:extLst>
      <p:ext uri="{BB962C8B-B14F-4D97-AF65-F5344CB8AC3E}">
        <p14:creationId xmlns:p14="http://schemas.microsoft.com/office/powerpoint/2010/main" val="415800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Context</a:t>
            </a:r>
          </a:p>
        </p:txBody>
      </p:sp>
      <p:sp>
        <p:nvSpPr>
          <p:cNvPr id="3" name="Content Placeholder 2"/>
          <p:cNvSpPr>
            <a:spLocks noGrp="1"/>
          </p:cNvSpPr>
          <p:nvPr>
            <p:ph idx="1"/>
          </p:nvPr>
        </p:nvSpPr>
        <p:spPr/>
        <p:txBody>
          <a:bodyPr>
            <a:normAutofit fontScale="85000" lnSpcReduction="20000"/>
          </a:bodyPr>
          <a:lstStyle/>
          <a:p>
            <a:r>
              <a:rPr lang="en-US" dirty="0"/>
              <a:t>Example: </a:t>
            </a:r>
          </a:p>
          <a:p>
            <a:pPr lvl="1"/>
            <a:r>
              <a:rPr lang="en-US" dirty="0"/>
              <a:t>Using </a:t>
            </a:r>
            <a:r>
              <a:rPr lang="en-US" b="1" dirty="0"/>
              <a:t>redundant hardware </a:t>
            </a:r>
            <a:r>
              <a:rPr lang="en-US" dirty="0"/>
              <a:t>to achieve a desired level of availability has a </a:t>
            </a:r>
            <a:r>
              <a:rPr lang="en-US" i="1" dirty="0" smtClean="0">
                <a:solidFill>
                  <a:srgbClr val="FF0000"/>
                </a:solidFill>
              </a:rPr>
              <a:t>cost</a:t>
            </a:r>
            <a:endParaRPr lang="en-US" i="1" dirty="0">
              <a:solidFill>
                <a:srgbClr val="FF0000"/>
              </a:solidFill>
            </a:endParaRPr>
          </a:p>
          <a:p>
            <a:pPr lvl="1"/>
            <a:r>
              <a:rPr lang="en-US" dirty="0" smtClean="0"/>
              <a:t>But this architectural decision </a:t>
            </a:r>
            <a:r>
              <a:rPr lang="en-US" dirty="0"/>
              <a:t>will result in measurable levels of </a:t>
            </a:r>
            <a:r>
              <a:rPr lang="en-US" b="1" dirty="0"/>
              <a:t>availability</a:t>
            </a:r>
            <a:r>
              <a:rPr lang="en-US" dirty="0"/>
              <a:t> that will have some value to the organization developing the system. </a:t>
            </a:r>
          </a:p>
          <a:p>
            <a:r>
              <a:rPr lang="en-US" dirty="0"/>
              <a:t>Knowing the costs and benefits associated with particular decisions enables reasoned selection from among </a:t>
            </a:r>
            <a:r>
              <a:rPr lang="en-US" b="1" dirty="0"/>
              <a:t>competing alternatives.</a:t>
            </a:r>
            <a:r>
              <a:rPr lang="en-US" dirty="0"/>
              <a:t> </a:t>
            </a:r>
          </a:p>
          <a:p>
            <a:r>
              <a:rPr lang="en-US" dirty="0"/>
              <a:t>Economic analysis does not make decisions for the stakeholders. It simply aids in the elicitation and documentation of </a:t>
            </a:r>
            <a:r>
              <a:rPr lang="en-US" i="1" dirty="0"/>
              <a:t>value for cost </a:t>
            </a:r>
            <a:r>
              <a:rPr lang="en-US" dirty="0"/>
              <a:t>(VFC).</a:t>
            </a:r>
          </a:p>
          <a:p>
            <a:pPr lvl="1"/>
            <a:r>
              <a:rPr lang="en-US" b="1" dirty="0"/>
              <a:t>VFC: </a:t>
            </a:r>
            <a:r>
              <a:rPr lang="en-US" dirty="0"/>
              <a:t>a function of </a:t>
            </a:r>
            <a:r>
              <a:rPr lang="x-none" dirty="0"/>
              <a:t> </a:t>
            </a:r>
            <a:r>
              <a:rPr lang="en-US" dirty="0"/>
              <a:t>the </a:t>
            </a:r>
            <a:r>
              <a:rPr lang="en-US" i="1" dirty="0">
                <a:solidFill>
                  <a:srgbClr val="FF0000"/>
                </a:solidFill>
              </a:rPr>
              <a:t>costs, benefits</a:t>
            </a:r>
            <a:r>
              <a:rPr lang="en-US" dirty="0"/>
              <a:t>, and uncertainty of a “portfolio”(range) of architectural investments.</a:t>
            </a:r>
            <a:r>
              <a:rPr lang="x-none" dirty="0"/>
              <a:t>  </a:t>
            </a:r>
            <a:endParaRPr lang="en-US" dirty="0"/>
          </a:p>
          <a:p>
            <a:pPr lvl="1"/>
            <a:r>
              <a:rPr lang="en-US" dirty="0"/>
              <a:t>It gives the stakeholders a framework within which they can apply a </a:t>
            </a:r>
            <a:r>
              <a:rPr lang="en-US" dirty="0">
                <a:solidFill>
                  <a:srgbClr val="FF0000"/>
                </a:solidFill>
              </a:rPr>
              <a:t>rational decision-making </a:t>
            </a:r>
            <a:r>
              <a:rPr lang="en-US" dirty="0"/>
              <a:t>process that suits their needs and their risk aversion.</a:t>
            </a:r>
          </a:p>
          <a:p>
            <a:r>
              <a:rPr lang="en-US" b="1" dirty="0"/>
              <a:t>Economic analysis </a:t>
            </a:r>
            <a:r>
              <a:rPr lang="en-US" dirty="0"/>
              <a:t>isn’t something to apply to every architectural decision, but rather to the most basic ones that put an overarching architectural strategy in place. </a:t>
            </a:r>
          </a:p>
        </p:txBody>
      </p:sp>
    </p:spTree>
    <p:extLst>
      <p:ext uri="{BB962C8B-B14F-4D97-AF65-F5344CB8AC3E}">
        <p14:creationId xmlns:p14="http://schemas.microsoft.com/office/powerpoint/2010/main" val="3837162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Utility-Response Curves</a:t>
            </a:r>
          </a:p>
        </p:txBody>
      </p:sp>
      <p:sp>
        <p:nvSpPr>
          <p:cNvPr id="3" name="Content Placeholder 2"/>
          <p:cNvSpPr>
            <a:spLocks noGrp="1"/>
          </p:cNvSpPr>
          <p:nvPr>
            <p:ph idx="1"/>
          </p:nvPr>
        </p:nvSpPr>
        <p:spPr>
          <a:xfrm>
            <a:off x="838200" y="1315958"/>
            <a:ext cx="10515600" cy="5699437"/>
          </a:xfrm>
        </p:spPr>
        <p:txBody>
          <a:bodyPr>
            <a:normAutofit/>
          </a:bodyPr>
          <a:lstStyle/>
          <a:p>
            <a:r>
              <a:rPr lang="en-US" sz="2000" dirty="0"/>
              <a:t>Our economic analysis </a:t>
            </a:r>
            <a:r>
              <a:rPr lang="en-US" sz="2000" b="1" dirty="0">
                <a:solidFill>
                  <a:srgbClr val="FF0000"/>
                </a:solidFill>
              </a:rPr>
              <a:t>uses quality attribute </a:t>
            </a:r>
            <a:r>
              <a:rPr lang="en-US" sz="2000" dirty="0">
                <a:solidFill>
                  <a:srgbClr val="FF0000"/>
                </a:solidFill>
              </a:rPr>
              <a:t>scenarios </a:t>
            </a:r>
            <a:r>
              <a:rPr lang="en-US" sz="2000" dirty="0"/>
              <a:t>as the way to concretely express and represent specific quality attributes. </a:t>
            </a:r>
          </a:p>
          <a:p>
            <a:r>
              <a:rPr lang="en-US" sz="2000" dirty="0"/>
              <a:t>When we vary the values of the responses, and ask what the utility is of each response we get a set of points that we can plot: </a:t>
            </a:r>
            <a:r>
              <a:rPr lang="en-US" sz="2000" b="1" dirty="0"/>
              <a:t>a </a:t>
            </a:r>
            <a:r>
              <a:rPr lang="en-US" sz="2000" b="1" i="1" dirty="0"/>
              <a:t>utility-response curve</a:t>
            </a:r>
            <a:r>
              <a:rPr lang="en-US" sz="2000" dirty="0"/>
              <a:t>.</a:t>
            </a:r>
          </a:p>
          <a:p>
            <a:r>
              <a:rPr lang="en-US" sz="2000" dirty="0"/>
              <a:t>Each </a:t>
            </a:r>
            <a:r>
              <a:rPr lang="en-US" sz="2000" b="1" dirty="0"/>
              <a:t>scenario’s stimulus-response pair </a:t>
            </a:r>
            <a:r>
              <a:rPr lang="en-US" sz="2000" dirty="0"/>
              <a:t>provides some utility (value) to the stakeholders, and the utility of different possible values for the response can be compared. </a:t>
            </a:r>
          </a:p>
          <a:p>
            <a:r>
              <a:rPr lang="en-US" sz="2000" dirty="0" smtClean="0"/>
              <a:t>With </a:t>
            </a:r>
            <a:r>
              <a:rPr lang="en-US" sz="2000" dirty="0"/>
              <a:t>prodding, stakeholders can express their needs using concrete response measures, such as “99.999 percent available.” But how much would they value slightly less demanding quality attributes, such as “99.99 percent available”?  Would that be almost as good? </a:t>
            </a:r>
          </a:p>
          <a:p>
            <a:r>
              <a:rPr lang="en-US" sz="2000" dirty="0"/>
              <a:t>If so, then the lower cost of achieving that lower value might make that the preferred option, </a:t>
            </a:r>
          </a:p>
          <a:p>
            <a:r>
              <a:rPr lang="en-US" sz="2000" dirty="0"/>
              <a:t>Capturing the utility of alternative responses of a scenario better enables the architect to make tradeoffs involving that quality attribute.</a:t>
            </a:r>
          </a:p>
          <a:p>
            <a:r>
              <a:rPr lang="en-US" sz="2000" dirty="0"/>
              <a:t>We can portray each relationship between a set of utility measures and a corresponding set of response measures as a graph—a utility-response curve. </a:t>
            </a:r>
          </a:p>
        </p:txBody>
      </p:sp>
    </p:spTree>
    <p:extLst>
      <p:ext uri="{BB962C8B-B14F-4D97-AF65-F5344CB8AC3E}">
        <p14:creationId xmlns:p14="http://schemas.microsoft.com/office/powerpoint/2010/main" val="4011988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274638"/>
            <a:ext cx="7787208" cy="562074"/>
          </a:xfrm>
        </p:spPr>
        <p:txBody>
          <a:bodyPr>
            <a:normAutofit fontScale="90000"/>
          </a:bodyPr>
          <a:lstStyle/>
          <a:p>
            <a:r>
              <a:rPr lang="en-US" dirty="0"/>
              <a:t>Example Utility-Response Curves</a:t>
            </a:r>
          </a:p>
        </p:txBody>
      </p:sp>
      <p:pic>
        <p:nvPicPr>
          <p:cNvPr id="4" name="Picture 3" descr="Bas_fig_23.2_3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4584" y="1045166"/>
            <a:ext cx="5943745" cy="5336162"/>
          </a:xfrm>
          <a:prstGeom prst="rect">
            <a:avLst/>
          </a:prstGeom>
        </p:spPr>
      </p:pic>
    </p:spTree>
    <p:extLst>
      <p:ext uri="{BB962C8B-B14F-4D97-AF65-F5344CB8AC3E}">
        <p14:creationId xmlns:p14="http://schemas.microsoft.com/office/powerpoint/2010/main" val="260883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Weighting the Scenarios</a:t>
            </a:r>
          </a:p>
        </p:txBody>
      </p:sp>
      <p:sp>
        <p:nvSpPr>
          <p:cNvPr id="3" name="Content Placeholder 2"/>
          <p:cNvSpPr>
            <a:spLocks noGrp="1"/>
          </p:cNvSpPr>
          <p:nvPr>
            <p:ph idx="1"/>
          </p:nvPr>
        </p:nvSpPr>
        <p:spPr>
          <a:xfrm>
            <a:off x="595086" y="1825625"/>
            <a:ext cx="10758714" cy="4351338"/>
          </a:xfrm>
        </p:spPr>
        <p:txBody>
          <a:bodyPr>
            <a:normAutofit/>
          </a:bodyPr>
          <a:lstStyle/>
          <a:p>
            <a:r>
              <a:rPr lang="en-US" dirty="0"/>
              <a:t>Different scenarios will have different </a:t>
            </a:r>
            <a:r>
              <a:rPr lang="en-US" b="1" dirty="0"/>
              <a:t>importance</a:t>
            </a:r>
            <a:r>
              <a:rPr lang="en-US" dirty="0"/>
              <a:t> to the stakeholders.</a:t>
            </a:r>
          </a:p>
          <a:p>
            <a:r>
              <a:rPr lang="en-US" dirty="0"/>
              <a:t>To make a choice of architectural strategies that is best suited to the stakeholders’ desires, we must weight the scenarios. </a:t>
            </a:r>
          </a:p>
          <a:p>
            <a:pPr lvl="1"/>
            <a:r>
              <a:rPr lang="en-US" dirty="0"/>
              <a:t>It does no good to spend a </a:t>
            </a:r>
            <a:r>
              <a:rPr lang="en-US" dirty="0">
                <a:solidFill>
                  <a:srgbClr val="FF0000"/>
                </a:solidFill>
              </a:rPr>
              <a:t>great deal of effort</a:t>
            </a:r>
            <a:r>
              <a:rPr lang="en-US" dirty="0"/>
              <a:t> optimizing a scenario in which the stakeholders actually have very little interest. </a:t>
            </a:r>
          </a:p>
        </p:txBody>
      </p:sp>
    </p:spTree>
    <p:extLst>
      <p:ext uri="{BB962C8B-B14F-4D97-AF65-F5344CB8AC3E}">
        <p14:creationId xmlns:p14="http://schemas.microsoft.com/office/powerpoint/2010/main" val="2331548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Determining Benefit and Normalization</a:t>
            </a:r>
          </a:p>
        </p:txBody>
      </p:sp>
      <p:sp>
        <p:nvSpPr>
          <p:cNvPr id="3" name="Content Placeholder 2"/>
          <p:cNvSpPr>
            <a:spLocks noGrp="1"/>
          </p:cNvSpPr>
          <p:nvPr>
            <p:ph idx="1"/>
          </p:nvPr>
        </p:nvSpPr>
        <p:spPr>
          <a:xfrm>
            <a:off x="1981200" y="1484785"/>
            <a:ext cx="8229600" cy="4641379"/>
          </a:xfrm>
        </p:spPr>
        <p:txBody>
          <a:bodyPr>
            <a:normAutofit fontScale="77500" lnSpcReduction="20000"/>
          </a:bodyPr>
          <a:lstStyle/>
          <a:p>
            <a:r>
              <a:rPr lang="en-US" dirty="0"/>
              <a:t>The overall benefit of an architectural strategy across various quality attribute scenarios is the sum of the utility associated with each scenario, weighted by the importance of the scenario. </a:t>
            </a:r>
          </a:p>
          <a:p>
            <a:pPr>
              <a:lnSpc>
                <a:spcPct val="120000"/>
              </a:lnSpc>
            </a:pPr>
            <a:r>
              <a:rPr lang="en-US" dirty="0"/>
              <a:t>For each architectural strategy </a:t>
            </a:r>
            <a:r>
              <a:rPr lang="en-US" dirty="0" err="1"/>
              <a:t>i</a:t>
            </a:r>
            <a:r>
              <a:rPr lang="en-US" dirty="0"/>
              <a:t>, its benefit B</a:t>
            </a:r>
            <a:r>
              <a:rPr lang="en-US" i="1" baseline="-25000" dirty="0"/>
              <a:t>i</a:t>
            </a:r>
            <a:r>
              <a:rPr lang="en-US" dirty="0"/>
              <a:t> over </a:t>
            </a:r>
            <a:r>
              <a:rPr lang="en-US" i="1" dirty="0"/>
              <a:t>j </a:t>
            </a:r>
            <a:r>
              <a:rPr lang="en-US" dirty="0"/>
              <a:t>scenarios (each with weight </a:t>
            </a:r>
            <a:r>
              <a:rPr lang="en-US" dirty="0" err="1"/>
              <a:t>W</a:t>
            </a:r>
            <a:r>
              <a:rPr lang="en-US" i="1" baseline="-25000" dirty="0" err="1"/>
              <a:t>j</a:t>
            </a:r>
            <a:r>
              <a:rPr lang="en-US" dirty="0"/>
              <a:t>) is</a:t>
            </a:r>
          </a:p>
          <a:p>
            <a:pPr marL="0" indent="0" algn="ctr">
              <a:buNone/>
            </a:pPr>
            <a:r>
              <a:rPr lang="en-US" i="1" dirty="0"/>
              <a:t>B</a:t>
            </a:r>
            <a:r>
              <a:rPr lang="en-US" i="1" baseline="-25000" dirty="0"/>
              <a:t>i</a:t>
            </a:r>
            <a:r>
              <a:rPr lang="en-US" dirty="0"/>
              <a:t> = ∑</a:t>
            </a:r>
            <a:r>
              <a:rPr lang="en-US" baseline="-25000" dirty="0"/>
              <a:t>j</a:t>
            </a:r>
            <a:r>
              <a:rPr lang="en-US" dirty="0"/>
              <a:t> (</a:t>
            </a:r>
            <a:r>
              <a:rPr lang="en-US" i="1" dirty="0" err="1"/>
              <a:t>b</a:t>
            </a:r>
            <a:r>
              <a:rPr lang="en-US" i="1" baseline="-25000" dirty="0" err="1"/>
              <a:t>i,j</a:t>
            </a:r>
            <a:r>
              <a:rPr lang="en-US" dirty="0"/>
              <a:t> × </a:t>
            </a:r>
            <a:r>
              <a:rPr lang="en-US" i="1" dirty="0" err="1"/>
              <a:t>W</a:t>
            </a:r>
            <a:r>
              <a:rPr lang="en-US" i="1" baseline="-25000" dirty="0" err="1"/>
              <a:t>j</a:t>
            </a:r>
            <a:r>
              <a:rPr lang="en-US" dirty="0"/>
              <a:t>)</a:t>
            </a:r>
          </a:p>
          <a:p>
            <a:pPr>
              <a:lnSpc>
                <a:spcPct val="70000"/>
              </a:lnSpc>
            </a:pPr>
            <a:endParaRPr lang="en-US" dirty="0"/>
          </a:p>
          <a:p>
            <a:r>
              <a:rPr lang="en-US" dirty="0"/>
              <a:t>Each </a:t>
            </a:r>
            <a:r>
              <a:rPr lang="en-US" dirty="0" err="1"/>
              <a:t>b</a:t>
            </a:r>
            <a:r>
              <a:rPr lang="en-US" i="1" baseline="-25000" dirty="0" err="1"/>
              <a:t>i,j</a:t>
            </a:r>
            <a:r>
              <a:rPr lang="en-US" dirty="0"/>
              <a:t> is calculated as the change in utility (over whatever architectural strategy is currently in place, or is in competition with the one being considered) brought about by the architectural strategy with respect to this scenario: </a:t>
            </a:r>
          </a:p>
          <a:p>
            <a:pPr marL="0" indent="0" algn="ctr">
              <a:buNone/>
            </a:pPr>
            <a:r>
              <a:rPr lang="en-US" i="1" dirty="0" err="1"/>
              <a:t>b</a:t>
            </a:r>
            <a:r>
              <a:rPr lang="en-US" i="1" baseline="-25000" dirty="0" err="1"/>
              <a:t>i</a:t>
            </a:r>
            <a:r>
              <a:rPr lang="en-US" baseline="-25000" dirty="0" err="1"/>
              <a:t>,</a:t>
            </a:r>
            <a:r>
              <a:rPr lang="en-US" i="1" baseline="-25000" dirty="0" err="1"/>
              <a:t>j</a:t>
            </a:r>
            <a:r>
              <a:rPr lang="en-US" dirty="0"/>
              <a:t> = </a:t>
            </a:r>
            <a:r>
              <a:rPr lang="en-US" i="1" dirty="0" err="1"/>
              <a:t>U</a:t>
            </a:r>
            <a:r>
              <a:rPr lang="en-US" i="1" baseline="-25000" dirty="0" err="1"/>
              <a:t>expected</a:t>
            </a:r>
            <a:r>
              <a:rPr lang="en-US" dirty="0"/>
              <a:t> – </a:t>
            </a:r>
            <a:r>
              <a:rPr lang="en-US" i="1" dirty="0" err="1"/>
              <a:t>U</a:t>
            </a:r>
            <a:r>
              <a:rPr lang="en-US" i="1" baseline="-25000" dirty="0" err="1"/>
              <a:t>current</a:t>
            </a:r>
            <a:endParaRPr lang="en-US" dirty="0"/>
          </a:p>
          <a:p>
            <a:pPr>
              <a:lnSpc>
                <a:spcPct val="70000"/>
              </a:lnSpc>
            </a:pPr>
            <a:endParaRPr lang="en-US" dirty="0"/>
          </a:p>
          <a:p>
            <a:r>
              <a:rPr lang="en-US" dirty="0"/>
              <a:t>This is the utility of the expected value of the architectural strategy minus the utility of the </a:t>
            </a:r>
            <a:r>
              <a:rPr lang="en-US" i="1" dirty="0"/>
              <a:t>current</a:t>
            </a:r>
            <a:r>
              <a:rPr lang="en-US" dirty="0"/>
              <a:t> system relative to this scenario. </a:t>
            </a:r>
          </a:p>
          <a:p>
            <a:endParaRPr lang="en-US" dirty="0"/>
          </a:p>
        </p:txBody>
      </p:sp>
    </p:spTree>
    <p:extLst>
      <p:ext uri="{BB962C8B-B14F-4D97-AF65-F5344CB8AC3E}">
        <p14:creationId xmlns:p14="http://schemas.microsoft.com/office/powerpoint/2010/main" val="1038022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Calculating Value for Cost</a:t>
            </a:r>
          </a:p>
        </p:txBody>
      </p:sp>
      <p:sp>
        <p:nvSpPr>
          <p:cNvPr id="3" name="Content Placeholder 2"/>
          <p:cNvSpPr>
            <a:spLocks noGrp="1"/>
          </p:cNvSpPr>
          <p:nvPr>
            <p:ph idx="1"/>
          </p:nvPr>
        </p:nvSpPr>
        <p:spPr/>
        <p:txBody>
          <a:bodyPr>
            <a:normAutofit/>
          </a:bodyPr>
          <a:lstStyle/>
          <a:p>
            <a:r>
              <a:rPr lang="en-US" dirty="0"/>
              <a:t>The VFC for each architectural strategy is the ratio of the total benefit, B</a:t>
            </a:r>
            <a:r>
              <a:rPr lang="en-US" i="1" baseline="-25000" dirty="0"/>
              <a:t>i</a:t>
            </a:r>
            <a:r>
              <a:rPr lang="en-US" dirty="0"/>
              <a:t>, to the cost, </a:t>
            </a:r>
            <a:r>
              <a:rPr lang="en-US" dirty="0" err="1"/>
              <a:t>C</a:t>
            </a:r>
            <a:r>
              <a:rPr lang="en-US" i="1" baseline="-25000" dirty="0" err="1"/>
              <a:t>i</a:t>
            </a:r>
            <a:r>
              <a:rPr lang="en-US" dirty="0"/>
              <a:t>, of implementing it:</a:t>
            </a:r>
          </a:p>
          <a:p>
            <a:pPr marL="0" indent="0" algn="ctr">
              <a:buNone/>
            </a:pPr>
            <a:r>
              <a:rPr lang="en-US" i="1" dirty="0"/>
              <a:t>VFC</a:t>
            </a:r>
            <a:r>
              <a:rPr lang="en-US" dirty="0"/>
              <a:t> = </a:t>
            </a:r>
            <a:r>
              <a:rPr lang="en-US" i="1" dirty="0"/>
              <a:t>B</a:t>
            </a:r>
            <a:r>
              <a:rPr lang="en-US" i="1" baseline="-25000" dirty="0"/>
              <a:t>i</a:t>
            </a:r>
            <a:r>
              <a:rPr lang="en-US" dirty="0"/>
              <a:t> / </a:t>
            </a:r>
            <a:r>
              <a:rPr lang="en-US" i="1" dirty="0" err="1"/>
              <a:t>C</a:t>
            </a:r>
            <a:r>
              <a:rPr lang="en-US" i="1" baseline="-25000" dirty="0" err="1"/>
              <a:t>i</a:t>
            </a:r>
            <a:endParaRPr lang="en-US" dirty="0"/>
          </a:p>
          <a:p>
            <a:r>
              <a:rPr lang="en-US" dirty="0"/>
              <a:t>The cost </a:t>
            </a:r>
            <a:r>
              <a:rPr lang="en-US" dirty="0" err="1"/>
              <a:t>C</a:t>
            </a:r>
            <a:r>
              <a:rPr lang="en-US" i="1" baseline="-25000" dirty="0" err="1"/>
              <a:t>i</a:t>
            </a:r>
            <a:r>
              <a:rPr lang="en-US" dirty="0"/>
              <a:t> is estimated using a model appropriate for the system and the environment being developed, such as a cost model that estimates implementation cost by measuring an architecture’s interaction complexity. </a:t>
            </a:r>
          </a:p>
          <a:p>
            <a:r>
              <a:rPr lang="en-US" dirty="0"/>
              <a:t>You can use this VFC score to rank-order the architectural strategies under consideration.</a:t>
            </a:r>
          </a:p>
          <a:p>
            <a:endParaRPr lang="en-US" dirty="0"/>
          </a:p>
        </p:txBody>
      </p:sp>
    </p:spTree>
    <p:extLst>
      <p:ext uri="{BB962C8B-B14F-4D97-AF65-F5344CB8AC3E}">
        <p14:creationId xmlns:p14="http://schemas.microsoft.com/office/powerpoint/2010/main" val="4113060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Practicalities of Utility Curve Determination</a:t>
            </a:r>
          </a:p>
        </p:txBody>
      </p:sp>
      <p:sp>
        <p:nvSpPr>
          <p:cNvPr id="3" name="Content Placeholder 2"/>
          <p:cNvSpPr>
            <a:spLocks noGrp="1"/>
          </p:cNvSpPr>
          <p:nvPr>
            <p:ph idx="1"/>
          </p:nvPr>
        </p:nvSpPr>
        <p:spPr/>
        <p:txBody>
          <a:bodyPr>
            <a:normAutofit fontScale="92500"/>
          </a:bodyPr>
          <a:lstStyle/>
          <a:p>
            <a:r>
              <a:rPr lang="en-US" dirty="0"/>
              <a:t>To build the utility-response curve, we first determine the quality attribute levels for the </a:t>
            </a:r>
            <a:r>
              <a:rPr lang="en-US" b="1" i="1" dirty="0"/>
              <a:t>best-case and worst-case situations.</a:t>
            </a:r>
            <a:r>
              <a:rPr lang="en-US" dirty="0"/>
              <a:t> </a:t>
            </a:r>
          </a:p>
          <a:p>
            <a:r>
              <a:rPr lang="en-US" dirty="0"/>
              <a:t>The best-case quality attribute level is that above which the stakeholders foresee no further utility. </a:t>
            </a:r>
          </a:p>
          <a:p>
            <a:pPr lvl="1"/>
            <a:r>
              <a:rPr lang="en-US" dirty="0"/>
              <a:t>For example, a system response to the user of 0.1 second is perceived as instantaneous, so improving it further so that it responds in 0.03 second has no additional utility. </a:t>
            </a:r>
          </a:p>
          <a:p>
            <a:r>
              <a:rPr lang="en-US" dirty="0"/>
              <a:t>The worst-case quality attribute level is a minimum threshold above which a system must perform; otherwise it is of no use to the stakeholders. </a:t>
            </a:r>
          </a:p>
          <a:p>
            <a:r>
              <a:rPr lang="en-US" dirty="0"/>
              <a:t>These levels—best-case and worst-case—are assigned utility values of 100 and 0, respectively. </a:t>
            </a:r>
          </a:p>
          <a:p>
            <a:endParaRPr lang="en-US" dirty="0"/>
          </a:p>
        </p:txBody>
      </p:sp>
    </p:spTree>
    <p:extLst>
      <p:ext uri="{BB962C8B-B14F-4D97-AF65-F5344CB8AC3E}">
        <p14:creationId xmlns:p14="http://schemas.microsoft.com/office/powerpoint/2010/main" val="1388302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Practicalities of Weighting Determination</a:t>
            </a:r>
          </a:p>
        </p:txBody>
      </p:sp>
      <p:sp>
        <p:nvSpPr>
          <p:cNvPr id="3" name="Content Placeholder 2"/>
          <p:cNvSpPr>
            <a:spLocks noGrp="1"/>
          </p:cNvSpPr>
          <p:nvPr>
            <p:ph idx="1"/>
          </p:nvPr>
        </p:nvSpPr>
        <p:spPr>
          <a:xfrm>
            <a:off x="1981200" y="1484784"/>
            <a:ext cx="8229600" cy="4824536"/>
          </a:xfrm>
        </p:spPr>
        <p:txBody>
          <a:bodyPr>
            <a:normAutofit fontScale="92500"/>
          </a:bodyPr>
          <a:lstStyle/>
          <a:p>
            <a:r>
              <a:rPr lang="en-US" sz="2400" dirty="0"/>
              <a:t>One method of weighting the scenarios is to </a:t>
            </a:r>
            <a:r>
              <a:rPr lang="en-US" sz="2400" b="1" dirty="0"/>
              <a:t>prioritize</a:t>
            </a:r>
            <a:r>
              <a:rPr lang="en-US" sz="2400" dirty="0"/>
              <a:t> them and use their priority ranking as the weight. </a:t>
            </a:r>
          </a:p>
          <a:p>
            <a:pPr lvl="1"/>
            <a:r>
              <a:rPr lang="en-US" dirty="0"/>
              <a:t>For </a:t>
            </a:r>
            <a:r>
              <a:rPr lang="en-US" i="1" dirty="0"/>
              <a:t>N</a:t>
            </a:r>
            <a:r>
              <a:rPr lang="en-US" dirty="0"/>
              <a:t> scenarios, the highest priority one is given a weight of 1, the next highest is given a weight of </a:t>
            </a:r>
            <a:r>
              <a:rPr lang="en-US" b="1" i="1" dirty="0"/>
              <a:t>(N–1)/N</a:t>
            </a:r>
            <a:r>
              <a:rPr lang="en-US" dirty="0"/>
              <a:t>, and so on. </a:t>
            </a:r>
          </a:p>
          <a:p>
            <a:pPr lvl="1"/>
            <a:r>
              <a:rPr lang="en-US" dirty="0"/>
              <a:t>This turns the problem of weighting the scenarios into one of assigning priorities. </a:t>
            </a:r>
          </a:p>
          <a:p>
            <a:r>
              <a:rPr lang="en-US" sz="2400" dirty="0"/>
              <a:t>The stakeholders can determine the priorities through a variety of voting schemes. </a:t>
            </a:r>
          </a:p>
          <a:p>
            <a:pPr lvl="1"/>
            <a:r>
              <a:rPr lang="en-US" dirty="0"/>
              <a:t>One simple method is to have each stakeholder prioritize the scenarios </a:t>
            </a:r>
            <a:r>
              <a:rPr lang="en-US" i="1" dirty="0"/>
              <a:t>(</a:t>
            </a:r>
            <a:r>
              <a:rPr lang="en-US" b="1" i="1" dirty="0"/>
              <a:t>from 1 to N</a:t>
            </a:r>
            <a:r>
              <a:rPr lang="en-US" i="1" dirty="0"/>
              <a:t>) </a:t>
            </a:r>
            <a:r>
              <a:rPr lang="en-US" dirty="0"/>
              <a:t>and the total priority of the scenario is the sum of the priorities it receives from all of the stakeholders. </a:t>
            </a:r>
          </a:p>
          <a:p>
            <a:pPr lvl="1"/>
            <a:r>
              <a:rPr lang="en-US" dirty="0"/>
              <a:t>Voting can be public or secret. </a:t>
            </a:r>
          </a:p>
          <a:p>
            <a:r>
              <a:rPr lang="en-US" sz="2400" dirty="0"/>
              <a:t>Other schemes are possible. Regardless of the scheme used, it must make sense to the stakeholders and it must suit their culture. </a:t>
            </a:r>
          </a:p>
          <a:p>
            <a:endParaRPr lang="en-US" sz="2400" dirty="0"/>
          </a:p>
        </p:txBody>
      </p:sp>
    </p:spTree>
    <p:extLst>
      <p:ext uri="{BB962C8B-B14F-4D97-AF65-F5344CB8AC3E}">
        <p14:creationId xmlns:p14="http://schemas.microsoft.com/office/powerpoint/2010/main" val="3935682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Practicalities of Cost Determination</a:t>
            </a:r>
          </a:p>
        </p:txBody>
      </p:sp>
      <p:sp>
        <p:nvSpPr>
          <p:cNvPr id="3" name="Content Placeholder 2"/>
          <p:cNvSpPr>
            <a:spLocks noGrp="1"/>
          </p:cNvSpPr>
          <p:nvPr>
            <p:ph idx="1"/>
          </p:nvPr>
        </p:nvSpPr>
        <p:spPr/>
        <p:txBody>
          <a:bodyPr>
            <a:normAutofit/>
          </a:bodyPr>
          <a:lstStyle/>
          <a:p>
            <a:r>
              <a:rPr lang="en-US" dirty="0"/>
              <a:t>There are very few cost models for various architectural strategies. </a:t>
            </a:r>
          </a:p>
          <a:p>
            <a:pPr lvl="1"/>
            <a:r>
              <a:rPr lang="en-US" sz="2000" dirty="0"/>
              <a:t>There are many software cost models, but they are based on overall system characteristics such as </a:t>
            </a:r>
            <a:r>
              <a:rPr lang="en-US" sz="2000" b="1" dirty="0"/>
              <a:t>size or function points.</a:t>
            </a:r>
            <a:r>
              <a:rPr lang="en-US" sz="2000" dirty="0"/>
              <a:t> </a:t>
            </a:r>
          </a:p>
          <a:p>
            <a:pPr lvl="1"/>
            <a:r>
              <a:rPr lang="en-US" sz="2000" dirty="0"/>
              <a:t>These are inadequate to answer the question of how much does it cost to, for example, use a publish-subscribe pattern in a particular portion of the architecture. </a:t>
            </a:r>
          </a:p>
          <a:p>
            <a:pPr lvl="1"/>
            <a:r>
              <a:rPr lang="en-US" sz="2000" dirty="0"/>
              <a:t>There are cost models that are based on complexity of modules (by function point analysis according to the requirements assigned to each module) and the complexity of module interaction, but these are not widely used in practice. </a:t>
            </a:r>
          </a:p>
          <a:p>
            <a:pPr lvl="1"/>
            <a:r>
              <a:rPr lang="en-US" sz="2000" dirty="0"/>
              <a:t>More widely used in practice are </a:t>
            </a:r>
            <a:r>
              <a:rPr lang="en-US" sz="2000" b="1" dirty="0"/>
              <a:t>corporate cost models </a:t>
            </a:r>
            <a:r>
              <a:rPr lang="en-US" sz="2000" dirty="0"/>
              <a:t>based on previous </a:t>
            </a:r>
            <a:r>
              <a:rPr lang="en-US" sz="2000" b="1" dirty="0"/>
              <a:t>experience</a:t>
            </a:r>
            <a:r>
              <a:rPr lang="en-US" sz="2000" dirty="0"/>
              <a:t> with </a:t>
            </a:r>
            <a:r>
              <a:rPr lang="en-US" sz="2000" b="1" i="1" dirty="0"/>
              <a:t>the same or similar architectures</a:t>
            </a:r>
            <a:r>
              <a:rPr lang="en-US" sz="2000" dirty="0"/>
              <a:t>, or the </a:t>
            </a:r>
            <a:r>
              <a:rPr lang="en-US" sz="2000" b="1" dirty="0"/>
              <a:t>experience</a:t>
            </a:r>
            <a:r>
              <a:rPr lang="en-US" sz="2000" dirty="0"/>
              <a:t> and intuition of senior architects. </a:t>
            </a:r>
          </a:p>
        </p:txBody>
      </p:sp>
    </p:spTree>
    <p:extLst>
      <p:ext uri="{BB962C8B-B14F-4D97-AF65-F5344CB8AC3E}">
        <p14:creationId xmlns:p14="http://schemas.microsoft.com/office/powerpoint/2010/main" val="168701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Practicalities of Cost Determination</a:t>
            </a:r>
          </a:p>
        </p:txBody>
      </p:sp>
      <p:sp>
        <p:nvSpPr>
          <p:cNvPr id="3" name="Content Placeholder 2"/>
          <p:cNvSpPr>
            <a:spLocks noGrp="1"/>
          </p:cNvSpPr>
          <p:nvPr>
            <p:ph idx="1"/>
          </p:nvPr>
        </p:nvSpPr>
        <p:spPr/>
        <p:txBody>
          <a:bodyPr>
            <a:normAutofit/>
          </a:bodyPr>
          <a:lstStyle/>
          <a:p>
            <a:r>
              <a:rPr lang="en-US" dirty="0"/>
              <a:t>Architects often turn to cost estimation techniques. </a:t>
            </a:r>
          </a:p>
          <a:p>
            <a:r>
              <a:rPr lang="en-US" dirty="0"/>
              <a:t>An absolute number for cost isn’t necessary to rank candidate architecture strategies. </a:t>
            </a:r>
          </a:p>
          <a:p>
            <a:pPr lvl="1"/>
            <a:r>
              <a:rPr lang="en-US" sz="2000" dirty="0"/>
              <a:t>You can often say something like “Suppose strategy A costs $x. It looks like strategy B will cost $2x, and strategy C will cost $0.5x.” That’s enormously helpful. </a:t>
            </a:r>
          </a:p>
          <a:p>
            <a:pPr lvl="1"/>
            <a:r>
              <a:rPr lang="en-US" sz="2000" dirty="0"/>
              <a:t>A second approach is to use very coarse estimates. Or if you lack confidence for that degree of certainty, you can say something like “Strategy A will cost a lot, strategy B shouldn’t cost very much, and strategy C is probably somewhere in the middle.” </a:t>
            </a:r>
          </a:p>
        </p:txBody>
      </p:sp>
    </p:spTree>
    <p:extLst>
      <p:ext uri="{BB962C8B-B14F-4D97-AF65-F5344CB8AC3E}">
        <p14:creationId xmlns:p14="http://schemas.microsoft.com/office/powerpoint/2010/main" val="2886439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188640"/>
            <a:ext cx="3024336" cy="1354162"/>
          </a:xfrm>
        </p:spPr>
        <p:txBody>
          <a:bodyPr>
            <a:normAutofit fontScale="90000"/>
          </a:bodyPr>
          <a:lstStyle/>
          <a:p>
            <a:r>
              <a:rPr lang="en-US" sz="3600" dirty="0"/>
              <a:t>Cost Benefit </a:t>
            </a:r>
            <a:br>
              <a:rPr lang="en-US" sz="3600" dirty="0"/>
            </a:br>
            <a:r>
              <a:rPr lang="en-US" sz="3600" dirty="0"/>
              <a:t>Analysis Method </a:t>
            </a:r>
            <a:br>
              <a:rPr lang="en-US" sz="3600" dirty="0"/>
            </a:br>
            <a:r>
              <a:rPr lang="en-US" sz="3600" dirty="0"/>
              <a:t>(CBAM)</a:t>
            </a:r>
          </a:p>
        </p:txBody>
      </p:sp>
      <p:pic>
        <p:nvPicPr>
          <p:cNvPr id="5" name="Picture 4" descr="Bas_fig_23.3_3e.jpg"/>
          <p:cNvPicPr>
            <a:picLocks noChangeAspect="1"/>
          </p:cNvPicPr>
          <p:nvPr/>
        </p:nvPicPr>
        <p:blipFill rotWithShape="1">
          <a:blip r:embed="rId2">
            <a:extLst>
              <a:ext uri="{28A0092B-C50C-407E-A947-70E740481C1C}">
                <a14:useLocalDpi xmlns:a14="http://schemas.microsoft.com/office/drawing/2010/main" val="0"/>
              </a:ext>
            </a:extLst>
          </a:blip>
          <a:srcRect l="30504" t="26207" r="26238" b="23264"/>
          <a:stretch/>
        </p:blipFill>
        <p:spPr>
          <a:xfrm>
            <a:off x="5519936" y="188640"/>
            <a:ext cx="4896544" cy="6566419"/>
          </a:xfrm>
          <a:prstGeom prst="rect">
            <a:avLst/>
          </a:prstGeom>
        </p:spPr>
      </p:pic>
      <p:sp>
        <p:nvSpPr>
          <p:cNvPr id="3" name="TextBox 2"/>
          <p:cNvSpPr txBox="1"/>
          <p:nvPr/>
        </p:nvSpPr>
        <p:spPr>
          <a:xfrm>
            <a:off x="1775520" y="2564904"/>
            <a:ext cx="3758060" cy="1200328"/>
          </a:xfrm>
          <a:prstGeom prst="rect">
            <a:avLst/>
          </a:prstGeom>
          <a:noFill/>
        </p:spPr>
        <p:txBody>
          <a:bodyPr wrap="none" rtlCol="0">
            <a:spAutoFit/>
          </a:bodyPr>
          <a:lstStyle/>
          <a:p>
            <a:r>
              <a:rPr lang="en-US" sz="2400" dirty="0"/>
              <a:t>The CBAM places the</a:t>
            </a:r>
          </a:p>
          <a:p>
            <a:r>
              <a:rPr lang="en-US" sz="2400" dirty="0"/>
              <a:t>principles just discussed into</a:t>
            </a:r>
          </a:p>
          <a:p>
            <a:r>
              <a:rPr lang="en-US" sz="2400" dirty="0"/>
              <a:t>a set of steps: a method.</a:t>
            </a:r>
          </a:p>
        </p:txBody>
      </p:sp>
    </p:spTree>
    <p:extLst>
      <p:ext uri="{BB962C8B-B14F-4D97-AF65-F5344CB8AC3E}">
        <p14:creationId xmlns:p14="http://schemas.microsoft.com/office/powerpoint/2010/main" val="790004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343" y="500062"/>
            <a:ext cx="11495313" cy="1325563"/>
          </a:xfrm>
        </p:spPr>
        <p:txBody>
          <a:bodyPr>
            <a:normAutofit/>
          </a:bodyPr>
          <a:lstStyle/>
          <a:p>
            <a:r>
              <a:rPr lang="en-US" dirty="0"/>
              <a:t>CBAM / Cost Benefit Analysis Model Stakeholders</a:t>
            </a:r>
          </a:p>
        </p:txBody>
      </p:sp>
      <p:sp>
        <p:nvSpPr>
          <p:cNvPr id="3" name="Content Placeholder 2"/>
          <p:cNvSpPr>
            <a:spLocks noGrp="1"/>
          </p:cNvSpPr>
          <p:nvPr>
            <p:ph idx="1"/>
          </p:nvPr>
        </p:nvSpPr>
        <p:spPr/>
        <p:txBody>
          <a:bodyPr/>
          <a:lstStyle/>
          <a:p>
            <a:r>
              <a:rPr lang="en-US" dirty="0"/>
              <a:t>The stakeholders in a CBAM exercise include people who can </a:t>
            </a:r>
            <a:r>
              <a:rPr lang="en-US" b="1" i="1" dirty="0"/>
              <a:t>authoritatively speak to the utility </a:t>
            </a:r>
            <a:r>
              <a:rPr lang="en-US" dirty="0"/>
              <a:t>of various quality attribute responses.</a:t>
            </a:r>
          </a:p>
          <a:p>
            <a:r>
              <a:rPr lang="en-US" dirty="0"/>
              <a:t>They probably include the same people who were the source of the quality attribute scenarios being used as input. </a:t>
            </a:r>
          </a:p>
        </p:txBody>
      </p:sp>
    </p:spTree>
    <p:extLst>
      <p:ext uri="{BB962C8B-B14F-4D97-AF65-F5344CB8AC3E}">
        <p14:creationId xmlns:p14="http://schemas.microsoft.com/office/powerpoint/2010/main" val="1096678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a:t>
            </a:r>
          </a:p>
        </p:txBody>
      </p:sp>
      <p:sp>
        <p:nvSpPr>
          <p:cNvPr id="3" name="Content Placeholder 2"/>
          <p:cNvSpPr>
            <a:spLocks noGrp="1"/>
          </p:cNvSpPr>
          <p:nvPr>
            <p:ph idx="1"/>
          </p:nvPr>
        </p:nvSpPr>
        <p:spPr/>
        <p:txBody>
          <a:bodyPr/>
          <a:lstStyle/>
          <a:p>
            <a:r>
              <a:rPr lang="en-US" dirty="0"/>
              <a:t>Collate scenarios. </a:t>
            </a:r>
          </a:p>
          <a:p>
            <a:pPr lvl="1"/>
            <a:r>
              <a:rPr lang="en-US" dirty="0"/>
              <a:t>Give the stakeholders the chance to </a:t>
            </a:r>
            <a:r>
              <a:rPr lang="en-US" b="1" dirty="0"/>
              <a:t>contribute new scenarios</a:t>
            </a:r>
            <a:r>
              <a:rPr lang="en-US" dirty="0"/>
              <a:t>. </a:t>
            </a:r>
          </a:p>
          <a:p>
            <a:pPr lvl="1"/>
            <a:r>
              <a:rPr lang="en-US" dirty="0"/>
              <a:t>Ask the stakeholders to </a:t>
            </a:r>
            <a:r>
              <a:rPr lang="en-US" b="1" dirty="0"/>
              <a:t>prioritize the scenarios</a:t>
            </a:r>
            <a:r>
              <a:rPr lang="en-US" dirty="0"/>
              <a:t> based on satisfying the business goals of the system. </a:t>
            </a:r>
          </a:p>
          <a:p>
            <a:pPr lvl="1"/>
            <a:r>
              <a:rPr lang="en-US" dirty="0"/>
              <a:t>This can be an informal prioritization using a simple scheme such </a:t>
            </a:r>
            <a:r>
              <a:rPr lang="en-US" b="1" dirty="0"/>
              <a:t>as “high, medium, low” </a:t>
            </a:r>
            <a:r>
              <a:rPr lang="en-US" dirty="0"/>
              <a:t>to rank the scenarios. </a:t>
            </a:r>
          </a:p>
          <a:p>
            <a:pPr lvl="1"/>
            <a:r>
              <a:rPr lang="en-US" dirty="0"/>
              <a:t>Choose the top one-third for further study.</a:t>
            </a:r>
          </a:p>
          <a:p>
            <a:endParaRPr lang="en-US" dirty="0"/>
          </a:p>
        </p:txBody>
      </p:sp>
    </p:spTree>
    <p:extLst>
      <p:ext uri="{BB962C8B-B14F-4D97-AF65-F5344CB8AC3E}">
        <p14:creationId xmlns:p14="http://schemas.microsoft.com/office/powerpoint/2010/main" val="664479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p>
        </p:txBody>
      </p:sp>
      <p:sp>
        <p:nvSpPr>
          <p:cNvPr id="3" name="Content Placeholder 2"/>
          <p:cNvSpPr>
            <a:spLocks noGrp="1"/>
          </p:cNvSpPr>
          <p:nvPr>
            <p:ph idx="1"/>
          </p:nvPr>
        </p:nvSpPr>
        <p:spPr/>
        <p:txBody>
          <a:bodyPr>
            <a:normAutofit/>
          </a:bodyPr>
          <a:lstStyle/>
          <a:p>
            <a:r>
              <a:rPr lang="en-US" dirty="0"/>
              <a:t>Refine scenarios. </a:t>
            </a:r>
          </a:p>
          <a:p>
            <a:pPr lvl="1"/>
            <a:r>
              <a:rPr lang="en-US" dirty="0"/>
              <a:t>Refine the scenarios chosen in step 1, focusing on their stimulus-response measures. </a:t>
            </a:r>
          </a:p>
          <a:p>
            <a:pPr lvl="1"/>
            <a:r>
              <a:rPr lang="en-US" dirty="0"/>
              <a:t>Elicit the </a:t>
            </a:r>
            <a:r>
              <a:rPr lang="en-US" b="1" dirty="0"/>
              <a:t>worst-case, current, desired, and best-case </a:t>
            </a:r>
            <a:r>
              <a:rPr lang="en-US" dirty="0"/>
              <a:t>quality attribute response level for each scenario. </a:t>
            </a:r>
          </a:p>
          <a:p>
            <a:pPr lvl="1"/>
            <a:r>
              <a:rPr lang="en-US" dirty="0"/>
              <a:t>For example, a refined </a:t>
            </a:r>
            <a:r>
              <a:rPr lang="en-US" b="1" dirty="0"/>
              <a:t>performance scenario </a:t>
            </a:r>
            <a:r>
              <a:rPr lang="en-US" dirty="0"/>
              <a:t>might tell us that worst-case performance for our system’s response to user input is 12 seconds, the best case is 0.1 seconds, and our desired response is 0.5 seconds. Our current architecture provides a response of 1.5 seconds.</a:t>
            </a:r>
          </a:p>
          <a:p>
            <a:endParaRPr lang="en-US" dirty="0"/>
          </a:p>
        </p:txBody>
      </p:sp>
    </p:spTree>
    <p:extLst>
      <p:ext uri="{BB962C8B-B14F-4D97-AF65-F5344CB8AC3E}">
        <p14:creationId xmlns:p14="http://schemas.microsoft.com/office/powerpoint/2010/main" val="718300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a:t>
            </a:r>
          </a:p>
        </p:txBody>
      </p:sp>
      <p:sp>
        <p:nvSpPr>
          <p:cNvPr id="3" name="Content Placeholder 2"/>
          <p:cNvSpPr>
            <a:spLocks noGrp="1"/>
          </p:cNvSpPr>
          <p:nvPr>
            <p:ph idx="1"/>
          </p:nvPr>
        </p:nvSpPr>
        <p:spPr>
          <a:xfrm>
            <a:off x="1981200" y="1268760"/>
            <a:ext cx="8229600" cy="5112568"/>
          </a:xfrm>
        </p:spPr>
        <p:txBody>
          <a:bodyPr>
            <a:normAutofit lnSpcReduction="10000"/>
          </a:bodyPr>
          <a:lstStyle/>
          <a:p>
            <a:r>
              <a:rPr lang="en-US" dirty="0"/>
              <a:t>Prioritize scenarios. </a:t>
            </a:r>
          </a:p>
          <a:p>
            <a:pPr lvl="1"/>
            <a:r>
              <a:rPr lang="en-US" i="1" dirty="0"/>
              <a:t>Prioritize</a:t>
            </a:r>
            <a:r>
              <a:rPr lang="en-US" dirty="0"/>
              <a:t> the refined scenarios, based on stakeholder votes. </a:t>
            </a:r>
          </a:p>
          <a:p>
            <a:pPr lvl="1"/>
            <a:r>
              <a:rPr lang="en-US" dirty="0"/>
              <a:t>Give 100 votes to each stakeholder and have them distribute the votes among the scenarios, where their voting is based on the desired response value for each scenario. </a:t>
            </a:r>
          </a:p>
          <a:p>
            <a:pPr lvl="1"/>
            <a:r>
              <a:rPr lang="en-US" dirty="0"/>
              <a:t>Total the votes and choose the top 50 percent of the scenarios for further analysis. </a:t>
            </a:r>
          </a:p>
          <a:p>
            <a:pPr lvl="1"/>
            <a:r>
              <a:rPr lang="en-US" dirty="0"/>
              <a:t>Assign a </a:t>
            </a:r>
            <a:r>
              <a:rPr lang="en-US" b="1" dirty="0"/>
              <a:t>weight of 1.0 </a:t>
            </a:r>
            <a:r>
              <a:rPr lang="en-US" dirty="0"/>
              <a:t>to the highest-rated scenario; assign the other scenarios a weight relative to the highest rated. </a:t>
            </a:r>
          </a:p>
          <a:p>
            <a:pPr lvl="1"/>
            <a:r>
              <a:rPr lang="en-US" dirty="0"/>
              <a:t>This becomes the weighting used in the calculation of a strategy’s overall benefit. </a:t>
            </a:r>
          </a:p>
          <a:p>
            <a:pPr lvl="1"/>
            <a:r>
              <a:rPr lang="en-US" dirty="0"/>
              <a:t>Make a list of the quality attributes that concern the stakeholders.</a:t>
            </a:r>
          </a:p>
          <a:p>
            <a:endParaRPr lang="en-US" dirty="0"/>
          </a:p>
        </p:txBody>
      </p:sp>
    </p:spTree>
    <p:extLst>
      <p:ext uri="{BB962C8B-B14F-4D97-AF65-F5344CB8AC3E}">
        <p14:creationId xmlns:p14="http://schemas.microsoft.com/office/powerpoint/2010/main" val="3483150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a:t>
            </a:r>
          </a:p>
        </p:txBody>
      </p:sp>
      <p:sp>
        <p:nvSpPr>
          <p:cNvPr id="3" name="Content Placeholder 2"/>
          <p:cNvSpPr>
            <a:spLocks noGrp="1"/>
          </p:cNvSpPr>
          <p:nvPr>
            <p:ph idx="1"/>
          </p:nvPr>
        </p:nvSpPr>
        <p:spPr/>
        <p:txBody>
          <a:bodyPr>
            <a:normAutofit/>
          </a:bodyPr>
          <a:lstStyle/>
          <a:p>
            <a:r>
              <a:rPr lang="en-US" dirty="0"/>
              <a:t>Assign utility. </a:t>
            </a:r>
          </a:p>
          <a:p>
            <a:pPr lvl="1"/>
            <a:r>
              <a:rPr lang="en-US" dirty="0"/>
              <a:t>Determine the utility for each quality attribute response level (worst-case, current, desired, best-case) for the scenarios from step 3. </a:t>
            </a:r>
          </a:p>
          <a:p>
            <a:pPr lvl="1"/>
            <a:r>
              <a:rPr lang="en-US" dirty="0"/>
              <a:t>You can </a:t>
            </a:r>
            <a:r>
              <a:rPr lang="en-US" b="1" dirty="0"/>
              <a:t>conveniently capture these utility curves in a table </a:t>
            </a:r>
            <a:r>
              <a:rPr lang="en-US" dirty="0"/>
              <a:t>(one row for each scenario, one column for each of the four quality attribute response levels). </a:t>
            </a:r>
          </a:p>
          <a:p>
            <a:endParaRPr lang="en-US" dirty="0"/>
          </a:p>
        </p:txBody>
      </p:sp>
      <p:pic>
        <p:nvPicPr>
          <p:cNvPr id="5" name="Picture 4" descr="tabl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7350" y="4272384"/>
            <a:ext cx="8877300" cy="1257300"/>
          </a:xfrm>
          <a:prstGeom prst="rect">
            <a:avLst/>
          </a:prstGeom>
        </p:spPr>
      </p:pic>
    </p:spTree>
    <p:extLst>
      <p:ext uri="{BB962C8B-B14F-4D97-AF65-F5344CB8AC3E}">
        <p14:creationId xmlns:p14="http://schemas.microsoft.com/office/powerpoint/2010/main" val="2737388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5</a:t>
            </a:r>
          </a:p>
        </p:txBody>
      </p:sp>
      <p:sp>
        <p:nvSpPr>
          <p:cNvPr id="3" name="Content Placeholder 2"/>
          <p:cNvSpPr>
            <a:spLocks noGrp="1"/>
          </p:cNvSpPr>
          <p:nvPr>
            <p:ph idx="1"/>
          </p:nvPr>
        </p:nvSpPr>
        <p:spPr/>
        <p:txBody>
          <a:bodyPr/>
          <a:lstStyle/>
          <a:p>
            <a:r>
              <a:rPr lang="en-US" dirty="0"/>
              <a:t>Map architectural strategies to scenarios and determine their expected quality attribute response levels. </a:t>
            </a:r>
          </a:p>
          <a:p>
            <a:pPr lvl="1"/>
            <a:r>
              <a:rPr lang="en-US" dirty="0"/>
              <a:t>For each architectural strategy under consideration, determine the expected quality attribute response levels that will result for each scenario.</a:t>
            </a:r>
          </a:p>
          <a:p>
            <a:endParaRPr lang="en-US" dirty="0"/>
          </a:p>
        </p:txBody>
      </p:sp>
    </p:spTree>
    <p:extLst>
      <p:ext uri="{BB962C8B-B14F-4D97-AF65-F5344CB8AC3E}">
        <p14:creationId xmlns:p14="http://schemas.microsoft.com/office/powerpoint/2010/main" val="2014311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6</a:t>
            </a:r>
          </a:p>
        </p:txBody>
      </p:sp>
      <p:sp>
        <p:nvSpPr>
          <p:cNvPr id="3" name="Content Placeholder 2"/>
          <p:cNvSpPr>
            <a:spLocks noGrp="1"/>
          </p:cNvSpPr>
          <p:nvPr>
            <p:ph idx="1"/>
          </p:nvPr>
        </p:nvSpPr>
        <p:spPr/>
        <p:txBody>
          <a:bodyPr>
            <a:normAutofit fontScale="92500" lnSpcReduction="20000"/>
          </a:bodyPr>
          <a:lstStyle/>
          <a:p>
            <a:r>
              <a:rPr lang="en-US" dirty="0"/>
              <a:t>Determine the utility of the </a:t>
            </a:r>
            <a:r>
              <a:rPr lang="en-US" dirty="0">
                <a:solidFill>
                  <a:srgbClr val="FF0000"/>
                </a:solidFill>
              </a:rPr>
              <a:t>expected quality attribute response levels </a:t>
            </a:r>
            <a:r>
              <a:rPr lang="en-US" dirty="0"/>
              <a:t>by interpolation. </a:t>
            </a:r>
          </a:p>
          <a:p>
            <a:pPr lvl="1"/>
            <a:r>
              <a:rPr lang="en-US" dirty="0"/>
              <a:t>Using the elicited utility values (that form a utility curve), determine the utility of the expected quality attribute response level for the architectural strategy. </a:t>
            </a:r>
          </a:p>
          <a:p>
            <a:pPr lvl="1"/>
            <a:r>
              <a:rPr lang="en-US" dirty="0"/>
              <a:t>Do this for each relevant quality attribute enumerated in step 3. </a:t>
            </a:r>
          </a:p>
          <a:p>
            <a:pPr lvl="1"/>
            <a:r>
              <a:rPr lang="en-US" dirty="0"/>
              <a:t>For example, if we are considering a </a:t>
            </a:r>
            <a:r>
              <a:rPr lang="en-US" b="1" dirty="0">
                <a:solidFill>
                  <a:srgbClr val="FF0000"/>
                </a:solidFill>
              </a:rPr>
              <a:t>new architectural strategy</a:t>
            </a:r>
            <a:r>
              <a:rPr lang="en-US" dirty="0"/>
              <a:t> that would result in a response time of 0.7 seconds, we would assign a utility proportionately between 50 (which it exceeds) and 80 (which it doesn’t exceed).</a:t>
            </a:r>
          </a:p>
          <a:p>
            <a:pPr lvl="1"/>
            <a:r>
              <a:rPr lang="en-US" dirty="0"/>
              <a:t>The formula for interpolation between two data points (</a:t>
            </a:r>
            <a:r>
              <a:rPr lang="en-US" i="1" dirty="0"/>
              <a:t>x</a:t>
            </a:r>
            <a:r>
              <a:rPr lang="en-US" i="1" baseline="-25000" dirty="0"/>
              <a:t>a</a:t>
            </a:r>
            <a:r>
              <a:rPr lang="en-US" dirty="0"/>
              <a:t>, </a:t>
            </a:r>
            <a:r>
              <a:rPr lang="en-US" i="1" dirty="0"/>
              <a:t>y</a:t>
            </a:r>
            <a:r>
              <a:rPr lang="en-US" i="1" baseline="-25000" dirty="0"/>
              <a:t>a</a:t>
            </a:r>
            <a:r>
              <a:rPr lang="en-US" dirty="0"/>
              <a:t>) and (</a:t>
            </a:r>
            <a:r>
              <a:rPr lang="en-US" i="1" dirty="0"/>
              <a:t>x</a:t>
            </a:r>
            <a:r>
              <a:rPr lang="en-US" i="1" baseline="-25000" dirty="0"/>
              <a:t>b</a:t>
            </a:r>
            <a:r>
              <a:rPr lang="en-US" dirty="0"/>
              <a:t>, </a:t>
            </a:r>
            <a:r>
              <a:rPr lang="en-US" i="1" dirty="0"/>
              <a:t>y</a:t>
            </a:r>
            <a:r>
              <a:rPr lang="en-US" i="1" baseline="-25000" dirty="0"/>
              <a:t>b</a:t>
            </a:r>
            <a:r>
              <a:rPr lang="en-US" dirty="0"/>
              <a:t>) is:</a:t>
            </a:r>
          </a:p>
          <a:p>
            <a:pPr lvl="1"/>
            <a:endParaRPr lang="en-US" dirty="0"/>
          </a:p>
          <a:p>
            <a:endParaRPr lang="en-US" dirty="0"/>
          </a:p>
          <a:p>
            <a:pPr lvl="1"/>
            <a:r>
              <a:rPr lang="en-US" dirty="0"/>
              <a:t>For us, the </a:t>
            </a:r>
            <a:r>
              <a:rPr lang="en-US" i="1" dirty="0"/>
              <a:t>x</a:t>
            </a:r>
            <a:r>
              <a:rPr lang="en-US" dirty="0"/>
              <a:t> values are the quality attribute response levels and the </a:t>
            </a:r>
            <a:r>
              <a:rPr lang="en-US" i="1" dirty="0"/>
              <a:t>y</a:t>
            </a:r>
            <a:r>
              <a:rPr lang="en-US" dirty="0"/>
              <a:t> values are the utility values. So, employing this formula, the utility value of a 0.7-second response time is 74</a:t>
            </a:r>
            <a:r>
              <a:rPr lang="x-none" dirty="0"/>
              <a:t> </a:t>
            </a:r>
            <a:r>
              <a:rPr lang="en-US" dirty="0"/>
              <a:t>.</a:t>
            </a:r>
            <a:r>
              <a:rPr lang="x-none" dirty="0"/>
              <a:t> </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5015880" y="4500860"/>
            <a:ext cx="2232248" cy="584324"/>
          </a:xfrm>
          <a:prstGeom prst="rect">
            <a:avLst/>
          </a:prstGeom>
          <a:noFill/>
          <a:ln>
            <a:noFill/>
          </a:ln>
        </p:spPr>
      </p:pic>
    </p:spTree>
    <p:extLst>
      <p:ext uri="{BB962C8B-B14F-4D97-AF65-F5344CB8AC3E}">
        <p14:creationId xmlns:p14="http://schemas.microsoft.com/office/powerpoint/2010/main" val="2678167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7</a:t>
            </a:r>
          </a:p>
        </p:txBody>
      </p:sp>
      <p:sp>
        <p:nvSpPr>
          <p:cNvPr id="3" name="Content Placeholder 2"/>
          <p:cNvSpPr>
            <a:spLocks noGrp="1"/>
          </p:cNvSpPr>
          <p:nvPr>
            <p:ph idx="1"/>
          </p:nvPr>
        </p:nvSpPr>
        <p:spPr/>
        <p:txBody>
          <a:bodyPr>
            <a:normAutofit/>
          </a:bodyPr>
          <a:lstStyle/>
          <a:p>
            <a:r>
              <a:rPr lang="en-US" dirty="0"/>
              <a:t>Calculate the </a:t>
            </a:r>
            <a:r>
              <a:rPr lang="en-US" b="1" dirty="0">
                <a:solidFill>
                  <a:srgbClr val="FF0000"/>
                </a:solidFill>
              </a:rPr>
              <a:t>total benefit </a:t>
            </a:r>
            <a:r>
              <a:rPr lang="en-US" dirty="0"/>
              <a:t>obtained from an architectural strategy. </a:t>
            </a:r>
          </a:p>
          <a:p>
            <a:pPr lvl="1"/>
            <a:r>
              <a:rPr lang="en-US" dirty="0"/>
              <a:t>Subtract the utility value of the “current” level from the expected level and normalize it using the votes elicited in step 3. </a:t>
            </a:r>
          </a:p>
          <a:p>
            <a:pPr lvl="1"/>
            <a:r>
              <a:rPr lang="en-US" dirty="0"/>
              <a:t>Sum the benefit due to a particular architectural strategy across all scenarios and across all relevant quality attributes.</a:t>
            </a:r>
          </a:p>
          <a:p>
            <a:pPr marL="0" indent="0">
              <a:buNone/>
            </a:pPr>
            <a:endParaRPr lang="en-US" dirty="0"/>
          </a:p>
        </p:txBody>
      </p:sp>
    </p:spTree>
    <p:extLst>
      <p:ext uri="{BB962C8B-B14F-4D97-AF65-F5344CB8AC3E}">
        <p14:creationId xmlns:p14="http://schemas.microsoft.com/office/powerpoint/2010/main" val="455066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8</a:t>
            </a:r>
          </a:p>
        </p:txBody>
      </p:sp>
      <p:sp>
        <p:nvSpPr>
          <p:cNvPr id="3" name="Content Placeholder 2"/>
          <p:cNvSpPr>
            <a:spLocks noGrp="1"/>
          </p:cNvSpPr>
          <p:nvPr>
            <p:ph idx="1"/>
          </p:nvPr>
        </p:nvSpPr>
        <p:spPr/>
        <p:txBody>
          <a:bodyPr>
            <a:normAutofit/>
          </a:bodyPr>
          <a:lstStyle/>
          <a:p>
            <a:r>
              <a:rPr lang="en-US" dirty="0"/>
              <a:t>Choose architectural strategies based on VFC subject to cost and schedule constraints. </a:t>
            </a:r>
          </a:p>
          <a:p>
            <a:pPr lvl="1"/>
            <a:r>
              <a:rPr lang="en-US" dirty="0"/>
              <a:t>Determine the cost and schedule implications of each architectural strategy. </a:t>
            </a:r>
          </a:p>
          <a:p>
            <a:pPr lvl="1"/>
            <a:r>
              <a:rPr lang="en-US" dirty="0">
                <a:solidFill>
                  <a:srgbClr val="FF0000"/>
                </a:solidFill>
              </a:rPr>
              <a:t>Calculate the VFC</a:t>
            </a:r>
            <a:r>
              <a:rPr lang="en-US" dirty="0"/>
              <a:t> value for each as a ratio of benefit to cost. Rank-order the architectural strategies according to the VFC value and choose the top ones until the budget or schedule is exhausted.</a:t>
            </a:r>
          </a:p>
          <a:p>
            <a:endParaRPr lang="en-US" dirty="0"/>
          </a:p>
        </p:txBody>
      </p:sp>
    </p:spTree>
    <p:extLst>
      <p:ext uri="{BB962C8B-B14F-4D97-AF65-F5344CB8AC3E}">
        <p14:creationId xmlns:p14="http://schemas.microsoft.com/office/powerpoint/2010/main" val="3710555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9</a:t>
            </a:r>
          </a:p>
        </p:txBody>
      </p:sp>
      <p:sp>
        <p:nvSpPr>
          <p:cNvPr id="3" name="Content Placeholder 2"/>
          <p:cNvSpPr>
            <a:spLocks noGrp="1"/>
          </p:cNvSpPr>
          <p:nvPr>
            <p:ph idx="1"/>
          </p:nvPr>
        </p:nvSpPr>
        <p:spPr/>
        <p:txBody>
          <a:bodyPr>
            <a:normAutofit/>
          </a:bodyPr>
          <a:lstStyle/>
          <a:p>
            <a:r>
              <a:rPr lang="en-US" dirty="0"/>
              <a:t>Confirm results with intuition. </a:t>
            </a:r>
          </a:p>
          <a:p>
            <a:pPr lvl="1"/>
            <a:r>
              <a:rPr lang="en-US" dirty="0"/>
              <a:t>For the chosen architectural strategies, consider whether these seem to align with the </a:t>
            </a:r>
            <a:r>
              <a:rPr lang="en-US" b="1" dirty="0">
                <a:solidFill>
                  <a:srgbClr val="FF0000"/>
                </a:solidFill>
              </a:rPr>
              <a:t>organization’s business goals</a:t>
            </a:r>
            <a:r>
              <a:rPr lang="en-US" dirty="0"/>
              <a:t>.</a:t>
            </a:r>
          </a:p>
          <a:p>
            <a:pPr lvl="1"/>
            <a:r>
              <a:rPr lang="en-US" dirty="0"/>
              <a:t> If not, consider issues that may have been overlooked while doing this analysis.</a:t>
            </a:r>
          </a:p>
          <a:p>
            <a:pPr lvl="1"/>
            <a:r>
              <a:rPr lang="en-US" dirty="0"/>
              <a:t>If there are significant issues, perform another iteration of these steps.</a:t>
            </a:r>
          </a:p>
          <a:p>
            <a:endParaRPr lang="en-US" dirty="0"/>
          </a:p>
        </p:txBody>
      </p:sp>
    </p:spTree>
    <p:extLst>
      <p:ext uri="{BB962C8B-B14F-4D97-AF65-F5344CB8AC3E}">
        <p14:creationId xmlns:p14="http://schemas.microsoft.com/office/powerpoint/2010/main" val="1009360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Case Study: The NASA ECS Project</a:t>
            </a:r>
          </a:p>
        </p:txBody>
      </p:sp>
      <p:sp>
        <p:nvSpPr>
          <p:cNvPr id="3" name="Content Placeholder 2"/>
          <p:cNvSpPr>
            <a:spLocks noGrp="1"/>
          </p:cNvSpPr>
          <p:nvPr>
            <p:ph idx="1"/>
          </p:nvPr>
        </p:nvSpPr>
        <p:spPr/>
        <p:txBody>
          <a:bodyPr>
            <a:noAutofit/>
          </a:bodyPr>
          <a:lstStyle/>
          <a:p>
            <a:r>
              <a:rPr lang="en-US" sz="2400" dirty="0"/>
              <a:t>The Earth Observing System is a constellation of NASA satellites that gathers data for the U.S. Global Change Research Program and other scientific communities worldwide.</a:t>
            </a:r>
          </a:p>
          <a:p>
            <a:r>
              <a:rPr lang="en-US" sz="2400" dirty="0"/>
              <a:t>The Earth Observing System Data Information System (EOSDIS) Core System (ECS) collects data from various satellite downlink stations for further processing. </a:t>
            </a:r>
          </a:p>
          <a:p>
            <a:r>
              <a:rPr lang="en-US" sz="2400" dirty="0"/>
              <a:t>ECS’s mission is to process the data into higher-form information and make it available to scientists in searchable form. </a:t>
            </a:r>
            <a:r>
              <a:rPr lang="en-US" sz="2400" dirty="0">
                <a:solidFill>
                  <a:srgbClr val="FF0000"/>
                </a:solidFill>
              </a:rPr>
              <a:t>The goal is to provide both a common way to store (and hence process) data and a public mechanism to introduce new data formats and processing algorithms, thus making the information widely available.</a:t>
            </a:r>
          </a:p>
        </p:txBody>
      </p:sp>
    </p:spTree>
    <p:extLst>
      <p:ext uri="{BB962C8B-B14F-4D97-AF65-F5344CB8AC3E}">
        <p14:creationId xmlns:p14="http://schemas.microsoft.com/office/powerpoint/2010/main" val="3691460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Collate Scenarios</a:t>
            </a:r>
          </a:p>
        </p:txBody>
      </p:sp>
      <p:sp>
        <p:nvSpPr>
          <p:cNvPr id="3" name="Content Placeholder 2"/>
          <p:cNvSpPr>
            <a:spLocks noGrp="1"/>
          </p:cNvSpPr>
          <p:nvPr>
            <p:ph idx="1"/>
          </p:nvPr>
        </p:nvSpPr>
        <p:spPr/>
        <p:txBody>
          <a:bodyPr>
            <a:normAutofit/>
          </a:bodyPr>
          <a:lstStyle/>
          <a:p>
            <a:pPr marL="0" indent="0">
              <a:buNone/>
            </a:pPr>
            <a:r>
              <a:rPr lang="en-US" sz="2000" dirty="0"/>
              <a:t>Collected Scenarios in Priority Order</a:t>
            </a:r>
          </a:p>
          <a:p>
            <a:pPr marL="971550" lvl="1" indent="-514350">
              <a:buFont typeface="+mj-lt"/>
              <a:buAutoNum type="arabicPeriod"/>
            </a:pPr>
            <a:r>
              <a:rPr lang="en-US" sz="1600" dirty="0"/>
              <a:t>Reduce data distribution failures that result in hung distribution requests requiring manual intervention.</a:t>
            </a:r>
          </a:p>
          <a:p>
            <a:pPr marL="971550" lvl="1" indent="-514350">
              <a:buFont typeface="+mj-lt"/>
              <a:buAutoNum type="arabicPeriod"/>
            </a:pPr>
            <a:r>
              <a:rPr lang="en-US" sz="1600" dirty="0"/>
              <a:t>Reduce data distribution failures that result in lost distribution requests.</a:t>
            </a:r>
          </a:p>
          <a:p>
            <a:pPr marL="971550" lvl="1" indent="-514350">
              <a:buFont typeface="+mj-lt"/>
              <a:buAutoNum type="arabicPeriod"/>
            </a:pPr>
            <a:r>
              <a:rPr lang="en-US" sz="1600" dirty="0"/>
              <a:t>Reduce the number of orders that fail on the order submission process.</a:t>
            </a:r>
          </a:p>
          <a:p>
            <a:pPr marL="971550" lvl="1" indent="-514350">
              <a:buFont typeface="+mj-lt"/>
              <a:buAutoNum type="arabicPeriod"/>
            </a:pPr>
            <a:r>
              <a:rPr lang="en-US" sz="1600" dirty="0"/>
              <a:t>Reduce order failures that result in hung orders that require manual intervention.</a:t>
            </a:r>
          </a:p>
          <a:p>
            <a:pPr marL="971550" lvl="1" indent="-514350">
              <a:buFont typeface="+mj-lt"/>
              <a:buAutoNum type="arabicPeriod"/>
            </a:pPr>
            <a:r>
              <a:rPr lang="en-US" sz="1600" dirty="0"/>
              <a:t>Reduce order failures that result in lost orders.</a:t>
            </a:r>
          </a:p>
          <a:p>
            <a:pPr marL="971550" lvl="1" indent="-514350">
              <a:buFont typeface="+mj-lt"/>
              <a:buAutoNum type="arabicPeriod"/>
            </a:pPr>
            <a:r>
              <a:rPr lang="en-US" sz="1600" dirty="0"/>
              <a:t>There is no good method of tracking ECSGuest failed/canceled orders without much manual intervention (e.g., spreadsheets).</a:t>
            </a:r>
          </a:p>
          <a:p>
            <a:pPr marL="971550" lvl="1" indent="-514350">
              <a:buFont typeface="+mj-lt"/>
              <a:buAutoNum type="arabicPeriod"/>
            </a:pPr>
            <a:r>
              <a:rPr lang="en-US" sz="1600" dirty="0"/>
              <a:t>Users need more information on why their orders for data failed.</a:t>
            </a:r>
          </a:p>
          <a:p>
            <a:pPr marL="971550" lvl="1" indent="-514350">
              <a:buFont typeface="+mj-lt"/>
              <a:buAutoNum type="arabicPeriod"/>
            </a:pPr>
            <a:r>
              <a:rPr lang="en-US" sz="1600" dirty="0"/>
              <a:t>Because of limitations, there is a need to artificially limit the size and number of orders.</a:t>
            </a:r>
          </a:p>
          <a:p>
            <a:pPr marL="971550" lvl="1" indent="-514350">
              <a:buFont typeface="+mj-lt"/>
              <a:buAutoNum type="arabicPeriod"/>
            </a:pPr>
            <a:r>
              <a:rPr lang="en-US" sz="1600" dirty="0"/>
              <a:t>Small orders result in too many notifications to users.</a:t>
            </a:r>
          </a:p>
          <a:p>
            <a:pPr marL="971550" lvl="1" indent="-514350">
              <a:buFont typeface="+mj-lt"/>
              <a:buAutoNum type="arabicPeriod"/>
            </a:pPr>
            <a:r>
              <a:rPr lang="en-US" sz="1600" dirty="0"/>
              <a:t>The system should process a 50-GB user request in one day, and a 1-TB user request in one week.</a:t>
            </a:r>
          </a:p>
          <a:p>
            <a:pPr marL="57150" indent="0">
              <a:buNone/>
            </a:pPr>
            <a:r>
              <a:rPr lang="en-US" sz="2000" dirty="0"/>
              <a:t>Note that they are not yet well formed and that some of them do not have defined responses. These issues are resolved in step 2, when the number of scenarios is reduced. </a:t>
            </a:r>
          </a:p>
        </p:txBody>
      </p:sp>
    </p:spTree>
    <p:extLst>
      <p:ext uri="{BB962C8B-B14F-4D97-AF65-F5344CB8AC3E}">
        <p14:creationId xmlns:p14="http://schemas.microsoft.com/office/powerpoint/2010/main" val="1727105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Refine Scenarios</a:t>
            </a:r>
          </a:p>
        </p:txBody>
      </p:sp>
      <p:sp>
        <p:nvSpPr>
          <p:cNvPr id="3" name="Content Placeholder 2"/>
          <p:cNvSpPr>
            <a:spLocks noGrp="1"/>
          </p:cNvSpPr>
          <p:nvPr>
            <p:ph idx="1"/>
          </p:nvPr>
        </p:nvSpPr>
        <p:spPr/>
        <p:txBody>
          <a:bodyPr/>
          <a:lstStyle/>
          <a:p>
            <a:r>
              <a:rPr lang="en-US" dirty="0"/>
              <a:t>The scenarios were refined, paying particular attention to precisely specifying their stimulus-response measures. </a:t>
            </a:r>
          </a:p>
          <a:p>
            <a:r>
              <a:rPr lang="en-US" dirty="0"/>
              <a:t>The worst-case, current-case, desired-case, and best-case response goals for each scenario were elicited and recorded in a table.</a:t>
            </a:r>
          </a:p>
          <a:p>
            <a:endParaRPr lang="en-US" dirty="0"/>
          </a:p>
        </p:txBody>
      </p:sp>
    </p:spTree>
    <p:extLst>
      <p:ext uri="{BB962C8B-B14F-4D97-AF65-F5344CB8AC3E}">
        <p14:creationId xmlns:p14="http://schemas.microsoft.com/office/powerpoint/2010/main" val="3901287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Refine Scenarios</a:t>
            </a:r>
          </a:p>
        </p:txBody>
      </p:sp>
      <p:pic>
        <p:nvPicPr>
          <p:cNvPr id="4" name="Picture 3" descr="table2.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20" y="1772816"/>
            <a:ext cx="8730304" cy="4076824"/>
          </a:xfrm>
          <a:prstGeom prst="rect">
            <a:avLst/>
          </a:prstGeom>
        </p:spPr>
      </p:pic>
    </p:spTree>
    <p:extLst>
      <p:ext uri="{BB962C8B-B14F-4D97-AF65-F5344CB8AC3E}">
        <p14:creationId xmlns:p14="http://schemas.microsoft.com/office/powerpoint/2010/main" val="3824047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Prioritize Scenarios</a:t>
            </a:r>
          </a:p>
        </p:txBody>
      </p:sp>
      <p:sp>
        <p:nvSpPr>
          <p:cNvPr id="3" name="Content Placeholder 2"/>
          <p:cNvSpPr>
            <a:spLocks noGrp="1"/>
          </p:cNvSpPr>
          <p:nvPr>
            <p:ph idx="1"/>
          </p:nvPr>
        </p:nvSpPr>
        <p:spPr/>
        <p:txBody>
          <a:bodyPr>
            <a:normAutofit/>
          </a:bodyPr>
          <a:lstStyle/>
          <a:p>
            <a:r>
              <a:rPr lang="en-US" dirty="0"/>
              <a:t>In voting on the refined representation of the scenarios, the close-knit team deviated slightly from the method. </a:t>
            </a:r>
          </a:p>
          <a:p>
            <a:r>
              <a:rPr lang="en-US" dirty="0"/>
              <a:t>Rather than vote individually, they chose to discuss each scenario and arrived at a determination of its weight via consensus. </a:t>
            </a:r>
          </a:p>
          <a:p>
            <a:r>
              <a:rPr lang="en-US" dirty="0"/>
              <a:t>The votes allocated to the entire set of scenarios were constrained to 100. </a:t>
            </a:r>
          </a:p>
          <a:p>
            <a:r>
              <a:rPr lang="en-US" dirty="0"/>
              <a:t>Although the stakeholders were not required to make the votes multiples of 5, they felt that this was a reasonable resolution and that more precision was neither needed nor justified.</a:t>
            </a:r>
          </a:p>
          <a:p>
            <a:endParaRPr lang="en-US" dirty="0"/>
          </a:p>
        </p:txBody>
      </p:sp>
    </p:spTree>
    <p:extLst>
      <p:ext uri="{BB962C8B-B14F-4D97-AF65-F5344CB8AC3E}">
        <p14:creationId xmlns:p14="http://schemas.microsoft.com/office/powerpoint/2010/main" val="4094545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Prioritize Scenarios</a:t>
            </a:r>
          </a:p>
        </p:txBody>
      </p:sp>
      <p:pic>
        <p:nvPicPr>
          <p:cNvPr id="5" name="Picture 4" descr="tabl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1504" y="1628800"/>
            <a:ext cx="8954594" cy="4504432"/>
          </a:xfrm>
          <a:prstGeom prst="rect">
            <a:avLst/>
          </a:prstGeom>
        </p:spPr>
      </p:pic>
    </p:spTree>
    <p:extLst>
      <p:ext uri="{BB962C8B-B14F-4D97-AF65-F5344CB8AC3E}">
        <p14:creationId xmlns:p14="http://schemas.microsoft.com/office/powerpoint/2010/main" val="2744673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Assign Utility</a:t>
            </a:r>
          </a:p>
        </p:txBody>
      </p:sp>
      <p:sp>
        <p:nvSpPr>
          <p:cNvPr id="3" name="Content Placeholder 2"/>
          <p:cNvSpPr>
            <a:spLocks noGrp="1"/>
          </p:cNvSpPr>
          <p:nvPr>
            <p:ph idx="1"/>
          </p:nvPr>
        </p:nvSpPr>
        <p:spPr/>
        <p:txBody>
          <a:bodyPr/>
          <a:lstStyle/>
          <a:p>
            <a:r>
              <a:rPr lang="en-US" dirty="0"/>
              <a:t>In this step the utility for each scenario was determined by the stakeholders, again by consensus. </a:t>
            </a:r>
          </a:p>
          <a:p>
            <a:r>
              <a:rPr lang="en-US" dirty="0"/>
              <a:t>A utility score of 0 represented no utility; a score of 100 represented the most utility possible.</a:t>
            </a:r>
          </a:p>
          <a:p>
            <a:endParaRPr lang="en-US" dirty="0"/>
          </a:p>
        </p:txBody>
      </p:sp>
    </p:spTree>
    <p:extLst>
      <p:ext uri="{BB962C8B-B14F-4D97-AF65-F5344CB8AC3E}">
        <p14:creationId xmlns:p14="http://schemas.microsoft.com/office/powerpoint/2010/main" val="40025883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Assign Utility</a:t>
            </a:r>
          </a:p>
        </p:txBody>
      </p:sp>
      <p:pic>
        <p:nvPicPr>
          <p:cNvPr id="4" name="Picture 3" descr="tabl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20" y="1340768"/>
            <a:ext cx="8702814" cy="4872980"/>
          </a:xfrm>
          <a:prstGeom prst="rect">
            <a:avLst/>
          </a:prstGeom>
        </p:spPr>
      </p:pic>
    </p:spTree>
    <p:extLst>
      <p:ext uri="{BB962C8B-B14F-4D97-AF65-F5344CB8AC3E}">
        <p14:creationId xmlns:p14="http://schemas.microsoft.com/office/powerpoint/2010/main" val="3258224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8400" y="424451"/>
            <a:ext cx="7715200" cy="1498178"/>
          </a:xfrm>
        </p:spPr>
        <p:txBody>
          <a:bodyPr>
            <a:noAutofit/>
          </a:bodyPr>
          <a:lstStyle/>
          <a:p>
            <a:r>
              <a:rPr lang="en-US" sz="3600" dirty="0"/>
              <a:t>Step 5: Develop Architectural Strategies and Determine Their Expected Quality Attribute Response Levels</a:t>
            </a:r>
          </a:p>
        </p:txBody>
      </p:sp>
      <p:sp>
        <p:nvSpPr>
          <p:cNvPr id="3" name="Content Placeholder 2"/>
          <p:cNvSpPr>
            <a:spLocks noGrp="1"/>
          </p:cNvSpPr>
          <p:nvPr>
            <p:ph idx="1"/>
          </p:nvPr>
        </p:nvSpPr>
        <p:spPr>
          <a:xfrm>
            <a:off x="1981200" y="2365329"/>
            <a:ext cx="8229600" cy="4281339"/>
          </a:xfrm>
        </p:spPr>
        <p:txBody>
          <a:bodyPr>
            <a:normAutofit/>
          </a:bodyPr>
          <a:lstStyle/>
          <a:p>
            <a:r>
              <a:rPr lang="en-US" dirty="0"/>
              <a:t>Based on the requirements implied by the preceding scenarios, a set of 10 architectural strategies was developed by the ECS architects. </a:t>
            </a:r>
          </a:p>
          <a:p>
            <a:r>
              <a:rPr lang="en-US" dirty="0"/>
              <a:t>For each architectural strategy/scenario pair, the response levels expected to be achieved with respect to that scenario are shown (along with the current response, for comparison purposes).</a:t>
            </a:r>
          </a:p>
          <a:p>
            <a:endParaRPr lang="en-US" dirty="0"/>
          </a:p>
        </p:txBody>
      </p:sp>
    </p:spTree>
    <p:extLst>
      <p:ext uri="{BB962C8B-B14F-4D97-AF65-F5344CB8AC3E}">
        <p14:creationId xmlns:p14="http://schemas.microsoft.com/office/powerpoint/2010/main" val="24889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116632"/>
            <a:ext cx="8136904" cy="778098"/>
          </a:xfrm>
        </p:spPr>
        <p:txBody>
          <a:bodyPr>
            <a:noAutofit/>
          </a:bodyPr>
          <a:lstStyle/>
          <a:p>
            <a:r>
              <a:rPr lang="en-US" sz="4000" dirty="0"/>
              <a:t>Step 5 Results (</a:t>
            </a:r>
            <a:r>
              <a:rPr lang="en-US" sz="4000" dirty="0" smtClean="0"/>
              <a:t>Strategies </a:t>
            </a:r>
            <a:r>
              <a:rPr lang="en-US" sz="4000" dirty="0"/>
              <a:t>1-5)</a:t>
            </a:r>
          </a:p>
        </p:txBody>
      </p:sp>
      <p:pic>
        <p:nvPicPr>
          <p:cNvPr id="4" name="Picture 3" descr="table 2.tiff"/>
          <p:cNvPicPr>
            <a:picLocks noChangeAspect="1"/>
          </p:cNvPicPr>
          <p:nvPr/>
        </p:nvPicPr>
        <p:blipFill rotWithShape="1">
          <a:blip r:embed="rId2">
            <a:extLst>
              <a:ext uri="{28A0092B-C50C-407E-A947-70E740481C1C}">
                <a14:useLocalDpi xmlns:a14="http://schemas.microsoft.com/office/drawing/2010/main" val="0"/>
              </a:ext>
            </a:extLst>
          </a:blip>
          <a:srcRect t="1231" b="18430"/>
          <a:stretch/>
        </p:blipFill>
        <p:spPr>
          <a:xfrm>
            <a:off x="2063553" y="1194567"/>
            <a:ext cx="8058519" cy="5186761"/>
          </a:xfrm>
          <a:prstGeom prst="rect">
            <a:avLst/>
          </a:prstGeom>
        </p:spPr>
      </p:pic>
    </p:spTree>
    <p:extLst>
      <p:ext uri="{BB962C8B-B14F-4D97-AF65-F5344CB8AC3E}">
        <p14:creationId xmlns:p14="http://schemas.microsoft.com/office/powerpoint/2010/main" val="16644917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116632"/>
            <a:ext cx="7787208" cy="778098"/>
          </a:xfrm>
        </p:spPr>
        <p:txBody>
          <a:bodyPr>
            <a:normAutofit/>
          </a:bodyPr>
          <a:lstStyle/>
          <a:p>
            <a:r>
              <a:rPr lang="en-US" sz="4000" dirty="0"/>
              <a:t>Step 5 Results </a:t>
            </a:r>
            <a:r>
              <a:rPr lang="en-US" sz="4000" dirty="0" smtClean="0"/>
              <a:t>(Strategies 5-10</a:t>
            </a:r>
            <a:r>
              <a:rPr lang="en-US" sz="4000" dirty="0"/>
              <a:t>)</a:t>
            </a:r>
          </a:p>
        </p:txBody>
      </p:sp>
      <p:pic>
        <p:nvPicPr>
          <p:cNvPr id="4" name="Picture 3" descr="table3.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1584" y="1052737"/>
            <a:ext cx="7128792" cy="5663485"/>
          </a:xfrm>
          <a:prstGeom prst="rect">
            <a:avLst/>
          </a:prstGeom>
        </p:spPr>
      </p:pic>
    </p:spTree>
    <p:extLst>
      <p:ext uri="{BB962C8B-B14F-4D97-AF65-F5344CB8AC3E}">
        <p14:creationId xmlns:p14="http://schemas.microsoft.com/office/powerpoint/2010/main" val="875277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6343" y="202631"/>
            <a:ext cx="7715200" cy="1642194"/>
          </a:xfrm>
        </p:spPr>
        <p:txBody>
          <a:bodyPr>
            <a:noAutofit/>
          </a:bodyPr>
          <a:lstStyle/>
          <a:p>
            <a:r>
              <a:rPr lang="en-US" sz="3200" dirty="0"/>
              <a:t>Step 6: Determine the Utility of the “Expected” Quality Attribute Response Levels by Interpolation</a:t>
            </a:r>
          </a:p>
        </p:txBody>
      </p:sp>
      <p:sp>
        <p:nvSpPr>
          <p:cNvPr id="3" name="Content Placeholder 2"/>
          <p:cNvSpPr>
            <a:spLocks noGrp="1"/>
          </p:cNvSpPr>
          <p:nvPr>
            <p:ph idx="1"/>
          </p:nvPr>
        </p:nvSpPr>
        <p:spPr>
          <a:xfrm>
            <a:off x="1335314" y="1844825"/>
            <a:ext cx="9347200" cy="4281339"/>
          </a:xfrm>
        </p:spPr>
        <p:txBody>
          <a:bodyPr>
            <a:normAutofit/>
          </a:bodyPr>
          <a:lstStyle/>
          <a:p>
            <a:r>
              <a:rPr lang="en-US" dirty="0"/>
              <a:t>Once the expected response level of every architectural strategy has been characterized with respect to a set of scenarios, their utility can be calculated by consulting the utility scores for each scenario’s current and desired responses for all of the affected attributes. </a:t>
            </a:r>
          </a:p>
          <a:p>
            <a:r>
              <a:rPr lang="en-US" dirty="0"/>
              <a:t>Using these scores, we may calculate, via interpolation, the utility of the expected quality attribute response levels for the architectural strategy/scenario pair.</a:t>
            </a:r>
          </a:p>
          <a:p>
            <a:endParaRPr lang="en-US" dirty="0"/>
          </a:p>
        </p:txBody>
      </p:sp>
    </p:spTree>
    <p:extLst>
      <p:ext uri="{BB962C8B-B14F-4D97-AF65-F5344CB8AC3E}">
        <p14:creationId xmlns:p14="http://schemas.microsoft.com/office/powerpoint/2010/main" val="1262625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116632"/>
            <a:ext cx="7787208" cy="778098"/>
          </a:xfrm>
        </p:spPr>
        <p:txBody>
          <a:bodyPr/>
          <a:lstStyle/>
          <a:p>
            <a:r>
              <a:rPr lang="en-US" dirty="0"/>
              <a:t>Step 6 Results</a:t>
            </a:r>
          </a:p>
        </p:txBody>
      </p:sp>
      <p:pic>
        <p:nvPicPr>
          <p:cNvPr id="5" name="Picture 4" descr="tabl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3592" y="1008112"/>
            <a:ext cx="7488832" cy="5373216"/>
          </a:xfrm>
          <a:prstGeom prst="rect">
            <a:avLst/>
          </a:prstGeom>
        </p:spPr>
      </p:pic>
    </p:spTree>
    <p:extLst>
      <p:ext uri="{BB962C8B-B14F-4D97-AF65-F5344CB8AC3E}">
        <p14:creationId xmlns:p14="http://schemas.microsoft.com/office/powerpoint/2010/main" val="23922503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5600" y="188640"/>
            <a:ext cx="7715200" cy="1138138"/>
          </a:xfrm>
        </p:spPr>
        <p:txBody>
          <a:bodyPr>
            <a:normAutofit/>
          </a:bodyPr>
          <a:lstStyle/>
          <a:p>
            <a:r>
              <a:rPr lang="en-US" sz="3600" dirty="0"/>
              <a:t>Step 7: Calculate the Total Benefit Obtained from an Architectural Strategy</a:t>
            </a:r>
          </a:p>
        </p:txBody>
      </p:sp>
      <p:sp>
        <p:nvSpPr>
          <p:cNvPr id="3" name="Content Placeholder 2"/>
          <p:cNvSpPr>
            <a:spLocks noGrp="1"/>
          </p:cNvSpPr>
          <p:nvPr>
            <p:ph idx="1"/>
          </p:nvPr>
        </p:nvSpPr>
        <p:spPr>
          <a:xfrm>
            <a:off x="1981200" y="1484785"/>
            <a:ext cx="8229600" cy="4641379"/>
          </a:xfrm>
        </p:spPr>
        <p:txBody>
          <a:bodyPr>
            <a:normAutofit/>
          </a:bodyPr>
          <a:lstStyle/>
          <a:p>
            <a:r>
              <a:rPr lang="en-US" dirty="0"/>
              <a:t>Total benefit of each architectural strategy can now be calculated:</a:t>
            </a:r>
          </a:p>
          <a:p>
            <a:pPr marL="0" indent="0" algn="ctr">
              <a:buNone/>
            </a:pPr>
            <a:r>
              <a:rPr lang="en-US" i="1" dirty="0"/>
              <a:t>B</a:t>
            </a:r>
            <a:r>
              <a:rPr lang="en-US" i="1" baseline="-25000" dirty="0"/>
              <a:t>i</a:t>
            </a:r>
            <a:r>
              <a:rPr lang="en-US" dirty="0"/>
              <a:t> = ∑</a:t>
            </a:r>
            <a:r>
              <a:rPr lang="en-US" i="1" baseline="-25000" dirty="0"/>
              <a:t>j</a:t>
            </a:r>
            <a:r>
              <a:rPr lang="en-US" dirty="0"/>
              <a:t> (</a:t>
            </a:r>
            <a:r>
              <a:rPr lang="en-US" i="1" dirty="0" err="1"/>
              <a:t>b</a:t>
            </a:r>
            <a:r>
              <a:rPr lang="en-US" i="1" baseline="-25000" dirty="0" err="1"/>
              <a:t>i,j</a:t>
            </a:r>
            <a:r>
              <a:rPr lang="en-US" dirty="0"/>
              <a:t> × </a:t>
            </a:r>
            <a:r>
              <a:rPr lang="en-US" i="1" dirty="0" err="1"/>
              <a:t>W</a:t>
            </a:r>
            <a:r>
              <a:rPr lang="en-US" i="1" baseline="-25000" dirty="0" err="1"/>
              <a:t>j</a:t>
            </a:r>
            <a:r>
              <a:rPr lang="en-US" dirty="0"/>
              <a:t>)</a:t>
            </a:r>
          </a:p>
          <a:p>
            <a:endParaRPr lang="en-US" dirty="0"/>
          </a:p>
          <a:p>
            <a:r>
              <a:rPr lang="en-US" dirty="0"/>
              <a:t>This equation calculates total benefit as the sum of the benefit that accrues to each scenario, normalized by the scenario’s relative weight. </a:t>
            </a:r>
          </a:p>
          <a:p>
            <a:r>
              <a:rPr lang="en-US" dirty="0"/>
              <a:t>Using this formula, the total benefit scores for each architectural strategy are now calculated.</a:t>
            </a:r>
          </a:p>
          <a:p>
            <a:endParaRPr lang="en-US" dirty="0"/>
          </a:p>
        </p:txBody>
      </p:sp>
    </p:spTree>
    <p:extLst>
      <p:ext uri="{BB962C8B-B14F-4D97-AF65-F5344CB8AC3E}">
        <p14:creationId xmlns:p14="http://schemas.microsoft.com/office/powerpoint/2010/main" val="269249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8004" y="262966"/>
            <a:ext cx="7787208" cy="778098"/>
          </a:xfrm>
        </p:spPr>
        <p:txBody>
          <a:bodyPr/>
          <a:lstStyle/>
          <a:p>
            <a:r>
              <a:rPr lang="en-US" dirty="0"/>
              <a:t>Step 7</a:t>
            </a:r>
          </a:p>
        </p:txBody>
      </p:sp>
      <p:pic>
        <p:nvPicPr>
          <p:cNvPr id="4" name="Picture 3" descr="table7.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1544" y="1041064"/>
            <a:ext cx="8244408" cy="5340264"/>
          </a:xfrm>
          <a:prstGeom prst="rect">
            <a:avLst/>
          </a:prstGeom>
        </p:spPr>
      </p:pic>
    </p:spTree>
    <p:extLst>
      <p:ext uri="{BB962C8B-B14F-4D97-AF65-F5344CB8AC3E}">
        <p14:creationId xmlns:p14="http://schemas.microsoft.com/office/powerpoint/2010/main" val="2038996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8634" y="323873"/>
            <a:ext cx="8574966" cy="1282154"/>
          </a:xfrm>
        </p:spPr>
        <p:txBody>
          <a:bodyPr>
            <a:noAutofit/>
          </a:bodyPr>
          <a:lstStyle/>
          <a:p>
            <a:r>
              <a:rPr lang="en-US" sz="3200" dirty="0"/>
              <a:t>Step 8: Choose Architectural Strategies Based on VFC Subject to Cost Constraints</a:t>
            </a:r>
          </a:p>
        </p:txBody>
      </p:sp>
      <p:sp>
        <p:nvSpPr>
          <p:cNvPr id="3" name="Content Placeholder 2"/>
          <p:cNvSpPr>
            <a:spLocks noGrp="1"/>
          </p:cNvSpPr>
          <p:nvPr>
            <p:ph idx="1"/>
          </p:nvPr>
        </p:nvSpPr>
        <p:spPr>
          <a:xfrm>
            <a:off x="1742049" y="1820740"/>
            <a:ext cx="8229600" cy="4713387"/>
          </a:xfrm>
        </p:spPr>
        <p:txBody>
          <a:bodyPr>
            <a:normAutofit fontScale="92500" lnSpcReduction="20000"/>
          </a:bodyPr>
          <a:lstStyle/>
          <a:p>
            <a:r>
              <a:rPr lang="en-US" dirty="0"/>
              <a:t>To complete the analysis, the team estimated cost for each architectural strategy. </a:t>
            </a:r>
          </a:p>
          <a:p>
            <a:r>
              <a:rPr lang="en-US" dirty="0"/>
              <a:t>The estimates were based on experience with the system, and a return on investment for each architectural strategy was calculated. </a:t>
            </a:r>
          </a:p>
          <a:p>
            <a:r>
              <a:rPr lang="en-US" dirty="0"/>
              <a:t>Using the VFC, we were able to rank each strategy. </a:t>
            </a:r>
          </a:p>
          <a:p>
            <a:r>
              <a:rPr lang="en-US" dirty="0"/>
              <a:t>The ranks roughly follow the ordering in which the strategies were proposed: strategy 1 has the highest rank; strategy 3 the second highest. Strategy 9 has the lowest rank; strategy 8, the second lowest. </a:t>
            </a:r>
          </a:p>
          <a:p>
            <a:r>
              <a:rPr lang="en-US" dirty="0"/>
              <a:t>This simply validates stakeholders’ intuition about which architectural strategies were going to be of the greatest benefit. For the ECS these were the ones proposed first. </a:t>
            </a:r>
          </a:p>
          <a:p>
            <a:endParaRPr lang="en-US" dirty="0"/>
          </a:p>
        </p:txBody>
      </p:sp>
    </p:spTree>
    <p:extLst>
      <p:ext uri="{BB962C8B-B14F-4D97-AF65-F5344CB8AC3E}">
        <p14:creationId xmlns:p14="http://schemas.microsoft.com/office/powerpoint/2010/main" val="42775061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1236" y="932160"/>
            <a:ext cx="7787208" cy="778098"/>
          </a:xfrm>
        </p:spPr>
        <p:txBody>
          <a:bodyPr/>
          <a:lstStyle/>
          <a:p>
            <a:r>
              <a:rPr lang="en-US" dirty="0"/>
              <a:t>Step 8</a:t>
            </a:r>
          </a:p>
        </p:txBody>
      </p:sp>
      <p:pic>
        <p:nvPicPr>
          <p:cNvPr id="5" name="Picture 4" descr="table8.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1544" y="1988840"/>
            <a:ext cx="8216900" cy="3937000"/>
          </a:xfrm>
          <a:prstGeom prst="rect">
            <a:avLst/>
          </a:prstGeom>
        </p:spPr>
      </p:pic>
    </p:spTree>
    <p:extLst>
      <p:ext uri="{BB962C8B-B14F-4D97-AF65-F5344CB8AC3E}">
        <p14:creationId xmlns:p14="http://schemas.microsoft.com/office/powerpoint/2010/main" val="155325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9329" y="681037"/>
            <a:ext cx="7715200" cy="778098"/>
          </a:xfrm>
        </p:spPr>
        <p:txBody>
          <a:bodyPr/>
          <a:lstStyle/>
          <a:p>
            <a:r>
              <a:rPr lang="en-US" dirty="0"/>
              <a:t>Summary</a:t>
            </a:r>
          </a:p>
        </p:txBody>
      </p:sp>
      <p:sp>
        <p:nvSpPr>
          <p:cNvPr id="3" name="Content Placeholder 2"/>
          <p:cNvSpPr>
            <a:spLocks noGrp="1"/>
          </p:cNvSpPr>
          <p:nvPr>
            <p:ph idx="1"/>
          </p:nvPr>
        </p:nvSpPr>
        <p:spPr/>
        <p:txBody>
          <a:bodyPr>
            <a:normAutofit fontScale="77500" lnSpcReduction="20000"/>
          </a:bodyPr>
          <a:lstStyle/>
          <a:p>
            <a:r>
              <a:rPr lang="en-US" sz="3400" dirty="0"/>
              <a:t>Architecture-based economic analysis is grounded on understanding the </a:t>
            </a:r>
            <a:r>
              <a:rPr lang="en-US" sz="3400" b="1" dirty="0">
                <a:solidFill>
                  <a:srgbClr val="FF0000"/>
                </a:solidFill>
              </a:rPr>
              <a:t>utility-response curve </a:t>
            </a:r>
            <a:r>
              <a:rPr lang="en-US" sz="3400" dirty="0"/>
              <a:t>of various scenarios and casting them into a form that makes them comparable. </a:t>
            </a:r>
          </a:p>
          <a:p>
            <a:r>
              <a:rPr lang="en-US" sz="3400" dirty="0"/>
              <a:t>Once they are in this common form—based on the common coin of utility—the VFC for each architecture improvement, with respect to each relevant scenario, can be calculated and compared.</a:t>
            </a:r>
          </a:p>
          <a:p>
            <a:r>
              <a:rPr lang="en-US" sz="3400" dirty="0"/>
              <a:t>Applying the theory in practice has a number of practical difficulties, which CBAM solves.</a:t>
            </a:r>
          </a:p>
          <a:p>
            <a:r>
              <a:rPr lang="en-US" sz="3400" dirty="0"/>
              <a:t>The application of </a:t>
            </a:r>
            <a:r>
              <a:rPr lang="en-US" sz="3400" dirty="0">
                <a:solidFill>
                  <a:srgbClr val="FF0000"/>
                </a:solidFill>
              </a:rPr>
              <a:t>economic techniques is inherently better </a:t>
            </a:r>
            <a:r>
              <a:rPr lang="en-US" sz="3400" dirty="0"/>
              <a:t>than the ad hoc decision-making approaches that projects employ today. </a:t>
            </a:r>
          </a:p>
          <a:p>
            <a:r>
              <a:rPr lang="en-US" sz="3400" dirty="0"/>
              <a:t>Giving people the appropriate tools to frame and structure their discussions and decision making is an enormous benefit to the disciplined development of a complex software system.</a:t>
            </a:r>
          </a:p>
          <a:p>
            <a:endParaRPr lang="en-US" dirty="0"/>
          </a:p>
        </p:txBody>
      </p:sp>
    </p:spTree>
    <p:extLst>
      <p:ext uri="{BB962C8B-B14F-4D97-AF65-F5344CB8AC3E}">
        <p14:creationId xmlns:p14="http://schemas.microsoft.com/office/powerpoint/2010/main" val="3058896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Architecture Competence</a:t>
            </a:r>
          </a:p>
        </p:txBody>
      </p:sp>
      <p:sp>
        <p:nvSpPr>
          <p:cNvPr id="3" name="Content Placeholder 2"/>
          <p:cNvSpPr>
            <a:spLocks noGrp="1"/>
          </p:cNvSpPr>
          <p:nvPr>
            <p:ph idx="1"/>
          </p:nvPr>
        </p:nvSpPr>
        <p:spPr/>
        <p:txBody>
          <a:bodyPr/>
          <a:lstStyle/>
          <a:p>
            <a:pPr marL="0" indent="0">
              <a:buNone/>
            </a:pPr>
            <a:r>
              <a:rPr lang="en-US" sz="3200" b="1" dirty="0"/>
              <a:t>Outline </a:t>
            </a:r>
          </a:p>
          <a:p>
            <a:r>
              <a:rPr lang="en-US" sz="3200" dirty="0"/>
              <a:t>Competence of Individuals: Duties, Skills, and Knowledge of Architects </a:t>
            </a:r>
          </a:p>
          <a:p>
            <a:r>
              <a:rPr lang="en-US" sz="3200" dirty="0"/>
              <a:t>Competence of a Software Architecture</a:t>
            </a:r>
          </a:p>
          <a:p>
            <a:r>
              <a:rPr lang="en-US" sz="3200" dirty="0"/>
              <a:t>Organization </a:t>
            </a:r>
          </a:p>
          <a:p>
            <a:r>
              <a:rPr lang="en-US" sz="3200" dirty="0"/>
              <a:t>Summary</a:t>
            </a:r>
          </a:p>
        </p:txBody>
      </p:sp>
    </p:spTree>
    <p:extLst>
      <p:ext uri="{BB962C8B-B14F-4D97-AF65-F5344CB8AC3E}">
        <p14:creationId xmlns:p14="http://schemas.microsoft.com/office/powerpoint/2010/main" val="22939408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ct val="100000"/>
              </a:lnSpc>
              <a:defRPr/>
            </a:pPr>
            <a:r>
              <a:rPr lang="en-US" dirty="0"/>
              <a:t>Competence of Individuals</a:t>
            </a:r>
          </a:p>
        </p:txBody>
      </p:sp>
      <p:sp>
        <p:nvSpPr>
          <p:cNvPr id="3" name="Content Placeholder 2"/>
          <p:cNvSpPr>
            <a:spLocks noGrp="1"/>
          </p:cNvSpPr>
          <p:nvPr>
            <p:ph idx="1"/>
          </p:nvPr>
        </p:nvSpPr>
        <p:spPr/>
        <p:txBody>
          <a:bodyPr/>
          <a:lstStyle/>
          <a:p>
            <a:pPr marL="0" indent="0">
              <a:buNone/>
            </a:pPr>
            <a:endParaRPr lang="en-US" sz="4400" dirty="0">
              <a:latin typeface="+mj-lt"/>
              <a:ea typeface="+mj-ea"/>
              <a:cs typeface="+mj-cs"/>
            </a:endParaRPr>
          </a:p>
          <a:p>
            <a:pPr lvl="0"/>
            <a:endParaRPr lang="en-US" sz="4400" dirty="0">
              <a:latin typeface="+mj-lt"/>
              <a:ea typeface="+mj-ea"/>
              <a:cs typeface="+mj-cs"/>
            </a:endParaRPr>
          </a:p>
        </p:txBody>
      </p:sp>
      <p:grpSp>
        <p:nvGrpSpPr>
          <p:cNvPr id="11" name="Group 10"/>
          <p:cNvGrpSpPr/>
          <p:nvPr/>
        </p:nvGrpSpPr>
        <p:grpSpPr>
          <a:xfrm>
            <a:off x="2135560" y="2060848"/>
            <a:ext cx="7704856" cy="3600400"/>
            <a:chOff x="755576" y="2564904"/>
            <a:chExt cx="7704856" cy="3600400"/>
          </a:xfrm>
        </p:grpSpPr>
        <p:sp>
          <p:nvSpPr>
            <p:cNvPr id="5" name="Oval 4"/>
            <p:cNvSpPr/>
            <p:nvPr/>
          </p:nvSpPr>
          <p:spPr>
            <a:xfrm>
              <a:off x="755576" y="4581128"/>
              <a:ext cx="2808312" cy="15841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Skills</a:t>
              </a:r>
            </a:p>
          </p:txBody>
        </p:sp>
        <p:sp>
          <p:nvSpPr>
            <p:cNvPr id="6" name="Oval 5"/>
            <p:cNvSpPr/>
            <p:nvPr/>
          </p:nvSpPr>
          <p:spPr>
            <a:xfrm>
              <a:off x="5508104" y="4581128"/>
              <a:ext cx="2952328" cy="15841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Knowledge</a:t>
              </a:r>
            </a:p>
          </p:txBody>
        </p:sp>
        <p:grpSp>
          <p:nvGrpSpPr>
            <p:cNvPr id="9" name="Group 8"/>
            <p:cNvGrpSpPr/>
            <p:nvPr/>
          </p:nvGrpSpPr>
          <p:grpSpPr>
            <a:xfrm>
              <a:off x="3563888" y="4149080"/>
              <a:ext cx="1944216" cy="1368152"/>
              <a:chOff x="3563888" y="4293096"/>
              <a:chExt cx="1944216" cy="1368152"/>
            </a:xfrm>
          </p:grpSpPr>
          <p:sp>
            <p:nvSpPr>
              <p:cNvPr id="7" name="Bent-Up Arrow 6"/>
              <p:cNvSpPr/>
              <p:nvPr/>
            </p:nvSpPr>
            <p:spPr>
              <a:xfrm>
                <a:off x="3563888" y="4293096"/>
                <a:ext cx="1296144" cy="1368152"/>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Bent-Up Arrow 7"/>
              <p:cNvSpPr/>
              <p:nvPr/>
            </p:nvSpPr>
            <p:spPr>
              <a:xfrm flipH="1">
                <a:off x="4211960" y="4293096"/>
                <a:ext cx="1296144" cy="1368152"/>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Oval 9"/>
            <p:cNvSpPr/>
            <p:nvPr/>
          </p:nvSpPr>
          <p:spPr>
            <a:xfrm>
              <a:off x="3131840" y="2564904"/>
              <a:ext cx="2808312" cy="15841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Duties</a:t>
              </a:r>
            </a:p>
          </p:txBody>
        </p:sp>
      </p:grpSp>
    </p:spTree>
    <p:extLst>
      <p:ext uri="{BB962C8B-B14F-4D97-AF65-F5344CB8AC3E}">
        <p14:creationId xmlns:p14="http://schemas.microsoft.com/office/powerpoint/2010/main" val="3031215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latin typeface="+mn-lt"/>
                <a:ea typeface="+mn-ea"/>
                <a:cs typeface="+mn-cs"/>
              </a:rPr>
              <a:t>Technical Duties of an Architect</a:t>
            </a:r>
            <a:endParaRPr lang="en-US" dirty="0"/>
          </a:p>
        </p:txBody>
      </p:sp>
      <p:graphicFrame>
        <p:nvGraphicFramePr>
          <p:cNvPr id="7" name="Content Placeholder 6"/>
          <p:cNvGraphicFramePr>
            <a:graphicFrameLocks noGrp="1"/>
          </p:cNvGraphicFramePr>
          <p:nvPr>
            <p:ph idx="1"/>
          </p:nvPr>
        </p:nvGraphicFramePr>
        <p:xfrm>
          <a:off x="1981200" y="1268413"/>
          <a:ext cx="8229600" cy="51511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sz="3200" dirty="0"/>
                        <a:t>General Duty</a:t>
                      </a:r>
                    </a:p>
                  </a:txBody>
                  <a:tcPr/>
                </a:tc>
                <a:tc>
                  <a:txBody>
                    <a:bodyPr/>
                    <a:lstStyle/>
                    <a:p>
                      <a:r>
                        <a:rPr lang="en-US" sz="3200" dirty="0"/>
                        <a:t>Specific Duties</a:t>
                      </a:r>
                    </a:p>
                  </a:txBody>
                  <a:tcPr/>
                </a:tc>
                <a:extLst>
                  <a:ext uri="{0D108BD9-81ED-4DB2-BD59-A6C34878D82A}">
                    <a16:rowId xmlns:a16="http://schemas.microsoft.com/office/drawing/2014/main" val="10000"/>
                  </a:ext>
                </a:extLst>
              </a:tr>
              <a:tr h="370840">
                <a:tc rowSpan="5">
                  <a:txBody>
                    <a:bodyPr/>
                    <a:lstStyle/>
                    <a:p>
                      <a:pPr algn="ctr"/>
                      <a:r>
                        <a:rPr lang="en-US" sz="2800" dirty="0"/>
                        <a:t>Architecting</a:t>
                      </a:r>
                    </a:p>
                  </a:txBody>
                  <a:tcPr anchor="ctr"/>
                </a:tc>
                <a:tc>
                  <a:txBody>
                    <a:bodyPr/>
                    <a:lstStyle/>
                    <a:p>
                      <a:r>
                        <a:rPr lang="en-US" sz="2000" dirty="0"/>
                        <a:t>Creating an architecture</a:t>
                      </a:r>
                    </a:p>
                  </a:txBody>
                  <a:tcPr/>
                </a:tc>
                <a:extLst>
                  <a:ext uri="{0D108BD9-81ED-4DB2-BD59-A6C34878D82A}">
                    <a16:rowId xmlns:a16="http://schemas.microsoft.com/office/drawing/2014/main" val="10001"/>
                  </a:ext>
                </a:extLst>
              </a:tr>
              <a:tr h="370840">
                <a:tc vMerge="1">
                  <a:txBody>
                    <a:bodyPr/>
                    <a:lstStyle/>
                    <a:p>
                      <a:endParaRPr lang="en-US" dirty="0"/>
                    </a:p>
                  </a:txBody>
                  <a:tcPr/>
                </a:tc>
                <a:tc>
                  <a:txBody>
                    <a:bodyPr/>
                    <a:lstStyle/>
                    <a:p>
                      <a:r>
                        <a:rPr lang="en-US" sz="2000" dirty="0"/>
                        <a:t>Evaluating and analyzing an architecture</a:t>
                      </a:r>
                    </a:p>
                  </a:txBody>
                  <a:tcPr/>
                </a:tc>
                <a:extLst>
                  <a:ext uri="{0D108BD9-81ED-4DB2-BD59-A6C34878D82A}">
                    <a16:rowId xmlns:a16="http://schemas.microsoft.com/office/drawing/2014/main" val="10002"/>
                  </a:ext>
                </a:extLst>
              </a:tr>
              <a:tr h="370840">
                <a:tc vMerge="1">
                  <a:txBody>
                    <a:bodyPr/>
                    <a:lstStyle/>
                    <a:p>
                      <a:endParaRPr lang="en-US" dirty="0"/>
                    </a:p>
                  </a:txBody>
                  <a:tcPr/>
                </a:tc>
                <a:tc>
                  <a:txBody>
                    <a:bodyPr/>
                    <a:lstStyle/>
                    <a:p>
                      <a:r>
                        <a:rPr lang="en-US" sz="2000" dirty="0"/>
                        <a:t>Documenting an architecture</a:t>
                      </a:r>
                    </a:p>
                  </a:txBody>
                  <a:tcPr/>
                </a:tc>
                <a:extLst>
                  <a:ext uri="{0D108BD9-81ED-4DB2-BD59-A6C34878D82A}">
                    <a16:rowId xmlns:a16="http://schemas.microsoft.com/office/drawing/2014/main" val="10003"/>
                  </a:ext>
                </a:extLst>
              </a:tr>
              <a:tr h="370840">
                <a:tc vMerge="1">
                  <a:txBody>
                    <a:bodyPr/>
                    <a:lstStyle/>
                    <a:p>
                      <a:endParaRPr lang="en-US" dirty="0"/>
                    </a:p>
                  </a:txBody>
                  <a:tcPr/>
                </a:tc>
                <a:tc>
                  <a:txBody>
                    <a:bodyPr/>
                    <a:lstStyle/>
                    <a:p>
                      <a:r>
                        <a:rPr lang="en-US" sz="2000" dirty="0"/>
                        <a:t>Working with and transforming other systems</a:t>
                      </a:r>
                    </a:p>
                  </a:txBody>
                  <a:tcPr/>
                </a:tc>
                <a:extLst>
                  <a:ext uri="{0D108BD9-81ED-4DB2-BD59-A6C34878D82A}">
                    <a16:rowId xmlns:a16="http://schemas.microsoft.com/office/drawing/2014/main" val="10004"/>
                  </a:ext>
                </a:extLst>
              </a:tr>
              <a:tr h="370840">
                <a:tc vMerge="1">
                  <a:txBody>
                    <a:bodyPr/>
                    <a:lstStyle/>
                    <a:p>
                      <a:endParaRPr lang="en-US" dirty="0"/>
                    </a:p>
                  </a:txBody>
                  <a:tcPr/>
                </a:tc>
                <a:tc>
                  <a:txBody>
                    <a:bodyPr/>
                    <a:lstStyle/>
                    <a:p>
                      <a:r>
                        <a:rPr lang="en-US" sz="2000" dirty="0"/>
                        <a:t>Performing other architecting duties</a:t>
                      </a:r>
                    </a:p>
                  </a:txBody>
                  <a:tcPr/>
                </a:tc>
                <a:extLst>
                  <a:ext uri="{0D108BD9-81ED-4DB2-BD59-A6C34878D82A}">
                    <a16:rowId xmlns:a16="http://schemas.microsoft.com/office/drawing/2014/main" val="10005"/>
                  </a:ext>
                </a:extLst>
              </a:tr>
              <a:tr h="370840">
                <a:tc rowSpan="5">
                  <a:txBody>
                    <a:bodyPr/>
                    <a:lstStyle/>
                    <a:p>
                      <a:pPr algn="ctr"/>
                      <a:r>
                        <a:rPr lang="en-US" sz="2800" kern="1200" dirty="0">
                          <a:solidFill>
                            <a:schemeClr val="dk1"/>
                          </a:solidFill>
                          <a:latin typeface="+mn-lt"/>
                          <a:ea typeface="+mn-ea"/>
                          <a:cs typeface="+mn-cs"/>
                        </a:rPr>
                        <a:t>Other life cycle activities</a:t>
                      </a:r>
                    </a:p>
                  </a:txBody>
                  <a:tcPr anchor="ctr"/>
                </a:tc>
                <a:tc>
                  <a:txBody>
                    <a:bodyPr/>
                    <a:lstStyle/>
                    <a:p>
                      <a:r>
                        <a:rPr lang="en-US" sz="2000" dirty="0"/>
                        <a:t>Managing</a:t>
                      </a:r>
                      <a:r>
                        <a:rPr lang="en-US" sz="2000" baseline="0" dirty="0"/>
                        <a:t> the r</a:t>
                      </a:r>
                      <a:r>
                        <a:rPr lang="en-US" sz="2000" dirty="0"/>
                        <a:t>equirements</a:t>
                      </a:r>
                    </a:p>
                  </a:txBody>
                  <a:tcPr/>
                </a:tc>
                <a:extLst>
                  <a:ext uri="{0D108BD9-81ED-4DB2-BD59-A6C34878D82A}">
                    <a16:rowId xmlns:a16="http://schemas.microsoft.com/office/drawing/2014/main" val="10006"/>
                  </a:ext>
                </a:extLst>
              </a:tr>
              <a:tr h="37084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Implementing the product</a:t>
                      </a:r>
                    </a:p>
                  </a:txBody>
                  <a:tcPr/>
                </a:tc>
                <a:extLst>
                  <a:ext uri="{0D108BD9-81ED-4DB2-BD59-A6C34878D82A}">
                    <a16:rowId xmlns:a16="http://schemas.microsoft.com/office/drawing/2014/main" val="10007"/>
                  </a:ext>
                </a:extLst>
              </a:tr>
              <a:tr h="37084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Testing the product</a:t>
                      </a:r>
                    </a:p>
                  </a:txBody>
                  <a:tcPr/>
                </a:tc>
                <a:extLst>
                  <a:ext uri="{0D108BD9-81ED-4DB2-BD59-A6C34878D82A}">
                    <a16:rowId xmlns:a16="http://schemas.microsoft.com/office/drawing/2014/main" val="10008"/>
                  </a:ext>
                </a:extLst>
              </a:tr>
              <a:tr h="37084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Evaluation future technologies</a:t>
                      </a:r>
                    </a:p>
                  </a:txBody>
                  <a:tcPr/>
                </a:tc>
                <a:extLst>
                  <a:ext uri="{0D108BD9-81ED-4DB2-BD59-A6C34878D82A}">
                    <a16:rowId xmlns:a16="http://schemas.microsoft.com/office/drawing/2014/main" val="10009"/>
                  </a:ext>
                </a:extLst>
              </a:tr>
              <a:tr h="37084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Selecting tools and technology</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747997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mn-lt"/>
                <a:ea typeface="+mn-ea"/>
                <a:cs typeface="+mn-cs"/>
              </a:rPr>
              <a:t>Non-Technical Duties of an Architect</a:t>
            </a:r>
            <a:endParaRPr lang="en-US" dirty="0"/>
          </a:p>
        </p:txBody>
      </p:sp>
      <p:graphicFrame>
        <p:nvGraphicFramePr>
          <p:cNvPr id="7" name="Content Placeholder 6"/>
          <p:cNvGraphicFramePr>
            <a:graphicFrameLocks noGrp="1"/>
          </p:cNvGraphicFramePr>
          <p:nvPr>
            <p:ph idx="1"/>
          </p:nvPr>
        </p:nvGraphicFramePr>
        <p:xfrm>
          <a:off x="1981200" y="1268413"/>
          <a:ext cx="8229600" cy="4329603"/>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sz="3200" dirty="0"/>
                        <a:t>General Duty</a:t>
                      </a:r>
                    </a:p>
                  </a:txBody>
                  <a:tcPr/>
                </a:tc>
                <a:tc>
                  <a:txBody>
                    <a:bodyPr/>
                    <a:lstStyle/>
                    <a:p>
                      <a:r>
                        <a:rPr lang="en-US" sz="3200" dirty="0"/>
                        <a:t>Specific Duties</a:t>
                      </a:r>
                    </a:p>
                  </a:txBody>
                  <a:tcPr/>
                </a:tc>
                <a:extLst>
                  <a:ext uri="{0D108BD9-81ED-4DB2-BD59-A6C34878D82A}">
                    <a16:rowId xmlns:a16="http://schemas.microsoft.com/office/drawing/2014/main" val="10000"/>
                  </a:ext>
                </a:extLst>
              </a:tr>
              <a:tr h="370840">
                <a:tc rowSpan="3">
                  <a:txBody>
                    <a:bodyPr/>
                    <a:lstStyle/>
                    <a:p>
                      <a:pPr algn="ctr"/>
                      <a:r>
                        <a:rPr lang="en-US" sz="2800" dirty="0"/>
                        <a:t>Management</a:t>
                      </a:r>
                    </a:p>
                  </a:txBody>
                  <a:tcPr anchor="ctr"/>
                </a:tc>
                <a:tc>
                  <a:txBody>
                    <a:bodyPr/>
                    <a:lstStyle/>
                    <a:p>
                      <a:r>
                        <a:rPr lang="en-US" sz="2000" dirty="0"/>
                        <a:t>Managing</a:t>
                      </a:r>
                      <a:r>
                        <a:rPr lang="en-US" sz="2000" baseline="0" dirty="0"/>
                        <a:t> the project</a:t>
                      </a:r>
                      <a:endParaRPr lang="en-US" sz="2000" dirty="0"/>
                    </a:p>
                  </a:txBody>
                  <a:tcPr/>
                </a:tc>
                <a:extLst>
                  <a:ext uri="{0D108BD9-81ED-4DB2-BD59-A6C34878D82A}">
                    <a16:rowId xmlns:a16="http://schemas.microsoft.com/office/drawing/2014/main" val="10001"/>
                  </a:ext>
                </a:extLst>
              </a:tr>
              <a:tr h="370840">
                <a:tc vMerge="1">
                  <a:txBody>
                    <a:bodyPr/>
                    <a:lstStyle/>
                    <a:p>
                      <a:endParaRPr lang="en-US" dirty="0"/>
                    </a:p>
                  </a:txBody>
                  <a:tcPr/>
                </a:tc>
                <a:tc>
                  <a:txBody>
                    <a:bodyPr/>
                    <a:lstStyle/>
                    <a:p>
                      <a:r>
                        <a:rPr lang="en-US" sz="2000" dirty="0"/>
                        <a:t>Managing the people</a:t>
                      </a:r>
                    </a:p>
                  </a:txBody>
                  <a:tcPr/>
                </a:tc>
                <a:extLst>
                  <a:ext uri="{0D108BD9-81ED-4DB2-BD59-A6C34878D82A}">
                    <a16:rowId xmlns:a16="http://schemas.microsoft.com/office/drawing/2014/main" val="10002"/>
                  </a:ext>
                </a:extLst>
              </a:tr>
              <a:tr h="572963">
                <a:tc vMerge="1">
                  <a:txBody>
                    <a:bodyPr/>
                    <a:lstStyle/>
                    <a:p>
                      <a:endParaRPr lang="en-US" dirty="0"/>
                    </a:p>
                  </a:txBody>
                  <a:tcPr/>
                </a:tc>
                <a:tc>
                  <a:txBody>
                    <a:bodyPr/>
                    <a:lstStyle/>
                    <a:p>
                      <a:r>
                        <a:rPr lang="en-US" sz="2000" dirty="0"/>
                        <a:t>Supporting the management</a:t>
                      </a:r>
                    </a:p>
                  </a:txBody>
                  <a:tcPr/>
                </a:tc>
                <a:extLst>
                  <a:ext uri="{0D108BD9-81ED-4DB2-BD59-A6C34878D82A}">
                    <a16:rowId xmlns:a16="http://schemas.microsoft.com/office/drawing/2014/main" val="10003"/>
                  </a:ext>
                </a:extLst>
              </a:tr>
              <a:tr h="370840">
                <a:tc rowSpan="2">
                  <a:txBody>
                    <a:bodyPr/>
                    <a:lstStyle/>
                    <a:p>
                      <a:pPr algn="ctr"/>
                      <a:r>
                        <a:rPr lang="en-US" sz="2800" kern="1200" dirty="0">
                          <a:solidFill>
                            <a:schemeClr val="dk1"/>
                          </a:solidFill>
                          <a:latin typeface="+mn-lt"/>
                          <a:ea typeface="+mn-ea"/>
                          <a:cs typeface="+mn-cs"/>
                        </a:rPr>
                        <a:t>Organization and business related</a:t>
                      </a:r>
                      <a:r>
                        <a:rPr lang="en-US" sz="2800" kern="1200" baseline="0" dirty="0">
                          <a:solidFill>
                            <a:schemeClr val="dk1"/>
                          </a:solidFill>
                          <a:latin typeface="+mn-lt"/>
                          <a:ea typeface="+mn-ea"/>
                          <a:cs typeface="+mn-cs"/>
                        </a:rPr>
                        <a:t> duties</a:t>
                      </a:r>
                      <a:endParaRPr lang="en-US" sz="2800" kern="1200" dirty="0">
                        <a:solidFill>
                          <a:schemeClr val="dk1"/>
                        </a:solidFill>
                        <a:latin typeface="+mn-lt"/>
                        <a:ea typeface="+mn-ea"/>
                        <a:cs typeface="+mn-cs"/>
                      </a:endParaRPr>
                    </a:p>
                  </a:txBody>
                  <a:tcPr anchor="ctr"/>
                </a:tc>
                <a:tc>
                  <a:txBody>
                    <a:bodyPr/>
                    <a:lstStyle/>
                    <a:p>
                      <a:r>
                        <a:rPr lang="en-US" sz="2000" dirty="0"/>
                        <a:t>Supporting the organization</a:t>
                      </a:r>
                    </a:p>
                  </a:txBody>
                  <a:tcPr/>
                </a:tc>
                <a:extLst>
                  <a:ext uri="{0D108BD9-81ED-4DB2-BD59-A6C34878D82A}">
                    <a16:rowId xmlns:a16="http://schemas.microsoft.com/office/drawing/2014/main" val="10004"/>
                  </a:ext>
                </a:extLst>
              </a:tr>
              <a:tr h="104392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Supporting the business</a:t>
                      </a:r>
                    </a:p>
                  </a:txBody>
                  <a:tcPr/>
                </a:tc>
                <a:extLst>
                  <a:ext uri="{0D108BD9-81ED-4DB2-BD59-A6C34878D82A}">
                    <a16:rowId xmlns:a16="http://schemas.microsoft.com/office/drawing/2014/main" val="10005"/>
                  </a:ext>
                </a:extLst>
              </a:tr>
              <a:tr h="370840">
                <a:tc rowSpan="2">
                  <a:txBody>
                    <a:bodyPr/>
                    <a:lstStyle/>
                    <a:p>
                      <a:pPr algn="ctr"/>
                      <a:r>
                        <a:rPr lang="en-US" sz="2800" kern="1200" dirty="0">
                          <a:solidFill>
                            <a:schemeClr val="dk1"/>
                          </a:solidFill>
                          <a:latin typeface="+mn-lt"/>
                          <a:ea typeface="+mn-ea"/>
                          <a:cs typeface="+mn-cs"/>
                        </a:rPr>
                        <a:t>Leadership and team building</a:t>
                      </a:r>
                    </a:p>
                  </a:txBody>
                  <a:tcPr anchor="ctr"/>
                </a:tc>
                <a:tc>
                  <a:txBody>
                    <a:bodyPr/>
                    <a:lstStyle/>
                    <a:p>
                      <a:r>
                        <a:rPr lang="en-US" sz="2000" dirty="0"/>
                        <a:t>Providing technical</a:t>
                      </a:r>
                      <a:r>
                        <a:rPr lang="en-US" sz="2000" baseline="0" dirty="0"/>
                        <a:t> leadership</a:t>
                      </a:r>
                      <a:endParaRPr lang="en-US" sz="2000" dirty="0"/>
                    </a:p>
                  </a:txBody>
                  <a:tcPr/>
                </a:tc>
                <a:extLst>
                  <a:ext uri="{0D108BD9-81ED-4DB2-BD59-A6C34878D82A}">
                    <a16:rowId xmlns:a16="http://schemas.microsoft.com/office/drawing/2014/main" val="10006"/>
                  </a:ext>
                </a:extLst>
              </a:tr>
              <a:tr h="37084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Building a team</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21105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mn-lt"/>
                <a:ea typeface="+mn-ea"/>
                <a:cs typeface="+mn-cs"/>
              </a:rPr>
              <a:t>Skills of an Architect</a:t>
            </a:r>
            <a:endParaRPr lang="en-US" dirty="0"/>
          </a:p>
        </p:txBody>
      </p:sp>
      <p:graphicFrame>
        <p:nvGraphicFramePr>
          <p:cNvPr id="7" name="Content Placeholder 6"/>
          <p:cNvGraphicFramePr>
            <a:graphicFrameLocks noGrp="1"/>
          </p:cNvGraphicFramePr>
          <p:nvPr>
            <p:ph idx="1"/>
          </p:nvPr>
        </p:nvGraphicFramePr>
        <p:xfrm>
          <a:off x="1981200" y="1268414"/>
          <a:ext cx="8229600" cy="4734619"/>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sz="3200" dirty="0"/>
                        <a:t>General Skill</a:t>
                      </a:r>
                      <a:r>
                        <a:rPr lang="en-US" sz="3200" baseline="0" dirty="0"/>
                        <a:t> Area</a:t>
                      </a:r>
                      <a:endParaRPr lang="en-US" sz="3200" dirty="0"/>
                    </a:p>
                  </a:txBody>
                  <a:tcPr/>
                </a:tc>
                <a:tc>
                  <a:txBody>
                    <a:bodyPr/>
                    <a:lstStyle/>
                    <a:p>
                      <a:r>
                        <a:rPr lang="en-US" sz="3200" dirty="0"/>
                        <a:t>Specific Skills</a:t>
                      </a:r>
                    </a:p>
                  </a:txBody>
                  <a:tcPr/>
                </a:tc>
                <a:extLst>
                  <a:ext uri="{0D108BD9-81ED-4DB2-BD59-A6C34878D82A}">
                    <a16:rowId xmlns:a16="http://schemas.microsoft.com/office/drawing/2014/main" val="10000"/>
                  </a:ext>
                </a:extLst>
              </a:tr>
              <a:tr h="370840">
                <a:tc rowSpan="2">
                  <a:txBody>
                    <a:bodyPr/>
                    <a:lstStyle/>
                    <a:p>
                      <a:pPr algn="ctr"/>
                      <a:r>
                        <a:rPr lang="en-US" sz="2800" dirty="0"/>
                        <a:t>Communication skills</a:t>
                      </a:r>
                    </a:p>
                  </a:txBody>
                  <a:tcPr anchor="ctr"/>
                </a:tc>
                <a:tc>
                  <a:txBody>
                    <a:bodyPr/>
                    <a:lstStyle/>
                    <a:p>
                      <a:r>
                        <a:rPr lang="en-US" sz="2000" dirty="0"/>
                        <a:t>Outward</a:t>
                      </a:r>
                    </a:p>
                  </a:txBody>
                  <a:tcPr/>
                </a:tc>
                <a:extLst>
                  <a:ext uri="{0D108BD9-81ED-4DB2-BD59-A6C34878D82A}">
                    <a16:rowId xmlns:a16="http://schemas.microsoft.com/office/drawing/2014/main" val="10001"/>
                  </a:ext>
                </a:extLst>
              </a:tr>
              <a:tr h="465147">
                <a:tc vMerge="1">
                  <a:txBody>
                    <a:bodyPr/>
                    <a:lstStyle/>
                    <a:p>
                      <a:endParaRPr lang="en-US" dirty="0"/>
                    </a:p>
                  </a:txBody>
                  <a:tcPr/>
                </a:tc>
                <a:tc>
                  <a:txBody>
                    <a:bodyPr/>
                    <a:lstStyle/>
                    <a:p>
                      <a:r>
                        <a:rPr lang="en-US" sz="2000" dirty="0"/>
                        <a:t>Inward</a:t>
                      </a:r>
                    </a:p>
                  </a:txBody>
                  <a:tcPr/>
                </a:tc>
                <a:extLst>
                  <a:ext uri="{0D108BD9-81ED-4DB2-BD59-A6C34878D82A}">
                    <a16:rowId xmlns:a16="http://schemas.microsoft.com/office/drawing/2014/main" val="10002"/>
                  </a:ext>
                </a:extLst>
              </a:tr>
              <a:tr h="370840">
                <a:tc rowSpan="2">
                  <a:txBody>
                    <a:bodyPr/>
                    <a:lstStyle/>
                    <a:p>
                      <a:pPr algn="ctr"/>
                      <a:r>
                        <a:rPr lang="en-US" sz="2800" kern="1200" dirty="0">
                          <a:solidFill>
                            <a:schemeClr val="dk1"/>
                          </a:solidFill>
                          <a:latin typeface="+mn-lt"/>
                          <a:ea typeface="+mn-ea"/>
                          <a:cs typeface="+mn-cs"/>
                        </a:rPr>
                        <a:t>Interpersonal</a:t>
                      </a:r>
                      <a:r>
                        <a:rPr lang="en-US" sz="2800" kern="1200" baseline="0" dirty="0">
                          <a:solidFill>
                            <a:schemeClr val="dk1"/>
                          </a:solidFill>
                          <a:latin typeface="+mn-lt"/>
                          <a:ea typeface="+mn-ea"/>
                          <a:cs typeface="+mn-cs"/>
                        </a:rPr>
                        <a:t> skills</a:t>
                      </a:r>
                      <a:endParaRPr lang="en-US" sz="2800" kern="1200" dirty="0">
                        <a:solidFill>
                          <a:schemeClr val="dk1"/>
                        </a:solidFill>
                        <a:latin typeface="+mn-lt"/>
                        <a:ea typeface="+mn-ea"/>
                        <a:cs typeface="+mn-cs"/>
                      </a:endParaRPr>
                    </a:p>
                  </a:txBody>
                  <a:tcPr anchor="ctr"/>
                </a:tc>
                <a:tc>
                  <a:txBody>
                    <a:bodyPr/>
                    <a:lstStyle/>
                    <a:p>
                      <a:r>
                        <a:rPr lang="en-US" sz="2000" dirty="0"/>
                        <a:t>Within team</a:t>
                      </a:r>
                    </a:p>
                  </a:txBody>
                  <a:tcPr/>
                </a:tc>
                <a:extLst>
                  <a:ext uri="{0D108BD9-81ED-4DB2-BD59-A6C34878D82A}">
                    <a16:rowId xmlns:a16="http://schemas.microsoft.com/office/drawing/2014/main" val="10003"/>
                  </a:ext>
                </a:extLst>
              </a:tr>
              <a:tr h="611872">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With other</a:t>
                      </a:r>
                      <a:r>
                        <a:rPr lang="en-US" sz="2000" baseline="0" dirty="0"/>
                        <a:t> people</a:t>
                      </a:r>
                      <a:endParaRPr lang="en-US" sz="2000" dirty="0"/>
                    </a:p>
                  </a:txBody>
                  <a:tcPr/>
                </a:tc>
                <a:extLst>
                  <a:ext uri="{0D108BD9-81ED-4DB2-BD59-A6C34878D82A}">
                    <a16:rowId xmlns:a16="http://schemas.microsoft.com/office/drawing/2014/main" val="10004"/>
                  </a:ext>
                </a:extLst>
              </a:tr>
              <a:tr h="370840">
                <a:tc rowSpan="5">
                  <a:txBody>
                    <a:bodyPr/>
                    <a:lstStyle/>
                    <a:p>
                      <a:pPr algn="ctr"/>
                      <a:r>
                        <a:rPr lang="en-US" sz="2800" kern="1200" dirty="0">
                          <a:solidFill>
                            <a:schemeClr val="dk1"/>
                          </a:solidFill>
                          <a:latin typeface="+mn-lt"/>
                          <a:ea typeface="+mn-ea"/>
                          <a:cs typeface="+mn-cs"/>
                        </a:rPr>
                        <a:t>Work</a:t>
                      </a:r>
                      <a:r>
                        <a:rPr lang="en-US" sz="2800" kern="1200" baseline="0" dirty="0">
                          <a:solidFill>
                            <a:schemeClr val="dk1"/>
                          </a:solidFill>
                          <a:latin typeface="+mn-lt"/>
                          <a:ea typeface="+mn-ea"/>
                          <a:cs typeface="+mn-cs"/>
                        </a:rPr>
                        <a:t> skills</a:t>
                      </a:r>
                      <a:endParaRPr lang="en-US" sz="2800" kern="1200" dirty="0">
                        <a:solidFill>
                          <a:schemeClr val="dk1"/>
                        </a:solidFill>
                        <a:latin typeface="+mn-lt"/>
                        <a:ea typeface="+mn-ea"/>
                        <a:cs typeface="+mn-cs"/>
                      </a:endParaRPr>
                    </a:p>
                  </a:txBody>
                  <a:tcPr anchor="ctr"/>
                </a:tc>
                <a:tc>
                  <a:txBody>
                    <a:bodyPr/>
                    <a:lstStyle/>
                    <a:p>
                      <a:r>
                        <a:rPr lang="en-US" sz="2000" dirty="0"/>
                        <a:t>Leadership</a:t>
                      </a:r>
                    </a:p>
                  </a:txBody>
                  <a:tcPr/>
                </a:tc>
                <a:extLst>
                  <a:ext uri="{0D108BD9-81ED-4DB2-BD59-A6C34878D82A}">
                    <a16:rowId xmlns:a16="http://schemas.microsoft.com/office/drawing/2014/main" val="10005"/>
                  </a:ext>
                </a:extLst>
              </a:tr>
              <a:tr h="37084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Workload</a:t>
                      </a:r>
                      <a:r>
                        <a:rPr lang="en-US" sz="2000" baseline="0" dirty="0"/>
                        <a:t> management</a:t>
                      </a:r>
                      <a:endParaRPr lang="en-US" sz="2000" dirty="0"/>
                    </a:p>
                  </a:txBody>
                  <a:tcPr/>
                </a:tc>
                <a:extLst>
                  <a:ext uri="{0D108BD9-81ED-4DB2-BD59-A6C34878D82A}">
                    <a16:rowId xmlns:a16="http://schemas.microsoft.com/office/drawing/2014/main" val="10006"/>
                  </a:ext>
                </a:extLst>
              </a:tr>
              <a:tr h="37084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Skills to excel in corporate environment</a:t>
                      </a:r>
                    </a:p>
                  </a:txBody>
                  <a:tcPr/>
                </a:tc>
                <a:extLst>
                  <a:ext uri="{0D108BD9-81ED-4DB2-BD59-A6C34878D82A}">
                    <a16:rowId xmlns:a16="http://schemas.microsoft.com/office/drawing/2014/main" val="10007"/>
                  </a:ext>
                </a:extLst>
              </a:tr>
              <a:tr h="37084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Skills for handling information</a:t>
                      </a:r>
                    </a:p>
                  </a:txBody>
                  <a:tcPr/>
                </a:tc>
                <a:extLst>
                  <a:ext uri="{0D108BD9-81ED-4DB2-BD59-A6C34878D82A}">
                    <a16:rowId xmlns:a16="http://schemas.microsoft.com/office/drawing/2014/main" val="10008"/>
                  </a:ext>
                </a:extLst>
              </a:tr>
              <a:tr h="370840">
                <a:tc vMerge="1">
                  <a:txBody>
                    <a:bodyPr/>
                    <a:lstStyle/>
                    <a:p>
                      <a:pPr algn="ctr"/>
                      <a:endParaRPr lang="en-US" sz="2800" kern="1200" dirty="0">
                        <a:solidFill>
                          <a:schemeClr val="dk1"/>
                        </a:solidFill>
                        <a:latin typeface="+mn-lt"/>
                        <a:ea typeface="+mn-ea"/>
                        <a:cs typeface="+mn-cs"/>
                      </a:endParaRPr>
                    </a:p>
                  </a:txBody>
                  <a:tcPr anchor="ctr"/>
                </a:tc>
                <a:tc>
                  <a:txBody>
                    <a:bodyPr/>
                    <a:lstStyle/>
                    <a:p>
                      <a:r>
                        <a:rPr lang="en-US" sz="2000" dirty="0"/>
                        <a:t>Skills for handling unexpected</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5507357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mn-lt"/>
                <a:ea typeface="+mn-ea"/>
                <a:cs typeface="+mn-cs"/>
              </a:rPr>
              <a:t>Knowledge of an Architect</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28249357"/>
              </p:ext>
            </p:extLst>
          </p:nvPr>
        </p:nvGraphicFramePr>
        <p:xfrm>
          <a:off x="1981200" y="1297729"/>
          <a:ext cx="8229600" cy="5331513"/>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sz="2800" dirty="0"/>
                        <a:t>General Knowledge </a:t>
                      </a:r>
                      <a:r>
                        <a:rPr lang="en-US" sz="2800" baseline="0" dirty="0"/>
                        <a:t>Area</a:t>
                      </a:r>
                      <a:endParaRPr lang="en-US" sz="2800" dirty="0"/>
                    </a:p>
                  </a:txBody>
                  <a:tcPr/>
                </a:tc>
                <a:tc>
                  <a:txBody>
                    <a:bodyPr/>
                    <a:lstStyle/>
                    <a:p>
                      <a:r>
                        <a:rPr lang="en-US" sz="2800" dirty="0"/>
                        <a:t>Specific Knowledge</a:t>
                      </a:r>
                    </a:p>
                  </a:txBody>
                  <a:tcPr/>
                </a:tc>
                <a:extLst>
                  <a:ext uri="{0D108BD9-81ED-4DB2-BD59-A6C34878D82A}">
                    <a16:rowId xmlns:a16="http://schemas.microsoft.com/office/drawing/2014/main" val="10000"/>
                  </a:ext>
                </a:extLst>
              </a:tr>
              <a:tr h="370840">
                <a:tc rowSpan="4">
                  <a:txBody>
                    <a:bodyPr/>
                    <a:lstStyle/>
                    <a:p>
                      <a:pPr algn="ctr"/>
                      <a:r>
                        <a:rPr lang="en-US" sz="2800" dirty="0"/>
                        <a:t>Computer</a:t>
                      </a:r>
                      <a:r>
                        <a:rPr lang="en-US" sz="2800" baseline="0" dirty="0"/>
                        <a:t> Science knowledge</a:t>
                      </a:r>
                      <a:endParaRPr lang="en-US" sz="2800" dirty="0"/>
                    </a:p>
                  </a:txBody>
                  <a:tcPr anchor="ctr"/>
                </a:tc>
                <a:tc>
                  <a:txBody>
                    <a:bodyPr/>
                    <a:lstStyle/>
                    <a:p>
                      <a:r>
                        <a:rPr lang="en-US" sz="2000" dirty="0"/>
                        <a:t>Architecture</a:t>
                      </a:r>
                    </a:p>
                  </a:txBody>
                  <a:tcPr/>
                </a:tc>
                <a:extLst>
                  <a:ext uri="{0D108BD9-81ED-4DB2-BD59-A6C34878D82A}">
                    <a16:rowId xmlns:a16="http://schemas.microsoft.com/office/drawing/2014/main" val="10001"/>
                  </a:ext>
                </a:extLst>
              </a:tr>
              <a:tr h="465147">
                <a:tc vMerge="1">
                  <a:txBody>
                    <a:bodyPr/>
                    <a:lstStyle/>
                    <a:p>
                      <a:endParaRPr lang="en-US" dirty="0"/>
                    </a:p>
                  </a:txBody>
                  <a:tcPr/>
                </a:tc>
                <a:tc>
                  <a:txBody>
                    <a:bodyPr/>
                    <a:lstStyle/>
                    <a:p>
                      <a:r>
                        <a:rPr lang="en-US" sz="2000" dirty="0"/>
                        <a:t>Software</a:t>
                      </a:r>
                      <a:r>
                        <a:rPr lang="en-US" sz="2000" baseline="0" dirty="0"/>
                        <a:t> Engineering</a:t>
                      </a:r>
                      <a:endParaRPr lang="en-US" sz="2000" dirty="0"/>
                    </a:p>
                  </a:txBody>
                  <a:tcPr/>
                </a:tc>
                <a:extLst>
                  <a:ext uri="{0D108BD9-81ED-4DB2-BD59-A6C34878D82A}">
                    <a16:rowId xmlns:a16="http://schemas.microsoft.com/office/drawing/2014/main" val="10002"/>
                  </a:ext>
                </a:extLst>
              </a:tr>
              <a:tr h="465147">
                <a:tc vMerge="1">
                  <a:txBody>
                    <a:bodyPr/>
                    <a:lstStyle/>
                    <a:p>
                      <a:pPr algn="ctr"/>
                      <a:endParaRPr lang="en-US" sz="2800" dirty="0"/>
                    </a:p>
                  </a:txBody>
                  <a:tcPr anchor="ctr"/>
                </a:tc>
                <a:tc>
                  <a:txBody>
                    <a:bodyPr/>
                    <a:lstStyle/>
                    <a:p>
                      <a:r>
                        <a:rPr lang="en-US" sz="2000" dirty="0"/>
                        <a:t>Design knowledge</a:t>
                      </a:r>
                    </a:p>
                  </a:txBody>
                  <a:tcPr/>
                </a:tc>
                <a:extLst>
                  <a:ext uri="{0D108BD9-81ED-4DB2-BD59-A6C34878D82A}">
                    <a16:rowId xmlns:a16="http://schemas.microsoft.com/office/drawing/2014/main" val="10003"/>
                  </a:ext>
                </a:extLst>
              </a:tr>
              <a:tr h="465147">
                <a:tc vMerge="1">
                  <a:txBody>
                    <a:bodyPr/>
                    <a:lstStyle/>
                    <a:p>
                      <a:pPr algn="ctr"/>
                      <a:endParaRPr lang="en-US" sz="2800" dirty="0"/>
                    </a:p>
                  </a:txBody>
                  <a:tcPr anchor="ctr"/>
                </a:tc>
                <a:tc>
                  <a:txBody>
                    <a:bodyPr/>
                    <a:lstStyle/>
                    <a:p>
                      <a:r>
                        <a:rPr lang="en-US" sz="2000" dirty="0"/>
                        <a:t>Programming knowledge</a:t>
                      </a:r>
                    </a:p>
                  </a:txBody>
                  <a:tcPr/>
                </a:tc>
                <a:extLst>
                  <a:ext uri="{0D108BD9-81ED-4DB2-BD59-A6C34878D82A}">
                    <a16:rowId xmlns:a16="http://schemas.microsoft.com/office/drawing/2014/main" val="10004"/>
                  </a:ext>
                </a:extLst>
              </a:tr>
              <a:tr h="454234">
                <a:tc rowSpan="2">
                  <a:txBody>
                    <a:bodyPr/>
                    <a:lstStyle/>
                    <a:p>
                      <a:pPr algn="ctr"/>
                      <a:r>
                        <a:rPr lang="en-US" sz="2800" dirty="0"/>
                        <a:t>Technology and Platforms</a:t>
                      </a:r>
                    </a:p>
                  </a:txBody>
                  <a:tcPr anchor="ctr"/>
                </a:tc>
                <a:tc>
                  <a:txBody>
                    <a:bodyPr/>
                    <a:lstStyle/>
                    <a:p>
                      <a:r>
                        <a:rPr lang="en-US" sz="2000" dirty="0"/>
                        <a:t>Specific knowledge</a:t>
                      </a:r>
                    </a:p>
                  </a:txBody>
                  <a:tcPr/>
                </a:tc>
                <a:extLst>
                  <a:ext uri="{0D108BD9-81ED-4DB2-BD59-A6C34878D82A}">
                    <a16:rowId xmlns:a16="http://schemas.microsoft.com/office/drawing/2014/main" val="10005"/>
                  </a:ext>
                </a:extLst>
              </a:tr>
              <a:tr h="350520">
                <a:tc vMerge="1">
                  <a:txBody>
                    <a:bodyPr/>
                    <a:lstStyle/>
                    <a:p>
                      <a:endParaRPr lang="en-US"/>
                    </a:p>
                  </a:txBody>
                  <a:tcPr/>
                </a:tc>
                <a:tc>
                  <a:txBody>
                    <a:bodyPr/>
                    <a:lstStyle/>
                    <a:p>
                      <a:r>
                        <a:rPr lang="en-US" sz="2000" dirty="0"/>
                        <a:t>General knowledge</a:t>
                      </a:r>
                    </a:p>
                  </a:txBody>
                  <a:tcPr/>
                </a:tc>
                <a:extLst>
                  <a:ext uri="{0D108BD9-81ED-4DB2-BD59-A6C34878D82A}">
                    <a16:rowId xmlns:a16="http://schemas.microsoft.com/office/drawing/2014/main" val="10006"/>
                  </a:ext>
                </a:extLst>
              </a:tr>
              <a:tr h="539864">
                <a:tc rowSpan="4">
                  <a:txBody>
                    <a:bodyPr/>
                    <a:lstStyle/>
                    <a:p>
                      <a:pPr algn="ctr"/>
                      <a:r>
                        <a:rPr lang="en-US" sz="2800" dirty="0"/>
                        <a:t>Organization context and management</a:t>
                      </a:r>
                    </a:p>
                  </a:txBody>
                  <a:tcPr anchor="ctr"/>
                </a:tc>
                <a:tc>
                  <a:txBody>
                    <a:bodyPr/>
                    <a:lstStyle/>
                    <a:p>
                      <a:r>
                        <a:rPr lang="en-US" sz="2000" dirty="0"/>
                        <a:t>Domain knowledge</a:t>
                      </a:r>
                    </a:p>
                  </a:txBody>
                  <a:tcPr/>
                </a:tc>
                <a:extLst>
                  <a:ext uri="{0D108BD9-81ED-4DB2-BD59-A6C34878D82A}">
                    <a16:rowId xmlns:a16="http://schemas.microsoft.com/office/drawing/2014/main" val="10007"/>
                  </a:ext>
                </a:extLst>
              </a:tr>
              <a:tr h="465147">
                <a:tc vMerge="1">
                  <a:txBody>
                    <a:bodyPr/>
                    <a:lstStyle/>
                    <a:p>
                      <a:pPr algn="ctr"/>
                      <a:endParaRPr lang="en-US" sz="2800" dirty="0"/>
                    </a:p>
                  </a:txBody>
                  <a:tcPr anchor="ctr"/>
                </a:tc>
                <a:tc>
                  <a:txBody>
                    <a:bodyPr/>
                    <a:lstStyle/>
                    <a:p>
                      <a:r>
                        <a:rPr lang="en-US" sz="2000" dirty="0"/>
                        <a:t>Industry knowledge</a:t>
                      </a:r>
                    </a:p>
                  </a:txBody>
                  <a:tcPr/>
                </a:tc>
                <a:extLst>
                  <a:ext uri="{0D108BD9-81ED-4DB2-BD59-A6C34878D82A}">
                    <a16:rowId xmlns:a16="http://schemas.microsoft.com/office/drawing/2014/main" val="10008"/>
                  </a:ext>
                </a:extLst>
              </a:tr>
              <a:tr h="465147">
                <a:tc vMerge="1">
                  <a:txBody>
                    <a:bodyPr/>
                    <a:lstStyle/>
                    <a:p>
                      <a:pPr algn="ctr"/>
                      <a:endParaRPr lang="en-US" sz="2800" dirty="0"/>
                    </a:p>
                  </a:txBody>
                  <a:tcPr anchor="ctr"/>
                </a:tc>
                <a:tc>
                  <a:txBody>
                    <a:bodyPr/>
                    <a:lstStyle/>
                    <a:p>
                      <a:r>
                        <a:rPr lang="en-US" sz="2000" dirty="0"/>
                        <a:t>Enterprise knowledge</a:t>
                      </a:r>
                    </a:p>
                  </a:txBody>
                  <a:tcPr/>
                </a:tc>
                <a:extLst>
                  <a:ext uri="{0D108BD9-81ED-4DB2-BD59-A6C34878D82A}">
                    <a16:rowId xmlns:a16="http://schemas.microsoft.com/office/drawing/2014/main" val="10009"/>
                  </a:ext>
                </a:extLst>
              </a:tr>
              <a:tr h="465147">
                <a:tc vMerge="1">
                  <a:txBody>
                    <a:bodyPr/>
                    <a:lstStyle/>
                    <a:p>
                      <a:pPr algn="ctr"/>
                      <a:endParaRPr lang="en-US" sz="2800" dirty="0"/>
                    </a:p>
                  </a:txBody>
                  <a:tcPr anchor="ctr"/>
                </a:tc>
                <a:tc>
                  <a:txBody>
                    <a:bodyPr/>
                    <a:lstStyle/>
                    <a:p>
                      <a:r>
                        <a:rPr lang="en-US" sz="2000" dirty="0"/>
                        <a:t>Leadership and</a:t>
                      </a:r>
                      <a:r>
                        <a:rPr lang="en-US" sz="2000" baseline="0" dirty="0"/>
                        <a:t> management techniques</a:t>
                      </a:r>
                      <a:endParaRPr lang="en-US" sz="2000"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8013935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Competence</a:t>
            </a:r>
          </a:p>
        </p:txBody>
      </p:sp>
      <p:sp>
        <p:nvSpPr>
          <p:cNvPr id="3" name="Content Placeholder 2"/>
          <p:cNvSpPr>
            <a:spLocks noGrp="1"/>
          </p:cNvSpPr>
          <p:nvPr>
            <p:ph idx="1"/>
          </p:nvPr>
        </p:nvSpPr>
        <p:spPr/>
        <p:txBody>
          <a:bodyPr/>
          <a:lstStyle/>
          <a:p>
            <a:r>
              <a:rPr lang="en-US" dirty="0"/>
              <a:t>It</a:t>
            </a:r>
            <a:r>
              <a:rPr lang="en-US" baseline="0" dirty="0"/>
              <a:t> is not enough for the architect to be competent</a:t>
            </a:r>
          </a:p>
          <a:p>
            <a:r>
              <a:rPr lang="en-US" baseline="0" dirty="0"/>
              <a:t>The organizational setting is usually outside the control of individual architects.</a:t>
            </a:r>
          </a:p>
          <a:p>
            <a:r>
              <a:rPr lang="en-US" baseline="0" dirty="0"/>
              <a:t>The architect must operate in an environment that understands how to create/nurture/reward architects.</a:t>
            </a:r>
          </a:p>
          <a:p>
            <a:endParaRPr lang="en-US" dirty="0"/>
          </a:p>
        </p:txBody>
      </p:sp>
    </p:spTree>
    <p:extLst>
      <p:ext uri="{BB962C8B-B14F-4D97-AF65-F5344CB8AC3E}">
        <p14:creationId xmlns:p14="http://schemas.microsoft.com/office/powerpoint/2010/main" val="30101890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Examples of Activities</a:t>
            </a:r>
            <a:r>
              <a:rPr lang="en-US" baseline="0" dirty="0"/>
              <a:t> by a Competent </a:t>
            </a:r>
            <a:r>
              <a:rPr lang="en-US" dirty="0"/>
              <a:t>O</a:t>
            </a:r>
            <a:r>
              <a:rPr lang="en-US" baseline="0" dirty="0"/>
              <a:t>rganization</a:t>
            </a:r>
            <a:endParaRPr lang="en-US" dirty="0"/>
          </a:p>
        </p:txBody>
      </p:sp>
      <p:sp>
        <p:nvSpPr>
          <p:cNvPr id="3" name="Content Placeholder 2"/>
          <p:cNvSpPr>
            <a:spLocks noGrp="1"/>
          </p:cNvSpPr>
          <p:nvPr>
            <p:ph idx="1"/>
          </p:nvPr>
        </p:nvSpPr>
        <p:spPr/>
        <p:txBody>
          <a:bodyPr>
            <a:noAutofit/>
          </a:bodyPr>
          <a:lstStyle/>
          <a:p>
            <a:pPr>
              <a:spcBef>
                <a:spcPts val="0"/>
              </a:spcBef>
            </a:pPr>
            <a:r>
              <a:rPr lang="en-US" sz="2600" dirty="0"/>
              <a:t>Establish a career track for architects.</a:t>
            </a:r>
          </a:p>
          <a:p>
            <a:pPr>
              <a:spcBef>
                <a:spcPts val="0"/>
              </a:spcBef>
            </a:pPr>
            <a:r>
              <a:rPr lang="en-US" sz="2600" dirty="0"/>
              <a:t>Establish a clear statement of responsibilities and authority for architects. </a:t>
            </a:r>
          </a:p>
          <a:p>
            <a:pPr>
              <a:spcBef>
                <a:spcPts val="0"/>
              </a:spcBef>
            </a:pPr>
            <a:r>
              <a:rPr lang="en-US" sz="2600" dirty="0"/>
              <a:t>Establish a mentoring program for architects.</a:t>
            </a:r>
          </a:p>
          <a:p>
            <a:pPr>
              <a:spcBef>
                <a:spcPts val="0"/>
              </a:spcBef>
            </a:pPr>
            <a:r>
              <a:rPr lang="en-US" sz="2600" dirty="0"/>
              <a:t>Establish an architecture training/education program. </a:t>
            </a:r>
          </a:p>
          <a:p>
            <a:pPr>
              <a:spcBef>
                <a:spcPts val="0"/>
              </a:spcBef>
            </a:pPr>
            <a:r>
              <a:rPr lang="en-US" sz="2600" dirty="0"/>
              <a:t>Include architecture milestones in project plans.</a:t>
            </a:r>
          </a:p>
          <a:p>
            <a:pPr>
              <a:spcBef>
                <a:spcPts val="0"/>
              </a:spcBef>
            </a:pPr>
            <a:r>
              <a:rPr lang="en-US" sz="2600" dirty="0"/>
              <a:t>Have architects provide input into product definition.</a:t>
            </a:r>
          </a:p>
          <a:p>
            <a:pPr>
              <a:spcBef>
                <a:spcPts val="0"/>
              </a:spcBef>
            </a:pPr>
            <a:r>
              <a:rPr lang="en-US" sz="2600" dirty="0"/>
              <a:t>Have architects advise on development team structure.</a:t>
            </a:r>
          </a:p>
          <a:p>
            <a:pPr>
              <a:spcBef>
                <a:spcPts val="0"/>
              </a:spcBef>
            </a:pPr>
            <a:r>
              <a:rPr lang="en-US" sz="2600" dirty="0"/>
              <a:t>Give architects influence throughout the entire project life cycle. </a:t>
            </a:r>
          </a:p>
          <a:p>
            <a:pPr>
              <a:spcBef>
                <a:spcPts val="0"/>
              </a:spcBef>
            </a:pPr>
            <a:r>
              <a:rPr lang="en-US" sz="2600" dirty="0"/>
              <a:t>Reward or penalize architects based on project success or failure.</a:t>
            </a:r>
          </a:p>
        </p:txBody>
      </p:sp>
    </p:spTree>
    <p:extLst>
      <p:ext uri="{BB962C8B-B14F-4D97-AF65-F5344CB8AC3E}">
        <p14:creationId xmlns:p14="http://schemas.microsoft.com/office/powerpoint/2010/main" val="11529048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Assessing</a:t>
            </a:r>
            <a:r>
              <a:rPr lang="en-US" baseline="0" dirty="0"/>
              <a:t> an Organization</a:t>
            </a:r>
            <a:endParaRPr lang="en-US" dirty="0"/>
          </a:p>
        </p:txBody>
      </p:sp>
      <p:sp>
        <p:nvSpPr>
          <p:cNvPr id="3" name="Content Placeholder 2"/>
          <p:cNvSpPr>
            <a:spLocks noGrp="1"/>
          </p:cNvSpPr>
          <p:nvPr>
            <p:ph idx="1"/>
          </p:nvPr>
        </p:nvSpPr>
        <p:spPr/>
        <p:txBody>
          <a:bodyPr/>
          <a:lstStyle/>
          <a:p>
            <a:r>
              <a:rPr lang="en-US" dirty="0"/>
              <a:t>There are three practice areas that can</a:t>
            </a:r>
            <a:r>
              <a:rPr lang="en-US" baseline="0" dirty="0"/>
              <a:t> be used to assess an organization's competence.</a:t>
            </a:r>
          </a:p>
          <a:p>
            <a:pPr lvl="1"/>
            <a:r>
              <a:rPr lang="en-US" dirty="0"/>
              <a:t>Software Engineering</a:t>
            </a:r>
          </a:p>
          <a:p>
            <a:pPr lvl="1"/>
            <a:r>
              <a:rPr lang="en-US" dirty="0"/>
              <a:t>Technical</a:t>
            </a:r>
            <a:r>
              <a:rPr lang="en-US" baseline="0" dirty="0"/>
              <a:t> Management</a:t>
            </a:r>
          </a:p>
          <a:p>
            <a:pPr lvl="1"/>
            <a:r>
              <a:rPr lang="en-US" baseline="0" dirty="0"/>
              <a:t>Organizational Management</a:t>
            </a:r>
          </a:p>
        </p:txBody>
      </p:sp>
    </p:spTree>
    <p:extLst>
      <p:ext uri="{BB962C8B-B14F-4D97-AF65-F5344CB8AC3E}">
        <p14:creationId xmlns:p14="http://schemas.microsoft.com/office/powerpoint/2010/main" val="23935096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0272"/>
            <a:ext cx="10515600" cy="1325563"/>
          </a:xfrm>
        </p:spPr>
        <p:txBody>
          <a:bodyPr>
            <a:normAutofit/>
          </a:bodyPr>
          <a:lstStyle/>
          <a:p>
            <a:pPr rtl="0" eaLnBrk="1" latinLnBrk="0" hangingPunct="1"/>
            <a:r>
              <a:rPr lang="en-US" dirty="0"/>
              <a:t>Software Engineering</a:t>
            </a:r>
          </a:p>
        </p:txBody>
      </p:sp>
      <p:sp>
        <p:nvSpPr>
          <p:cNvPr id="3" name="Content Placeholder 2"/>
          <p:cNvSpPr>
            <a:spLocks noGrp="1"/>
          </p:cNvSpPr>
          <p:nvPr>
            <p:ph idx="1"/>
          </p:nvPr>
        </p:nvSpPr>
        <p:spPr>
          <a:xfrm>
            <a:off x="1981200" y="1196752"/>
            <a:ext cx="8229600" cy="5328592"/>
          </a:xfrm>
        </p:spPr>
        <p:txBody>
          <a:bodyPr>
            <a:normAutofit fontScale="77500" lnSpcReduction="20000"/>
          </a:bodyPr>
          <a:lstStyle/>
          <a:p>
            <a:pPr marL="0" indent="0">
              <a:buNone/>
            </a:pPr>
            <a:r>
              <a:rPr lang="en-US" b="1" dirty="0"/>
              <a:t>Organizations should have defined practices</a:t>
            </a:r>
            <a:r>
              <a:rPr lang="en-US" b="1" baseline="0" dirty="0"/>
              <a:t> for</a:t>
            </a:r>
          </a:p>
          <a:p>
            <a:r>
              <a:rPr lang="en-US" sz="3200" dirty="0"/>
              <a:t>Quality Attribute Elicitation </a:t>
            </a:r>
          </a:p>
          <a:p>
            <a:r>
              <a:rPr lang="en-US" sz="3200" dirty="0"/>
              <a:t>Tools and Technology Selection</a:t>
            </a:r>
          </a:p>
          <a:p>
            <a:r>
              <a:rPr lang="en-US" sz="3200" dirty="0"/>
              <a:t>Modeling and Prototyping </a:t>
            </a:r>
          </a:p>
          <a:p>
            <a:r>
              <a:rPr lang="en-US" sz="3200" dirty="0"/>
              <a:t>Architecture Design </a:t>
            </a:r>
          </a:p>
          <a:p>
            <a:r>
              <a:rPr lang="en-US" sz="3200" dirty="0"/>
              <a:t>Architecture Description </a:t>
            </a:r>
          </a:p>
          <a:p>
            <a:r>
              <a:rPr lang="en-US" sz="3200" dirty="0"/>
              <a:t>Architecture Evaluation </a:t>
            </a:r>
          </a:p>
          <a:p>
            <a:r>
              <a:rPr lang="en-US" sz="3200" dirty="0"/>
              <a:t>System Implementation </a:t>
            </a:r>
          </a:p>
          <a:p>
            <a:r>
              <a:rPr lang="en-US" sz="3200" dirty="0"/>
              <a:t>Software Design (design conforms to architecture)</a:t>
            </a:r>
          </a:p>
          <a:p>
            <a:r>
              <a:rPr lang="en-US" sz="3200" dirty="0"/>
              <a:t>Software Coding (code conforms to design and architecture)</a:t>
            </a:r>
          </a:p>
          <a:p>
            <a:r>
              <a:rPr lang="en-US" sz="3200" dirty="0"/>
              <a:t>Software Verification </a:t>
            </a:r>
          </a:p>
          <a:p>
            <a:r>
              <a:rPr lang="en-US" sz="3200" dirty="0"/>
              <a:t>Proving Properties of the Software</a:t>
            </a:r>
          </a:p>
          <a:p>
            <a:r>
              <a:rPr lang="en-US" sz="3200" dirty="0"/>
              <a:t>Software Testing</a:t>
            </a:r>
          </a:p>
        </p:txBody>
      </p:sp>
    </p:spTree>
    <p:extLst>
      <p:ext uri="{BB962C8B-B14F-4D97-AF65-F5344CB8AC3E}">
        <p14:creationId xmlns:p14="http://schemas.microsoft.com/office/powerpoint/2010/main" val="29971255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eaLnBrk="1" latinLnBrk="0" hangingPunct="1"/>
            <a:r>
              <a:rPr lang="en-US" dirty="0"/>
              <a:t>Technical Management</a:t>
            </a:r>
          </a:p>
        </p:txBody>
      </p:sp>
      <p:sp>
        <p:nvSpPr>
          <p:cNvPr id="3" name="Content Placeholder 2"/>
          <p:cNvSpPr>
            <a:spLocks noGrp="1"/>
          </p:cNvSpPr>
          <p:nvPr>
            <p:ph idx="1"/>
          </p:nvPr>
        </p:nvSpPr>
        <p:spPr>
          <a:xfrm>
            <a:off x="1981200" y="1268760"/>
            <a:ext cx="8229600" cy="5040560"/>
          </a:xfrm>
        </p:spPr>
        <p:txBody>
          <a:bodyPr>
            <a:normAutofit fontScale="70000" lnSpcReduction="20000"/>
          </a:bodyPr>
          <a:lstStyle/>
          <a:p>
            <a:pPr marL="0" indent="0">
              <a:buNone/>
            </a:pPr>
            <a:r>
              <a:rPr lang="en-US" b="1" dirty="0"/>
              <a:t>Organizations should</a:t>
            </a:r>
            <a:r>
              <a:rPr lang="en-US" b="1" baseline="0" dirty="0"/>
              <a:t> have defined practices for</a:t>
            </a:r>
          </a:p>
          <a:p>
            <a:r>
              <a:rPr lang="en-US" sz="3200" dirty="0"/>
              <a:t>Business or Mission Goals </a:t>
            </a:r>
          </a:p>
          <a:p>
            <a:r>
              <a:rPr lang="en-US" sz="3200" dirty="0"/>
              <a:t>Setting goals</a:t>
            </a:r>
          </a:p>
          <a:p>
            <a:r>
              <a:rPr lang="en-US" sz="3200" dirty="0"/>
              <a:t>Setting functional requirements</a:t>
            </a:r>
          </a:p>
          <a:p>
            <a:r>
              <a:rPr lang="en-US" sz="3200" dirty="0"/>
              <a:t>Allocating Resources</a:t>
            </a:r>
          </a:p>
          <a:p>
            <a:r>
              <a:rPr lang="en-US" sz="3200" dirty="0"/>
              <a:t>Setting architect’s workload and schedule</a:t>
            </a:r>
          </a:p>
          <a:p>
            <a:r>
              <a:rPr lang="en-US" sz="3200" dirty="0"/>
              <a:t>Funding stakeholder involvement</a:t>
            </a:r>
          </a:p>
          <a:p>
            <a:r>
              <a:rPr lang="en-US" sz="3200" dirty="0"/>
              <a:t>Project plan structure aligned with architecture structure. </a:t>
            </a:r>
          </a:p>
          <a:p>
            <a:r>
              <a:rPr lang="en-US" sz="3200" dirty="0"/>
              <a:t>Adequate time planned for architecture evaluation.</a:t>
            </a:r>
          </a:p>
          <a:p>
            <a:r>
              <a:rPr lang="en-US" sz="3200" dirty="0"/>
              <a:t>Establish organization-wide architecture practices</a:t>
            </a:r>
          </a:p>
          <a:p>
            <a:r>
              <a:rPr lang="en-US" sz="3200" dirty="0"/>
              <a:t>Process monitoring and improvement </a:t>
            </a:r>
          </a:p>
          <a:p>
            <a:r>
              <a:rPr lang="en-US" sz="3200" dirty="0"/>
              <a:t>Reuse </a:t>
            </a:r>
          </a:p>
          <a:p>
            <a:r>
              <a:rPr lang="en-US" sz="3200" dirty="0"/>
              <a:t>Collaboration with manager </a:t>
            </a:r>
          </a:p>
          <a:p>
            <a:pPr lvl="2"/>
            <a:endParaRPr lang="en-US" dirty="0"/>
          </a:p>
        </p:txBody>
      </p:sp>
    </p:spTree>
    <p:extLst>
      <p:ext uri="{BB962C8B-B14F-4D97-AF65-F5344CB8AC3E}">
        <p14:creationId xmlns:p14="http://schemas.microsoft.com/office/powerpoint/2010/main" val="13181911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337" y="681037"/>
            <a:ext cx="10515600" cy="1325563"/>
          </a:xfrm>
        </p:spPr>
        <p:txBody>
          <a:bodyPr/>
          <a:lstStyle/>
          <a:p>
            <a:pPr lvl="0" rtl="0" eaLnBrk="1" latinLnBrk="0" hangingPunct="1"/>
            <a:r>
              <a:rPr lang="en-US" dirty="0"/>
              <a:t>Organizational Management</a:t>
            </a:r>
          </a:p>
        </p:txBody>
      </p:sp>
      <p:sp>
        <p:nvSpPr>
          <p:cNvPr id="3" name="Content Placeholder 2"/>
          <p:cNvSpPr>
            <a:spLocks noGrp="1"/>
          </p:cNvSpPr>
          <p:nvPr>
            <p:ph idx="1"/>
          </p:nvPr>
        </p:nvSpPr>
        <p:spPr/>
        <p:txBody>
          <a:bodyPr>
            <a:normAutofit fontScale="92500" lnSpcReduction="20000"/>
          </a:bodyPr>
          <a:lstStyle/>
          <a:p>
            <a:pPr marL="0" indent="0">
              <a:lnSpc>
                <a:spcPct val="100000"/>
              </a:lnSpc>
              <a:spcBef>
                <a:spcPct val="20000"/>
              </a:spcBef>
              <a:buNone/>
              <a:defRPr/>
            </a:pPr>
            <a:r>
              <a:rPr lang="en-US" sz="3200" b="1" dirty="0"/>
              <a:t>Organizations should have defined practices for</a:t>
            </a:r>
          </a:p>
          <a:p>
            <a:r>
              <a:rPr lang="en-US" sz="3200" dirty="0"/>
              <a:t>Career track for Architects</a:t>
            </a:r>
          </a:p>
          <a:p>
            <a:r>
              <a:rPr lang="en-US" sz="3200" dirty="0"/>
              <a:t>Leadership roles for architects</a:t>
            </a:r>
          </a:p>
          <a:p>
            <a:r>
              <a:rPr lang="en-US" sz="3200" dirty="0"/>
              <a:t>Succession planning</a:t>
            </a:r>
          </a:p>
          <a:p>
            <a:r>
              <a:rPr lang="en-US" sz="3200" dirty="0"/>
              <a:t>Ongoing training</a:t>
            </a:r>
          </a:p>
          <a:p>
            <a:r>
              <a:rPr lang="en-US" sz="3200" dirty="0"/>
              <a:t>Creating and sustaining an internal community of architects</a:t>
            </a:r>
          </a:p>
          <a:p>
            <a:r>
              <a:rPr lang="en-US" sz="3200" dirty="0"/>
              <a:t>Supporting participation in external communities</a:t>
            </a:r>
          </a:p>
          <a:p>
            <a:r>
              <a:rPr lang="en-US" sz="3200" dirty="0"/>
              <a:t>Organizational Planning </a:t>
            </a:r>
          </a:p>
          <a:p>
            <a:r>
              <a:rPr lang="en-US" sz="3200" dirty="0"/>
              <a:t>Technology Planning and Forecasting </a:t>
            </a:r>
          </a:p>
        </p:txBody>
      </p:sp>
    </p:spTree>
    <p:extLst>
      <p:ext uri="{BB962C8B-B14F-4D97-AF65-F5344CB8AC3E}">
        <p14:creationId xmlns:p14="http://schemas.microsoft.com/office/powerpoint/2010/main" val="29715511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Questions</a:t>
            </a:r>
            <a:r>
              <a:rPr lang="en-US" baseline="0" dirty="0"/>
              <a:t> within Competence Categories</a:t>
            </a:r>
            <a:endParaRPr lang="en-US" dirty="0"/>
          </a:p>
        </p:txBody>
      </p:sp>
      <p:sp>
        <p:nvSpPr>
          <p:cNvPr id="3" name="Content Placeholder 2"/>
          <p:cNvSpPr>
            <a:spLocks noGrp="1"/>
          </p:cNvSpPr>
          <p:nvPr>
            <p:ph idx="1"/>
          </p:nvPr>
        </p:nvSpPr>
        <p:spPr/>
        <p:txBody>
          <a:bodyPr>
            <a:normAutofit/>
          </a:bodyPr>
          <a:lstStyle/>
          <a:p>
            <a:r>
              <a:rPr lang="en-US" dirty="0"/>
              <a:t>Within each competence category</a:t>
            </a:r>
            <a:r>
              <a:rPr lang="en-US" baseline="0" dirty="0"/>
              <a:t> one can have questions to evaluate how well an organization measures against particular criteria. E.g.</a:t>
            </a:r>
          </a:p>
          <a:p>
            <a:pPr lvl="1"/>
            <a:r>
              <a:rPr lang="en-US" sz="2800" dirty="0"/>
              <a:t>How do you ensure that the architecture is aligned with the business goals?</a:t>
            </a:r>
            <a:endParaRPr lang="en-US" kern="1200" dirty="0">
              <a:solidFill>
                <a:schemeClr val="tx1"/>
              </a:solidFill>
              <a:effectLst/>
              <a:latin typeface="+mn-lt"/>
              <a:ea typeface="+mn-ea"/>
              <a:cs typeface="+mn-cs"/>
            </a:endParaRPr>
          </a:p>
          <a:p>
            <a:pPr lvl="1"/>
            <a:r>
              <a:rPr lang="en-US" sz="2800" dirty="0"/>
              <a:t>What is the input into the architecture creation process?  What inputs are provided to the architect?   </a:t>
            </a:r>
            <a:endParaRPr lang="en-US" kern="1200" dirty="0">
              <a:solidFill>
                <a:schemeClr val="tx1"/>
              </a:solidFill>
              <a:effectLst/>
              <a:latin typeface="+mn-lt"/>
              <a:ea typeface="+mn-ea"/>
              <a:cs typeface="+mn-cs"/>
            </a:endParaRPr>
          </a:p>
          <a:p>
            <a:pPr lvl="1"/>
            <a:r>
              <a:rPr lang="en-US" sz="2800" dirty="0"/>
              <a:t>How does the architect validate the information provided?  What does the architect do in case the input is insufficient or inadequate?</a:t>
            </a:r>
            <a:endParaRPr lang="en-US" kern="1200" dirty="0">
              <a:solidFill>
                <a:schemeClr val="tx1"/>
              </a:solidFill>
              <a:effectLst/>
              <a:latin typeface="+mn-lt"/>
              <a:ea typeface="+mn-ea"/>
              <a:cs typeface="+mn-cs"/>
            </a:endParaRPr>
          </a:p>
          <a:p>
            <a:pPr lvl="1"/>
            <a:endParaRPr lang="en-US" dirty="0"/>
          </a:p>
        </p:txBody>
      </p:sp>
    </p:spTree>
    <p:extLst>
      <p:ext uri="{BB962C8B-B14F-4D97-AF65-F5344CB8AC3E}">
        <p14:creationId xmlns:p14="http://schemas.microsoft.com/office/powerpoint/2010/main" val="18992693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Assessment in Practice</a:t>
            </a:r>
          </a:p>
        </p:txBody>
      </p:sp>
      <p:sp>
        <p:nvSpPr>
          <p:cNvPr id="3" name="Content Placeholder 2"/>
          <p:cNvSpPr>
            <a:spLocks noGrp="1"/>
          </p:cNvSpPr>
          <p:nvPr>
            <p:ph idx="1"/>
          </p:nvPr>
        </p:nvSpPr>
        <p:spPr/>
        <p:txBody>
          <a:bodyPr/>
          <a:lstStyle/>
          <a:p>
            <a:r>
              <a:rPr lang="en-US" dirty="0"/>
              <a:t>Based on these kinds of questions, skilled evaluators can assess the organization’s competence</a:t>
            </a:r>
          </a:p>
          <a:p>
            <a:r>
              <a:rPr lang="en-US" dirty="0"/>
              <a:t>The output is a list of strengths and weaknesses. </a:t>
            </a:r>
          </a:p>
          <a:p>
            <a:r>
              <a:rPr lang="en-US" dirty="0"/>
              <a:t>The weaknesses</a:t>
            </a:r>
            <a:r>
              <a:rPr lang="en-US" baseline="0" dirty="0"/>
              <a:t> can lead to an improvement plan.</a:t>
            </a:r>
          </a:p>
        </p:txBody>
      </p:sp>
    </p:spTree>
    <p:extLst>
      <p:ext uri="{BB962C8B-B14F-4D97-AF65-F5344CB8AC3E}">
        <p14:creationId xmlns:p14="http://schemas.microsoft.com/office/powerpoint/2010/main" val="75693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Individuals need to have particular knowledge and skills as architects. These lead to duties.</a:t>
            </a:r>
          </a:p>
          <a:p>
            <a:r>
              <a:rPr lang="en-US" dirty="0"/>
              <a:t>Organizations</a:t>
            </a:r>
            <a:r>
              <a:rPr lang="en-US" baseline="0" dirty="0"/>
              <a:t> need to provide an environment that supports architects, creates new architects, and evaluates and rewards successful architects.</a:t>
            </a:r>
          </a:p>
          <a:p>
            <a:r>
              <a:rPr lang="en-US" dirty="0"/>
              <a:t>All of this can be evaluated, to help guide an organization to improve its organizational competence.</a:t>
            </a:r>
          </a:p>
        </p:txBody>
      </p:sp>
    </p:spTree>
    <p:extLst>
      <p:ext uri="{BB962C8B-B14F-4D97-AF65-F5344CB8AC3E}">
        <p14:creationId xmlns:p14="http://schemas.microsoft.com/office/powerpoint/2010/main" val="38740928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C3197-E6C6-A2E8-0D76-F0D41D720358}"/>
              </a:ext>
            </a:extLst>
          </p:cNvPr>
          <p:cNvSpPr>
            <a:spLocks noGrp="1"/>
          </p:cNvSpPr>
          <p:nvPr>
            <p:ph type="title"/>
          </p:nvPr>
        </p:nvSpPr>
        <p:spPr/>
        <p:txBody>
          <a:bodyPr>
            <a:normAutofit/>
          </a:bodyPr>
          <a:lstStyle/>
          <a:p>
            <a:r>
              <a:rPr lang="en-US" sz="4000" dirty="0">
                <a:solidFill>
                  <a:srgbClr val="000000"/>
                </a:solidFill>
                <a:effectLst/>
                <a:latin typeface="CIDFont+F2"/>
                <a:ea typeface="Times New Roman" panose="02020603050405020304" pitchFamily="18" charset="0"/>
                <a:cs typeface="Times New Roman" panose="02020603050405020304" pitchFamily="18" charset="0"/>
              </a:rPr>
              <a:t>Architecture and Software product lines</a:t>
            </a:r>
            <a:endParaRPr lang="en-US" sz="8000" dirty="0"/>
          </a:p>
        </p:txBody>
      </p:sp>
      <p:sp>
        <p:nvSpPr>
          <p:cNvPr id="3" name="Content Placeholder 2">
            <a:extLst>
              <a:ext uri="{FF2B5EF4-FFF2-40B4-BE49-F238E27FC236}">
                <a16:creationId xmlns:a16="http://schemas.microsoft.com/office/drawing/2014/main" id="{584C3E31-9F9A-597A-DB16-608E833D8E72}"/>
              </a:ext>
            </a:extLst>
          </p:cNvPr>
          <p:cNvSpPr>
            <a:spLocks noGrp="1"/>
          </p:cNvSpPr>
          <p:nvPr>
            <p:ph idx="1"/>
          </p:nvPr>
        </p:nvSpPr>
        <p:spPr>
          <a:xfrm>
            <a:off x="838200" y="1544271"/>
            <a:ext cx="10515600" cy="4351338"/>
          </a:xfrm>
        </p:spPr>
        <p:txBody>
          <a:bodyPr/>
          <a:lstStyle/>
          <a:p>
            <a:pPr marL="0" indent="0">
              <a:buNone/>
            </a:pPr>
            <a:r>
              <a:rPr lang="en-US" dirty="0"/>
              <a:t>Chapter outline </a:t>
            </a:r>
          </a:p>
          <a:p>
            <a:r>
              <a:rPr lang="en-US" sz="1800" dirty="0">
                <a:solidFill>
                  <a:srgbClr val="000000"/>
                </a:solidFill>
                <a:effectLst/>
                <a:ea typeface="Times New Roman" panose="02020603050405020304" pitchFamily="18" charset="0"/>
              </a:rPr>
              <a:t>An Example of Product Line</a:t>
            </a:r>
          </a:p>
          <a:p>
            <a:r>
              <a:rPr lang="en-US" sz="18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Variability</a:t>
            </a:r>
          </a:p>
          <a:p>
            <a:r>
              <a:rPr lang="en-US" sz="18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What Makes a Software Product Line Work?</a:t>
            </a:r>
          </a:p>
          <a:p>
            <a:r>
              <a:rPr lang="en-US" sz="18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Product Line Scope</a:t>
            </a:r>
          </a:p>
          <a:p>
            <a:r>
              <a:rPr lang="en-US" sz="1800" dirty="0">
                <a:solidFill>
                  <a:srgbClr val="000000"/>
                </a:solidFill>
                <a:effectLst/>
                <a:ea typeface="Times New Roman" panose="02020603050405020304" pitchFamily="18" charset="0"/>
              </a:rPr>
              <a:t>The Quality Attribute of Variability</a:t>
            </a:r>
          </a:p>
          <a:p>
            <a:r>
              <a:rPr lang="en-US" sz="18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The Role of a Product Line Architecture</a:t>
            </a:r>
          </a:p>
          <a:p>
            <a:r>
              <a:rPr lang="en-US" sz="18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Variation Mechanisms</a:t>
            </a:r>
          </a:p>
          <a:p>
            <a:r>
              <a:rPr lang="en-US" sz="18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Evaluating a Product Line Architecture</a:t>
            </a:r>
          </a:p>
          <a:p>
            <a:r>
              <a:rPr lang="en-US" sz="1800" dirty="0">
                <a:solidFill>
                  <a:srgbClr val="000000"/>
                </a:solidFill>
                <a:effectLst/>
                <a:ea typeface="Times New Roman" panose="02020603050405020304" pitchFamily="18" charset="0"/>
              </a:rPr>
              <a:t>Key Software Product Line Issues</a:t>
            </a:r>
            <a:endParaRPr lang="en-US" sz="1800" dirty="0">
              <a:solidFill>
                <a:srgbClr val="000000"/>
              </a:solidFill>
              <a:ea typeface="Times New Roman" panose="02020603050405020304" pitchFamily="18" charset="0"/>
            </a:endParaRPr>
          </a:p>
          <a:p>
            <a:r>
              <a:rPr lang="en-US" sz="18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Summary</a:t>
            </a:r>
          </a:p>
          <a:p>
            <a:endParaRPr lang="en-US" sz="1800" dirty="0">
              <a:solidFill>
                <a:srgbClr val="000000"/>
              </a:solidFill>
              <a:effectLst/>
              <a:latin typeface="Times New Roman" panose="02020603050405020304" pitchFamily="18" charset="0"/>
              <a:ea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6591247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3F678-58EE-F30F-B91F-8E094F602C11}"/>
              </a:ext>
            </a:extLst>
          </p:cNvPr>
          <p:cNvSpPr>
            <a:spLocks noGrp="1"/>
          </p:cNvSpPr>
          <p:nvPr>
            <p:ph type="title"/>
          </p:nvPr>
        </p:nvSpPr>
        <p:spPr/>
        <p:txBody>
          <a:bodyPr>
            <a:normAutofit/>
          </a:bodyPr>
          <a:lstStyle/>
          <a:p>
            <a:r>
              <a:rPr lang="en-US" sz="4000" dirty="0">
                <a:solidFill>
                  <a:srgbClr val="000000"/>
                </a:solidFill>
                <a:uFill>
                  <a:solidFill>
                    <a:srgbClr val="000000"/>
                  </a:solidFill>
                </a:uFill>
                <a:latin typeface="+mn-lt"/>
                <a:ea typeface="Times New Roman" panose="02020603050405020304" pitchFamily="18" charset="0"/>
                <a:cs typeface="Times New Roman" panose="02020603050405020304" pitchFamily="18" charset="0"/>
              </a:rPr>
              <a:t>P</a:t>
            </a:r>
            <a:r>
              <a:rPr lang="en-US" sz="4000" u="none" strike="noStrike" dirty="0">
                <a:solidFill>
                  <a:srgbClr val="000000"/>
                </a:solidFill>
                <a:effectLst/>
                <a:uFill>
                  <a:solidFill>
                    <a:srgbClr val="000000"/>
                  </a:solidFill>
                </a:uFill>
                <a:latin typeface="+mn-lt"/>
                <a:ea typeface="Times New Roman" panose="02020603050405020304" pitchFamily="18" charset="0"/>
                <a:cs typeface="Times New Roman" panose="02020603050405020304" pitchFamily="18" charset="0"/>
              </a:rPr>
              <a:t>roduct lines of software</a:t>
            </a:r>
            <a:endParaRPr lang="en-US" sz="4000" dirty="0">
              <a:latin typeface="+mn-lt"/>
            </a:endParaRPr>
          </a:p>
        </p:txBody>
      </p:sp>
      <p:sp>
        <p:nvSpPr>
          <p:cNvPr id="3" name="Content Placeholder 2">
            <a:extLst>
              <a:ext uri="{FF2B5EF4-FFF2-40B4-BE49-F238E27FC236}">
                <a16:creationId xmlns:a16="http://schemas.microsoft.com/office/drawing/2014/main" id="{2D60D68C-8452-F706-2EFE-C8F623F9D24A}"/>
              </a:ext>
            </a:extLst>
          </p:cNvPr>
          <p:cNvSpPr>
            <a:spLocks noGrp="1"/>
          </p:cNvSpPr>
          <p:nvPr>
            <p:ph idx="1"/>
          </p:nvPr>
        </p:nvSpPr>
        <p:spPr/>
        <p:txBody>
          <a:bodyPr/>
          <a:lstStyle/>
          <a:p>
            <a:pPr marL="0" marR="0" lvl="0" indent="0" algn="just" fontAlgn="base">
              <a:lnSpc>
                <a:spcPct val="110000"/>
              </a:lnSpc>
              <a:spcBef>
                <a:spcPts val="0"/>
              </a:spcBef>
              <a:spcAft>
                <a:spcPts val="20"/>
              </a:spcAft>
              <a:buClr>
                <a:srgbClr val="000000"/>
              </a:buClr>
              <a:buSzPts val="4100"/>
              <a:buNone/>
            </a:pPr>
            <a:r>
              <a:rPr lang="en-US" b="1"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A product line of software is</a:t>
            </a:r>
            <a:r>
              <a:rPr lang="en-US"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a:t>
            </a:r>
            <a:r>
              <a:rPr lang="en-US" dirty="0">
                <a:solidFill>
                  <a:srgbClr val="000000"/>
                </a:solidFill>
                <a:effectLst/>
                <a:ea typeface="Times New Roman" panose="02020603050405020304" pitchFamily="18" charset="0"/>
              </a:rPr>
              <a:t>a set of software-intensive systems sharing a </a:t>
            </a:r>
            <a:r>
              <a:rPr lang="en-US" b="1" dirty="0">
                <a:solidFill>
                  <a:srgbClr val="000000"/>
                </a:solidFill>
                <a:effectLst/>
                <a:ea typeface="Times New Roman" panose="02020603050405020304" pitchFamily="18" charset="0"/>
              </a:rPr>
              <a:t>common, managed set of features </a:t>
            </a:r>
            <a:r>
              <a:rPr lang="en-US" dirty="0">
                <a:solidFill>
                  <a:srgbClr val="000000"/>
                </a:solidFill>
                <a:effectLst/>
                <a:ea typeface="Times New Roman" panose="02020603050405020304" pitchFamily="18" charset="0"/>
              </a:rPr>
              <a:t>that satisfy the specific needs of a particular market segment or mission and that are developed from a common set of core assets in a prescribed way</a:t>
            </a:r>
          </a:p>
          <a:p>
            <a:endParaRPr lang="en-US" dirty="0"/>
          </a:p>
        </p:txBody>
      </p:sp>
    </p:spTree>
    <p:extLst>
      <p:ext uri="{BB962C8B-B14F-4D97-AF65-F5344CB8AC3E}">
        <p14:creationId xmlns:p14="http://schemas.microsoft.com/office/powerpoint/2010/main" val="39223899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BB10-3A6C-DF20-F5E7-0E3D066AF252}"/>
              </a:ext>
            </a:extLst>
          </p:cNvPr>
          <p:cNvSpPr>
            <a:spLocks noGrp="1"/>
          </p:cNvSpPr>
          <p:nvPr>
            <p:ph type="title"/>
          </p:nvPr>
        </p:nvSpPr>
        <p:spPr/>
        <p:txBody>
          <a:bodyPr/>
          <a:lstStyle/>
          <a:p>
            <a:r>
              <a:rPr lang="en-US" dirty="0"/>
              <a:t>Reuse </a:t>
            </a:r>
          </a:p>
        </p:txBody>
      </p:sp>
      <p:sp>
        <p:nvSpPr>
          <p:cNvPr id="3" name="Content Placeholder 2">
            <a:extLst>
              <a:ext uri="{FF2B5EF4-FFF2-40B4-BE49-F238E27FC236}">
                <a16:creationId xmlns:a16="http://schemas.microsoft.com/office/drawing/2014/main" id="{C366984B-1BFF-4B35-C225-3AE5D448A8B6}"/>
              </a:ext>
            </a:extLst>
          </p:cNvPr>
          <p:cNvSpPr>
            <a:spLocks noGrp="1"/>
          </p:cNvSpPr>
          <p:nvPr>
            <p:ph idx="1"/>
          </p:nvPr>
        </p:nvSpPr>
        <p:spPr/>
        <p:txBody>
          <a:bodyPr/>
          <a:lstStyle/>
          <a:p>
            <a:r>
              <a:rPr lang="en-US" sz="2400" dirty="0">
                <a:solidFill>
                  <a:srgbClr val="000000"/>
                </a:solidFill>
                <a:effectLst/>
                <a:ea typeface="Times New Roman" panose="02020603050405020304" pitchFamily="18" charset="0"/>
              </a:rPr>
              <a:t>A product line represents strategic (planned) </a:t>
            </a:r>
            <a:r>
              <a:rPr lang="en-US" sz="2400" b="1" dirty="0">
                <a:solidFill>
                  <a:srgbClr val="000000"/>
                </a:solidFill>
                <a:effectLst/>
                <a:ea typeface="Times New Roman" panose="02020603050405020304" pitchFamily="18" charset="0"/>
              </a:rPr>
              <a:t>reuse</a:t>
            </a:r>
            <a:r>
              <a:rPr lang="en-US" sz="2400" dirty="0">
                <a:solidFill>
                  <a:srgbClr val="000000"/>
                </a:solidFill>
                <a:effectLst/>
                <a:ea typeface="Times New Roman" panose="02020603050405020304" pitchFamily="18" charset="0"/>
              </a:rPr>
              <a:t>.</a:t>
            </a:r>
          </a:p>
          <a:p>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A common set of assets (core assets) that includes</a:t>
            </a:r>
          </a:p>
          <a:p>
            <a:pPr marL="0" indent="0">
              <a:buNone/>
            </a:pPr>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 Architecture</a:t>
            </a:r>
          </a:p>
          <a:p>
            <a:pPr marL="0" indent="0">
              <a:buNone/>
            </a:pPr>
            <a:r>
              <a:rPr lang="en-US" sz="2400" dirty="0">
                <a:solidFill>
                  <a:srgbClr val="000000"/>
                </a:solidFill>
                <a:uFill>
                  <a:solidFill>
                    <a:srgbClr val="000000"/>
                  </a:solidFill>
                </a:uFill>
                <a:ea typeface="Times New Roman" panose="02020603050405020304" pitchFamily="18" charset="0"/>
                <a:cs typeface="Times New Roman" panose="02020603050405020304" pitchFamily="18" charset="0"/>
              </a:rPr>
              <a:t>      - </a:t>
            </a:r>
            <a:r>
              <a:rPr lang="en-US" sz="2400" dirty="0">
                <a:solidFill>
                  <a:srgbClr val="000000"/>
                </a:solidFill>
                <a:effectLst/>
                <a:ea typeface="Times New Roman" panose="02020603050405020304" pitchFamily="18" charset="0"/>
              </a:rPr>
              <a:t>Requirements</a:t>
            </a:r>
          </a:p>
          <a:p>
            <a:pPr marL="0" indent="0">
              <a:buNone/>
            </a:pPr>
            <a:r>
              <a:rPr lang="en-US" sz="2400" dirty="0">
                <a:solidFill>
                  <a:srgbClr val="000000"/>
                </a:solidFill>
                <a:effectLst/>
                <a:ea typeface="Times New Roman" panose="02020603050405020304" pitchFamily="18" charset="0"/>
              </a:rPr>
              <a:t>      - Test </a:t>
            </a:r>
            <a:r>
              <a:rPr lang="en-US" sz="2400" dirty="0" smtClean="0">
                <a:solidFill>
                  <a:srgbClr val="000000"/>
                </a:solidFill>
                <a:effectLst/>
                <a:ea typeface="Times New Roman" panose="02020603050405020304" pitchFamily="18" charset="0"/>
              </a:rPr>
              <a:t>cases</a:t>
            </a:r>
            <a:endParaRPr lang="en-US" sz="2400" dirty="0">
              <a:solidFill>
                <a:srgbClr val="000000"/>
              </a:solidFill>
              <a:effectLst/>
              <a:ea typeface="Times New Roman" panose="02020603050405020304" pitchFamily="18" charset="0"/>
            </a:endParaRPr>
          </a:p>
          <a:p>
            <a:pPr marL="0" indent="0">
              <a:buNone/>
            </a:pPr>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 Documentation</a:t>
            </a:r>
          </a:p>
          <a:p>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These assets are constructed specifically to support reuse.</a:t>
            </a:r>
          </a:p>
          <a:p>
            <a:endParaRPr lang="en-US" dirty="0"/>
          </a:p>
        </p:txBody>
      </p:sp>
    </p:spTree>
    <p:extLst>
      <p:ext uri="{BB962C8B-B14F-4D97-AF65-F5344CB8AC3E}">
        <p14:creationId xmlns:p14="http://schemas.microsoft.com/office/powerpoint/2010/main" val="36934755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F9FA-6543-0F7D-AAF8-3F11E0C56782}"/>
              </a:ext>
            </a:extLst>
          </p:cNvPr>
          <p:cNvSpPr>
            <a:spLocks noGrp="1"/>
          </p:cNvSpPr>
          <p:nvPr>
            <p:ph type="title"/>
          </p:nvPr>
        </p:nvSpPr>
        <p:spPr/>
        <p:txBody>
          <a:bodyPr/>
          <a:lstStyle/>
          <a:p>
            <a:r>
              <a:rPr lang="en-US" dirty="0"/>
              <a:t>An Example </a:t>
            </a:r>
          </a:p>
        </p:txBody>
      </p:sp>
      <p:sp>
        <p:nvSpPr>
          <p:cNvPr id="3" name="Content Placeholder 2">
            <a:extLst>
              <a:ext uri="{FF2B5EF4-FFF2-40B4-BE49-F238E27FC236}">
                <a16:creationId xmlns:a16="http://schemas.microsoft.com/office/drawing/2014/main" id="{5301ED71-0664-EB9F-661E-0B9F6537A759}"/>
              </a:ext>
            </a:extLst>
          </p:cNvPr>
          <p:cNvSpPr>
            <a:spLocks noGrp="1"/>
          </p:cNvSpPr>
          <p:nvPr>
            <p:ph idx="1"/>
          </p:nvPr>
        </p:nvSpPr>
        <p:spPr/>
        <p:txBody>
          <a:bodyPr/>
          <a:lstStyle/>
          <a:p>
            <a:r>
              <a:rPr lang="en-US" dirty="0"/>
              <a:t>You are constructing a software that supports a bank </a:t>
            </a:r>
            <a:r>
              <a:rPr lang="en-US" i="1" dirty="0"/>
              <a:t>loan office </a:t>
            </a:r>
          </a:p>
          <a:p>
            <a:r>
              <a:rPr lang="en-US" dirty="0"/>
              <a:t>There are 21 products in your product line </a:t>
            </a:r>
          </a:p>
          <a:p>
            <a:r>
              <a:rPr lang="en-US" dirty="0"/>
              <a:t>An existing module calculates customer interest payment </a:t>
            </a:r>
          </a:p>
          <a:p>
            <a:pPr marL="0" indent="0">
              <a:buNone/>
            </a:pPr>
            <a:r>
              <a:rPr lang="en-US" dirty="0"/>
              <a:t>    - Perfectly adequate for 18 of the products </a:t>
            </a:r>
          </a:p>
          <a:p>
            <a:pPr marL="0" indent="0">
              <a:buNone/>
            </a:pPr>
            <a:r>
              <a:rPr lang="en-US" dirty="0"/>
              <a:t>    - Needs 240 lines modification for Delaware </a:t>
            </a:r>
          </a:p>
        </p:txBody>
      </p:sp>
    </p:spTree>
    <p:extLst>
      <p:ext uri="{BB962C8B-B14F-4D97-AF65-F5344CB8AC3E}">
        <p14:creationId xmlns:p14="http://schemas.microsoft.com/office/powerpoint/2010/main" val="37875685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5D5D9-BD57-4AE3-171C-CCDD9D7C20C7}"/>
              </a:ext>
            </a:extLst>
          </p:cNvPr>
          <p:cNvSpPr>
            <a:spLocks noGrp="1"/>
          </p:cNvSpPr>
          <p:nvPr>
            <p:ph type="title"/>
          </p:nvPr>
        </p:nvSpPr>
        <p:spPr/>
        <p:txBody>
          <a:bodyPr>
            <a:normAutofit fontScale="90000"/>
          </a:bodyPr>
          <a:lstStyle/>
          <a:p>
            <a:r>
              <a:rPr lang="en-US" sz="1800" dirty="0">
                <a:solidFill>
                  <a:srgbClr val="000000"/>
                </a:solidFill>
                <a:effectLst/>
                <a:latin typeface="Times New Roman" panose="02020603050405020304" pitchFamily="18" charset="0"/>
                <a:ea typeface="Times New Roman" panose="02020603050405020304" pitchFamily="18" charset="0"/>
              </a:rPr>
              <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dirty="0">
                <a:solidFill>
                  <a:srgbClr val="000000"/>
                </a:solidFill>
                <a:effectLst/>
                <a:latin typeface="Times New Roman" panose="02020603050405020304" pitchFamily="18" charset="0"/>
                <a:ea typeface="Times New Roman" panose="02020603050405020304" pitchFamily="18" charset="0"/>
              </a:rPr>
              <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dirty="0">
                <a:solidFill>
                  <a:srgbClr val="000000"/>
                </a:solidFill>
                <a:effectLst/>
                <a:latin typeface="Times New Roman" panose="02020603050405020304" pitchFamily="18" charset="0"/>
                <a:ea typeface="Times New Roman" panose="02020603050405020304" pitchFamily="18" charset="0"/>
              </a:rPr>
              <a:t/>
            </a:r>
            <a:br>
              <a:rPr lang="en-US" sz="1800" dirty="0">
                <a:solidFill>
                  <a:srgbClr val="000000"/>
                </a:solidFill>
                <a:effectLst/>
                <a:latin typeface="Times New Roman" panose="02020603050405020304" pitchFamily="18" charset="0"/>
                <a:ea typeface="Times New Roman" panose="02020603050405020304" pitchFamily="18" charset="0"/>
              </a:rPr>
            </a:br>
            <a:r>
              <a:rPr lang="en-US" dirty="0">
                <a:solidFill>
                  <a:srgbClr val="000000"/>
                </a:solidFill>
                <a:effectLst/>
                <a:latin typeface="+mn-lt"/>
                <a:ea typeface="Times New Roman" panose="02020603050405020304" pitchFamily="18" charset="0"/>
              </a:rPr>
              <a:t/>
            </a:r>
            <a:br>
              <a:rPr lang="en-US" dirty="0">
                <a:solidFill>
                  <a:srgbClr val="000000"/>
                </a:solidFill>
                <a:effectLst/>
                <a:latin typeface="+mn-lt"/>
                <a:ea typeface="Times New Roman" panose="02020603050405020304" pitchFamily="18" charset="0"/>
              </a:rPr>
            </a:br>
            <a:r>
              <a:rPr lang="en-US" dirty="0">
                <a:solidFill>
                  <a:srgbClr val="000000"/>
                </a:solidFill>
                <a:effectLst/>
                <a:latin typeface="+mn-lt"/>
                <a:ea typeface="Times New Roman" panose="02020603050405020304" pitchFamily="18" charset="0"/>
              </a:rPr>
              <a:t>How to Manage the Modifications?</a:t>
            </a:r>
            <a:r>
              <a:rPr lang="en-US" sz="1800" dirty="0">
                <a:solidFill>
                  <a:srgbClr val="000000"/>
                </a:solidFill>
                <a:effectLst/>
                <a:latin typeface="Times New Roman" panose="02020603050405020304" pitchFamily="18" charset="0"/>
                <a:ea typeface="Times New Roman" panose="02020603050405020304" pitchFamily="18" charset="0"/>
              </a:rPr>
              <a:t/>
            </a:r>
            <a:br>
              <a:rPr lang="en-US" sz="180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76EFC58-EECD-2B32-FABA-E9DFEEBB115A}"/>
              </a:ext>
            </a:extLst>
          </p:cNvPr>
          <p:cNvSpPr>
            <a:spLocks noGrp="1"/>
          </p:cNvSpPr>
          <p:nvPr>
            <p:ph idx="1"/>
          </p:nvPr>
        </p:nvSpPr>
        <p:spPr/>
        <p:txBody>
          <a:bodyPr>
            <a:normAutofit/>
          </a:bodyPr>
          <a:lstStyle/>
          <a:p>
            <a:r>
              <a:rPr lang="en-US" sz="2200" dirty="0">
                <a:solidFill>
                  <a:srgbClr val="000000"/>
                </a:solidFill>
                <a:effectLst/>
                <a:ea typeface="Times New Roman" panose="02020603050405020304" pitchFamily="18" charset="0"/>
              </a:rPr>
              <a:t>One strategy is to make another copy of the affected module and insert the necessary changes</a:t>
            </a:r>
          </a:p>
          <a:p>
            <a:pPr marL="0" indent="0">
              <a:buNone/>
            </a:pPr>
            <a:r>
              <a:rPr lang="en-US" sz="22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 Called "clone and own“</a:t>
            </a:r>
          </a:p>
          <a:p>
            <a:pPr marL="0" indent="0">
              <a:buNone/>
            </a:pPr>
            <a:r>
              <a:rPr lang="en-US" sz="2200" dirty="0">
                <a:solidFill>
                  <a:srgbClr val="000000"/>
                </a:solidFill>
                <a:uFill>
                  <a:solidFill>
                    <a:srgbClr val="000000"/>
                  </a:solidFill>
                </a:uFill>
                <a:ea typeface="Times New Roman" panose="02020603050405020304" pitchFamily="18" charset="0"/>
                <a:cs typeface="Times New Roman" panose="02020603050405020304" pitchFamily="18" charset="0"/>
              </a:rPr>
              <a:t>           - </a:t>
            </a:r>
            <a:r>
              <a:rPr lang="en-US" sz="22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Fast and easy</a:t>
            </a:r>
          </a:p>
          <a:p>
            <a:pPr marL="0" indent="0">
              <a:buNone/>
            </a:pPr>
            <a:r>
              <a:rPr lang="en-US" sz="2200" dirty="0">
                <a:solidFill>
                  <a:srgbClr val="000000"/>
                </a:solidFill>
                <a:effectLst/>
                <a:ea typeface="Times New Roman" panose="02020603050405020304" pitchFamily="18" charset="0"/>
              </a:rPr>
              <a:t>           - Does not scale!</a:t>
            </a:r>
          </a:p>
          <a:p>
            <a:pPr marL="0" indent="0">
              <a:buNone/>
            </a:pPr>
            <a:r>
              <a:rPr lang="en-US" sz="2200" dirty="0">
                <a:solidFill>
                  <a:srgbClr val="000000"/>
                </a:solidFill>
                <a:ea typeface="Times New Roman" panose="02020603050405020304" pitchFamily="18" charset="0"/>
              </a:rPr>
              <a:t>                    - Suppose each of the 21 products has 1000 modules </a:t>
            </a:r>
          </a:p>
          <a:p>
            <a:pPr marL="0" indent="0">
              <a:buNone/>
            </a:pPr>
            <a:r>
              <a:rPr lang="en-US" sz="22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 Potentially huge number of distinct versions of the product to maintain.</a:t>
            </a:r>
          </a:p>
          <a:p>
            <a:r>
              <a:rPr lang="en-US" sz="2200" dirty="0">
                <a:solidFill>
                  <a:srgbClr val="000000"/>
                </a:solidFill>
                <a:effectLst/>
                <a:ea typeface="Times New Roman" panose="02020603050405020304" pitchFamily="18" charset="0"/>
              </a:rPr>
              <a:t>A better strategy is to introduce a </a:t>
            </a:r>
            <a:r>
              <a:rPr lang="en-US" sz="2200" b="1" dirty="0">
                <a:solidFill>
                  <a:srgbClr val="000000"/>
                </a:solidFill>
                <a:effectLst/>
                <a:ea typeface="Times New Roman" panose="02020603050405020304" pitchFamily="18" charset="0"/>
              </a:rPr>
              <a:t>"variation point"</a:t>
            </a:r>
            <a:r>
              <a:rPr lang="en-US" sz="2200" dirty="0">
                <a:solidFill>
                  <a:srgbClr val="000000"/>
                </a:solidFill>
                <a:effectLst/>
                <a:ea typeface="Times New Roman" panose="02020603050405020304" pitchFamily="18" charset="0"/>
              </a:rPr>
              <a:t> in the module and manage the variation point with, e.g., a configuration parameter.</a:t>
            </a:r>
            <a:endParaRPr lang="en-US" sz="2200" dirty="0">
              <a:solidFill>
                <a:srgbClr val="000000"/>
              </a:solidFill>
              <a:ea typeface="Times New Roman" panose="02020603050405020304" pitchFamily="18" charset="0"/>
            </a:endParaRPr>
          </a:p>
          <a:p>
            <a:pPr marL="0" indent="0">
              <a:buNone/>
            </a:pPr>
            <a:r>
              <a:rPr lang="en-US" sz="2200" dirty="0">
                <a:solidFill>
                  <a:srgbClr val="000000"/>
                </a:solidFill>
                <a:ea typeface="Times New Roman" panose="02020603050405020304" pitchFamily="18" charset="0"/>
              </a:rPr>
              <a:t>           </a:t>
            </a:r>
            <a:endParaRPr lang="en-US" dirty="0"/>
          </a:p>
        </p:txBody>
      </p:sp>
      <p:pic>
        <p:nvPicPr>
          <p:cNvPr id="2065" name="Picture 3068">
            <a:extLst>
              <a:ext uri="{FF2B5EF4-FFF2-40B4-BE49-F238E27FC236}">
                <a16:creationId xmlns:a16="http://schemas.microsoft.com/office/drawing/2014/main" id="{B0F9198E-AEB9-6D12-42CF-4D7AC20DCF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157288"/>
            <a:ext cx="14287" cy="14287"/>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3069">
            <a:extLst>
              <a:ext uri="{FF2B5EF4-FFF2-40B4-BE49-F238E27FC236}">
                <a16:creationId xmlns:a16="http://schemas.microsoft.com/office/drawing/2014/main" id="{4A5E5D45-0D04-0012-106A-058980A3A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1169988"/>
            <a:ext cx="14288" cy="9525"/>
          </a:xfrm>
          <a:prstGeom prst="rect">
            <a:avLst/>
          </a:prstGeom>
          <a:noFill/>
          <a:extLst>
            <a:ext uri="{909E8E84-426E-40DD-AFC4-6F175D3DCCD1}">
              <a14:hiddenFill xmlns:a14="http://schemas.microsoft.com/office/drawing/2010/main">
                <a:solidFill>
                  <a:srgbClr val="FFFFFF"/>
                </a:solidFill>
              </a14:hiddenFill>
            </a:ext>
          </a:extLst>
        </p:spPr>
      </p:pic>
      <p:pic>
        <p:nvPicPr>
          <p:cNvPr id="2063" name="Picture 3071">
            <a:extLst>
              <a:ext uri="{FF2B5EF4-FFF2-40B4-BE49-F238E27FC236}">
                <a16:creationId xmlns:a16="http://schemas.microsoft.com/office/drawing/2014/main" id="{83DA8460-58A4-D9B3-FDA0-B4511E9834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788" y="1293813"/>
            <a:ext cx="14287" cy="41275"/>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3074">
            <a:extLst>
              <a:ext uri="{FF2B5EF4-FFF2-40B4-BE49-F238E27FC236}">
                <a16:creationId xmlns:a16="http://schemas.microsoft.com/office/drawing/2014/main" id="{005AF774-6FD1-DFFA-05B0-078D9084E0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513" y="1320800"/>
            <a:ext cx="14287" cy="2222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3078">
            <a:extLst>
              <a:ext uri="{FF2B5EF4-FFF2-40B4-BE49-F238E27FC236}">
                <a16:creationId xmlns:a16="http://schemas.microsoft.com/office/drawing/2014/main" id="{9523B6FD-7A0C-3D50-3ECB-90B9CDAFF0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788" y="1646238"/>
            <a:ext cx="50800" cy="4762"/>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3080">
            <a:extLst>
              <a:ext uri="{FF2B5EF4-FFF2-40B4-BE49-F238E27FC236}">
                <a16:creationId xmlns:a16="http://schemas.microsoft.com/office/drawing/2014/main" id="{9D3F7362-8C86-A774-79F6-C23B264EC63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3100" y="1682750"/>
            <a:ext cx="26988" cy="190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8">
            <a:extLst>
              <a:ext uri="{FF2B5EF4-FFF2-40B4-BE49-F238E27FC236}">
                <a16:creationId xmlns:a16="http://schemas.microsoft.com/office/drawing/2014/main" id="{440F6EBC-C27F-E264-AA79-E06E433DE19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173671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064B2-6980-7B57-395C-43AD10ADCC4E}"/>
              </a:ext>
            </a:extLst>
          </p:cNvPr>
          <p:cNvSpPr>
            <a:spLocks noGrp="1"/>
          </p:cNvSpPr>
          <p:nvPr>
            <p:ph type="title"/>
          </p:nvPr>
        </p:nvSpPr>
        <p:spPr/>
        <p:txBody>
          <a:bodyPr/>
          <a:lstStyle/>
          <a:p>
            <a:r>
              <a:rPr lang="en-US" dirty="0"/>
              <a:t>What Makes Product Lines Work? </a:t>
            </a:r>
          </a:p>
        </p:txBody>
      </p:sp>
      <p:sp>
        <p:nvSpPr>
          <p:cNvPr id="3" name="Content Placeholder 2">
            <a:extLst>
              <a:ext uri="{FF2B5EF4-FFF2-40B4-BE49-F238E27FC236}">
                <a16:creationId xmlns:a16="http://schemas.microsoft.com/office/drawing/2014/main" id="{22A0F12B-4767-4FBF-1634-5CA7CDC1A93D}"/>
              </a:ext>
            </a:extLst>
          </p:cNvPr>
          <p:cNvSpPr>
            <a:spLocks noGrp="1"/>
          </p:cNvSpPr>
          <p:nvPr>
            <p:ph idx="1"/>
          </p:nvPr>
        </p:nvSpPr>
        <p:spPr/>
        <p:txBody>
          <a:bodyPr/>
          <a:lstStyle/>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Planned reuse of</a:t>
            </a:r>
          </a:p>
          <a:p>
            <a:pPr marL="0" indent="0">
              <a:buNone/>
            </a:pP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 </a:t>
            </a:r>
            <a:r>
              <a:rPr lang="en-US" sz="2000" b="1"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Requirements. </a:t>
            </a: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Most of the requirements are common with those of earlier systems and so can be reused.</a:t>
            </a:r>
          </a:p>
          <a:p>
            <a:pPr marL="0" indent="0">
              <a:buNone/>
            </a:pPr>
            <a:r>
              <a:rPr lang="en-US" sz="2000" dirty="0">
                <a:solidFill>
                  <a:srgbClr val="000000"/>
                </a:solidFill>
                <a:uFill>
                  <a:solidFill>
                    <a:srgbClr val="000000"/>
                  </a:solidFill>
                </a:uFill>
                <a:ea typeface="Times New Roman" panose="02020603050405020304" pitchFamily="18" charset="0"/>
                <a:cs typeface="Times New Roman" panose="02020603050405020304" pitchFamily="18" charset="0"/>
              </a:rPr>
              <a:t>      - </a:t>
            </a:r>
            <a:r>
              <a:rPr lang="en-US" sz="2000" b="1"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Architectural design</a:t>
            </a: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For a new product, if quality goals are the same then the architecture is largely the same.</a:t>
            </a:r>
          </a:p>
          <a:p>
            <a:pPr marL="0" indent="0">
              <a:buNone/>
            </a:pP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 </a:t>
            </a:r>
            <a:r>
              <a:rPr lang="en-US" sz="2000" b="1"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Software elements</a:t>
            </a: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Software elements are applicable across individual products because the architecture is the same across products.</a:t>
            </a:r>
          </a:p>
          <a:p>
            <a:pPr marL="0" indent="0">
              <a:buNone/>
            </a:pPr>
            <a:r>
              <a:rPr lang="en-US" sz="2000" dirty="0">
                <a:solidFill>
                  <a:srgbClr val="000000"/>
                </a:solidFill>
                <a:effectLst/>
                <a:ea typeface="Times New Roman" panose="02020603050405020304" pitchFamily="18" charset="0"/>
              </a:rPr>
              <a:t>      - </a:t>
            </a:r>
            <a:r>
              <a:rPr lang="en-US" sz="2000" b="1" dirty="0">
                <a:solidFill>
                  <a:srgbClr val="000000"/>
                </a:solidFill>
                <a:effectLst/>
                <a:ea typeface="Times New Roman" panose="02020603050405020304" pitchFamily="18" charset="0"/>
              </a:rPr>
              <a:t>Modeling and analysis</a:t>
            </a:r>
            <a:r>
              <a:rPr lang="en-US" sz="2000" dirty="0">
                <a:solidFill>
                  <a:srgbClr val="000000"/>
                </a:solidFill>
                <a:effectLst/>
                <a:ea typeface="Times New Roman" panose="02020603050405020304" pitchFamily="18" charset="0"/>
              </a:rPr>
              <a:t>. Performance models, schedulable analysis, distributed system issues (such as proving the absence of deadlock), allocation of processes to processors, fault tolerance schemes, and network load policies all carry over from product to product.</a:t>
            </a:r>
          </a:p>
          <a:p>
            <a:endParaRPr lang="en-US" dirty="0"/>
          </a:p>
        </p:txBody>
      </p:sp>
    </p:spTree>
    <p:extLst>
      <p:ext uri="{BB962C8B-B14F-4D97-AF65-F5344CB8AC3E}">
        <p14:creationId xmlns:p14="http://schemas.microsoft.com/office/powerpoint/2010/main" val="26455027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BB77A-6758-516E-41AC-819CED2BE733}"/>
              </a:ext>
            </a:extLst>
          </p:cNvPr>
          <p:cNvSpPr>
            <a:spLocks noGrp="1"/>
          </p:cNvSpPr>
          <p:nvPr>
            <p:ph type="title"/>
          </p:nvPr>
        </p:nvSpPr>
        <p:spPr/>
        <p:txBody>
          <a:bodyPr/>
          <a:lstStyle/>
          <a:p>
            <a:r>
              <a:rPr lang="en-US" dirty="0"/>
              <a:t>What Makes Product Lines Work? - 2</a:t>
            </a:r>
          </a:p>
        </p:txBody>
      </p:sp>
      <p:sp>
        <p:nvSpPr>
          <p:cNvPr id="3" name="Content Placeholder 2">
            <a:extLst>
              <a:ext uri="{FF2B5EF4-FFF2-40B4-BE49-F238E27FC236}">
                <a16:creationId xmlns:a16="http://schemas.microsoft.com/office/drawing/2014/main" id="{C90771AF-6FF4-3EDD-2E66-C6CA68D67CCE}"/>
              </a:ext>
            </a:extLst>
          </p:cNvPr>
          <p:cNvSpPr>
            <a:spLocks noGrp="1"/>
          </p:cNvSpPr>
          <p:nvPr>
            <p:ph idx="1"/>
          </p:nvPr>
        </p:nvSpPr>
        <p:spPr/>
        <p:txBody>
          <a:bodyPr/>
          <a:lstStyle/>
          <a:p>
            <a:r>
              <a:rPr lang="en-US" sz="2000" dirty="0">
                <a:solidFill>
                  <a:srgbClr val="000000"/>
                </a:solidFill>
                <a:effectLst/>
                <a:ea typeface="Times New Roman" panose="02020603050405020304" pitchFamily="18" charset="0"/>
              </a:rPr>
              <a:t>Planned reuse of</a:t>
            </a:r>
          </a:p>
          <a:p>
            <a:pPr marL="0" indent="0">
              <a:buNone/>
            </a:pPr>
            <a:r>
              <a:rPr lang="en-US" sz="2000" dirty="0">
                <a:solidFill>
                  <a:srgbClr val="000000"/>
                </a:solidFill>
                <a:uFill>
                  <a:solidFill>
                    <a:srgbClr val="000000"/>
                  </a:solidFill>
                </a:uFill>
                <a:ea typeface="Times New Roman" panose="02020603050405020304" pitchFamily="18" charset="0"/>
                <a:cs typeface="Times New Roman" panose="02020603050405020304" pitchFamily="18" charset="0"/>
              </a:rPr>
              <a:t>         - </a:t>
            </a:r>
            <a:r>
              <a:rPr lang="en-US" sz="2000" b="1"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Testing. </a:t>
            </a: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Test plans, test processes, test cases, test data, test harnesses, and the communication paths required to report and fix problems are already in place.</a:t>
            </a:r>
          </a:p>
          <a:p>
            <a:pPr marL="0" indent="0">
              <a:buNone/>
            </a:pP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 </a:t>
            </a:r>
            <a:r>
              <a:rPr lang="en-US" sz="2000" b="1"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Project planning artifacts. </a:t>
            </a: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Budgeting and scheduling are more predictable because experience is a high-fidelity indicator of future performance.</a:t>
            </a:r>
          </a:p>
          <a:p>
            <a:pPr marL="0" indent="0">
              <a:buNone/>
            </a:pPr>
            <a:r>
              <a:rPr lang="en-US" sz="2000" dirty="0">
                <a:solidFill>
                  <a:srgbClr val="000000"/>
                </a:solidFill>
                <a:effectLst/>
                <a:ea typeface="Times New Roman" panose="02020603050405020304" pitchFamily="18" charset="0"/>
              </a:rPr>
              <a:t>         - and more...</a:t>
            </a:r>
          </a:p>
          <a:p>
            <a:endParaRPr lang="en-US" dirty="0"/>
          </a:p>
        </p:txBody>
      </p:sp>
    </p:spTree>
    <p:extLst>
      <p:ext uri="{BB962C8B-B14F-4D97-AF65-F5344CB8AC3E}">
        <p14:creationId xmlns:p14="http://schemas.microsoft.com/office/powerpoint/2010/main" val="28132406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E3C46-07EC-759A-9882-1032BD307249}"/>
              </a:ext>
            </a:extLst>
          </p:cNvPr>
          <p:cNvSpPr>
            <a:spLocks noGrp="1"/>
          </p:cNvSpPr>
          <p:nvPr>
            <p:ph type="title"/>
          </p:nvPr>
        </p:nvSpPr>
        <p:spPr/>
        <p:txBody>
          <a:bodyPr/>
          <a:lstStyle/>
          <a:p>
            <a:r>
              <a:rPr lang="en-US" dirty="0"/>
              <a:t>Costs of Product Lines </a:t>
            </a:r>
          </a:p>
        </p:txBody>
      </p:sp>
      <p:sp>
        <p:nvSpPr>
          <p:cNvPr id="3" name="Content Placeholder 2">
            <a:extLst>
              <a:ext uri="{FF2B5EF4-FFF2-40B4-BE49-F238E27FC236}">
                <a16:creationId xmlns:a16="http://schemas.microsoft.com/office/drawing/2014/main" id="{2A40449B-8114-39BB-FAD5-2A0258677783}"/>
              </a:ext>
            </a:extLst>
          </p:cNvPr>
          <p:cNvSpPr>
            <a:spLocks noGrp="1"/>
          </p:cNvSpPr>
          <p:nvPr>
            <p:ph idx="1"/>
          </p:nvPr>
        </p:nvSpPr>
        <p:spPr/>
        <p:txBody>
          <a:bodyPr/>
          <a:lstStyle/>
          <a:p>
            <a:r>
              <a:rPr lang="en-US" sz="2000" b="1" kern="0" dirty="0">
                <a:solidFill>
                  <a:srgbClr val="000000"/>
                </a:solidFill>
                <a:effectLst/>
                <a:ea typeface="Times New Roman" panose="02020603050405020304" pitchFamily="18" charset="0"/>
              </a:rPr>
              <a:t>Up front planning takes time.</a:t>
            </a:r>
          </a:p>
          <a:p>
            <a:r>
              <a:rPr lang="en-US" sz="2000" dirty="0">
                <a:solidFill>
                  <a:srgbClr val="000000"/>
                </a:solidFill>
                <a:effectLst/>
                <a:ea typeface="Times New Roman" panose="02020603050405020304" pitchFamily="18" charset="0"/>
              </a:rPr>
              <a:t>It takes 2-3 systems to start seeing savings begin for product lines.</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Alternatively, the product line can be evolved when new products are defined. But this may require rework of the architecture.</a:t>
            </a:r>
          </a:p>
          <a:p>
            <a:endParaRPr lang="en-US" dirty="0"/>
          </a:p>
        </p:txBody>
      </p:sp>
    </p:spTree>
    <p:extLst>
      <p:ext uri="{BB962C8B-B14F-4D97-AF65-F5344CB8AC3E}">
        <p14:creationId xmlns:p14="http://schemas.microsoft.com/office/powerpoint/2010/main" val="10302299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10CB1-C012-424D-6B30-64CA5AA808A4}"/>
              </a:ext>
            </a:extLst>
          </p:cNvPr>
          <p:cNvSpPr>
            <a:spLocks noGrp="1"/>
          </p:cNvSpPr>
          <p:nvPr>
            <p:ph type="title"/>
          </p:nvPr>
        </p:nvSpPr>
        <p:spPr/>
        <p:txBody>
          <a:bodyPr>
            <a:normAutofit fontScale="90000"/>
          </a:bodyPr>
          <a:lstStyle/>
          <a:p>
            <a:r>
              <a:rPr lang="en-US" sz="4900" dirty="0">
                <a:solidFill>
                  <a:srgbClr val="000000"/>
                </a:solidFill>
                <a:effectLst/>
                <a:latin typeface="+mn-lt"/>
                <a:ea typeface="Times New Roman" panose="02020603050405020304" pitchFamily="18" charset="0"/>
              </a:rPr>
              <a:t/>
            </a:r>
            <a:br>
              <a:rPr lang="en-US" sz="4900" dirty="0">
                <a:solidFill>
                  <a:srgbClr val="000000"/>
                </a:solidFill>
                <a:effectLst/>
                <a:latin typeface="+mn-lt"/>
                <a:ea typeface="Times New Roman" panose="02020603050405020304" pitchFamily="18" charset="0"/>
              </a:rPr>
            </a:br>
            <a:r>
              <a:rPr lang="en-US" sz="4900" dirty="0">
                <a:solidFill>
                  <a:srgbClr val="000000"/>
                </a:solidFill>
                <a:effectLst/>
                <a:latin typeface="+mn-lt"/>
                <a:ea typeface="Times New Roman" panose="02020603050405020304" pitchFamily="18" charset="0"/>
              </a:rPr>
              <a:t>Product Line Scope</a:t>
            </a:r>
            <a:r>
              <a:rPr lang="en-US" sz="3200" dirty="0">
                <a:solidFill>
                  <a:srgbClr val="000000"/>
                </a:solidFill>
                <a:effectLst/>
                <a:latin typeface="+mn-lt"/>
                <a:ea typeface="Times New Roman" panose="02020603050405020304" pitchFamily="18" charset="0"/>
              </a:rPr>
              <a:t/>
            </a:r>
            <a:br>
              <a:rPr lang="en-US" sz="3200" dirty="0">
                <a:solidFill>
                  <a:srgbClr val="000000"/>
                </a:solidFill>
                <a:effectLst/>
                <a:latin typeface="+mn-lt"/>
                <a:ea typeface="Times New Roman" panose="02020603050405020304" pitchFamily="18" charset="0"/>
              </a:rPr>
            </a:br>
            <a:endParaRPr lang="en-US" sz="6000" dirty="0">
              <a:latin typeface="+mn-lt"/>
            </a:endParaRPr>
          </a:p>
        </p:txBody>
      </p:sp>
      <p:sp>
        <p:nvSpPr>
          <p:cNvPr id="3" name="Content Placeholder 2">
            <a:extLst>
              <a:ext uri="{FF2B5EF4-FFF2-40B4-BE49-F238E27FC236}">
                <a16:creationId xmlns:a16="http://schemas.microsoft.com/office/drawing/2014/main" id="{6DF77836-B9F4-E8DE-B739-60E4B0710182}"/>
              </a:ext>
            </a:extLst>
          </p:cNvPr>
          <p:cNvSpPr>
            <a:spLocks noGrp="1"/>
          </p:cNvSpPr>
          <p:nvPr>
            <p:ph idx="1"/>
          </p:nvPr>
        </p:nvSpPr>
        <p:spPr/>
        <p:txBody>
          <a:bodyPr/>
          <a:lstStyle/>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Some products are in scope (white)</a:t>
            </a:r>
          </a:p>
          <a:p>
            <a:r>
              <a:rPr lang="en-US" sz="2000" dirty="0">
                <a:solidFill>
                  <a:srgbClr val="000000"/>
                </a:solidFill>
                <a:effectLst/>
                <a:ea typeface="Times New Roman" panose="02020603050405020304" pitchFamily="18" charset="0"/>
              </a:rPr>
              <a:t>Some products are out of scope (speckled)</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Some products need to be decided on a case by case basis (lined)</a:t>
            </a:r>
          </a:p>
          <a:p>
            <a:endParaRPr lang="en-US" dirty="0"/>
          </a:p>
        </p:txBody>
      </p:sp>
      <p:pic>
        <p:nvPicPr>
          <p:cNvPr id="4" name="Picture 3">
            <a:extLst>
              <a:ext uri="{FF2B5EF4-FFF2-40B4-BE49-F238E27FC236}">
                <a16:creationId xmlns:a16="http://schemas.microsoft.com/office/drawing/2014/main" id="{1DA7A12C-97FE-E43B-6F15-9AC21CA78969}"/>
              </a:ext>
            </a:extLst>
          </p:cNvPr>
          <p:cNvPicPr/>
          <p:nvPr/>
        </p:nvPicPr>
        <p:blipFill>
          <a:blip r:embed="rId2"/>
          <a:stretch>
            <a:fillRect/>
          </a:stretch>
        </p:blipFill>
        <p:spPr>
          <a:xfrm>
            <a:off x="3202794" y="3024266"/>
            <a:ext cx="5386570" cy="2882900"/>
          </a:xfrm>
          <a:prstGeom prst="rect">
            <a:avLst/>
          </a:prstGeom>
        </p:spPr>
      </p:pic>
    </p:spTree>
    <p:extLst>
      <p:ext uri="{BB962C8B-B14F-4D97-AF65-F5344CB8AC3E}">
        <p14:creationId xmlns:p14="http://schemas.microsoft.com/office/powerpoint/2010/main" val="27155668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1D92B-38BB-42B7-1EA2-CE917FF4BF66}"/>
              </a:ext>
            </a:extLst>
          </p:cNvPr>
          <p:cNvSpPr>
            <a:spLocks noGrp="1"/>
          </p:cNvSpPr>
          <p:nvPr>
            <p:ph type="title"/>
          </p:nvPr>
        </p:nvSpPr>
        <p:spPr/>
        <p:txBody>
          <a:bodyPr>
            <a:normAutofit/>
          </a:bodyPr>
          <a:lstStyle/>
          <a:p>
            <a:r>
              <a:rPr lang="en-US" sz="4000" dirty="0">
                <a:solidFill>
                  <a:srgbClr val="000000"/>
                </a:solidFill>
                <a:effectLst/>
                <a:latin typeface="+mn-lt"/>
                <a:ea typeface="Times New Roman" panose="02020603050405020304" pitchFamily="18" charset="0"/>
              </a:rPr>
              <a:t>Scope is a Critical Decision</a:t>
            </a:r>
            <a:endParaRPr lang="en-US" sz="8000" dirty="0">
              <a:latin typeface="+mn-lt"/>
            </a:endParaRPr>
          </a:p>
        </p:txBody>
      </p:sp>
      <p:sp>
        <p:nvSpPr>
          <p:cNvPr id="3" name="Content Placeholder 2">
            <a:extLst>
              <a:ext uri="{FF2B5EF4-FFF2-40B4-BE49-F238E27FC236}">
                <a16:creationId xmlns:a16="http://schemas.microsoft.com/office/drawing/2014/main" id="{EB116F98-8D5E-5208-2015-3711DA4FDB41}"/>
              </a:ext>
            </a:extLst>
          </p:cNvPr>
          <p:cNvSpPr>
            <a:spLocks noGrp="1"/>
          </p:cNvSpPr>
          <p:nvPr>
            <p:ph idx="1"/>
          </p:nvPr>
        </p:nvSpPr>
        <p:spPr/>
        <p:txBody>
          <a:bodyPr/>
          <a:lstStyle/>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Too broad a scope and the systems become difficult to design and construct.</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Too narrow a scope and there </a:t>
            </a:r>
            <a:r>
              <a:rPr lang="en-US" sz="2000" b="1"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are too few systems to justify the additional expense</a:t>
            </a: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 and complexity.</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Scoping decisions made by</a:t>
            </a:r>
          </a:p>
          <a:p>
            <a:pPr marL="0" indent="0">
              <a:buNone/>
            </a:pPr>
            <a:r>
              <a:rPr lang="en-US" sz="2000" dirty="0">
                <a:solidFill>
                  <a:srgbClr val="000000"/>
                </a:solidFill>
                <a:effectLst/>
                <a:ea typeface="Times New Roman" panose="02020603050405020304" pitchFamily="18" charset="0"/>
              </a:rPr>
              <a:t>           - finding commonality and variation points among potential products </a:t>
            </a:r>
          </a:p>
          <a:p>
            <a:pPr marL="0" indent="0">
              <a:buNone/>
            </a:pPr>
            <a:r>
              <a:rPr lang="en-US" sz="2000" dirty="0">
                <a:solidFill>
                  <a:srgbClr val="000000"/>
                </a:solidFill>
                <a:ea typeface="Times New Roman" panose="02020603050405020304" pitchFamily="18" charset="0"/>
              </a:rPr>
              <a:t>           - </a:t>
            </a:r>
            <a:r>
              <a:rPr lang="en-US" sz="2000" dirty="0">
                <a:solidFill>
                  <a:srgbClr val="000000"/>
                </a:solidFill>
                <a:effectLst/>
                <a:ea typeface="Times New Roman" panose="02020603050405020304" pitchFamily="18" charset="0"/>
              </a:rPr>
              <a:t>interactions between marketing and the architect to define as broad a scope as technically feasible without introducing excessive cost when building products.</a:t>
            </a:r>
          </a:p>
          <a:p>
            <a:endParaRPr lang="en-US" dirty="0"/>
          </a:p>
        </p:txBody>
      </p:sp>
    </p:spTree>
    <p:extLst>
      <p:ext uri="{BB962C8B-B14F-4D97-AF65-F5344CB8AC3E}">
        <p14:creationId xmlns:p14="http://schemas.microsoft.com/office/powerpoint/2010/main" val="42350583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7EE26-E220-4F6F-A08B-EA4EE37DEA6A}"/>
              </a:ext>
            </a:extLst>
          </p:cNvPr>
          <p:cNvSpPr>
            <a:spLocks noGrp="1"/>
          </p:cNvSpPr>
          <p:nvPr>
            <p:ph type="title"/>
          </p:nvPr>
        </p:nvSpPr>
        <p:spPr/>
        <p:txBody>
          <a:bodyPr/>
          <a:lstStyle/>
          <a:p>
            <a:r>
              <a:rPr lang="en-US" dirty="0"/>
              <a:t>Variability General Scenario </a:t>
            </a:r>
          </a:p>
        </p:txBody>
      </p:sp>
      <p:pic>
        <p:nvPicPr>
          <p:cNvPr id="5" name="Content Placeholder 4">
            <a:extLst>
              <a:ext uri="{FF2B5EF4-FFF2-40B4-BE49-F238E27FC236}">
                <a16:creationId xmlns:a16="http://schemas.microsoft.com/office/drawing/2014/main" id="{1317CCC2-A90C-36A6-EBFA-57F22AE171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5304" y="1825625"/>
            <a:ext cx="6701392" cy="4351338"/>
          </a:xfrm>
        </p:spPr>
      </p:pic>
    </p:spTree>
    <p:extLst>
      <p:ext uri="{BB962C8B-B14F-4D97-AF65-F5344CB8AC3E}">
        <p14:creationId xmlns:p14="http://schemas.microsoft.com/office/powerpoint/2010/main" val="40992689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AF274-485F-CD84-780A-133E6AA477B6}"/>
              </a:ext>
            </a:extLst>
          </p:cNvPr>
          <p:cNvSpPr>
            <a:spLocks noGrp="1"/>
          </p:cNvSpPr>
          <p:nvPr>
            <p:ph type="title"/>
          </p:nvPr>
        </p:nvSpPr>
        <p:spPr/>
        <p:txBody>
          <a:bodyPr/>
          <a:lstStyle/>
          <a:p>
            <a:r>
              <a:rPr lang="en-US" dirty="0"/>
              <a:t>Architectural Mechanisms for Variability </a:t>
            </a:r>
          </a:p>
        </p:txBody>
      </p:sp>
      <p:sp>
        <p:nvSpPr>
          <p:cNvPr id="3" name="Content Placeholder 2">
            <a:extLst>
              <a:ext uri="{FF2B5EF4-FFF2-40B4-BE49-F238E27FC236}">
                <a16:creationId xmlns:a16="http://schemas.microsoft.com/office/drawing/2014/main" id="{4A9E31B5-67E4-3D20-C59E-E461061E2E6D}"/>
              </a:ext>
            </a:extLst>
          </p:cNvPr>
          <p:cNvSpPr>
            <a:spLocks noGrp="1"/>
          </p:cNvSpPr>
          <p:nvPr>
            <p:ph idx="1"/>
          </p:nvPr>
        </p:nvSpPr>
        <p:spPr/>
        <p:txBody>
          <a:bodyPr>
            <a:normAutofit/>
          </a:bodyPr>
          <a:lstStyle/>
          <a:p>
            <a:r>
              <a:rPr lang="en-US" sz="2000" dirty="0">
                <a:solidFill>
                  <a:srgbClr val="000000"/>
                </a:solidFill>
                <a:effectLst/>
                <a:ea typeface="Times New Roman" panose="02020603050405020304" pitchFamily="18" charset="0"/>
              </a:rPr>
              <a:t>Inclusion or omission of elements:</a:t>
            </a:r>
          </a:p>
          <a:p>
            <a:pPr marL="0" indent="0">
              <a:buNone/>
            </a:pPr>
            <a:r>
              <a:rPr lang="en-US" sz="2000" dirty="0">
                <a:solidFill>
                  <a:srgbClr val="000000"/>
                </a:solidFill>
                <a:effectLst/>
                <a:ea typeface="Times New Roman" panose="02020603050405020304" pitchFamily="18" charset="0"/>
              </a:rPr>
              <a:t>      - Through build procedures for different products, you can include a different number of </a:t>
            </a:r>
            <a:r>
              <a:rPr lang="en-US" sz="2000" b="1" dirty="0">
                <a:solidFill>
                  <a:srgbClr val="000000"/>
                </a:solidFill>
                <a:effectLst/>
                <a:ea typeface="Times New Roman" panose="02020603050405020304" pitchFamily="18" charset="0"/>
              </a:rPr>
              <a:t>replicated elements</a:t>
            </a:r>
            <a:endParaRPr lang="en-US" sz="2000" b="1" dirty="0">
              <a:solidFill>
                <a:srgbClr val="000000"/>
              </a:solidFill>
              <a:ea typeface="Times New Roman" panose="02020603050405020304" pitchFamily="18" charset="0"/>
            </a:endParaRPr>
          </a:p>
          <a:p>
            <a:pPr marL="0" indent="0">
              <a:buNone/>
            </a:pPr>
            <a:r>
              <a:rPr lang="en-US" sz="2000" dirty="0">
                <a:solidFill>
                  <a:srgbClr val="000000"/>
                </a:solidFill>
                <a:effectLst/>
                <a:ea typeface="Times New Roman" panose="02020603050405020304" pitchFamily="18" charset="0"/>
              </a:rPr>
              <a:t>      - For instance, high capacity variants might be produced by </a:t>
            </a:r>
            <a:r>
              <a:rPr lang="en-US" sz="2000" b="1" dirty="0">
                <a:solidFill>
                  <a:srgbClr val="000000"/>
                </a:solidFill>
                <a:effectLst/>
                <a:ea typeface="Times New Roman" panose="02020603050405020304" pitchFamily="18" charset="0"/>
              </a:rPr>
              <a:t>adding more servers.</a:t>
            </a:r>
          </a:p>
          <a:p>
            <a:pPr marL="0" indent="0">
              <a:buNone/>
            </a:pPr>
            <a:r>
              <a:rPr lang="en-US" sz="2000" dirty="0">
                <a:solidFill>
                  <a:srgbClr val="000000"/>
                </a:solidFill>
                <a:effectLst/>
                <a:ea typeface="Times New Roman" panose="02020603050405020304" pitchFamily="18" charset="0"/>
              </a:rPr>
              <a:t>      - The actual number should be unspecified, as a point of variation. This may be chosen dynamically</a:t>
            </a:r>
            <a:endParaRPr lang="en-US" sz="3200" dirty="0"/>
          </a:p>
        </p:txBody>
      </p:sp>
    </p:spTree>
    <p:extLst>
      <p:ext uri="{BB962C8B-B14F-4D97-AF65-F5344CB8AC3E}">
        <p14:creationId xmlns:p14="http://schemas.microsoft.com/office/powerpoint/2010/main" val="14472275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28E4-F058-90E0-BE1A-6A4676D5FF81}"/>
              </a:ext>
            </a:extLst>
          </p:cNvPr>
          <p:cNvSpPr>
            <a:spLocks noGrp="1"/>
          </p:cNvSpPr>
          <p:nvPr>
            <p:ph type="title"/>
          </p:nvPr>
        </p:nvSpPr>
        <p:spPr/>
        <p:txBody>
          <a:bodyPr/>
          <a:lstStyle/>
          <a:p>
            <a:r>
              <a:rPr lang="en-US" dirty="0"/>
              <a:t>Other Variability Mechanisms </a:t>
            </a:r>
          </a:p>
        </p:txBody>
      </p:sp>
      <p:sp>
        <p:nvSpPr>
          <p:cNvPr id="3" name="Content Placeholder 2">
            <a:extLst>
              <a:ext uri="{FF2B5EF4-FFF2-40B4-BE49-F238E27FC236}">
                <a16:creationId xmlns:a16="http://schemas.microsoft.com/office/drawing/2014/main" id="{C68471E0-F051-BEC3-6AC9-9C7A4977DD69}"/>
              </a:ext>
            </a:extLst>
          </p:cNvPr>
          <p:cNvSpPr>
            <a:spLocks noGrp="1"/>
          </p:cNvSpPr>
          <p:nvPr>
            <p:ph idx="1"/>
          </p:nvPr>
        </p:nvSpPr>
        <p:spPr/>
        <p:txBody>
          <a:bodyPr>
            <a:normAutofit/>
          </a:bodyPr>
          <a:lstStyle/>
          <a:p>
            <a:r>
              <a:rPr lang="en-US" sz="2000" b="1" dirty="0">
                <a:solidFill>
                  <a:srgbClr val="000000"/>
                </a:solidFill>
                <a:effectLst/>
                <a:ea typeface="Times New Roman" panose="02020603050405020304" pitchFamily="18" charset="0"/>
              </a:rPr>
              <a:t>Extension points</a:t>
            </a:r>
            <a:r>
              <a:rPr lang="en-US" sz="2000" dirty="0">
                <a:solidFill>
                  <a:srgbClr val="000000"/>
                </a:solidFill>
                <a:effectLst/>
                <a:ea typeface="Times New Roman" panose="02020603050405020304" pitchFamily="18" charset="0"/>
              </a:rPr>
              <a:t>. These are identified places in the architecture where </a:t>
            </a:r>
            <a:r>
              <a:rPr lang="en-US" sz="2000" b="1" dirty="0">
                <a:solidFill>
                  <a:srgbClr val="000000"/>
                </a:solidFill>
                <a:effectLst/>
                <a:ea typeface="Times New Roman" panose="02020603050405020304" pitchFamily="18" charset="0"/>
              </a:rPr>
              <a:t>additional behavior or functionality can be safely added.</a:t>
            </a:r>
          </a:p>
          <a:p>
            <a:r>
              <a:rPr lang="en-US" sz="2000" b="1" dirty="0">
                <a:solidFill>
                  <a:srgbClr val="000000"/>
                </a:solidFill>
                <a:effectLst/>
                <a:ea typeface="Times New Roman" panose="02020603050405020304" pitchFamily="18" charset="0"/>
              </a:rPr>
              <a:t>Reflection</a:t>
            </a:r>
            <a:r>
              <a:rPr lang="en-US" sz="2000" dirty="0">
                <a:solidFill>
                  <a:srgbClr val="000000"/>
                </a:solidFill>
                <a:effectLst/>
                <a:ea typeface="Times New Roman" panose="02020603050405020304" pitchFamily="18" charset="0"/>
              </a:rPr>
              <a:t>. This is the ability of a program to </a:t>
            </a:r>
            <a:r>
              <a:rPr lang="en-US" sz="2000" b="1" dirty="0">
                <a:solidFill>
                  <a:srgbClr val="000000"/>
                </a:solidFill>
                <a:effectLst/>
                <a:ea typeface="Times New Roman" panose="02020603050405020304" pitchFamily="18" charset="0"/>
              </a:rPr>
              <a:t>manipulate data on itself</a:t>
            </a:r>
            <a:r>
              <a:rPr lang="en-US" sz="2000" dirty="0">
                <a:solidFill>
                  <a:srgbClr val="000000"/>
                </a:solidFill>
                <a:effectLst/>
                <a:ea typeface="Times New Roman" panose="02020603050405020304" pitchFamily="18" charset="0"/>
              </a:rPr>
              <a:t> or its execution environment or state. Reflective programs can </a:t>
            </a:r>
            <a:r>
              <a:rPr lang="en-US" sz="2000" b="1" dirty="0">
                <a:solidFill>
                  <a:srgbClr val="000000"/>
                </a:solidFill>
                <a:effectLst/>
                <a:ea typeface="Times New Roman" panose="02020603050405020304" pitchFamily="18" charset="0"/>
              </a:rPr>
              <a:t>adjust their behavior based on their context</a:t>
            </a:r>
            <a:r>
              <a:rPr lang="en-US" sz="2000" dirty="0">
                <a:solidFill>
                  <a:srgbClr val="000000"/>
                </a:solidFill>
                <a:effectLst/>
                <a:ea typeface="Times New Roman" panose="02020603050405020304" pitchFamily="18" charset="0"/>
              </a:rPr>
              <a:t>.</a:t>
            </a:r>
          </a:p>
          <a:p>
            <a:r>
              <a:rPr lang="en-US" sz="2000" b="1" dirty="0">
                <a:solidFill>
                  <a:srgbClr val="000000"/>
                </a:solidFill>
                <a:effectLst/>
                <a:ea typeface="Times New Roman" panose="02020603050405020304" pitchFamily="18" charset="0"/>
              </a:rPr>
              <a:t>Overloading</a:t>
            </a:r>
            <a:r>
              <a:rPr lang="en-US" sz="2000" dirty="0">
                <a:solidFill>
                  <a:srgbClr val="000000"/>
                </a:solidFill>
                <a:effectLst/>
                <a:ea typeface="Times New Roman" panose="02020603050405020304" pitchFamily="18" charset="0"/>
              </a:rPr>
              <a:t>. This is a means </a:t>
            </a:r>
            <a:r>
              <a:rPr lang="en-US" sz="2000" b="1" dirty="0">
                <a:solidFill>
                  <a:srgbClr val="000000"/>
                </a:solidFill>
                <a:effectLst/>
                <a:ea typeface="Times New Roman" panose="02020603050405020304" pitchFamily="18" charset="0"/>
              </a:rPr>
              <a:t>of reusing a named functionality to operate on different types</a:t>
            </a:r>
            <a:r>
              <a:rPr lang="en-US" sz="2000" dirty="0">
                <a:solidFill>
                  <a:srgbClr val="000000"/>
                </a:solidFill>
                <a:effectLst/>
                <a:ea typeface="Times New Roman" panose="02020603050405020304" pitchFamily="18" charset="0"/>
              </a:rPr>
              <a:t>. Overloading promotes code reuse, but at the cost of understandability and code complexity.</a:t>
            </a:r>
            <a:endParaRPr lang="en-US" sz="3200" dirty="0"/>
          </a:p>
        </p:txBody>
      </p:sp>
    </p:spTree>
    <p:extLst>
      <p:ext uri="{BB962C8B-B14F-4D97-AF65-F5344CB8AC3E}">
        <p14:creationId xmlns:p14="http://schemas.microsoft.com/office/powerpoint/2010/main" val="37326407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F64EE-8C1B-3A5E-A720-B18E65CD9CF6}"/>
              </a:ext>
            </a:extLst>
          </p:cNvPr>
          <p:cNvSpPr>
            <a:spLocks noGrp="1"/>
          </p:cNvSpPr>
          <p:nvPr>
            <p:ph type="title"/>
          </p:nvPr>
        </p:nvSpPr>
        <p:spPr/>
        <p:txBody>
          <a:bodyPr/>
          <a:lstStyle/>
          <a:p>
            <a:r>
              <a:rPr lang="en-US" dirty="0"/>
              <a:t>Other Variability Mechanisms </a:t>
            </a:r>
          </a:p>
        </p:txBody>
      </p:sp>
      <p:sp>
        <p:nvSpPr>
          <p:cNvPr id="3" name="Content Placeholder 2">
            <a:extLst>
              <a:ext uri="{FF2B5EF4-FFF2-40B4-BE49-F238E27FC236}">
                <a16:creationId xmlns:a16="http://schemas.microsoft.com/office/drawing/2014/main" id="{F163C1CB-0507-C8C4-6788-03951809518F}"/>
              </a:ext>
            </a:extLst>
          </p:cNvPr>
          <p:cNvSpPr>
            <a:spLocks noGrp="1"/>
          </p:cNvSpPr>
          <p:nvPr>
            <p:ph idx="1"/>
          </p:nvPr>
        </p:nvSpPr>
        <p:spPr/>
        <p:txBody>
          <a:bodyPr/>
          <a:lstStyle/>
          <a:p>
            <a:r>
              <a:rPr lang="en-US" sz="2000" dirty="0">
                <a:solidFill>
                  <a:srgbClr val="000000"/>
                </a:solidFill>
                <a:effectLst/>
                <a:ea typeface="Times New Roman" panose="02020603050405020304" pitchFamily="18" charset="0"/>
              </a:rPr>
              <a:t>Inheritance; specializing or generalizing a particular class</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Component substitution</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Add-ons, plug-ins</a:t>
            </a:r>
          </a:p>
          <a:p>
            <a:r>
              <a:rPr lang="en-US" sz="2000" dirty="0">
                <a:solidFill>
                  <a:srgbClr val="000000"/>
                </a:solidFill>
                <a:effectLst/>
                <a:ea typeface="Times New Roman" panose="02020603050405020304" pitchFamily="18" charset="0"/>
              </a:rPr>
              <a:t>Templates</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Parameters (including text preprocessors)</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Generator</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Aspects</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Runtime conditionals</a:t>
            </a:r>
          </a:p>
          <a:p>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Configurator</a:t>
            </a:r>
          </a:p>
          <a:p>
            <a:endParaRPr lang="en-US" dirty="0"/>
          </a:p>
        </p:txBody>
      </p:sp>
    </p:spTree>
    <p:extLst>
      <p:ext uri="{BB962C8B-B14F-4D97-AF65-F5344CB8AC3E}">
        <p14:creationId xmlns:p14="http://schemas.microsoft.com/office/powerpoint/2010/main" val="21517687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98DDE-23A4-3D54-6C78-536AE9A93159}"/>
              </a:ext>
            </a:extLst>
          </p:cNvPr>
          <p:cNvSpPr>
            <a:spLocks noGrp="1"/>
          </p:cNvSpPr>
          <p:nvPr>
            <p:ph type="title"/>
          </p:nvPr>
        </p:nvSpPr>
        <p:spPr/>
        <p:txBody>
          <a:bodyPr/>
          <a:lstStyle/>
          <a:p>
            <a:r>
              <a:rPr lang="en-US" dirty="0"/>
              <a:t>Each Mechanism had a Cost</a:t>
            </a:r>
          </a:p>
        </p:txBody>
      </p:sp>
      <p:sp>
        <p:nvSpPr>
          <p:cNvPr id="3" name="Content Placeholder 2">
            <a:extLst>
              <a:ext uri="{FF2B5EF4-FFF2-40B4-BE49-F238E27FC236}">
                <a16:creationId xmlns:a16="http://schemas.microsoft.com/office/drawing/2014/main" id="{215AD6D0-100F-7507-5F03-3B966E577BF8}"/>
              </a:ext>
            </a:extLst>
          </p:cNvPr>
          <p:cNvSpPr>
            <a:spLocks noGrp="1"/>
          </p:cNvSpPr>
          <p:nvPr>
            <p:ph idx="1"/>
          </p:nvPr>
        </p:nvSpPr>
        <p:spPr/>
        <p:txBody>
          <a:bodyPr/>
          <a:lstStyle/>
          <a:p>
            <a:r>
              <a:rPr lang="en-US" sz="2400" dirty="0">
                <a:solidFill>
                  <a:srgbClr val="000000"/>
                </a:solidFill>
                <a:effectLst/>
                <a:ea typeface="Times New Roman" panose="02020603050405020304" pitchFamily="18" charset="0"/>
              </a:rPr>
              <a:t>Costs include </a:t>
            </a:r>
          </a:p>
          <a:p>
            <a:pPr marL="0" indent="0">
              <a:buNone/>
            </a:pPr>
            <a:r>
              <a:rPr lang="en-US" sz="2400" dirty="0">
                <a:solidFill>
                  <a:srgbClr val="000000"/>
                </a:solidFill>
              </a:rPr>
              <a:t>      - </a:t>
            </a:r>
            <a:r>
              <a:rPr lang="en-US" sz="2400" dirty="0">
                <a:solidFill>
                  <a:srgbClr val="000000"/>
                </a:solidFill>
                <a:effectLst/>
                <a:ea typeface="Times New Roman" panose="02020603050405020304" pitchFamily="18" charset="0"/>
              </a:rPr>
              <a:t>The skill set required to implement mechanism</a:t>
            </a:r>
          </a:p>
          <a:p>
            <a:pPr marL="0" indent="0">
              <a:buNone/>
            </a:pPr>
            <a:r>
              <a:rPr lang="en-US" sz="2400" dirty="0">
                <a:solidFill>
                  <a:srgbClr val="000000"/>
                </a:solidFill>
              </a:rPr>
              <a:t>      - </a:t>
            </a:r>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One time cost for establishing mechanism </a:t>
            </a:r>
          </a:p>
          <a:p>
            <a:pPr marL="0" indent="0">
              <a:buNone/>
            </a:pPr>
            <a:r>
              <a:rPr lang="en-US" sz="2400" dirty="0">
                <a:solidFill>
                  <a:srgbClr val="000000"/>
                </a:solidFill>
                <a:uFill>
                  <a:solidFill>
                    <a:srgbClr val="000000"/>
                  </a:solidFill>
                </a:uFill>
                <a:ea typeface="Times New Roman" panose="02020603050405020304" pitchFamily="18" charset="0"/>
                <a:cs typeface="Times New Roman" panose="02020603050405020304" pitchFamily="18" charset="0"/>
              </a:rPr>
              <a:t>      - </a:t>
            </a:r>
            <a:r>
              <a:rPr lang="en-US" sz="2400" dirty="0">
                <a:solidFill>
                  <a:srgbClr val="000000"/>
                </a:solidFill>
                <a:effectLst/>
                <a:ea typeface="Times New Roman" panose="02020603050405020304" pitchFamily="18" charset="0"/>
              </a:rPr>
              <a:t>Recurring cost for each instance </a:t>
            </a:r>
          </a:p>
          <a:p>
            <a:pPr marL="0" indent="0">
              <a:buNone/>
            </a:pPr>
            <a:r>
              <a:rPr lang="en-US" sz="2400" u="none" strike="noStrike" dirty="0">
                <a:solidFill>
                  <a:srgbClr val="000000"/>
                </a:solidFill>
                <a:uFill>
                  <a:solidFill>
                    <a:srgbClr val="000000"/>
                  </a:solidFill>
                </a:uFill>
                <a:ea typeface="Times New Roman" panose="02020603050405020304" pitchFamily="18" charset="0"/>
                <a:cs typeface="Times New Roman" panose="02020603050405020304" pitchFamily="18" charset="0"/>
              </a:rPr>
              <a:t>      </a:t>
            </a:r>
            <a:r>
              <a:rPr lang="en-US" sz="2400" dirty="0">
                <a:solidFill>
                  <a:srgbClr val="000000"/>
                </a:solidFill>
                <a:uFill>
                  <a:solidFill>
                    <a:srgbClr val="000000"/>
                  </a:solidFill>
                </a:uFill>
                <a:ea typeface="Times New Roman" panose="02020603050405020304" pitchFamily="18" charset="0"/>
                <a:cs typeface="Times New Roman" panose="02020603050405020304" pitchFamily="18" charset="0"/>
              </a:rPr>
              <a:t>- </a:t>
            </a:r>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Impact on qualities such as</a:t>
            </a:r>
          </a:p>
          <a:p>
            <a:pPr marL="0" indent="0">
              <a:buNone/>
            </a:pPr>
            <a:r>
              <a:rPr lang="en-US" sz="2400" dirty="0">
                <a:solidFill>
                  <a:srgbClr val="000000"/>
                </a:solidFill>
                <a:effectLst/>
                <a:uFill>
                  <a:solidFill>
                    <a:srgbClr val="000000"/>
                  </a:solidFill>
                </a:uFill>
                <a:ea typeface="Times New Roman" panose="02020603050405020304" pitchFamily="18" charset="0"/>
                <a:cs typeface="Times New Roman" panose="02020603050405020304" pitchFamily="18" charset="0"/>
              </a:rPr>
              <a:t>                  - </a:t>
            </a:r>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Performance</a:t>
            </a:r>
          </a:p>
          <a:p>
            <a:pPr marL="0" indent="0">
              <a:buNone/>
            </a:pPr>
            <a:r>
              <a:rPr lang="en-US" sz="2400" dirty="0">
                <a:solidFill>
                  <a:srgbClr val="000000"/>
                </a:solidFill>
                <a:effectLst/>
                <a:uFill>
                  <a:solidFill>
                    <a:srgbClr val="000000"/>
                  </a:solidFill>
                </a:uFill>
                <a:ea typeface="Times New Roman" panose="02020603050405020304" pitchFamily="18" charset="0"/>
                <a:cs typeface="Times New Roman" panose="02020603050405020304" pitchFamily="18" charset="0"/>
              </a:rPr>
              <a:t>                  - Modifiability </a:t>
            </a:r>
            <a:endPar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4575134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B8F19-700D-DD8D-5FE7-936B7B31B85D}"/>
              </a:ext>
            </a:extLst>
          </p:cNvPr>
          <p:cNvSpPr>
            <a:spLocks noGrp="1"/>
          </p:cNvSpPr>
          <p:nvPr>
            <p:ph type="title"/>
          </p:nvPr>
        </p:nvSpPr>
        <p:spPr/>
        <p:txBody>
          <a:bodyPr/>
          <a:lstStyle/>
          <a:p>
            <a:r>
              <a:rPr lang="en-US" dirty="0"/>
              <a:t>Evaluating a Product Line Architecture </a:t>
            </a:r>
          </a:p>
        </p:txBody>
      </p:sp>
      <p:sp>
        <p:nvSpPr>
          <p:cNvPr id="3" name="Content Placeholder 2">
            <a:extLst>
              <a:ext uri="{FF2B5EF4-FFF2-40B4-BE49-F238E27FC236}">
                <a16:creationId xmlns:a16="http://schemas.microsoft.com/office/drawing/2014/main" id="{1F5B0D75-137F-A225-2B07-34D720A1231B}"/>
              </a:ext>
            </a:extLst>
          </p:cNvPr>
          <p:cNvSpPr>
            <a:spLocks noGrp="1"/>
          </p:cNvSpPr>
          <p:nvPr>
            <p:ph idx="1"/>
          </p:nvPr>
        </p:nvSpPr>
        <p:spPr/>
        <p:txBody>
          <a:bodyPr/>
          <a:lstStyle/>
          <a:p>
            <a:pPr marL="0" marR="0" lvl="0" indent="0" fontAlgn="base">
              <a:lnSpc>
                <a:spcPct val="105000"/>
              </a:lnSpc>
              <a:spcBef>
                <a:spcPts val="0"/>
              </a:spcBef>
              <a:spcAft>
                <a:spcPts val="195"/>
              </a:spcAft>
              <a:buClr>
                <a:srgbClr val="000000"/>
              </a:buClr>
              <a:buSzPts val="3500"/>
              <a:buNone/>
            </a:pPr>
            <a:r>
              <a:rPr lang="en-US" sz="2000" dirty="0">
                <a:solidFill>
                  <a:srgbClr val="000000"/>
                </a:solidFill>
                <a:uFill>
                  <a:solidFill>
                    <a:srgbClr val="000000"/>
                  </a:solidFill>
                </a:uFill>
                <a:ea typeface="Times New Roman" panose="02020603050405020304" pitchFamily="18" charset="0"/>
                <a:cs typeface="Times New Roman" panose="02020603050405020304" pitchFamily="18" charset="0"/>
              </a:rPr>
              <a:t>- </a:t>
            </a:r>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Largely the same as a normal evaluation. </a:t>
            </a:r>
          </a:p>
          <a:p>
            <a:pPr marL="0" marR="0" lvl="0" indent="0" fontAlgn="base">
              <a:lnSpc>
                <a:spcPct val="105000"/>
              </a:lnSpc>
              <a:spcBef>
                <a:spcPts val="0"/>
              </a:spcBef>
              <a:spcAft>
                <a:spcPts val="195"/>
              </a:spcAft>
              <a:buClr>
                <a:srgbClr val="000000"/>
              </a:buClr>
              <a:buSzPts val="3500"/>
              <a:buNone/>
            </a:pPr>
            <a:r>
              <a:rPr lang="en-US" sz="2400" dirty="0">
                <a:solidFill>
                  <a:srgbClr val="000000"/>
                </a:solidFill>
                <a:ea typeface="Times New Roman" panose="02020603050405020304" pitchFamily="18" charset="0"/>
              </a:rPr>
              <a:t>- </a:t>
            </a:r>
            <a:r>
              <a:rPr lang="en-US" sz="2400" dirty="0">
                <a:solidFill>
                  <a:srgbClr val="000000"/>
                </a:solidFill>
                <a:effectLst/>
                <a:ea typeface="Times New Roman" panose="02020603050405020304" pitchFamily="18" charset="0"/>
              </a:rPr>
              <a:t>Special attention should be paid to variation points.</a:t>
            </a:r>
          </a:p>
          <a:p>
            <a:pPr marL="0" indent="0" fontAlgn="base">
              <a:lnSpc>
                <a:spcPct val="105000"/>
              </a:lnSpc>
              <a:spcBef>
                <a:spcPts val="0"/>
              </a:spcBef>
              <a:spcAft>
                <a:spcPts val="195"/>
              </a:spcAft>
              <a:buClr>
                <a:srgbClr val="000000"/>
              </a:buClr>
              <a:buSzPts val="3500"/>
              <a:buNone/>
            </a:pPr>
            <a:r>
              <a:rPr lang="en-US" sz="2400" dirty="0">
                <a:solidFill>
                  <a:srgbClr val="000000"/>
                </a:solidFill>
                <a:effectLst/>
                <a:ea typeface="Times New Roman" panose="02020603050405020304" pitchFamily="18" charset="0"/>
              </a:rPr>
              <a:t>- Can be applied to </a:t>
            </a:r>
            <a:endParaRPr lang="en-US" sz="2400" baseline="30000" dirty="0">
              <a:solidFill>
                <a:srgbClr val="000000"/>
              </a:solidFill>
              <a:ea typeface="Times New Roman" panose="02020603050405020304" pitchFamily="18" charset="0"/>
            </a:endParaRPr>
          </a:p>
          <a:p>
            <a:pPr marL="0" indent="0" fontAlgn="base">
              <a:lnSpc>
                <a:spcPct val="105000"/>
              </a:lnSpc>
              <a:spcBef>
                <a:spcPts val="0"/>
              </a:spcBef>
              <a:spcAft>
                <a:spcPts val="195"/>
              </a:spcAft>
              <a:buClr>
                <a:srgbClr val="000000"/>
              </a:buClr>
              <a:buSzPts val="3500"/>
              <a:buNone/>
            </a:pPr>
            <a:r>
              <a:rPr lang="en-US" sz="2400" dirty="0">
                <a:solidFill>
                  <a:srgbClr val="000000"/>
                </a:solidFill>
                <a:effectLst/>
                <a:ea typeface="Times New Roman" panose="02020603050405020304" pitchFamily="18" charset="0"/>
              </a:rPr>
              <a:t>             - core assets, to assess suitability for product line </a:t>
            </a:r>
          </a:p>
          <a:p>
            <a:pPr marL="0" indent="0" fontAlgn="base">
              <a:lnSpc>
                <a:spcPct val="105000"/>
              </a:lnSpc>
              <a:spcBef>
                <a:spcPts val="0"/>
              </a:spcBef>
              <a:spcAft>
                <a:spcPts val="195"/>
              </a:spcAft>
              <a:buClr>
                <a:srgbClr val="000000"/>
              </a:buClr>
              <a:buSzPts val="3500"/>
              <a:buNone/>
            </a:pPr>
            <a:r>
              <a:rPr lang="en-US" sz="2400" u="none" strike="noStrike" dirty="0">
                <a:solidFill>
                  <a:srgbClr val="000000"/>
                </a:solidFill>
                <a:uFill>
                  <a:solidFill>
                    <a:srgbClr val="000000"/>
                  </a:solidFill>
                </a:uFill>
                <a:ea typeface="Times New Roman" panose="02020603050405020304" pitchFamily="18" charset="0"/>
                <a:cs typeface="Times New Roman" panose="02020603050405020304" pitchFamily="18" charset="0"/>
              </a:rPr>
              <a:t>             - </a:t>
            </a:r>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instance architecture, to assess suitability for a particular desired product</a:t>
            </a:r>
            <a:r>
              <a:rPr lang="en-US" sz="20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a:t>
            </a:r>
          </a:p>
          <a:p>
            <a:pPr marL="0" indent="0">
              <a:buNone/>
            </a:pPr>
            <a:endParaRPr lang="en-US" b="1" dirty="0"/>
          </a:p>
        </p:txBody>
      </p:sp>
    </p:spTree>
    <p:extLst>
      <p:ext uri="{BB962C8B-B14F-4D97-AF65-F5344CB8AC3E}">
        <p14:creationId xmlns:p14="http://schemas.microsoft.com/office/powerpoint/2010/main" val="7434659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DA13F-A154-0C38-350D-7DD7D5BA971A}"/>
              </a:ext>
            </a:extLst>
          </p:cNvPr>
          <p:cNvSpPr>
            <a:spLocks noGrp="1"/>
          </p:cNvSpPr>
          <p:nvPr>
            <p:ph type="title"/>
          </p:nvPr>
        </p:nvSpPr>
        <p:spPr>
          <a:xfrm>
            <a:off x="838200" y="787155"/>
            <a:ext cx="10515600" cy="1325563"/>
          </a:xfrm>
        </p:spPr>
        <p:txBody>
          <a:bodyPr/>
          <a:lstStyle/>
          <a:p>
            <a:r>
              <a:rPr lang="en-US" sz="4000" dirty="0">
                <a:solidFill>
                  <a:srgbClr val="000000"/>
                </a:solidFill>
                <a:effectLst/>
                <a:latin typeface="+mn-lt"/>
                <a:ea typeface="Times New Roman" panose="02020603050405020304" pitchFamily="18" charset="0"/>
              </a:rPr>
              <a:t>Summary</a:t>
            </a:r>
            <a:r>
              <a:rPr lang="en-US" sz="1800" b="1" dirty="0">
                <a:solidFill>
                  <a:srgbClr val="000000"/>
                </a:solidFill>
                <a:effectLst/>
                <a:latin typeface="Times New Roman" panose="02020603050405020304" pitchFamily="18" charset="0"/>
                <a:ea typeface="Times New Roman" panose="02020603050405020304" pitchFamily="18" charset="0"/>
              </a:rPr>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FE057EA-5D09-6D1F-AED2-F4EBA9A94037}"/>
              </a:ext>
            </a:extLst>
          </p:cNvPr>
          <p:cNvSpPr>
            <a:spLocks noGrp="1"/>
          </p:cNvSpPr>
          <p:nvPr>
            <p:ph idx="1"/>
          </p:nvPr>
        </p:nvSpPr>
        <p:spPr/>
        <p:txBody>
          <a:bodyPr/>
          <a:lstStyle/>
          <a:p>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A product line is strategic, planned reuse.</a:t>
            </a:r>
          </a:p>
          <a:p>
            <a:r>
              <a:rPr lang="en-US" sz="2400" dirty="0">
                <a:solidFill>
                  <a:srgbClr val="000000"/>
                </a:solidFill>
                <a:effectLst/>
                <a:ea typeface="Times New Roman" panose="02020603050405020304" pitchFamily="18" charset="0"/>
              </a:rPr>
              <a:t>The product line approach to developing software can pay huge dividends.</a:t>
            </a:r>
          </a:p>
          <a:p>
            <a:r>
              <a:rPr lang="en-US" sz="2400" u="none" strike="noStrike" dirty="0">
                <a:solidFill>
                  <a:srgbClr val="000000"/>
                </a:solidFill>
                <a:effectLst/>
                <a:uFill>
                  <a:solidFill>
                    <a:srgbClr val="000000"/>
                  </a:solidFill>
                </a:uFill>
                <a:ea typeface="Times New Roman" panose="02020603050405020304" pitchFamily="18" charset="0"/>
                <a:cs typeface="Times New Roman" panose="02020603050405020304" pitchFamily="18" charset="0"/>
              </a:rPr>
              <a:t>Requires an understanding of:</a:t>
            </a:r>
          </a:p>
          <a:p>
            <a:pPr marL="0" indent="0">
              <a:buNone/>
            </a:pPr>
            <a:r>
              <a:rPr lang="en-US" dirty="0"/>
              <a:t>       - </a:t>
            </a:r>
            <a:r>
              <a:rPr lang="en-US" sz="2400" dirty="0"/>
              <a:t>Architecture </a:t>
            </a:r>
          </a:p>
          <a:p>
            <a:pPr marL="0" indent="0">
              <a:buNone/>
            </a:pPr>
            <a:r>
              <a:rPr lang="en-US" sz="2400" dirty="0"/>
              <a:t>        - Organizational Architecture </a:t>
            </a:r>
          </a:p>
          <a:p>
            <a:pPr marL="0" indent="0">
              <a:buNone/>
            </a:pPr>
            <a:r>
              <a:rPr lang="en-US" sz="2400" dirty="0"/>
              <a:t>        - Process issues </a:t>
            </a:r>
          </a:p>
        </p:txBody>
      </p:sp>
    </p:spTree>
    <p:extLst>
      <p:ext uri="{BB962C8B-B14F-4D97-AF65-F5344CB8AC3E}">
        <p14:creationId xmlns:p14="http://schemas.microsoft.com/office/powerpoint/2010/main" val="1289033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TotalTime>
  <Words>4501</Words>
  <Application>Microsoft Office PowerPoint</Application>
  <PresentationFormat>Widescreen</PresentationFormat>
  <Paragraphs>431</Paragraphs>
  <Slides>74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Calibri Light</vt:lpstr>
      <vt:lpstr>CIDFont+F2</vt:lpstr>
      <vt:lpstr>Times New Roman</vt:lpstr>
      <vt:lpstr>Office Theme</vt:lpstr>
      <vt:lpstr>Chapter Six </vt:lpstr>
      <vt:lpstr>Economic Analysis of Architectures</vt:lpstr>
      <vt:lpstr>Decision-making Context</vt:lpstr>
      <vt:lpstr>Decision-making Context</vt:lpstr>
      <vt:lpstr>Utility-Response Curves</vt:lpstr>
      <vt:lpstr>Example Utility-Response Curves</vt:lpstr>
      <vt:lpstr>Weighting the Scenarios</vt:lpstr>
      <vt:lpstr>Determining Benefit and Normalization</vt:lpstr>
      <vt:lpstr>Calculating Value for Cost</vt:lpstr>
      <vt:lpstr>Practicalities of Utility Curve Determination</vt:lpstr>
      <vt:lpstr>Practicalities of Weighting Determination</vt:lpstr>
      <vt:lpstr>Practicalities of Cost Determination</vt:lpstr>
      <vt:lpstr>Practicalities of Cost Determination</vt:lpstr>
      <vt:lpstr>Cost Benefit  Analysis Method  (CBAM)</vt:lpstr>
      <vt:lpstr>CBAM / Cost Benefit Analysis Model Stakeholders</vt:lpstr>
      <vt:lpstr>Step 1</vt:lpstr>
      <vt:lpstr>Step 2</vt:lpstr>
      <vt:lpstr>Step 3</vt:lpstr>
      <vt:lpstr>Step 4</vt:lpstr>
      <vt:lpstr>Step 5</vt:lpstr>
      <vt:lpstr>Step 6</vt:lpstr>
      <vt:lpstr>Step 7</vt:lpstr>
      <vt:lpstr>Step 8</vt:lpstr>
      <vt:lpstr>Step 9</vt:lpstr>
      <vt:lpstr>Case Study: The NASA ECS Project</vt:lpstr>
      <vt:lpstr>Step 1: Collate Scenarios</vt:lpstr>
      <vt:lpstr>Step 2: Refine Scenarios</vt:lpstr>
      <vt:lpstr>Step 2: Refine Scenarios</vt:lpstr>
      <vt:lpstr>Step 3: Prioritize Scenarios</vt:lpstr>
      <vt:lpstr>Step 3: Prioritize Scenarios</vt:lpstr>
      <vt:lpstr>Step 4:  Assign Utility</vt:lpstr>
      <vt:lpstr>Step 4:  Assign Utility</vt:lpstr>
      <vt:lpstr>Step 5: Develop Architectural Strategies and Determine Their Expected Quality Attribute Response Levels</vt:lpstr>
      <vt:lpstr>Step 5 Results (Strategies 1-5)</vt:lpstr>
      <vt:lpstr>Step 5 Results (Strategies 5-10)</vt:lpstr>
      <vt:lpstr>Step 6: Determine the Utility of the “Expected” Quality Attribute Response Levels by Interpolation</vt:lpstr>
      <vt:lpstr>Step 6 Results</vt:lpstr>
      <vt:lpstr>Step 7: Calculate the Total Benefit Obtained from an Architectural Strategy</vt:lpstr>
      <vt:lpstr>Step 7</vt:lpstr>
      <vt:lpstr>Step 8: Choose Architectural Strategies Based on VFC Subject to Cost Constraints</vt:lpstr>
      <vt:lpstr>Step 8</vt:lpstr>
      <vt:lpstr>Summary</vt:lpstr>
      <vt:lpstr>Architecture Competence</vt:lpstr>
      <vt:lpstr>Competence of Individuals</vt:lpstr>
      <vt:lpstr>Technical Duties of an Architect</vt:lpstr>
      <vt:lpstr>Non-Technical Duties of an Architect</vt:lpstr>
      <vt:lpstr>Skills of an Architect</vt:lpstr>
      <vt:lpstr>Knowledge of an Architect</vt:lpstr>
      <vt:lpstr>Organizational Competence</vt:lpstr>
      <vt:lpstr>Some Examples of Activities by a Competent Organization</vt:lpstr>
      <vt:lpstr>Assessing an Organization</vt:lpstr>
      <vt:lpstr>Software Engineering</vt:lpstr>
      <vt:lpstr>Technical Management</vt:lpstr>
      <vt:lpstr>Organizational Management</vt:lpstr>
      <vt:lpstr>Questions within Competence Categories</vt:lpstr>
      <vt:lpstr>Assessment in Practice</vt:lpstr>
      <vt:lpstr>Summary</vt:lpstr>
      <vt:lpstr>Architecture and Software product lines</vt:lpstr>
      <vt:lpstr>Product lines of software</vt:lpstr>
      <vt:lpstr>Reuse </vt:lpstr>
      <vt:lpstr>An Example </vt:lpstr>
      <vt:lpstr>    How to Manage the Modifications? </vt:lpstr>
      <vt:lpstr>What Makes Product Lines Work? </vt:lpstr>
      <vt:lpstr>What Makes Product Lines Work? - 2</vt:lpstr>
      <vt:lpstr>Costs of Product Lines </vt:lpstr>
      <vt:lpstr> Product Line Scope </vt:lpstr>
      <vt:lpstr>Scope is a Critical Decision</vt:lpstr>
      <vt:lpstr>Variability General Scenario </vt:lpstr>
      <vt:lpstr>Architectural Mechanisms for Variability </vt:lpstr>
      <vt:lpstr>Other Variability Mechanisms </vt:lpstr>
      <vt:lpstr>Other Variability Mechanisms </vt:lpstr>
      <vt:lpstr>Each Mechanism had a Cost</vt:lpstr>
      <vt:lpstr>Evaluating a Product Line Architecture </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Six </dc:title>
  <dc:creator>Abenezer Mamo</dc:creator>
  <cp:lastModifiedBy>Abena</cp:lastModifiedBy>
  <cp:revision>48</cp:revision>
  <dcterms:created xsi:type="dcterms:W3CDTF">2022-12-30T17:45:52Z</dcterms:created>
  <dcterms:modified xsi:type="dcterms:W3CDTF">2024-03-21T17:26:27Z</dcterms:modified>
</cp:coreProperties>
</file>