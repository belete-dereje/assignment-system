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65" r:id="rId2"/>
    <p:sldId id="262" r:id="rId3"/>
    <p:sldId id="258" r:id="rId4"/>
    <p:sldId id="257" r:id="rId5"/>
    <p:sldId id="259" r:id="rId6"/>
    <p:sldId id="263" r:id="rId7"/>
    <p:sldId id="264" r:id="rId8"/>
    <p:sldId id="261" r:id="rId9"/>
    <p:sldId id="260"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8015" autoAdjust="0"/>
    <p:restoredTop sz="94660"/>
  </p:normalViewPr>
  <p:slideViewPr>
    <p:cSldViewPr snapToGrid="0">
      <p:cViewPr>
        <p:scale>
          <a:sx n="80" d="100"/>
          <a:sy n="80" d="100"/>
        </p:scale>
        <p:origin x="258" y="19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32F9B747-8EEC-4222-AB9C-B983A20C1B0F}" type="datetimeFigureOut">
              <a:rPr lang="en-US" smtClean="0"/>
              <a:t>3/18/2026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42357DA-6B26-4B0B-ACF8-50FBF8C988EA}" type="slidenum">
              <a:rPr lang="en-US" smtClean="0"/>
              <a:t>‹#›</a:t>
            </a:fld>
            <a:endParaRPr lang="en-US"/>
          </a:p>
        </p:txBody>
      </p:sp>
    </p:spTree>
    <p:extLst>
      <p:ext uri="{BB962C8B-B14F-4D97-AF65-F5344CB8AC3E}">
        <p14:creationId xmlns:p14="http://schemas.microsoft.com/office/powerpoint/2010/main" val="99736715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32F9B747-8EEC-4222-AB9C-B983A20C1B0F}" type="datetimeFigureOut">
              <a:rPr lang="en-US" smtClean="0"/>
              <a:t>3/18/2026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42357DA-6B26-4B0B-ACF8-50FBF8C988EA}" type="slidenum">
              <a:rPr lang="en-US" smtClean="0"/>
              <a:t>‹#›</a:t>
            </a:fld>
            <a:endParaRPr lang="en-US"/>
          </a:p>
        </p:txBody>
      </p:sp>
    </p:spTree>
    <p:extLst>
      <p:ext uri="{BB962C8B-B14F-4D97-AF65-F5344CB8AC3E}">
        <p14:creationId xmlns:p14="http://schemas.microsoft.com/office/powerpoint/2010/main" val="61651893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32F9B747-8EEC-4222-AB9C-B983A20C1B0F}" type="datetimeFigureOut">
              <a:rPr lang="en-US" smtClean="0"/>
              <a:t>3/18/2026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42357DA-6B26-4B0B-ACF8-50FBF8C988EA}" type="slidenum">
              <a:rPr lang="en-US" smtClean="0"/>
              <a:t>‹#›</a:t>
            </a:fld>
            <a:endParaRPr lang="en-US"/>
          </a:p>
        </p:txBody>
      </p:sp>
    </p:spTree>
    <p:extLst>
      <p:ext uri="{BB962C8B-B14F-4D97-AF65-F5344CB8AC3E}">
        <p14:creationId xmlns:p14="http://schemas.microsoft.com/office/powerpoint/2010/main" val="59430680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32F9B747-8EEC-4222-AB9C-B983A20C1B0F}" type="datetimeFigureOut">
              <a:rPr lang="en-US" smtClean="0"/>
              <a:t>3/18/2026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42357DA-6B26-4B0B-ACF8-50FBF8C988EA}" type="slidenum">
              <a:rPr lang="en-US" smtClean="0"/>
              <a:t>‹#›</a:t>
            </a:fld>
            <a:endParaRPr lang="en-US"/>
          </a:p>
        </p:txBody>
      </p:sp>
    </p:spTree>
    <p:extLst>
      <p:ext uri="{BB962C8B-B14F-4D97-AF65-F5344CB8AC3E}">
        <p14:creationId xmlns:p14="http://schemas.microsoft.com/office/powerpoint/2010/main" val="151235578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32F9B747-8EEC-4222-AB9C-B983A20C1B0F}" type="datetimeFigureOut">
              <a:rPr lang="en-US" smtClean="0"/>
              <a:t>3/18/2026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A42357DA-6B26-4B0B-ACF8-50FBF8C988EA}" type="slidenum">
              <a:rPr lang="en-US" smtClean="0"/>
              <a:t>‹#›</a:t>
            </a:fld>
            <a:endParaRPr lang="en-US"/>
          </a:p>
        </p:txBody>
      </p:sp>
    </p:spTree>
    <p:extLst>
      <p:ext uri="{BB962C8B-B14F-4D97-AF65-F5344CB8AC3E}">
        <p14:creationId xmlns:p14="http://schemas.microsoft.com/office/powerpoint/2010/main" val="374024067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32F9B747-8EEC-4222-AB9C-B983A20C1B0F}" type="datetimeFigureOut">
              <a:rPr lang="en-US" smtClean="0"/>
              <a:t>3/18/2026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A42357DA-6B26-4B0B-ACF8-50FBF8C988EA}" type="slidenum">
              <a:rPr lang="en-US" smtClean="0"/>
              <a:t>‹#›</a:t>
            </a:fld>
            <a:endParaRPr lang="en-US"/>
          </a:p>
        </p:txBody>
      </p:sp>
    </p:spTree>
    <p:extLst>
      <p:ext uri="{BB962C8B-B14F-4D97-AF65-F5344CB8AC3E}">
        <p14:creationId xmlns:p14="http://schemas.microsoft.com/office/powerpoint/2010/main" val="15564638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2F9B747-8EEC-4222-AB9C-B983A20C1B0F}" type="datetimeFigureOut">
              <a:rPr lang="en-US" smtClean="0"/>
              <a:t>3/18/2026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A42357DA-6B26-4B0B-ACF8-50FBF8C988EA}" type="slidenum">
              <a:rPr lang="en-US" smtClean="0"/>
              <a:t>‹#›</a:t>
            </a:fld>
            <a:endParaRPr lang="en-US"/>
          </a:p>
        </p:txBody>
      </p:sp>
    </p:spTree>
    <p:extLst>
      <p:ext uri="{BB962C8B-B14F-4D97-AF65-F5344CB8AC3E}">
        <p14:creationId xmlns:p14="http://schemas.microsoft.com/office/powerpoint/2010/main" val="330622709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32F9B747-8EEC-4222-AB9C-B983A20C1B0F}" type="datetimeFigureOut">
              <a:rPr lang="en-US" smtClean="0"/>
              <a:t>3/18/2026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42357DA-6B26-4B0B-ACF8-50FBF8C988EA}" type="slidenum">
              <a:rPr lang="en-US" smtClean="0"/>
              <a:t>‹#›</a:t>
            </a:fld>
            <a:endParaRPr lang="en-US"/>
          </a:p>
        </p:txBody>
      </p:sp>
    </p:spTree>
    <p:extLst>
      <p:ext uri="{BB962C8B-B14F-4D97-AF65-F5344CB8AC3E}">
        <p14:creationId xmlns:p14="http://schemas.microsoft.com/office/powerpoint/2010/main" val="145067196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32F9B747-8EEC-4222-AB9C-B983A20C1B0F}" type="datetimeFigureOut">
              <a:rPr lang="en-US" smtClean="0"/>
              <a:t>3/18/2026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42357DA-6B26-4B0B-ACF8-50FBF8C988EA}" type="slidenum">
              <a:rPr lang="en-US" smtClean="0"/>
              <a:t>‹#›</a:t>
            </a:fld>
            <a:endParaRPr lang="en-US"/>
          </a:p>
        </p:txBody>
      </p:sp>
    </p:spTree>
    <p:extLst>
      <p:ext uri="{BB962C8B-B14F-4D97-AF65-F5344CB8AC3E}">
        <p14:creationId xmlns:p14="http://schemas.microsoft.com/office/powerpoint/2010/main" val="402200013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32F9B747-8EEC-4222-AB9C-B983A20C1B0F}" type="datetimeFigureOut">
              <a:rPr lang="en-US" smtClean="0"/>
              <a:t>3/18/2026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42357DA-6B26-4B0B-ACF8-50FBF8C988EA}" type="slidenum">
              <a:rPr lang="en-US" smtClean="0"/>
              <a:t>‹#›</a:t>
            </a:fld>
            <a:endParaRPr lang="en-US"/>
          </a:p>
        </p:txBody>
      </p:sp>
    </p:spTree>
    <p:extLst>
      <p:ext uri="{BB962C8B-B14F-4D97-AF65-F5344CB8AC3E}">
        <p14:creationId xmlns:p14="http://schemas.microsoft.com/office/powerpoint/2010/main" val="231547992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32F9B747-8EEC-4222-AB9C-B983A20C1B0F}" type="datetimeFigureOut">
              <a:rPr lang="en-US" smtClean="0"/>
              <a:t>3/18/2026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42357DA-6B26-4B0B-ACF8-50FBF8C988EA}" type="slidenum">
              <a:rPr lang="en-US" smtClean="0"/>
              <a:t>‹#›</a:t>
            </a:fld>
            <a:endParaRPr lang="en-US"/>
          </a:p>
        </p:txBody>
      </p:sp>
    </p:spTree>
    <p:extLst>
      <p:ext uri="{BB962C8B-B14F-4D97-AF65-F5344CB8AC3E}">
        <p14:creationId xmlns:p14="http://schemas.microsoft.com/office/powerpoint/2010/main" val="347925837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2F9B747-8EEC-4222-AB9C-B983A20C1B0F}" type="datetimeFigureOut">
              <a:rPr lang="en-US" smtClean="0"/>
              <a:t>3/18/2026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42357DA-6B26-4B0B-ACF8-50FBF8C988EA}" type="slidenum">
              <a:rPr lang="en-US" smtClean="0"/>
              <a:t>‹#›</a:t>
            </a:fld>
            <a:endParaRPr lang="en-US"/>
          </a:p>
        </p:txBody>
      </p:sp>
    </p:spTree>
    <p:extLst>
      <p:ext uri="{BB962C8B-B14F-4D97-AF65-F5344CB8AC3E}">
        <p14:creationId xmlns:p14="http://schemas.microsoft.com/office/powerpoint/2010/main" val="209114123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3"/>
          <p:cNvSpPr/>
          <p:nvPr/>
        </p:nvSpPr>
        <p:spPr>
          <a:xfrm>
            <a:off x="168443" y="365125"/>
            <a:ext cx="10960768" cy="6360528"/>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p:txBody>
          <a:bodyPr/>
          <a:lstStyle/>
          <a:p>
            <a:r>
              <a:rPr lang="en-US" dirty="0" smtClean="0"/>
              <a:t>      INTERPRETER DESIGN PATTERN</a:t>
            </a:r>
            <a:endParaRPr lang="en-US" dirty="0"/>
          </a:p>
        </p:txBody>
      </p:sp>
      <p:sp>
        <p:nvSpPr>
          <p:cNvPr id="3" name="Content Placeholder 2"/>
          <p:cNvSpPr>
            <a:spLocks noGrp="1"/>
          </p:cNvSpPr>
          <p:nvPr>
            <p:ph idx="1"/>
          </p:nvPr>
        </p:nvSpPr>
        <p:spPr/>
        <p:txBody>
          <a:bodyPr/>
          <a:lstStyle/>
          <a:p>
            <a:pPr marL="0" indent="0">
              <a:buNone/>
            </a:pPr>
            <a:r>
              <a:rPr lang="en-US" dirty="0" smtClean="0"/>
              <a:t>By:</a:t>
            </a:r>
          </a:p>
          <a:p>
            <a:pPr marL="0" indent="0">
              <a:buNone/>
            </a:pPr>
            <a:r>
              <a:rPr lang="en-US" dirty="0" smtClean="0"/>
              <a:t>Name		                	ID</a:t>
            </a:r>
          </a:p>
          <a:p>
            <a:pPr marL="0" indent="0">
              <a:buNone/>
            </a:pPr>
            <a:r>
              <a:rPr lang="en-US" dirty="0" smtClean="0"/>
              <a:t>Belete Dereje              1601435.</a:t>
            </a:r>
            <a:endParaRPr lang="en-US" dirty="0"/>
          </a:p>
        </p:txBody>
      </p:sp>
    </p:spTree>
    <p:extLst>
      <p:ext uri="{BB962C8B-B14F-4D97-AF65-F5344CB8AC3E}">
        <p14:creationId xmlns:p14="http://schemas.microsoft.com/office/powerpoint/2010/main" val="409119625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	</a:t>
            </a:r>
            <a:r>
              <a:rPr lang="en-US" sz="4000" b="1" dirty="0" smtClean="0"/>
              <a:t>Interpreter </a:t>
            </a:r>
            <a:r>
              <a:rPr lang="en-US" sz="4000" dirty="0" smtClean="0">
                <a:latin typeface="Times New Roman" panose="02020603050405020304" pitchFamily="18" charset="0"/>
                <a:cs typeface="Times New Roman" panose="02020603050405020304" pitchFamily="18" charset="0"/>
              </a:rPr>
              <a:t>Design</a:t>
            </a:r>
            <a:r>
              <a:rPr lang="en-US" sz="4000" b="1" dirty="0" smtClean="0">
                <a:latin typeface="Times New Roman" panose="02020603050405020304" pitchFamily="18" charset="0"/>
                <a:cs typeface="Times New Roman" panose="02020603050405020304" pitchFamily="18" charset="0"/>
              </a:rPr>
              <a:t> </a:t>
            </a:r>
            <a:r>
              <a:rPr lang="en-US" sz="4000" b="1" dirty="0" smtClean="0"/>
              <a:t>Pattern</a:t>
            </a:r>
            <a:endParaRPr lang="en-US" sz="4000" b="1" dirty="0"/>
          </a:p>
        </p:txBody>
      </p:sp>
      <p:sp>
        <p:nvSpPr>
          <p:cNvPr id="3" name="Content Placeholder 2"/>
          <p:cNvSpPr>
            <a:spLocks noGrp="1"/>
          </p:cNvSpPr>
          <p:nvPr>
            <p:ph idx="1"/>
          </p:nvPr>
        </p:nvSpPr>
        <p:spPr/>
        <p:txBody>
          <a:bodyPr>
            <a:normAutofit/>
          </a:bodyPr>
          <a:lstStyle/>
          <a:p>
            <a:pPr marL="342900" indent="-342900">
              <a:buFont typeface="Wingdings" panose="05000000000000000000" pitchFamily="2" charset="2"/>
              <a:buChar char="q"/>
            </a:pPr>
            <a:r>
              <a:rPr lang="en-US" sz="2400" dirty="0">
                <a:latin typeface="Times New Roman" panose="02020603050405020304" pitchFamily="18" charset="0"/>
                <a:cs typeface="Times New Roman" panose="02020603050405020304" pitchFamily="18" charset="0"/>
              </a:rPr>
              <a:t>The Interpreter Design Pattern is a behavioral</a:t>
            </a:r>
            <a:r>
              <a:rPr lang="en-US" sz="2400" u="sng" dirty="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pattern used to define and evaluate the grammar of a expressions and language .</a:t>
            </a:r>
          </a:p>
          <a:p>
            <a:pPr marL="342900" indent="-342900">
              <a:buFont typeface="Wingdings" panose="05000000000000000000" pitchFamily="2" charset="2"/>
              <a:buChar char="q"/>
            </a:pPr>
            <a:r>
              <a:rPr lang="en-US" sz="2400" dirty="0">
                <a:latin typeface="Times New Roman" panose="02020603050405020304" pitchFamily="18" charset="0"/>
                <a:cs typeface="Times New Roman" panose="02020603050405020304" pitchFamily="18" charset="0"/>
              </a:rPr>
              <a:t>It represents each rule of the language as a </a:t>
            </a:r>
            <a:r>
              <a:rPr lang="en-US" sz="2400" dirty="0" smtClean="0">
                <a:latin typeface="Times New Roman" panose="02020603050405020304" pitchFamily="18" charset="0"/>
                <a:cs typeface="Times New Roman" panose="02020603050405020304" pitchFamily="18" charset="0"/>
              </a:rPr>
              <a:t>class.</a:t>
            </a:r>
          </a:p>
          <a:p>
            <a:pPr marL="342900" indent="-342900">
              <a:buFont typeface="Wingdings" panose="05000000000000000000" pitchFamily="2" charset="2"/>
              <a:buChar char="q"/>
            </a:pPr>
            <a:r>
              <a:rPr lang="en-US" sz="2400" dirty="0">
                <a:latin typeface="Times New Roman" panose="02020603050405020304" pitchFamily="18" charset="0"/>
                <a:cs typeface="Times New Roman" panose="02020603050405020304" pitchFamily="18" charset="0"/>
              </a:rPr>
              <a:t>It is mainly used for parsing and interpreting structured expressions like mathematical formulas or command </a:t>
            </a:r>
            <a:r>
              <a:rPr lang="en-US" sz="2400" dirty="0" smtClean="0">
                <a:latin typeface="Times New Roman" panose="02020603050405020304" pitchFamily="18" charset="0"/>
                <a:cs typeface="Times New Roman" panose="02020603050405020304" pitchFamily="18" charset="0"/>
              </a:rPr>
              <a:t>languages</a:t>
            </a:r>
            <a:r>
              <a:rPr lang="en-US" sz="2400" dirty="0" smtClean="0"/>
              <a:t>.</a:t>
            </a:r>
            <a:endParaRPr lang="en-US" sz="2400" dirty="0"/>
          </a:p>
        </p:txBody>
      </p:sp>
    </p:spTree>
    <p:extLst>
      <p:ext uri="{BB962C8B-B14F-4D97-AF65-F5344CB8AC3E}">
        <p14:creationId xmlns:p14="http://schemas.microsoft.com/office/powerpoint/2010/main" val="350846290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235075"/>
          </a:xfrm>
        </p:spPr>
        <p:txBody>
          <a:bodyPr/>
          <a:lstStyle/>
          <a:p>
            <a:r>
              <a:rPr lang="en-US" dirty="0" smtClean="0"/>
              <a:t>Cont….</a:t>
            </a:r>
            <a:endParaRPr lang="en-US" dirty="0"/>
          </a:p>
        </p:txBody>
      </p:sp>
      <p:sp>
        <p:nvSpPr>
          <p:cNvPr id="3" name="Content Placeholder 2"/>
          <p:cNvSpPr>
            <a:spLocks noGrp="1"/>
          </p:cNvSpPr>
          <p:nvPr>
            <p:ph idx="1"/>
          </p:nvPr>
        </p:nvSpPr>
        <p:spPr/>
        <p:txBody>
          <a:bodyPr/>
          <a:lstStyle/>
          <a:p>
            <a:pPr marL="0" indent="0">
              <a:buNone/>
            </a:pPr>
            <a:r>
              <a:rPr lang="en-US" b="1" dirty="0" smtClean="0">
                <a:latin typeface="Times New Roman" panose="02020603050405020304" pitchFamily="18" charset="0"/>
                <a:cs typeface="Times New Roman" panose="02020603050405020304" pitchFamily="18" charset="0"/>
              </a:rPr>
              <a:t>The Interpreter Design Pattern works as:</a:t>
            </a:r>
          </a:p>
          <a:p>
            <a:r>
              <a:rPr lang="en-US" sz="2400" dirty="0" smtClean="0">
                <a:latin typeface="Times New Roman" panose="02020603050405020304" pitchFamily="18" charset="0"/>
                <a:cs typeface="Times New Roman" panose="02020603050405020304" pitchFamily="18" charset="0"/>
              </a:rPr>
              <a:t>Defining grammar rules</a:t>
            </a:r>
          </a:p>
          <a:p>
            <a:r>
              <a:rPr lang="en-US" sz="2400" dirty="0" smtClean="0">
                <a:latin typeface="Times New Roman" panose="02020603050405020304" pitchFamily="18" charset="0"/>
                <a:cs typeface="Times New Roman" panose="02020603050405020304" pitchFamily="18" charset="0"/>
              </a:rPr>
              <a:t>Creating classes for each rule</a:t>
            </a:r>
          </a:p>
          <a:p>
            <a:r>
              <a:rPr lang="en-US" sz="2400" dirty="0" smtClean="0">
                <a:latin typeface="Times New Roman" panose="02020603050405020304" pitchFamily="18" charset="0"/>
                <a:cs typeface="Times New Roman" panose="02020603050405020304" pitchFamily="18" charset="0"/>
              </a:rPr>
              <a:t>Building a tree structure of expressions called an Abstract Syntax Tree (AST).</a:t>
            </a:r>
          </a:p>
          <a:p>
            <a:r>
              <a:rPr lang="en-US" sz="2400" dirty="0" smtClean="0">
                <a:latin typeface="Times New Roman" panose="02020603050405020304" pitchFamily="18" charset="0"/>
                <a:cs typeface="Times New Roman" panose="02020603050405020304" pitchFamily="18" charset="0"/>
              </a:rPr>
              <a:t>Evaluating (interpreting) the </a:t>
            </a:r>
            <a:r>
              <a:rPr lang="en-US" sz="2400" dirty="0" smtClean="0">
                <a:latin typeface="Times New Roman" panose="02020603050405020304" pitchFamily="18" charset="0"/>
                <a:cs typeface="Times New Roman" panose="02020603050405020304" pitchFamily="18" charset="0"/>
              </a:rPr>
              <a:t>tree</a:t>
            </a:r>
            <a:endParaRPr lang="en-US" sz="2400" dirty="0" smtClean="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7878491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755015"/>
          </a:xfrm>
        </p:spPr>
        <p:txBody>
          <a:bodyPr>
            <a:normAutofit fontScale="90000"/>
          </a:bodyPr>
          <a:lstStyle/>
          <a:p>
            <a:pPr fontAlgn="base"/>
            <a:r>
              <a:rPr lang="en-US" b="1" dirty="0" smtClean="0"/>
              <a:t/>
            </a:r>
            <a:br>
              <a:rPr lang="en-US" b="1" dirty="0" smtClean="0"/>
            </a:br>
            <a:r>
              <a:rPr lang="en-US" b="1" dirty="0"/>
              <a:t/>
            </a:r>
            <a:br>
              <a:rPr lang="en-US" b="1" dirty="0"/>
            </a:br>
            <a:r>
              <a:rPr lang="en-US" b="1" dirty="0" smtClean="0">
                <a:latin typeface="Times New Roman" panose="02020603050405020304" pitchFamily="18" charset="0"/>
                <a:cs typeface="Times New Roman" panose="02020603050405020304" pitchFamily="18" charset="0"/>
              </a:rPr>
              <a:t>Components</a:t>
            </a:r>
            <a:r>
              <a:rPr lang="en-US" b="1" dirty="0"/>
              <a:t/>
            </a:r>
            <a:br>
              <a:rPr lang="en-US" b="1" dirty="0"/>
            </a:br>
            <a:r>
              <a:rPr lang="en-US" dirty="0" smtClean="0"/>
              <a:t/>
            </a:r>
            <a:br>
              <a:rPr lang="en-US" dirty="0" smtClean="0"/>
            </a:br>
            <a:endParaRPr lang="en-US" dirty="0"/>
          </a:p>
        </p:txBody>
      </p:sp>
      <p:sp>
        <p:nvSpPr>
          <p:cNvPr id="3" name="Content Placeholder 2"/>
          <p:cNvSpPr>
            <a:spLocks noGrp="1"/>
          </p:cNvSpPr>
          <p:nvPr>
            <p:ph idx="1"/>
          </p:nvPr>
        </p:nvSpPr>
        <p:spPr>
          <a:xfrm>
            <a:off x="838200" y="1291590"/>
            <a:ext cx="10515600" cy="4885373"/>
          </a:xfrm>
        </p:spPr>
        <p:txBody>
          <a:bodyPr>
            <a:normAutofit fontScale="85000" lnSpcReduction="20000"/>
          </a:bodyPr>
          <a:lstStyle/>
          <a:p>
            <a:pPr marL="0" indent="0">
              <a:buNone/>
            </a:pPr>
            <a:r>
              <a:rPr lang="en-US" sz="2400" b="1" dirty="0" smtClean="0">
                <a:latin typeface="Times New Roman" panose="02020603050405020304" pitchFamily="18" charset="0"/>
                <a:cs typeface="Times New Roman" panose="02020603050405020304" pitchFamily="18" charset="0"/>
              </a:rPr>
              <a:t>Abstract Expression</a:t>
            </a:r>
            <a:r>
              <a:rPr lang="en-US" dirty="0" smtClean="0">
                <a:latin typeface="Times New Roman" panose="02020603050405020304" pitchFamily="18" charset="0"/>
                <a:cs typeface="Times New Roman" panose="02020603050405020304" pitchFamily="18" charset="0"/>
              </a:rPr>
              <a:t>: </a:t>
            </a:r>
            <a:r>
              <a:rPr lang="en-US" sz="2300" dirty="0" smtClean="0">
                <a:latin typeface="Times New Roman" panose="02020603050405020304" pitchFamily="18" charset="0"/>
                <a:cs typeface="Times New Roman" panose="02020603050405020304" pitchFamily="18" charset="0"/>
              </a:rPr>
              <a:t>This </a:t>
            </a:r>
            <a:r>
              <a:rPr lang="en-US" sz="2300" dirty="0">
                <a:latin typeface="Times New Roman" panose="02020603050405020304" pitchFamily="18" charset="0"/>
                <a:cs typeface="Times New Roman" panose="02020603050405020304" pitchFamily="18" charset="0"/>
              </a:rPr>
              <a:t>is an abstract class or interface that declares an abstract interpret() method</a:t>
            </a:r>
            <a:r>
              <a:rPr lang="en-US" dirty="0">
                <a:latin typeface="Times New Roman" panose="02020603050405020304" pitchFamily="18" charset="0"/>
                <a:cs typeface="Times New Roman" panose="02020603050405020304" pitchFamily="18" charset="0"/>
              </a:rPr>
              <a:t>. </a:t>
            </a:r>
            <a:r>
              <a:rPr lang="en-US" sz="2300" dirty="0" smtClean="0">
                <a:latin typeface="Times New Roman" panose="02020603050405020304" pitchFamily="18" charset="0"/>
                <a:cs typeface="Times New Roman" panose="02020603050405020304" pitchFamily="18" charset="0"/>
              </a:rPr>
              <a:t>Defines the interpret method used by all expressions</a:t>
            </a:r>
            <a:r>
              <a:rPr lang="en-US" sz="2400" dirty="0" smtClean="0">
                <a:latin typeface="Times New Roman" panose="02020603050405020304" pitchFamily="18" charset="0"/>
                <a:cs typeface="Times New Roman" panose="02020603050405020304" pitchFamily="18" charset="0"/>
              </a:rPr>
              <a:t>.</a:t>
            </a:r>
            <a:endParaRPr lang="en-US" sz="2400" dirty="0">
              <a:latin typeface="Times New Roman" panose="02020603050405020304" pitchFamily="18" charset="0"/>
              <a:cs typeface="Times New Roman" panose="02020603050405020304" pitchFamily="18" charset="0"/>
            </a:endParaRPr>
          </a:p>
          <a:p>
            <a:pPr marL="0" indent="0">
              <a:buNone/>
            </a:pPr>
            <a:r>
              <a:rPr lang="en-US" sz="2400" b="1" dirty="0" smtClean="0">
                <a:latin typeface="Times New Roman" panose="02020603050405020304" pitchFamily="18" charset="0"/>
                <a:cs typeface="Times New Roman" panose="02020603050405020304" pitchFamily="18" charset="0"/>
              </a:rPr>
              <a:t>Terminal Expression</a:t>
            </a:r>
            <a:r>
              <a:rPr lang="en-US" b="1" dirty="0">
                <a:latin typeface="Times New Roman" panose="02020603050405020304" pitchFamily="18" charset="0"/>
                <a:cs typeface="Times New Roman" panose="02020603050405020304" pitchFamily="18" charset="0"/>
              </a:rPr>
              <a:t>:  </a:t>
            </a:r>
            <a:r>
              <a:rPr lang="en-US" sz="2200" dirty="0">
                <a:latin typeface="Times New Roman" panose="02020603050405020304" pitchFamily="18" charset="0"/>
                <a:cs typeface="Times New Roman" panose="02020603050405020304" pitchFamily="18" charset="0"/>
              </a:rPr>
              <a:t>These are the concrete classes that implement the </a:t>
            </a:r>
            <a:r>
              <a:rPr lang="en-US" sz="2200" dirty="0" smtClean="0">
                <a:latin typeface="Times New Roman" panose="02020603050405020304" pitchFamily="18" charset="0"/>
                <a:cs typeface="Times New Roman" panose="02020603050405020304" pitchFamily="18" charset="0"/>
              </a:rPr>
              <a:t>Abstract Expression  </a:t>
            </a:r>
            <a:r>
              <a:rPr lang="en-US" sz="2600" dirty="0" smtClean="0">
                <a:latin typeface="Times New Roman" panose="02020603050405020304" pitchFamily="18" charset="0"/>
                <a:cs typeface="Times New Roman" panose="02020603050405020304" pitchFamily="18" charset="0"/>
              </a:rPr>
              <a:t>interface</a:t>
            </a:r>
          </a:p>
          <a:p>
            <a:pPr lvl="1">
              <a:buFont typeface="Wingdings" panose="05000000000000000000" pitchFamily="2" charset="2"/>
              <a:buChar char="§"/>
            </a:pPr>
            <a:r>
              <a:rPr lang="en-US" sz="2200" dirty="0" smtClean="0">
                <a:latin typeface="Times New Roman" panose="02020603050405020304" pitchFamily="18" charset="0"/>
                <a:cs typeface="Times New Roman" panose="02020603050405020304" pitchFamily="18" charset="0"/>
              </a:rPr>
              <a:t> </a:t>
            </a:r>
            <a:r>
              <a:rPr lang="en-US" dirty="0" smtClean="0">
                <a:latin typeface="Times New Roman" panose="02020603050405020304" pitchFamily="18" charset="0"/>
                <a:cs typeface="Times New Roman" panose="02020603050405020304" pitchFamily="18" charset="0"/>
              </a:rPr>
              <a:t>represent </a:t>
            </a:r>
            <a:r>
              <a:rPr lang="en-US" dirty="0">
                <a:latin typeface="Times New Roman" panose="02020603050405020304" pitchFamily="18" charset="0"/>
                <a:cs typeface="Times New Roman" panose="02020603050405020304" pitchFamily="18" charset="0"/>
              </a:rPr>
              <a:t>the terminal symbols or leaves in </a:t>
            </a:r>
            <a:r>
              <a:rPr lang="en-US" dirty="0" smtClean="0">
                <a:latin typeface="Times New Roman" panose="02020603050405020304" pitchFamily="18" charset="0"/>
                <a:cs typeface="Times New Roman" panose="02020603050405020304" pitchFamily="18" charset="0"/>
              </a:rPr>
              <a:t>the grammar</a:t>
            </a:r>
            <a:r>
              <a:rPr lang="en-US" sz="1900" dirty="0" smtClean="0">
                <a:latin typeface="Times New Roman" panose="02020603050405020304" pitchFamily="18" charset="0"/>
                <a:cs typeface="Times New Roman" panose="02020603050405020304" pitchFamily="18" charset="0"/>
              </a:rPr>
              <a:t>.</a:t>
            </a:r>
          </a:p>
          <a:p>
            <a:pPr lvl="1">
              <a:buFont typeface="Wingdings" panose="05000000000000000000" pitchFamily="2" charset="2"/>
              <a:buChar char="§"/>
            </a:pPr>
            <a:r>
              <a:rPr lang="en-US" sz="2000" dirty="0" smtClean="0">
                <a:latin typeface="Times New Roman" panose="02020603050405020304" pitchFamily="18" charset="0"/>
                <a:cs typeface="Times New Roman" panose="02020603050405020304" pitchFamily="18" charset="0"/>
              </a:rPr>
              <a:t> </a:t>
            </a:r>
            <a:r>
              <a:rPr lang="en-US" sz="2300" dirty="0" smtClean="0">
                <a:latin typeface="Times New Roman" panose="02020603050405020304" pitchFamily="18" charset="0"/>
                <a:cs typeface="Times New Roman" panose="02020603050405020304" pitchFamily="18" charset="0"/>
              </a:rPr>
              <a:t>are </a:t>
            </a:r>
            <a:r>
              <a:rPr lang="en-US" sz="2300" dirty="0">
                <a:latin typeface="Times New Roman" panose="02020603050405020304" pitchFamily="18" charset="0"/>
                <a:cs typeface="Times New Roman" panose="02020603050405020304" pitchFamily="18" charset="0"/>
              </a:rPr>
              <a:t>the basic building blocks that the interpreter uses to interpret the language</a:t>
            </a:r>
            <a:endParaRPr lang="en-US" sz="2300" dirty="0" smtClean="0">
              <a:latin typeface="Times New Roman" panose="02020603050405020304" pitchFamily="18" charset="0"/>
              <a:cs typeface="Times New Roman" panose="02020603050405020304" pitchFamily="18" charset="0"/>
            </a:endParaRPr>
          </a:p>
          <a:p>
            <a:pPr marL="0" indent="0">
              <a:buNone/>
            </a:pPr>
            <a:r>
              <a:rPr lang="en-US" dirty="0" smtClean="0">
                <a:latin typeface="Times New Roman" panose="02020603050405020304" pitchFamily="18" charset="0"/>
                <a:cs typeface="Times New Roman" panose="02020603050405020304" pitchFamily="18" charset="0"/>
              </a:rPr>
              <a:t>Example:</a:t>
            </a:r>
          </a:p>
          <a:p>
            <a:r>
              <a:rPr lang="en-US" sz="2300" dirty="0" smtClean="0">
                <a:latin typeface="Times New Roman" panose="02020603050405020304" pitchFamily="18" charset="0"/>
                <a:cs typeface="Times New Roman" panose="02020603050405020304" pitchFamily="18" charset="0"/>
              </a:rPr>
              <a:t>Numbers(5,10)</a:t>
            </a:r>
          </a:p>
          <a:p>
            <a:r>
              <a:rPr lang="en-US" sz="2300" dirty="0" smtClean="0">
                <a:latin typeface="Times New Roman" panose="02020603050405020304" pitchFamily="18" charset="0"/>
                <a:cs typeface="Times New Roman" panose="02020603050405020304" pitchFamily="18" charset="0"/>
              </a:rPr>
              <a:t>Variables(x)</a:t>
            </a:r>
          </a:p>
          <a:p>
            <a:r>
              <a:rPr lang="en-US" sz="2300" dirty="0" smtClean="0">
                <a:latin typeface="Times New Roman" panose="02020603050405020304" pitchFamily="18" charset="0"/>
                <a:cs typeface="Times New Roman" panose="02020603050405020304" pitchFamily="18" charset="0"/>
              </a:rPr>
              <a:t>Constants</a:t>
            </a:r>
            <a:endParaRPr lang="en-US" sz="2300" dirty="0">
              <a:latin typeface="Times New Roman" panose="02020603050405020304" pitchFamily="18" charset="0"/>
              <a:cs typeface="Times New Roman" panose="02020603050405020304" pitchFamily="18" charset="0"/>
            </a:endParaRPr>
          </a:p>
          <a:p>
            <a:pPr marL="0" indent="0">
              <a:buNone/>
            </a:pPr>
            <a:endParaRPr lang="en-US" sz="2300" dirty="0" smtClean="0">
              <a:latin typeface="Times New Roman" panose="02020603050405020304" pitchFamily="18" charset="0"/>
              <a:cs typeface="Times New Roman" panose="02020603050405020304" pitchFamily="18" charset="0"/>
            </a:endParaRPr>
          </a:p>
          <a:p>
            <a:pPr marL="0" indent="0">
              <a:buNone/>
            </a:pPr>
            <a:r>
              <a:rPr lang="en-US" sz="2400" b="1" dirty="0" smtClean="0">
                <a:latin typeface="Times New Roman" panose="02020603050405020304" pitchFamily="18" charset="0"/>
                <a:cs typeface="Times New Roman" panose="02020603050405020304" pitchFamily="18" charset="0"/>
              </a:rPr>
              <a:t>Non-Terminal Expression</a:t>
            </a:r>
            <a:r>
              <a:rPr lang="en-US" sz="2400" b="1" dirty="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These are the also concrete classes that implement the </a:t>
            </a:r>
            <a:r>
              <a:rPr lang="en-US" sz="2400" dirty="0" smtClean="0">
                <a:latin typeface="Times New Roman" panose="02020603050405020304" pitchFamily="18" charset="0"/>
                <a:cs typeface="Times New Roman" panose="02020603050405020304" pitchFamily="18" charset="0"/>
              </a:rPr>
              <a:t>Abstract Expression </a:t>
            </a:r>
            <a:r>
              <a:rPr lang="en-US" sz="2400" dirty="0">
                <a:latin typeface="Times New Roman" panose="02020603050405020304" pitchFamily="18" charset="0"/>
                <a:cs typeface="Times New Roman" panose="02020603050405020304" pitchFamily="18" charset="0"/>
              </a:rPr>
              <a:t>interface. </a:t>
            </a:r>
            <a:endParaRPr lang="en-US" sz="2400" dirty="0" smtClean="0">
              <a:latin typeface="Times New Roman" panose="02020603050405020304" pitchFamily="18" charset="0"/>
              <a:cs typeface="Times New Roman" panose="02020603050405020304" pitchFamily="18" charset="0"/>
            </a:endParaRPr>
          </a:p>
          <a:p>
            <a:pPr marL="0" indent="0">
              <a:buNone/>
            </a:pPr>
            <a:r>
              <a:rPr lang="en-US" sz="2400" dirty="0" smtClean="0">
                <a:latin typeface="Times New Roman" panose="02020603050405020304" pitchFamily="18" charset="0"/>
                <a:cs typeface="Times New Roman" panose="02020603050405020304" pitchFamily="18" charset="0"/>
              </a:rPr>
              <a:t>Non-terminal </a:t>
            </a:r>
            <a:r>
              <a:rPr lang="en-US" sz="2400" dirty="0">
                <a:latin typeface="Times New Roman" panose="02020603050405020304" pitchFamily="18" charset="0"/>
                <a:cs typeface="Times New Roman" panose="02020603050405020304" pitchFamily="18" charset="0"/>
              </a:rPr>
              <a:t>expression classes are responsible for handling composite expressions, which consist of multiple sub-expressions</a:t>
            </a:r>
            <a:r>
              <a:rPr lang="en-US" sz="2400" b="1" dirty="0">
                <a:latin typeface="Times New Roman" panose="02020603050405020304" pitchFamily="18" charset="0"/>
                <a:cs typeface="Times New Roman" panose="02020603050405020304" pitchFamily="18" charset="0"/>
              </a:rPr>
              <a:t>. </a:t>
            </a:r>
            <a:endParaRPr lang="en-US" sz="23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9438947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latin typeface="Times New Roman" panose="02020603050405020304" pitchFamily="18" charset="0"/>
                <a:cs typeface="Times New Roman" panose="02020603050405020304" pitchFamily="18" charset="0"/>
              </a:rPr>
              <a:t>Cont….</a:t>
            </a:r>
            <a:endParaRPr lang="en-US"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lstStyle/>
          <a:p>
            <a:pPr>
              <a:buFont typeface="Wingdings" panose="05000000000000000000" pitchFamily="2" charset="2"/>
              <a:buChar char="§"/>
            </a:pPr>
            <a:r>
              <a:rPr lang="en-US" sz="2400" dirty="0">
                <a:latin typeface="Times New Roman" panose="02020603050405020304" pitchFamily="18" charset="0"/>
                <a:cs typeface="Times New Roman" panose="02020603050405020304" pitchFamily="18" charset="0"/>
              </a:rPr>
              <a:t>Represents grammar rules that implement the Abstract Expression</a:t>
            </a:r>
            <a:r>
              <a:rPr lang="en-US" sz="2400" dirty="0" smtClean="0">
                <a:latin typeface="Times New Roman" panose="02020603050405020304" pitchFamily="18" charset="0"/>
                <a:cs typeface="Times New Roman" panose="02020603050405020304" pitchFamily="18" charset="0"/>
              </a:rPr>
              <a:t>.</a:t>
            </a:r>
            <a:endParaRPr lang="en-US" sz="2400" b="1" dirty="0" smtClean="0">
              <a:latin typeface="Times New Roman" panose="02020603050405020304" pitchFamily="18" charset="0"/>
              <a:cs typeface="Times New Roman" panose="02020603050405020304" pitchFamily="18" charset="0"/>
            </a:endParaRPr>
          </a:p>
          <a:p>
            <a:pPr marL="0" indent="0">
              <a:buNone/>
            </a:pPr>
            <a:r>
              <a:rPr lang="en-US" sz="2400" b="1" dirty="0" smtClean="0">
                <a:latin typeface="Times New Roman" panose="02020603050405020304" pitchFamily="18" charset="0"/>
                <a:cs typeface="Times New Roman" panose="02020603050405020304" pitchFamily="18" charset="0"/>
              </a:rPr>
              <a:t>Context: </a:t>
            </a:r>
            <a:r>
              <a:rPr lang="en-US" sz="2200" dirty="0">
                <a:latin typeface="Times New Roman" panose="02020603050405020304" pitchFamily="18" charset="0"/>
                <a:cs typeface="Times New Roman" panose="02020603050405020304" pitchFamily="18" charset="0"/>
              </a:rPr>
              <a:t>This class contains information that is global to the interpreter and is maintained and modified during the interpretation process. The context may include variables, data structures, or other state information that the interpreter needs to access or modify while interpreting </a:t>
            </a:r>
            <a:r>
              <a:rPr lang="en-US" sz="2200" dirty="0" smtClean="0">
                <a:latin typeface="Times New Roman" panose="02020603050405020304" pitchFamily="18" charset="0"/>
                <a:cs typeface="Times New Roman" panose="02020603050405020304" pitchFamily="18" charset="0"/>
              </a:rPr>
              <a:t>expressions. Stores </a:t>
            </a:r>
            <a:r>
              <a:rPr lang="en-US" sz="2300" dirty="0" smtClean="0">
                <a:latin typeface="Times New Roman" panose="02020603050405020304" pitchFamily="18" charset="0"/>
                <a:cs typeface="Times New Roman" panose="02020603050405020304" pitchFamily="18" charset="0"/>
              </a:rPr>
              <a:t>information needed during interpretation</a:t>
            </a:r>
            <a:r>
              <a:rPr lang="en-US" dirty="0" smtClean="0">
                <a:latin typeface="Times New Roman" panose="02020603050405020304" pitchFamily="18" charset="0"/>
                <a:cs typeface="Times New Roman" panose="02020603050405020304" pitchFamily="18" charset="0"/>
              </a:rPr>
              <a:t>.</a:t>
            </a:r>
          </a:p>
          <a:p>
            <a:pPr marL="0" indent="0">
              <a:buNone/>
            </a:pPr>
            <a:endParaRPr lang="en-US" dirty="0">
              <a:latin typeface="Times New Roman" panose="02020603050405020304" pitchFamily="18" charset="0"/>
              <a:cs typeface="Times New Roman" panose="02020603050405020304" pitchFamily="18" charset="0"/>
            </a:endParaRPr>
          </a:p>
          <a:p>
            <a:pPr marL="0" indent="0">
              <a:buNone/>
            </a:pPr>
            <a:r>
              <a:rPr lang="en-US" dirty="0">
                <a:latin typeface="Times New Roman" panose="02020603050405020304" pitchFamily="18" charset="0"/>
                <a:cs typeface="Times New Roman" panose="02020603050405020304" pitchFamily="18" charset="0"/>
              </a:rPr>
              <a:t> Client: </a:t>
            </a:r>
            <a:r>
              <a:rPr lang="en-US" sz="2200" dirty="0">
                <a:latin typeface="Times New Roman" panose="02020603050405020304" pitchFamily="18" charset="0"/>
                <a:cs typeface="Times New Roman" panose="02020603050405020304" pitchFamily="18" charset="0"/>
              </a:rPr>
              <a:t>The client is responsible for creating the abstract syntax tree (AST) and invoking the interpret() method on the root of the tree</a:t>
            </a:r>
            <a:r>
              <a:rPr lang="en-US" sz="2200" dirty="0" smtClean="0">
                <a:latin typeface="Times New Roman" panose="02020603050405020304" pitchFamily="18" charset="0"/>
                <a:cs typeface="Times New Roman" panose="02020603050405020304" pitchFamily="18" charset="0"/>
              </a:rPr>
              <a:t>.</a:t>
            </a:r>
          </a:p>
          <a:p>
            <a:pPr marL="0" indent="0">
              <a:buNone/>
            </a:pPr>
            <a:r>
              <a:rPr lang="en-US" sz="2200" dirty="0" smtClean="0">
                <a:latin typeface="Times New Roman" panose="02020603050405020304" pitchFamily="18" charset="0"/>
                <a:cs typeface="Times New Roman" panose="02020603050405020304" pitchFamily="18" charset="0"/>
              </a:rPr>
              <a:t> </a:t>
            </a:r>
            <a:r>
              <a:rPr lang="en-US" sz="2200" dirty="0">
                <a:latin typeface="Times New Roman" panose="02020603050405020304" pitchFamily="18" charset="0"/>
                <a:cs typeface="Times New Roman" panose="02020603050405020304" pitchFamily="18" charset="0"/>
              </a:rPr>
              <a:t>The AST is typically created by parsing the input language and constructing a hierarchical representation of the expressions.</a:t>
            </a:r>
          </a:p>
        </p:txBody>
      </p:sp>
    </p:spTree>
    <p:extLst>
      <p:ext uri="{BB962C8B-B14F-4D97-AF65-F5344CB8AC3E}">
        <p14:creationId xmlns:p14="http://schemas.microsoft.com/office/powerpoint/2010/main" val="256570295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Java </a:t>
            </a:r>
            <a:r>
              <a:rPr lang="en-US" dirty="0" smtClean="0">
                <a:latin typeface="Times New Roman" panose="02020603050405020304" pitchFamily="18" charset="0"/>
                <a:cs typeface="Times New Roman" panose="02020603050405020304" pitchFamily="18" charset="0"/>
              </a:rPr>
              <a:t>Sample</a:t>
            </a:r>
            <a:r>
              <a:rPr lang="en-US" dirty="0" smtClean="0"/>
              <a:t> Code</a:t>
            </a:r>
            <a:endParaRPr lang="en-US" dirty="0"/>
          </a:p>
        </p:txBody>
      </p:sp>
      <p:sp>
        <p:nvSpPr>
          <p:cNvPr id="3" name="Content Placeholder 2"/>
          <p:cNvSpPr>
            <a:spLocks noGrp="1"/>
          </p:cNvSpPr>
          <p:nvPr>
            <p:ph idx="1"/>
          </p:nvPr>
        </p:nvSpPr>
        <p:spPr/>
        <p:txBody>
          <a:bodyPr/>
          <a:lstStyle/>
          <a:p>
            <a:endParaRPr lang="en-US" dirty="0"/>
          </a:p>
          <a:p>
            <a:endParaRPr lang="en-US" dirty="0"/>
          </a:p>
          <a:p>
            <a:endParaRPr lang="en-US" dirty="0"/>
          </a:p>
        </p:txBody>
      </p:sp>
      <p:pic>
        <p:nvPicPr>
          <p:cNvPr id="5" name="Picture 4"/>
          <p:cNvPicPr>
            <a:picLocks noChangeAspect="1"/>
          </p:cNvPicPr>
          <p:nvPr/>
        </p:nvPicPr>
        <p:blipFill rotWithShape="1">
          <a:blip r:embed="rId2"/>
          <a:srcRect l="885" t="6923"/>
          <a:stretch/>
        </p:blipFill>
        <p:spPr>
          <a:xfrm>
            <a:off x="571500" y="1538514"/>
            <a:ext cx="6402173" cy="4885145"/>
          </a:xfrm>
          <a:prstGeom prst="rect">
            <a:avLst/>
          </a:prstGeom>
        </p:spPr>
      </p:pic>
    </p:spTree>
    <p:extLst>
      <p:ext uri="{BB962C8B-B14F-4D97-AF65-F5344CB8AC3E}">
        <p14:creationId xmlns:p14="http://schemas.microsoft.com/office/powerpoint/2010/main" val="2040467369"/>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Cont….</a:t>
            </a:r>
            <a:endParaRPr lang="en-US" dirty="0"/>
          </a:p>
        </p:txBody>
      </p:sp>
      <p:pic>
        <p:nvPicPr>
          <p:cNvPr id="4" name="Content Placeholder 3"/>
          <p:cNvPicPr>
            <a:picLocks noGrp="1" noChangeAspect="1"/>
          </p:cNvPicPr>
          <p:nvPr>
            <p:ph idx="1"/>
          </p:nvPr>
        </p:nvPicPr>
        <p:blipFill rotWithShape="1">
          <a:blip r:embed="rId2"/>
          <a:srcRect l="1314" t="1907" r="4093" b="28168"/>
          <a:stretch/>
        </p:blipFill>
        <p:spPr>
          <a:xfrm>
            <a:off x="1036319" y="1474471"/>
            <a:ext cx="8061235" cy="3097529"/>
          </a:xfrm>
          <a:prstGeom prst="rect">
            <a:avLst/>
          </a:prstGeom>
        </p:spPr>
      </p:pic>
      <p:pic>
        <p:nvPicPr>
          <p:cNvPr id="5" name="Picture 4"/>
          <p:cNvPicPr>
            <a:picLocks noChangeAspect="1"/>
          </p:cNvPicPr>
          <p:nvPr/>
        </p:nvPicPr>
        <p:blipFill rotWithShape="1">
          <a:blip r:embed="rId3"/>
          <a:srcRect l="3931" r="-1197" b="15678"/>
          <a:stretch/>
        </p:blipFill>
        <p:spPr>
          <a:xfrm>
            <a:off x="1097279" y="4583429"/>
            <a:ext cx="8380550" cy="2274571"/>
          </a:xfrm>
          <a:prstGeom prst="rect">
            <a:avLst/>
          </a:prstGeom>
        </p:spPr>
      </p:pic>
    </p:spTree>
    <p:extLst>
      <p:ext uri="{BB962C8B-B14F-4D97-AF65-F5344CB8AC3E}">
        <p14:creationId xmlns:p14="http://schemas.microsoft.com/office/powerpoint/2010/main" val="3628663212"/>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 </a:t>
            </a:r>
            <a:r>
              <a:rPr lang="en-US" dirty="0" smtClean="0">
                <a:latin typeface="Times New Roman" panose="02020603050405020304" pitchFamily="18" charset="0"/>
                <a:cs typeface="Times New Roman" panose="02020603050405020304" pitchFamily="18" charset="0"/>
              </a:rPr>
              <a:t>Communication</a:t>
            </a:r>
            <a:r>
              <a:rPr lang="en-US" dirty="0" smtClean="0"/>
              <a:t> flow</a:t>
            </a:r>
            <a:endParaRPr lang="en-US" dirty="0"/>
          </a:p>
        </p:txBody>
      </p:sp>
      <p:sp>
        <p:nvSpPr>
          <p:cNvPr id="3" name="Content Placeholder 2"/>
          <p:cNvSpPr>
            <a:spLocks noGrp="1"/>
          </p:cNvSpPr>
          <p:nvPr>
            <p:ph idx="1"/>
          </p:nvPr>
        </p:nvSpPr>
        <p:spPr/>
        <p:txBody>
          <a:bodyPr>
            <a:normAutofit/>
          </a:bodyPr>
          <a:lstStyle/>
          <a:p>
            <a:pPr marL="0" indent="0">
              <a:buNone/>
            </a:pPr>
            <a:r>
              <a:rPr lang="en-US" dirty="0" smtClean="0">
                <a:latin typeface="Times New Roman" panose="02020603050405020304" pitchFamily="18" charset="0"/>
                <a:cs typeface="Times New Roman" panose="02020603050405020304" pitchFamily="18" charset="0"/>
              </a:rPr>
              <a:t>Expression = </a:t>
            </a:r>
            <a:r>
              <a:rPr lang="en-US" dirty="0">
                <a:latin typeface="Times New Roman" panose="02020603050405020304" pitchFamily="18" charset="0"/>
                <a:cs typeface="Times New Roman" panose="02020603050405020304" pitchFamily="18" charset="0"/>
              </a:rPr>
              <a:t>" 2+3*4 ":</a:t>
            </a:r>
          </a:p>
          <a:p>
            <a:r>
              <a:rPr lang="en-US" sz="2400" dirty="0">
                <a:latin typeface="Times New Roman" panose="02020603050405020304" pitchFamily="18" charset="0"/>
                <a:cs typeface="Times New Roman" panose="02020603050405020304" pitchFamily="18" charset="0"/>
              </a:rPr>
              <a:t>The interpreter processes the expression by building and evaluating an expression tree step by step.</a:t>
            </a:r>
          </a:p>
          <a:p>
            <a:endParaRPr lang="en-US" sz="2400"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Client Input: Client passes the expression (2 + 3 × 4) to the interpreter.</a:t>
            </a:r>
          </a:p>
          <a:p>
            <a:r>
              <a:rPr lang="en-US" sz="2400" dirty="0">
                <a:latin typeface="Times New Roman" panose="02020603050405020304" pitchFamily="18" charset="0"/>
                <a:cs typeface="Times New Roman" panose="02020603050405020304" pitchFamily="18" charset="0"/>
              </a:rPr>
              <a:t>Parsing &amp; Tree Creation: Expression is converted into a tree with terminal (2, 3, 4) and non-terminal (+, ×) nodes.</a:t>
            </a:r>
          </a:p>
          <a:p>
            <a:r>
              <a:rPr lang="en-US" sz="2400" dirty="0">
                <a:latin typeface="Times New Roman" panose="02020603050405020304" pitchFamily="18" charset="0"/>
                <a:cs typeface="Times New Roman" panose="02020603050405020304" pitchFamily="18" charset="0"/>
              </a:rPr>
              <a:t>Evaluation &amp; Result: Interpreter evaluates 3 × 4 = 12, then 2 + 12 = 14, and returns 14 to the client.</a:t>
            </a:r>
          </a:p>
        </p:txBody>
      </p:sp>
    </p:spTree>
    <p:extLst>
      <p:ext uri="{BB962C8B-B14F-4D97-AF65-F5344CB8AC3E}">
        <p14:creationId xmlns:p14="http://schemas.microsoft.com/office/powerpoint/2010/main" val="330476687"/>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 UML Diagram for Interpreter Design Pattern</a:t>
            </a:r>
            <a:endParaRPr lang="en-US" dirty="0"/>
          </a:p>
        </p:txBody>
      </p:sp>
      <p:pic>
        <p:nvPicPr>
          <p:cNvPr id="4" name="Content Placeholder 3"/>
          <p:cNvPicPr>
            <a:picLocks noGrp="1" noChangeAspect="1"/>
          </p:cNvPicPr>
          <p:nvPr>
            <p:ph idx="1"/>
          </p:nvPr>
        </p:nvPicPr>
        <p:blipFill>
          <a:blip r:embed="rId2"/>
          <a:stretch>
            <a:fillRect/>
          </a:stretch>
        </p:blipFill>
        <p:spPr>
          <a:xfrm>
            <a:off x="838201" y="1929317"/>
            <a:ext cx="9987622" cy="4143953"/>
          </a:xfrm>
          <a:prstGeom prst="rect">
            <a:avLst/>
          </a:prstGeom>
        </p:spPr>
      </p:pic>
    </p:spTree>
    <p:extLst>
      <p:ext uri="{BB962C8B-B14F-4D97-AF65-F5344CB8AC3E}">
        <p14:creationId xmlns:p14="http://schemas.microsoft.com/office/powerpoint/2010/main" val="195734672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626</TotalTime>
  <Words>376</Words>
  <Application>Microsoft Office PowerPoint</Application>
  <PresentationFormat>Widescreen</PresentationFormat>
  <Paragraphs>43</Paragraphs>
  <Slides>9</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9</vt:i4>
      </vt:variant>
    </vt:vector>
  </HeadingPairs>
  <TitlesOfParts>
    <vt:vector size="15" baseType="lpstr">
      <vt:lpstr>Arial</vt:lpstr>
      <vt:lpstr>Calibri</vt:lpstr>
      <vt:lpstr>Calibri Light</vt:lpstr>
      <vt:lpstr>Times New Roman</vt:lpstr>
      <vt:lpstr>Wingdings</vt:lpstr>
      <vt:lpstr>Office Theme</vt:lpstr>
      <vt:lpstr>      INTERPRETER DESIGN PATTERN</vt:lpstr>
      <vt:lpstr> Interpreter Design Pattern</vt:lpstr>
      <vt:lpstr>Cont….</vt:lpstr>
      <vt:lpstr>  Components  </vt:lpstr>
      <vt:lpstr>Cont….</vt:lpstr>
      <vt:lpstr>Java Sample Code</vt:lpstr>
      <vt:lpstr>Cont….</vt:lpstr>
      <vt:lpstr> Communication flow</vt:lpstr>
      <vt:lpstr> UML Diagram for Interpreter Design Pattern</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Interpreter Pattern</dc:title>
  <dc:creator>Microsoft account</dc:creator>
  <cp:lastModifiedBy>Microsoft account</cp:lastModifiedBy>
  <cp:revision>28</cp:revision>
  <dcterms:created xsi:type="dcterms:W3CDTF">2026-03-08T18:59:25Z</dcterms:created>
  <dcterms:modified xsi:type="dcterms:W3CDTF">2026-03-18T07:01:53Z</dcterms:modified>
</cp:coreProperties>
</file>